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986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CNN CUDA Case Study. Prithiv explains the CNN and CPU; Satya explains CUDA and DataParallel; Roydon presents measured results and runs the saved checkpoint demo. The cover is followed by eleven content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Prithiv
Follow the picture from input to predicted digit. A filter performs a weighted sum over a small image patch. The same learned weights scan every location. Multiple filters learn different responses. ReLU replaces negative responses with zero; max pooling retains the largest response in each 2x2 region.
The actual shapes are 1x28x28 -&gt; 4x26x26 -&gt; 4x13x13 -&gt; 676 -&gt; 10 logits. The CNN has 6,810 parameters. Cross entropy compares the scores with the true label; backpropagation and SGD adjust the weights. The illustration is conceptual, not a captured activation from a trained model.
Reference: https://docs.pytorch.org/docs/2.9/generated/torch.nn.Conv2d.html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Prithiv
The arithmetic stays the same. Each output is bias plus the sum of input*weight products in its receptive field. Different outputs do not depend on each other, so they can have separate workers and separate writers. The image has 2,704 outputs; batch 64 has 173,056. This makes convolution a useful source of data parallelism.
Parallelism is most useful when there is enough work to offset scheduling and communication. It also appears in other CNN operations. Weight gradients require combining contributions because every image uses the same filter weights; the optimizer waits for those gradients. Parallel layers do not remove the forward -&gt; loss -&gt; backward dependency.
The toy diagram shows four outputs. Worker icons are conceptual, not physical-core counts.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Prithiv
The native C++ code has an outer output loop and inner channel/filter loops. OpenMP parallel-for with static scheduling distributes outer-loop iterations among four logical CPU workers. Each iteration has a local accumulator and stores a different output, so the forward pass needs no atomic addition.
Caches reuse nearby image data. OpenMP adds threads; SIMD vectorization is a separate mechanism, and its exact use was not inspected. Several CPU workers still share memory resources. These are practical limits to ideal scaling, not proof of a specific bottleneck percentage.
The illustration shows read-only input and weights feeding separate output owners. The native CPU microbenchmark is distinct from PyTorch CPU training.
Reference: https://www.openmp.org/spec-html/5.2/openmpse66.html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Satya
GPGPU means general-purpose computing on a graphics processing unit. A GPU has many arithmetic resources designed for throughput. A CPU has fewer, more complex general-purpose execution resources and often lower overhead for a small request. Neither wins every workload.
CNN convolution exposes many similar independent sums. Bigger batches and feature maps provide more work for GPU scheduling. Moving tensors to a separate device and submitting kernels still costs time. These benchmarks distinguish resident data from transfer costs.
The chip illustration is conceptual and does not claim an exact hardware core count.
Reference: https://docs.nvidia.com/cuda/archive/12.8.0/cuda-c-programming-guide/index.html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Satya
CUDA is NVIDIA's programming platform for this GPU work. The CPU launches a grid of blocks; the GPU schedules the blocks on streaming multiprocessors. Our direct convolution uses one logical thread per output, with 256 threads per block. Logical threads are not equivalent to physical CUDA cores, and all threads need not execute simultaneously.
Threads accumulate products using the same kernel code and different indices. Shared-memory tiling can reduce repeated source-level reads, but cooperative loading and barriers add cost. In the saved measurements it was slower than direct CUDA.
The host launch is asynchronous. A completed-call wall measurement synchronizes before stopping the timer; enqueue time alone would not measure convolution completion.
Reference: https://docs.nvidia.com/cuda/archive/12.8.0/cuda-c-programming-guide/index.html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Satya
A kernel is a device function executed by many CUDA threads. Our index is blockIdx.x*blockDim.x+threadIdx.x. Each valid thread decodes its sample, filter, row and column, then writes one complete output. The first layer has one input channel and four 3x3 filters, so each output uses nine multiply-accumulates plus bias.
All programs share ReLU, pooling, linear classifier, cross entropy and SGD. The controlled comparison changes convolution and, for two-GPU runs, the DataParallel wrapper. Custom backward kernels compute parameter gradients using partial sums and a block reduction. Input gradients are supported and validated, but raw MNIST input does not require them during training.
Direct cuDNN uses fixed convolution algorithms through its C API. PyTorch GPU also used cuDNN in the observed trace. No Tensor Core usage was verified. The three paths represent program/API and algorithm choices, not three different GPU hardware types.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Satya
PyTorch DataParallel replicates the module, scatters the batch, runs each replica and gathers outputs on the primary device. We compute one mean cross-entropy loss over the gathered batch. Backward sums both replicas' parameter gradients into the original module; one SGD optimizer updates it.
The global batch remains 64 instead of increasing to 128, which preserves the experiment workload and optimizer behavior. Our native wrappers use the tensor's device and current stream; direct cuDNN state is cached by device. A batch of one creates only one useful input chunk, so single-image latency does not benefit from a second replica.
Reference: https://docs.pytorch.org/docs/main/generated/torch.nn.DataParallel.html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Roydon
All seven models completed 50 epochs on Kaggle T4 x2. The balanced 10% MNIST subset contains 4,800 training, 1,200 validation and 1,000 test images. Seed 42, batch 64, identical initial weights, FP32, SGD learning rate 0.05 and momentum 0.9 are shared. TF32 is disabled. All 170 correctness checks passed.
Training time sums synchronized training epochs and excludes warmup, validation, initial transfer and checkpoint I/O. All final epoch-50 checkpoints predict 956 of 1,000 test examples correctly. PyTorch with one GPU is fastest here at 5.42 s; CPU takes 10.17 s. Two-GPU DataParallel is slower than its matching one-GPU path.
This is one seed and one runtime. It is a case study rather than a universal hardware ranking.
Measured implementation: https://github.com/saltypal/CNN-CUDA-Case-Study/tree/370e8a418f76c32129057a95eb7993f19095cd3f/src/hpc_cnn</a:t>
            </a:r>
          </a:p>
          <a:p>
            <a:endParaRPr lang="en-US"/>
          </a:p>
          <a:p>
            <a:r>
              <a:rPr lang="en-US"/>
              <a:t>Training time is the sum of synchronized epochs. Batch/s measures full-CNN inference at batch 64, not training throughput. Source commit: 370e8a418f76c32129057a95eb7993f19095cd3f.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Roydon
The operation column measures one convolution on a single digit: input 1x1x28x28, four 3x3 filters, bias and output allocation. Inference measures the entire CNN forward pass. Both are warmed medians of completed-call wall latency with input resident on the device. Batch infer/s uses a batch of 64, unlike the one-image columns.
PyTorch CPU has the lowest single-image inference latency. Custom CUDA has the highest batch-64 inference throughput in this runtime. These two workload scopes need not have the same winner. DataParallel single-image calls use one replica and still pay wrapper costs.
The handwritten C++ convolution, benchmarked separately, takes 124.06 us with one worker and 66.32 us with OpenMP. At batch 64, it improves from 6608.54 to 2244.91 us: 2.94x on four logical workers. Do not confuse that native baseline with optimized PyTorch CPU convolution. The tiled custom CUDA variant was also benchmarked, but did not improve the direct kernel in any saved case.
Measured implementation: https://github.com/saltypal/CNN-CUDA-Case-Study/tree/370e8a418f76c32129057a95eb7993f19095cd3f/src/hpc_cnn</a:t>
            </a:r>
          </a:p>
          <a:p>
            <a:endParaRPr lang="en-US"/>
          </a:p>
          <a:p>
            <a:r>
              <a:rPr lang="en-US"/>
              <a:t>Bars are actual 50-epoch training times. Speedup T1/T2: CUDA 0.379, cuDNN 0.366, PyTorch 0.295. Efficiencies: 18.96%,18.30%,14.74%. GPU-time ratios:5.27,5.47,6.78. No batch-size sweep or utilization telemetry was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Roydon
The comparison holds the global batch at 64 and uses the matching one-GPU engine as the baseline. Training speedup is T1/T2. Efficiency is speedup divided by two. A speedup below one means the two-GPU run took longer. GPU-time cost is 2*T2/T1, a time-based resource proxy rather than monetary billing, energy or Kaggle quota use.
The small convolution does not supply enough per-replica work to compensate for replication, host dispatch, scattering, gathering and gradient reduction. These costs are real, but no profiling attribution was collected to prove what exact percentage each contributes. The report saves host enqueue, instrumented device intervals, transfers and an identity DataParallel diagnostic; the latter is not an exact subtraction of CNN communication cost.
Energy was not measured. No monetary rate was provided. Logical tensor bytes and FLOP counts, measured memory and timing are separate quantities. For this model, one GPU is the better training choice.
Measured implementation: https://github.com/saltypal/CNN-CUDA-Case-Study/tree/370e8a418f76c32129057a95eb7993f19095cd3f/src/hpc_cnn</a:t>
            </a:r>
          </a:p>
          <a:p>
            <a:endParaRPr lang="en-US"/>
          </a:p>
          <a:p>
            <a:r>
              <a:rPr lang="en-US"/>
              <a:t>The displayed max error is the maximum absolute error among all forward validation checks against the framework reference; it is not a gradient-error maximum or a training accuracy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Roydon
Conclude with the workload, not a blanket CPU-versus-GPU claim. The CPU wins single-image latency in this run; one GPU wins training and batched throughput. More GPUs are useful only when additional parallel compute exceeds orchestration and communication costs. Every final model has 95.6% test accuracy.
Demo: load the seven final checkpoints and predict the same held-out digits. The script already ran successfully in the completed Kaggle notebook. It does not retrain. Its cold loading time is not the warmed inference benchmark.
cd /kaggle/working/cnn-cuda-case-study-source
PYTHONPATH=src python -m hpc_cnn.demo --run-root /kaggle/working/cnn-cuda-case-study-results
A live run of all paths requires two GPUs. Keep the saved logs and predictions ready as an offline backup. The experiment is one seed and one runtime.
Measured implementation: https://github.com/saltypal/CNN-CUDA-Case-Study/tree/370e8a418f76c32129057a95eb7993f19095cd3f/src/hpc_cnn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0F14"/>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76B900"/>
          </a:solidFill>
          <a:ln w="12700">
            <a:solidFill>
              <a:srgbClr val="76B900">
                <a:alpha val="0"/>
              </a:srgbClr>
            </a:solidFill>
            <a:prstDash val="solid"/>
          </a:ln>
        </p:spPr>
      </p:sp>
      <p:sp>
        <p:nvSpPr>
          <p:cNvPr id="3" name="Text 1"/>
          <p:cNvSpPr/>
          <p:nvPr/>
        </p:nvSpPr>
        <p:spPr>
          <a:xfrm>
            <a:off x="566928" y="6473952"/>
            <a:ext cx="5303520" cy="164592"/>
          </a:xfrm>
          <a:prstGeom prst="rect">
            <a:avLst/>
          </a:prstGeom>
          <a:noFill/>
          <a:ln/>
        </p:spPr>
        <p:txBody>
          <a:bodyPr wrap="square" lIns="0" tIns="0" rIns="0" bIns="0" rtlCol="0" anchor="ctr"/>
          <a:lstStyle/>
          <a:p>
            <a:pPr marL="0" indent="0">
              <a:buNone/>
            </a:pPr>
            <a:r>
              <a:rPr lang="en-US" sz="850" b="1" kern="0" spc="120" dirty="0">
                <a:solidFill>
                  <a:srgbClr val="6F7A86"/>
                </a:solidFill>
                <a:latin typeface="Aptos" pitchFamily="34" charset="0"/>
                <a:ea typeface="Aptos" pitchFamily="34" charset="-122"/>
                <a:cs typeface="Aptos" pitchFamily="34" charset="-120"/>
              </a:rPr>
              <a:t>CNN PARALLELISM • CUDA • MULTI-GPU</a:t>
            </a:r>
            <a:endParaRPr lang="en-US" sz="850" dirty="0"/>
          </a:p>
        </p:txBody>
      </p:sp>
      <p:sp>
        <p:nvSpPr>
          <p:cNvPr id="25" name="Slide Number Placeholder 0"/>
          <p:cNvSpPr>
            <a:spLocks noGrp="1"/>
          </p:cNvSpPr>
          <p:nvPr>
            <p:ph type="sldNum" sz="quarter" idx="4294967295"/>
          </p:nvPr>
        </p:nvSpPr>
        <p:spPr>
          <a:xfrm>
            <a:off x="11384280" y="6419088"/>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6717D"/>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19088"/>
            <a:ext cx="274320" cy="201168"/>
          </a:xfrm>
          <a:prstGeom prst="rect">
            <a:avLst/>
          </a:prstGeom>
          <a:extLst>
            <a:ext uri="{C572A759-6A51-4108-AA02-DFA0A04FC94B}">
              <ma14:wrappingTextBoxFlag xmlns:ma14="http://schemas.microsoft.com/office/mac/drawingml/2011/main" xmlns="" val="0"/>
            </a:ext>
          </a:extLst>
        </p:spPr>
        <p:txBody>
          <a:bodyPr/>
          <a:lstStyle>
            <a:lvl1pPr>
              <a:defRPr sz="900">
                <a:solidFill>
                  <a:srgbClr val="66717D"/>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4"/>
        </a:solidFill>
        <a:effectLst/>
      </p:bgPr>
    </p:bg>
    <p:spTree>
      <p:nvGrpSpPr>
        <p:cNvPr id="1" name=""/>
        <p:cNvGrpSpPr/>
        <p:nvPr/>
      </p:nvGrpSpPr>
      <p:grpSpPr>
        <a:xfrm>
          <a:off x="0" y="0"/>
          <a:ext cx="0" cy="0"/>
          <a:chOff x="0" y="0"/>
          <a:chExt cx="0" cy="0"/>
        </a:xfrm>
      </p:grpSpPr>
      <p:sp>
        <p:nvSpPr>
          <p:cNvPr id="2" name="Text 0"/>
          <p:cNvSpPr/>
          <p:nvPr/>
        </p:nvSpPr>
        <p:spPr>
          <a:xfrm>
            <a:off x="640080" y="1078992"/>
            <a:ext cx="6583680" cy="621792"/>
          </a:xfrm>
          <a:prstGeom prst="rect">
            <a:avLst/>
          </a:prstGeom>
          <a:noFill/>
          <a:ln/>
        </p:spPr>
        <p:txBody>
          <a:bodyPr wrap="square" lIns="0" tIns="0" rIns="0" bIns="0" rtlCol="0" anchor="ctr">
            <a:noAutofit/>
          </a:bodyPr>
          <a:lstStyle/>
          <a:p>
            <a:pPr marL="0" indent="0">
              <a:buNone/>
            </a:pPr>
            <a:r>
              <a:rPr lang="en-US" sz="3600" b="1" dirty="0">
                <a:solidFill>
                  <a:srgbClr val="F4F7FA"/>
                </a:solidFill>
              </a:rPr>
              <a:t>Parallelizing CNNs</a:t>
            </a:r>
            <a:endParaRPr lang="en-US" sz="3600" dirty="0"/>
          </a:p>
        </p:txBody>
      </p:sp>
      <p:sp>
        <p:nvSpPr>
          <p:cNvPr id="3" name="Text 1"/>
          <p:cNvSpPr/>
          <p:nvPr/>
        </p:nvSpPr>
        <p:spPr>
          <a:xfrm>
            <a:off x="640080" y="1764792"/>
            <a:ext cx="6949440" cy="530352"/>
          </a:xfrm>
          <a:prstGeom prst="rect">
            <a:avLst/>
          </a:prstGeom>
          <a:noFill/>
          <a:ln/>
        </p:spPr>
        <p:txBody>
          <a:bodyPr wrap="square" lIns="0" tIns="0" rIns="0" bIns="0" rtlCol="0" anchor="ctr">
            <a:noAutofit/>
          </a:bodyPr>
          <a:lstStyle/>
          <a:p>
            <a:pPr marL="0" indent="0">
              <a:buNone/>
            </a:pPr>
            <a:r>
              <a:rPr lang="en-US" sz="3100" b="1" dirty="0">
                <a:solidFill>
                  <a:srgbClr val="76B900"/>
                </a:solidFill>
              </a:rPr>
              <a:t>CPU → CUDA → Multi-GPU</a:t>
            </a:r>
            <a:endParaRPr lang="en-US" sz="3100" dirty="0"/>
          </a:p>
        </p:txBody>
      </p:sp>
      <p:sp>
        <p:nvSpPr>
          <p:cNvPr id="4" name="Text 2"/>
          <p:cNvSpPr/>
          <p:nvPr/>
        </p:nvSpPr>
        <p:spPr>
          <a:xfrm>
            <a:off x="658368" y="2487168"/>
            <a:ext cx="5943600" cy="822960"/>
          </a:xfrm>
          <a:prstGeom prst="rect">
            <a:avLst/>
          </a:prstGeom>
          <a:noFill/>
          <a:ln/>
        </p:spPr>
        <p:txBody>
          <a:bodyPr wrap="square" lIns="0" tIns="0" rIns="0" bIns="0" rtlCol="0" anchor="ctr">
            <a:noAutofit/>
          </a:bodyPr>
          <a:lstStyle/>
          <a:p>
            <a:pPr marL="0" indent="0">
              <a:buNone/>
            </a:pPr>
            <a:r>
              <a:rPr lang="en-US" sz="1700">
                <a:solidFill>
                  <a:srgbClr val="C7D0D9"/>
                </a:solidFill>
              </a:rPr>
              <a:t>A measured MNIST case study: the same convolution on CPU, CUDA, cuDNN and two GPUs.</a:t>
            </a:r>
            <a:endParaRPr lang="en-US" sz="1700" dirty="0"/>
          </a:p>
        </p:txBody>
      </p:sp>
      <p:sp>
        <p:nvSpPr>
          <p:cNvPr id="5" name="Shape 3"/>
          <p:cNvSpPr/>
          <p:nvPr/>
        </p:nvSpPr>
        <p:spPr>
          <a:xfrm>
            <a:off x="7406640" y="1298448"/>
            <a:ext cx="1234440" cy="2377440"/>
          </a:xfrm>
          <a:prstGeom prst="roundRect">
            <a:avLst>
              <a:gd name="adj" fmla="val 5926"/>
            </a:avLst>
          </a:prstGeom>
          <a:solidFill>
            <a:srgbClr val="18212D"/>
          </a:solidFill>
          <a:ln w="12700">
            <a:solidFill>
              <a:srgbClr val="41D9FF"/>
            </a:solidFill>
            <a:prstDash val="solid"/>
          </a:ln>
        </p:spPr>
      </p:sp>
      <p:sp>
        <p:nvSpPr>
          <p:cNvPr id="6" name="Text 4"/>
          <p:cNvSpPr/>
          <p:nvPr/>
        </p:nvSpPr>
        <p:spPr>
          <a:xfrm>
            <a:off x="7498080" y="1508760"/>
            <a:ext cx="1051560" cy="228600"/>
          </a:xfrm>
          <a:prstGeom prst="rect">
            <a:avLst/>
          </a:prstGeom>
          <a:noFill/>
          <a:ln/>
        </p:spPr>
        <p:txBody>
          <a:bodyPr wrap="square" lIns="0" tIns="0" rIns="0" bIns="0" rtlCol="0" anchor="ctr">
            <a:noAutofit/>
          </a:bodyPr>
          <a:lstStyle/>
          <a:p>
            <a:pPr marL="0" indent="0" algn="ctr">
              <a:buNone/>
            </a:pPr>
            <a:r>
              <a:rPr lang="en-US" sz="1400" b="1" dirty="0">
                <a:solidFill>
                  <a:srgbClr val="41D9FF"/>
                </a:solidFill>
              </a:rPr>
              <a:t>CPU</a:t>
            </a:r>
            <a:endParaRPr lang="en-US" sz="1400" dirty="0"/>
          </a:p>
        </p:txBody>
      </p:sp>
      <p:sp>
        <p:nvSpPr>
          <p:cNvPr id="7" name="Shape 5"/>
          <p:cNvSpPr/>
          <p:nvPr/>
        </p:nvSpPr>
        <p:spPr>
          <a:xfrm>
            <a:off x="7607808" y="2011680"/>
            <a:ext cx="310896" cy="274320"/>
          </a:xfrm>
          <a:prstGeom prst="roundRect">
            <a:avLst>
              <a:gd name="adj" fmla="val 10000"/>
            </a:avLst>
          </a:prstGeom>
          <a:solidFill>
            <a:srgbClr val="41D9FF">
              <a:alpha val="80000"/>
            </a:srgbClr>
          </a:solidFill>
          <a:ln w="12700">
            <a:solidFill>
              <a:srgbClr val="41D9FF">
                <a:alpha val="0"/>
              </a:srgbClr>
            </a:solidFill>
            <a:prstDash val="solid"/>
          </a:ln>
        </p:spPr>
      </p:sp>
      <p:sp>
        <p:nvSpPr>
          <p:cNvPr id="8" name="Shape 6"/>
          <p:cNvSpPr/>
          <p:nvPr/>
        </p:nvSpPr>
        <p:spPr>
          <a:xfrm>
            <a:off x="8037576" y="2011680"/>
            <a:ext cx="310896" cy="274320"/>
          </a:xfrm>
          <a:prstGeom prst="roundRect">
            <a:avLst>
              <a:gd name="adj" fmla="val 10000"/>
            </a:avLst>
          </a:prstGeom>
          <a:solidFill>
            <a:srgbClr val="41D9FF">
              <a:alpha val="80000"/>
            </a:srgbClr>
          </a:solidFill>
          <a:ln w="12700">
            <a:solidFill>
              <a:srgbClr val="41D9FF">
                <a:alpha val="0"/>
              </a:srgbClr>
            </a:solidFill>
            <a:prstDash val="solid"/>
          </a:ln>
        </p:spPr>
      </p:sp>
      <p:sp>
        <p:nvSpPr>
          <p:cNvPr id="9" name="Shape 7"/>
          <p:cNvSpPr/>
          <p:nvPr/>
        </p:nvSpPr>
        <p:spPr>
          <a:xfrm>
            <a:off x="7607808" y="2450592"/>
            <a:ext cx="310896" cy="274320"/>
          </a:xfrm>
          <a:prstGeom prst="roundRect">
            <a:avLst>
              <a:gd name="adj" fmla="val 10000"/>
            </a:avLst>
          </a:prstGeom>
          <a:solidFill>
            <a:srgbClr val="41D9FF">
              <a:alpha val="80000"/>
            </a:srgbClr>
          </a:solidFill>
          <a:ln w="12700">
            <a:solidFill>
              <a:srgbClr val="41D9FF">
                <a:alpha val="0"/>
              </a:srgbClr>
            </a:solidFill>
            <a:prstDash val="solid"/>
          </a:ln>
        </p:spPr>
      </p:sp>
      <p:sp>
        <p:nvSpPr>
          <p:cNvPr id="10" name="Shape 8"/>
          <p:cNvSpPr/>
          <p:nvPr/>
        </p:nvSpPr>
        <p:spPr>
          <a:xfrm>
            <a:off x="8037576" y="2450592"/>
            <a:ext cx="310896" cy="274320"/>
          </a:xfrm>
          <a:prstGeom prst="roundRect">
            <a:avLst>
              <a:gd name="adj" fmla="val 10000"/>
            </a:avLst>
          </a:prstGeom>
          <a:solidFill>
            <a:srgbClr val="41D9FF">
              <a:alpha val="80000"/>
            </a:srgbClr>
          </a:solidFill>
          <a:ln w="12700">
            <a:solidFill>
              <a:srgbClr val="41D9FF">
                <a:alpha val="0"/>
              </a:srgbClr>
            </a:solidFill>
            <a:prstDash val="solid"/>
          </a:ln>
        </p:spPr>
      </p:sp>
      <p:sp>
        <p:nvSpPr>
          <p:cNvPr id="11" name="Text 9"/>
          <p:cNvSpPr/>
          <p:nvPr/>
        </p:nvSpPr>
        <p:spPr>
          <a:xfrm>
            <a:off x="7516368" y="3154680"/>
            <a:ext cx="1024128" cy="310896"/>
          </a:xfrm>
          <a:prstGeom prst="rect">
            <a:avLst/>
          </a:prstGeom>
          <a:noFill/>
          <a:ln/>
        </p:spPr>
        <p:txBody>
          <a:bodyPr wrap="square" lIns="0" tIns="0" rIns="0" bIns="0" rtlCol="0" anchor="ctr">
            <a:noAutofit/>
          </a:bodyPr>
          <a:lstStyle/>
          <a:p>
            <a:pPr marL="0" indent="0" algn="ctr">
              <a:buNone/>
            </a:pPr>
            <a:r>
              <a:rPr lang="en-US" sz="950" dirty="0">
                <a:solidFill>
                  <a:srgbClr val="7E8A97"/>
                </a:solidFill>
              </a:rPr>
              <a:t>few powerful cores</a:t>
            </a:r>
            <a:endParaRPr lang="en-US" sz="950" dirty="0"/>
          </a:p>
        </p:txBody>
      </p:sp>
      <p:sp>
        <p:nvSpPr>
          <p:cNvPr id="12" name="Shape 10"/>
          <p:cNvSpPr/>
          <p:nvPr/>
        </p:nvSpPr>
        <p:spPr>
          <a:xfrm>
            <a:off x="8887968" y="1298448"/>
            <a:ext cx="1234440" cy="2377440"/>
          </a:xfrm>
          <a:prstGeom prst="roundRect">
            <a:avLst>
              <a:gd name="adj" fmla="val 5926"/>
            </a:avLst>
          </a:prstGeom>
          <a:solidFill>
            <a:srgbClr val="18212D"/>
          </a:solidFill>
          <a:ln w="12700">
            <a:solidFill>
              <a:srgbClr val="76B900"/>
            </a:solidFill>
            <a:prstDash val="solid"/>
          </a:ln>
        </p:spPr>
      </p:sp>
      <p:sp>
        <p:nvSpPr>
          <p:cNvPr id="13" name="Text 11"/>
          <p:cNvSpPr/>
          <p:nvPr/>
        </p:nvSpPr>
        <p:spPr>
          <a:xfrm>
            <a:off x="8979408" y="1508760"/>
            <a:ext cx="1051560" cy="228600"/>
          </a:xfrm>
          <a:prstGeom prst="rect">
            <a:avLst/>
          </a:prstGeom>
          <a:noFill/>
          <a:ln/>
        </p:spPr>
        <p:txBody>
          <a:bodyPr wrap="square" lIns="0" tIns="0" rIns="0" bIns="0" rtlCol="0" anchor="ctr">
            <a:noAutofit/>
          </a:bodyPr>
          <a:lstStyle/>
          <a:p>
            <a:pPr marL="0" indent="0" algn="ctr">
              <a:buNone/>
            </a:pPr>
            <a:r>
              <a:rPr lang="en-US" sz="1400" b="1" dirty="0">
                <a:solidFill>
                  <a:srgbClr val="76B900"/>
                </a:solidFill>
              </a:rPr>
              <a:t>CUDA GPU</a:t>
            </a:r>
            <a:endParaRPr lang="en-US" sz="1400" dirty="0"/>
          </a:p>
        </p:txBody>
      </p:sp>
      <p:sp>
        <p:nvSpPr>
          <p:cNvPr id="14" name="Shape 12"/>
          <p:cNvSpPr/>
          <p:nvPr/>
        </p:nvSpPr>
        <p:spPr>
          <a:xfrm>
            <a:off x="9070848" y="1938528"/>
            <a:ext cx="118872" cy="118872"/>
          </a:xfrm>
          <a:prstGeom prst="rect">
            <a:avLst/>
          </a:prstGeom>
          <a:solidFill>
            <a:srgbClr val="76B900">
              <a:alpha val="90000"/>
            </a:srgbClr>
          </a:solidFill>
          <a:ln w="12700">
            <a:solidFill>
              <a:srgbClr val="76B900">
                <a:alpha val="0"/>
              </a:srgbClr>
            </a:solidFill>
            <a:prstDash val="solid"/>
          </a:ln>
        </p:spPr>
      </p:sp>
      <p:sp>
        <p:nvSpPr>
          <p:cNvPr id="15" name="Shape 13"/>
          <p:cNvSpPr/>
          <p:nvPr/>
        </p:nvSpPr>
        <p:spPr>
          <a:xfrm>
            <a:off x="9253728" y="1938528"/>
            <a:ext cx="118872" cy="118872"/>
          </a:xfrm>
          <a:prstGeom prst="rect">
            <a:avLst/>
          </a:prstGeom>
          <a:solidFill>
            <a:srgbClr val="76B900">
              <a:alpha val="90000"/>
            </a:srgbClr>
          </a:solidFill>
          <a:ln w="12700">
            <a:solidFill>
              <a:srgbClr val="76B900">
                <a:alpha val="0"/>
              </a:srgbClr>
            </a:solidFill>
            <a:prstDash val="solid"/>
          </a:ln>
        </p:spPr>
      </p:sp>
      <p:sp>
        <p:nvSpPr>
          <p:cNvPr id="16" name="Shape 14"/>
          <p:cNvSpPr/>
          <p:nvPr/>
        </p:nvSpPr>
        <p:spPr>
          <a:xfrm>
            <a:off x="9436608" y="1938528"/>
            <a:ext cx="118872" cy="118872"/>
          </a:xfrm>
          <a:prstGeom prst="rect">
            <a:avLst/>
          </a:prstGeom>
          <a:solidFill>
            <a:srgbClr val="76B900">
              <a:alpha val="90000"/>
            </a:srgbClr>
          </a:solidFill>
          <a:ln w="12700">
            <a:solidFill>
              <a:srgbClr val="76B900">
                <a:alpha val="0"/>
              </a:srgbClr>
            </a:solidFill>
            <a:prstDash val="solid"/>
          </a:ln>
        </p:spPr>
      </p:sp>
      <p:sp>
        <p:nvSpPr>
          <p:cNvPr id="17" name="Shape 15"/>
          <p:cNvSpPr/>
          <p:nvPr/>
        </p:nvSpPr>
        <p:spPr>
          <a:xfrm>
            <a:off x="9619488" y="1938528"/>
            <a:ext cx="118872" cy="118872"/>
          </a:xfrm>
          <a:prstGeom prst="rect">
            <a:avLst/>
          </a:prstGeom>
          <a:solidFill>
            <a:srgbClr val="76B900">
              <a:alpha val="90000"/>
            </a:srgbClr>
          </a:solidFill>
          <a:ln w="12700">
            <a:solidFill>
              <a:srgbClr val="76B900">
                <a:alpha val="0"/>
              </a:srgbClr>
            </a:solidFill>
            <a:prstDash val="solid"/>
          </a:ln>
        </p:spPr>
      </p:sp>
      <p:sp>
        <p:nvSpPr>
          <p:cNvPr id="18" name="Shape 16"/>
          <p:cNvSpPr/>
          <p:nvPr/>
        </p:nvSpPr>
        <p:spPr>
          <a:xfrm>
            <a:off x="9802368" y="1938528"/>
            <a:ext cx="118872" cy="118872"/>
          </a:xfrm>
          <a:prstGeom prst="rect">
            <a:avLst/>
          </a:prstGeom>
          <a:solidFill>
            <a:srgbClr val="76B900">
              <a:alpha val="90000"/>
            </a:srgbClr>
          </a:solidFill>
          <a:ln w="12700">
            <a:solidFill>
              <a:srgbClr val="76B900">
                <a:alpha val="0"/>
              </a:srgbClr>
            </a:solidFill>
            <a:prstDash val="solid"/>
          </a:ln>
        </p:spPr>
      </p:sp>
      <p:sp>
        <p:nvSpPr>
          <p:cNvPr id="19" name="Shape 17"/>
          <p:cNvSpPr/>
          <p:nvPr/>
        </p:nvSpPr>
        <p:spPr>
          <a:xfrm>
            <a:off x="9070848" y="2167128"/>
            <a:ext cx="118872" cy="118872"/>
          </a:xfrm>
          <a:prstGeom prst="rect">
            <a:avLst/>
          </a:prstGeom>
          <a:solidFill>
            <a:srgbClr val="76B900">
              <a:alpha val="90000"/>
            </a:srgbClr>
          </a:solidFill>
          <a:ln w="12700">
            <a:solidFill>
              <a:srgbClr val="76B900">
                <a:alpha val="0"/>
              </a:srgbClr>
            </a:solidFill>
            <a:prstDash val="solid"/>
          </a:ln>
        </p:spPr>
      </p:sp>
      <p:sp>
        <p:nvSpPr>
          <p:cNvPr id="20" name="Shape 18"/>
          <p:cNvSpPr/>
          <p:nvPr/>
        </p:nvSpPr>
        <p:spPr>
          <a:xfrm>
            <a:off x="9253728" y="2167128"/>
            <a:ext cx="118872" cy="118872"/>
          </a:xfrm>
          <a:prstGeom prst="rect">
            <a:avLst/>
          </a:prstGeom>
          <a:solidFill>
            <a:srgbClr val="76B900">
              <a:alpha val="90000"/>
            </a:srgbClr>
          </a:solidFill>
          <a:ln w="12700">
            <a:solidFill>
              <a:srgbClr val="76B900">
                <a:alpha val="0"/>
              </a:srgbClr>
            </a:solidFill>
            <a:prstDash val="solid"/>
          </a:ln>
        </p:spPr>
      </p:sp>
      <p:sp>
        <p:nvSpPr>
          <p:cNvPr id="21" name="Shape 19"/>
          <p:cNvSpPr/>
          <p:nvPr/>
        </p:nvSpPr>
        <p:spPr>
          <a:xfrm>
            <a:off x="9436608" y="2167128"/>
            <a:ext cx="118872" cy="118872"/>
          </a:xfrm>
          <a:prstGeom prst="rect">
            <a:avLst/>
          </a:prstGeom>
          <a:solidFill>
            <a:srgbClr val="76B900">
              <a:alpha val="90000"/>
            </a:srgbClr>
          </a:solidFill>
          <a:ln w="12700">
            <a:solidFill>
              <a:srgbClr val="76B900">
                <a:alpha val="0"/>
              </a:srgbClr>
            </a:solidFill>
            <a:prstDash val="solid"/>
          </a:ln>
        </p:spPr>
      </p:sp>
      <p:sp>
        <p:nvSpPr>
          <p:cNvPr id="22" name="Shape 20"/>
          <p:cNvSpPr/>
          <p:nvPr/>
        </p:nvSpPr>
        <p:spPr>
          <a:xfrm>
            <a:off x="9619488" y="2167128"/>
            <a:ext cx="118872" cy="118872"/>
          </a:xfrm>
          <a:prstGeom prst="rect">
            <a:avLst/>
          </a:prstGeom>
          <a:solidFill>
            <a:srgbClr val="76B900">
              <a:alpha val="90000"/>
            </a:srgbClr>
          </a:solidFill>
          <a:ln w="12700">
            <a:solidFill>
              <a:srgbClr val="76B900">
                <a:alpha val="0"/>
              </a:srgbClr>
            </a:solidFill>
            <a:prstDash val="solid"/>
          </a:ln>
        </p:spPr>
      </p:sp>
      <p:sp>
        <p:nvSpPr>
          <p:cNvPr id="23" name="Shape 21"/>
          <p:cNvSpPr/>
          <p:nvPr/>
        </p:nvSpPr>
        <p:spPr>
          <a:xfrm>
            <a:off x="9802368" y="2167128"/>
            <a:ext cx="118872" cy="118872"/>
          </a:xfrm>
          <a:prstGeom prst="rect">
            <a:avLst/>
          </a:prstGeom>
          <a:solidFill>
            <a:srgbClr val="76B900">
              <a:alpha val="90000"/>
            </a:srgbClr>
          </a:solidFill>
          <a:ln w="12700">
            <a:solidFill>
              <a:srgbClr val="76B900">
                <a:alpha val="0"/>
              </a:srgbClr>
            </a:solidFill>
            <a:prstDash val="solid"/>
          </a:ln>
        </p:spPr>
      </p:sp>
      <p:sp>
        <p:nvSpPr>
          <p:cNvPr id="24" name="Shape 22"/>
          <p:cNvSpPr/>
          <p:nvPr/>
        </p:nvSpPr>
        <p:spPr>
          <a:xfrm>
            <a:off x="9070848" y="2395728"/>
            <a:ext cx="118872" cy="118872"/>
          </a:xfrm>
          <a:prstGeom prst="rect">
            <a:avLst/>
          </a:prstGeom>
          <a:solidFill>
            <a:srgbClr val="76B900">
              <a:alpha val="90000"/>
            </a:srgbClr>
          </a:solidFill>
          <a:ln w="12700">
            <a:solidFill>
              <a:srgbClr val="76B900">
                <a:alpha val="0"/>
              </a:srgbClr>
            </a:solidFill>
            <a:prstDash val="solid"/>
          </a:ln>
        </p:spPr>
      </p:sp>
      <p:sp>
        <p:nvSpPr>
          <p:cNvPr id="25" name="Shape 23"/>
          <p:cNvSpPr/>
          <p:nvPr/>
        </p:nvSpPr>
        <p:spPr>
          <a:xfrm>
            <a:off x="9253728" y="2395728"/>
            <a:ext cx="118872" cy="118872"/>
          </a:xfrm>
          <a:prstGeom prst="rect">
            <a:avLst/>
          </a:prstGeom>
          <a:solidFill>
            <a:srgbClr val="76B900">
              <a:alpha val="90000"/>
            </a:srgbClr>
          </a:solidFill>
          <a:ln w="12700">
            <a:solidFill>
              <a:srgbClr val="76B900">
                <a:alpha val="0"/>
              </a:srgbClr>
            </a:solidFill>
            <a:prstDash val="solid"/>
          </a:ln>
        </p:spPr>
      </p:sp>
      <p:sp>
        <p:nvSpPr>
          <p:cNvPr id="26" name="Shape 24"/>
          <p:cNvSpPr/>
          <p:nvPr/>
        </p:nvSpPr>
        <p:spPr>
          <a:xfrm>
            <a:off x="9436608" y="2395728"/>
            <a:ext cx="118872" cy="118872"/>
          </a:xfrm>
          <a:prstGeom prst="rect">
            <a:avLst/>
          </a:prstGeom>
          <a:solidFill>
            <a:srgbClr val="76B900">
              <a:alpha val="90000"/>
            </a:srgbClr>
          </a:solidFill>
          <a:ln w="12700">
            <a:solidFill>
              <a:srgbClr val="76B900">
                <a:alpha val="0"/>
              </a:srgbClr>
            </a:solidFill>
            <a:prstDash val="solid"/>
          </a:ln>
        </p:spPr>
      </p:sp>
      <p:sp>
        <p:nvSpPr>
          <p:cNvPr id="27" name="Shape 25"/>
          <p:cNvSpPr/>
          <p:nvPr/>
        </p:nvSpPr>
        <p:spPr>
          <a:xfrm>
            <a:off x="9619488" y="2395728"/>
            <a:ext cx="118872" cy="118872"/>
          </a:xfrm>
          <a:prstGeom prst="rect">
            <a:avLst/>
          </a:prstGeom>
          <a:solidFill>
            <a:srgbClr val="76B900">
              <a:alpha val="90000"/>
            </a:srgbClr>
          </a:solidFill>
          <a:ln w="12700">
            <a:solidFill>
              <a:srgbClr val="76B900">
                <a:alpha val="0"/>
              </a:srgbClr>
            </a:solidFill>
            <a:prstDash val="solid"/>
          </a:ln>
        </p:spPr>
      </p:sp>
      <p:sp>
        <p:nvSpPr>
          <p:cNvPr id="28" name="Shape 26"/>
          <p:cNvSpPr/>
          <p:nvPr/>
        </p:nvSpPr>
        <p:spPr>
          <a:xfrm>
            <a:off x="9802368" y="2395728"/>
            <a:ext cx="118872" cy="118872"/>
          </a:xfrm>
          <a:prstGeom prst="rect">
            <a:avLst/>
          </a:prstGeom>
          <a:solidFill>
            <a:srgbClr val="76B900">
              <a:alpha val="90000"/>
            </a:srgbClr>
          </a:solidFill>
          <a:ln w="12700">
            <a:solidFill>
              <a:srgbClr val="76B900">
                <a:alpha val="0"/>
              </a:srgbClr>
            </a:solidFill>
            <a:prstDash val="solid"/>
          </a:ln>
        </p:spPr>
      </p:sp>
      <p:sp>
        <p:nvSpPr>
          <p:cNvPr id="29" name="Shape 27"/>
          <p:cNvSpPr/>
          <p:nvPr/>
        </p:nvSpPr>
        <p:spPr>
          <a:xfrm>
            <a:off x="9070848" y="2624328"/>
            <a:ext cx="118872" cy="118872"/>
          </a:xfrm>
          <a:prstGeom prst="rect">
            <a:avLst/>
          </a:prstGeom>
          <a:solidFill>
            <a:srgbClr val="76B900">
              <a:alpha val="90000"/>
            </a:srgbClr>
          </a:solidFill>
          <a:ln w="12700">
            <a:solidFill>
              <a:srgbClr val="76B900">
                <a:alpha val="0"/>
              </a:srgbClr>
            </a:solidFill>
            <a:prstDash val="solid"/>
          </a:ln>
        </p:spPr>
      </p:sp>
      <p:sp>
        <p:nvSpPr>
          <p:cNvPr id="30" name="Shape 28"/>
          <p:cNvSpPr/>
          <p:nvPr/>
        </p:nvSpPr>
        <p:spPr>
          <a:xfrm>
            <a:off x="9253728" y="2624328"/>
            <a:ext cx="118872" cy="118872"/>
          </a:xfrm>
          <a:prstGeom prst="rect">
            <a:avLst/>
          </a:prstGeom>
          <a:solidFill>
            <a:srgbClr val="76B900">
              <a:alpha val="90000"/>
            </a:srgbClr>
          </a:solidFill>
          <a:ln w="12700">
            <a:solidFill>
              <a:srgbClr val="76B900">
                <a:alpha val="0"/>
              </a:srgbClr>
            </a:solidFill>
            <a:prstDash val="solid"/>
          </a:ln>
        </p:spPr>
      </p:sp>
      <p:sp>
        <p:nvSpPr>
          <p:cNvPr id="31" name="Shape 29"/>
          <p:cNvSpPr/>
          <p:nvPr/>
        </p:nvSpPr>
        <p:spPr>
          <a:xfrm>
            <a:off x="9436608" y="2624328"/>
            <a:ext cx="118872" cy="118872"/>
          </a:xfrm>
          <a:prstGeom prst="rect">
            <a:avLst/>
          </a:prstGeom>
          <a:solidFill>
            <a:srgbClr val="76B900">
              <a:alpha val="90000"/>
            </a:srgbClr>
          </a:solidFill>
          <a:ln w="12700">
            <a:solidFill>
              <a:srgbClr val="76B900">
                <a:alpha val="0"/>
              </a:srgbClr>
            </a:solidFill>
            <a:prstDash val="solid"/>
          </a:ln>
        </p:spPr>
      </p:sp>
      <p:sp>
        <p:nvSpPr>
          <p:cNvPr id="32" name="Shape 30"/>
          <p:cNvSpPr/>
          <p:nvPr/>
        </p:nvSpPr>
        <p:spPr>
          <a:xfrm>
            <a:off x="9619488" y="2624328"/>
            <a:ext cx="118872" cy="118872"/>
          </a:xfrm>
          <a:prstGeom prst="rect">
            <a:avLst/>
          </a:prstGeom>
          <a:solidFill>
            <a:srgbClr val="76B900">
              <a:alpha val="90000"/>
            </a:srgbClr>
          </a:solidFill>
          <a:ln w="12700">
            <a:solidFill>
              <a:srgbClr val="76B900">
                <a:alpha val="0"/>
              </a:srgbClr>
            </a:solidFill>
            <a:prstDash val="solid"/>
          </a:ln>
        </p:spPr>
      </p:sp>
      <p:sp>
        <p:nvSpPr>
          <p:cNvPr id="33" name="Shape 31"/>
          <p:cNvSpPr/>
          <p:nvPr/>
        </p:nvSpPr>
        <p:spPr>
          <a:xfrm>
            <a:off x="9802368" y="2624328"/>
            <a:ext cx="118872" cy="118872"/>
          </a:xfrm>
          <a:prstGeom prst="rect">
            <a:avLst/>
          </a:prstGeom>
          <a:solidFill>
            <a:srgbClr val="76B900">
              <a:alpha val="90000"/>
            </a:srgbClr>
          </a:solidFill>
          <a:ln w="12700">
            <a:solidFill>
              <a:srgbClr val="76B900">
                <a:alpha val="0"/>
              </a:srgbClr>
            </a:solidFill>
            <a:prstDash val="solid"/>
          </a:ln>
        </p:spPr>
      </p:sp>
      <p:sp>
        <p:nvSpPr>
          <p:cNvPr id="34" name="Text 32"/>
          <p:cNvSpPr/>
          <p:nvPr/>
        </p:nvSpPr>
        <p:spPr>
          <a:xfrm>
            <a:off x="8997696" y="3154680"/>
            <a:ext cx="1024128" cy="310896"/>
          </a:xfrm>
          <a:prstGeom prst="rect">
            <a:avLst/>
          </a:prstGeom>
          <a:noFill/>
          <a:ln/>
        </p:spPr>
        <p:txBody>
          <a:bodyPr wrap="square" lIns="0" tIns="0" rIns="0" bIns="0" rtlCol="0" anchor="ctr">
            <a:noAutofit/>
          </a:bodyPr>
          <a:lstStyle/>
          <a:p>
            <a:pPr marL="0" indent="0" algn="ctr">
              <a:buNone/>
            </a:pPr>
            <a:r>
              <a:rPr lang="en-US" sz="950" dirty="0">
                <a:solidFill>
                  <a:srgbClr val="7E8A97"/>
                </a:solidFill>
              </a:rPr>
              <a:t>many parallel threads</a:t>
            </a:r>
            <a:endParaRPr lang="en-US" sz="950" dirty="0"/>
          </a:p>
        </p:txBody>
      </p:sp>
      <p:sp>
        <p:nvSpPr>
          <p:cNvPr id="35" name="Shape 33"/>
          <p:cNvSpPr/>
          <p:nvPr/>
        </p:nvSpPr>
        <p:spPr>
          <a:xfrm>
            <a:off x="10369296" y="1298448"/>
            <a:ext cx="1234440" cy="2377440"/>
          </a:xfrm>
          <a:prstGeom prst="roundRect">
            <a:avLst>
              <a:gd name="adj" fmla="val 5926"/>
            </a:avLst>
          </a:prstGeom>
          <a:solidFill>
            <a:srgbClr val="18212D"/>
          </a:solidFill>
          <a:ln w="12700">
            <a:solidFill>
              <a:srgbClr val="FFB454"/>
            </a:solidFill>
            <a:prstDash val="solid"/>
          </a:ln>
        </p:spPr>
      </p:sp>
      <p:sp>
        <p:nvSpPr>
          <p:cNvPr id="36" name="Text 34"/>
          <p:cNvSpPr/>
          <p:nvPr/>
        </p:nvSpPr>
        <p:spPr>
          <a:xfrm>
            <a:off x="10460736" y="1508760"/>
            <a:ext cx="1051560" cy="228600"/>
          </a:xfrm>
          <a:prstGeom prst="rect">
            <a:avLst/>
          </a:prstGeom>
          <a:noFill/>
          <a:ln/>
        </p:spPr>
        <p:txBody>
          <a:bodyPr wrap="square" lIns="0" tIns="0" rIns="0" bIns="0" rtlCol="0" anchor="ctr">
            <a:noAutofit/>
          </a:bodyPr>
          <a:lstStyle/>
          <a:p>
            <a:pPr marL="0" indent="0" algn="ctr">
              <a:buNone/>
            </a:pPr>
            <a:r>
              <a:rPr lang="en-US" sz="1400" b="1" dirty="0">
                <a:solidFill>
                  <a:srgbClr val="FFB454"/>
                </a:solidFill>
              </a:rPr>
              <a:t>2× GPU</a:t>
            </a:r>
            <a:endParaRPr lang="en-US" sz="1400" dirty="0"/>
          </a:p>
        </p:txBody>
      </p:sp>
      <p:sp>
        <p:nvSpPr>
          <p:cNvPr id="37" name="Shape 35"/>
          <p:cNvSpPr/>
          <p:nvPr/>
        </p:nvSpPr>
        <p:spPr>
          <a:xfrm>
            <a:off x="10552176" y="1938528"/>
            <a:ext cx="118872" cy="118872"/>
          </a:xfrm>
          <a:prstGeom prst="rect">
            <a:avLst/>
          </a:prstGeom>
          <a:solidFill>
            <a:srgbClr val="FFB454">
              <a:alpha val="90000"/>
            </a:srgbClr>
          </a:solidFill>
          <a:ln w="12700">
            <a:solidFill>
              <a:srgbClr val="FFB454">
                <a:alpha val="0"/>
              </a:srgbClr>
            </a:solidFill>
            <a:prstDash val="solid"/>
          </a:ln>
        </p:spPr>
      </p:sp>
      <p:sp>
        <p:nvSpPr>
          <p:cNvPr id="38" name="Shape 36"/>
          <p:cNvSpPr/>
          <p:nvPr/>
        </p:nvSpPr>
        <p:spPr>
          <a:xfrm>
            <a:off x="10735056" y="1938528"/>
            <a:ext cx="118872" cy="118872"/>
          </a:xfrm>
          <a:prstGeom prst="rect">
            <a:avLst/>
          </a:prstGeom>
          <a:solidFill>
            <a:srgbClr val="FFB454">
              <a:alpha val="90000"/>
            </a:srgbClr>
          </a:solidFill>
          <a:ln w="12700">
            <a:solidFill>
              <a:srgbClr val="FFB454">
                <a:alpha val="0"/>
              </a:srgbClr>
            </a:solidFill>
            <a:prstDash val="solid"/>
          </a:ln>
        </p:spPr>
      </p:sp>
      <p:sp>
        <p:nvSpPr>
          <p:cNvPr id="39" name="Shape 37"/>
          <p:cNvSpPr/>
          <p:nvPr/>
        </p:nvSpPr>
        <p:spPr>
          <a:xfrm>
            <a:off x="10917936" y="1938528"/>
            <a:ext cx="118872" cy="118872"/>
          </a:xfrm>
          <a:prstGeom prst="rect">
            <a:avLst/>
          </a:prstGeom>
          <a:solidFill>
            <a:srgbClr val="FFB454">
              <a:alpha val="90000"/>
            </a:srgbClr>
          </a:solidFill>
          <a:ln w="12700">
            <a:solidFill>
              <a:srgbClr val="FFB454">
                <a:alpha val="0"/>
              </a:srgbClr>
            </a:solidFill>
            <a:prstDash val="solid"/>
          </a:ln>
        </p:spPr>
      </p:sp>
      <p:sp>
        <p:nvSpPr>
          <p:cNvPr id="40" name="Shape 38"/>
          <p:cNvSpPr/>
          <p:nvPr/>
        </p:nvSpPr>
        <p:spPr>
          <a:xfrm>
            <a:off x="11100816" y="1938528"/>
            <a:ext cx="118872" cy="118872"/>
          </a:xfrm>
          <a:prstGeom prst="rect">
            <a:avLst/>
          </a:prstGeom>
          <a:solidFill>
            <a:srgbClr val="FFB454">
              <a:alpha val="90000"/>
            </a:srgbClr>
          </a:solidFill>
          <a:ln w="12700">
            <a:solidFill>
              <a:srgbClr val="FFB454">
                <a:alpha val="0"/>
              </a:srgbClr>
            </a:solidFill>
            <a:prstDash val="solid"/>
          </a:ln>
        </p:spPr>
      </p:sp>
      <p:sp>
        <p:nvSpPr>
          <p:cNvPr id="41" name="Shape 39"/>
          <p:cNvSpPr/>
          <p:nvPr/>
        </p:nvSpPr>
        <p:spPr>
          <a:xfrm>
            <a:off x="10552176" y="2167128"/>
            <a:ext cx="118872" cy="118872"/>
          </a:xfrm>
          <a:prstGeom prst="rect">
            <a:avLst/>
          </a:prstGeom>
          <a:solidFill>
            <a:srgbClr val="FFB454">
              <a:alpha val="90000"/>
            </a:srgbClr>
          </a:solidFill>
          <a:ln w="12700">
            <a:solidFill>
              <a:srgbClr val="FFB454">
                <a:alpha val="0"/>
              </a:srgbClr>
            </a:solidFill>
            <a:prstDash val="solid"/>
          </a:ln>
        </p:spPr>
      </p:sp>
      <p:sp>
        <p:nvSpPr>
          <p:cNvPr id="42" name="Shape 40"/>
          <p:cNvSpPr/>
          <p:nvPr/>
        </p:nvSpPr>
        <p:spPr>
          <a:xfrm>
            <a:off x="10735056" y="2167128"/>
            <a:ext cx="118872" cy="118872"/>
          </a:xfrm>
          <a:prstGeom prst="rect">
            <a:avLst/>
          </a:prstGeom>
          <a:solidFill>
            <a:srgbClr val="FFB454">
              <a:alpha val="90000"/>
            </a:srgbClr>
          </a:solidFill>
          <a:ln w="12700">
            <a:solidFill>
              <a:srgbClr val="FFB454">
                <a:alpha val="0"/>
              </a:srgbClr>
            </a:solidFill>
            <a:prstDash val="solid"/>
          </a:ln>
        </p:spPr>
      </p:sp>
      <p:sp>
        <p:nvSpPr>
          <p:cNvPr id="43" name="Shape 41"/>
          <p:cNvSpPr/>
          <p:nvPr/>
        </p:nvSpPr>
        <p:spPr>
          <a:xfrm>
            <a:off x="10917936" y="2167128"/>
            <a:ext cx="118872" cy="118872"/>
          </a:xfrm>
          <a:prstGeom prst="rect">
            <a:avLst/>
          </a:prstGeom>
          <a:solidFill>
            <a:srgbClr val="FFB454">
              <a:alpha val="90000"/>
            </a:srgbClr>
          </a:solidFill>
          <a:ln w="12700">
            <a:solidFill>
              <a:srgbClr val="FFB454">
                <a:alpha val="0"/>
              </a:srgbClr>
            </a:solidFill>
            <a:prstDash val="solid"/>
          </a:ln>
        </p:spPr>
      </p:sp>
      <p:sp>
        <p:nvSpPr>
          <p:cNvPr id="44" name="Shape 42"/>
          <p:cNvSpPr/>
          <p:nvPr/>
        </p:nvSpPr>
        <p:spPr>
          <a:xfrm>
            <a:off x="11100816" y="2167128"/>
            <a:ext cx="118872" cy="118872"/>
          </a:xfrm>
          <a:prstGeom prst="rect">
            <a:avLst/>
          </a:prstGeom>
          <a:solidFill>
            <a:srgbClr val="FFB454">
              <a:alpha val="90000"/>
            </a:srgbClr>
          </a:solidFill>
          <a:ln w="12700">
            <a:solidFill>
              <a:srgbClr val="FFB454">
                <a:alpha val="0"/>
              </a:srgbClr>
            </a:solidFill>
            <a:prstDash val="solid"/>
          </a:ln>
        </p:spPr>
      </p:sp>
      <p:sp>
        <p:nvSpPr>
          <p:cNvPr id="45" name="Shape 43"/>
          <p:cNvSpPr/>
          <p:nvPr/>
        </p:nvSpPr>
        <p:spPr>
          <a:xfrm>
            <a:off x="10552176" y="2395728"/>
            <a:ext cx="118872" cy="118872"/>
          </a:xfrm>
          <a:prstGeom prst="rect">
            <a:avLst/>
          </a:prstGeom>
          <a:solidFill>
            <a:srgbClr val="FFB454">
              <a:alpha val="90000"/>
            </a:srgbClr>
          </a:solidFill>
          <a:ln w="12700">
            <a:solidFill>
              <a:srgbClr val="FFB454">
                <a:alpha val="0"/>
              </a:srgbClr>
            </a:solidFill>
            <a:prstDash val="solid"/>
          </a:ln>
        </p:spPr>
      </p:sp>
      <p:sp>
        <p:nvSpPr>
          <p:cNvPr id="46" name="Shape 44"/>
          <p:cNvSpPr/>
          <p:nvPr/>
        </p:nvSpPr>
        <p:spPr>
          <a:xfrm>
            <a:off x="10735056" y="2395728"/>
            <a:ext cx="118872" cy="118872"/>
          </a:xfrm>
          <a:prstGeom prst="rect">
            <a:avLst/>
          </a:prstGeom>
          <a:solidFill>
            <a:srgbClr val="FFB454">
              <a:alpha val="90000"/>
            </a:srgbClr>
          </a:solidFill>
          <a:ln w="12700">
            <a:solidFill>
              <a:srgbClr val="FFB454">
                <a:alpha val="0"/>
              </a:srgbClr>
            </a:solidFill>
            <a:prstDash val="solid"/>
          </a:ln>
        </p:spPr>
      </p:sp>
      <p:sp>
        <p:nvSpPr>
          <p:cNvPr id="47" name="Shape 45"/>
          <p:cNvSpPr/>
          <p:nvPr/>
        </p:nvSpPr>
        <p:spPr>
          <a:xfrm>
            <a:off x="10917936" y="2395728"/>
            <a:ext cx="118872" cy="118872"/>
          </a:xfrm>
          <a:prstGeom prst="rect">
            <a:avLst/>
          </a:prstGeom>
          <a:solidFill>
            <a:srgbClr val="FFB454">
              <a:alpha val="90000"/>
            </a:srgbClr>
          </a:solidFill>
          <a:ln w="12700">
            <a:solidFill>
              <a:srgbClr val="FFB454">
                <a:alpha val="0"/>
              </a:srgbClr>
            </a:solidFill>
            <a:prstDash val="solid"/>
          </a:ln>
        </p:spPr>
      </p:sp>
      <p:sp>
        <p:nvSpPr>
          <p:cNvPr id="48" name="Shape 46"/>
          <p:cNvSpPr/>
          <p:nvPr/>
        </p:nvSpPr>
        <p:spPr>
          <a:xfrm>
            <a:off x="11100816" y="2395728"/>
            <a:ext cx="118872" cy="118872"/>
          </a:xfrm>
          <a:prstGeom prst="rect">
            <a:avLst/>
          </a:prstGeom>
          <a:solidFill>
            <a:srgbClr val="FFB454">
              <a:alpha val="90000"/>
            </a:srgbClr>
          </a:solidFill>
          <a:ln w="12700">
            <a:solidFill>
              <a:srgbClr val="FFB454">
                <a:alpha val="0"/>
              </a:srgbClr>
            </a:solidFill>
            <a:prstDash val="solid"/>
          </a:ln>
        </p:spPr>
      </p:sp>
      <p:sp>
        <p:nvSpPr>
          <p:cNvPr id="49" name="Text 47"/>
          <p:cNvSpPr/>
          <p:nvPr/>
        </p:nvSpPr>
        <p:spPr>
          <a:xfrm>
            <a:off x="10479024" y="3154680"/>
            <a:ext cx="1024128" cy="310896"/>
          </a:xfrm>
          <a:prstGeom prst="rect">
            <a:avLst/>
          </a:prstGeom>
          <a:noFill/>
          <a:ln/>
        </p:spPr>
        <p:txBody>
          <a:bodyPr wrap="square" lIns="0" tIns="0" rIns="0" bIns="0" rtlCol="0" anchor="ctr">
            <a:noAutofit/>
          </a:bodyPr>
          <a:lstStyle/>
          <a:p>
            <a:pPr marL="0" indent="0" algn="ctr">
              <a:buNone/>
            </a:pPr>
            <a:r>
              <a:rPr lang="en-US" sz="950" dirty="0">
                <a:solidFill>
                  <a:srgbClr val="7E8A97"/>
                </a:solidFill>
              </a:rPr>
              <a:t>batch split + sync</a:t>
            </a:r>
            <a:endParaRPr lang="en-US" sz="950" dirty="0"/>
          </a:p>
        </p:txBody>
      </p:sp>
      <p:sp>
        <p:nvSpPr>
          <p:cNvPr id="50" name="Shape 48"/>
          <p:cNvSpPr/>
          <p:nvPr/>
        </p:nvSpPr>
        <p:spPr>
          <a:xfrm>
            <a:off x="8641080" y="2514600"/>
            <a:ext cx="210312" cy="0"/>
          </a:xfrm>
          <a:prstGeom prst="line">
            <a:avLst/>
          </a:prstGeom>
          <a:noFill/>
          <a:ln w="17780">
            <a:solidFill>
              <a:srgbClr val="7E8A97"/>
            </a:solidFill>
            <a:prstDash val="solid"/>
            <a:headEnd type="none"/>
            <a:tailEnd type="triangle"/>
          </a:ln>
        </p:spPr>
      </p:sp>
      <p:sp>
        <p:nvSpPr>
          <p:cNvPr id="51" name="Shape 49"/>
          <p:cNvSpPr/>
          <p:nvPr/>
        </p:nvSpPr>
        <p:spPr>
          <a:xfrm>
            <a:off x="10131552" y="2514600"/>
            <a:ext cx="210312" cy="0"/>
          </a:xfrm>
          <a:prstGeom prst="line">
            <a:avLst/>
          </a:prstGeom>
          <a:noFill/>
          <a:ln w="17780">
            <a:solidFill>
              <a:srgbClr val="7E8A97"/>
            </a:solidFill>
            <a:prstDash val="solid"/>
            <a:headEnd type="none"/>
            <a:tailEnd type="triangle"/>
          </a:ln>
        </p:spPr>
      </p:sp>
      <p:sp>
        <p:nvSpPr>
          <p:cNvPr id="52" name="Shape 50"/>
          <p:cNvSpPr/>
          <p:nvPr/>
        </p:nvSpPr>
        <p:spPr>
          <a:xfrm>
            <a:off x="658368" y="4251960"/>
            <a:ext cx="2148840" cy="347472"/>
          </a:xfrm>
          <a:prstGeom prst="roundRect">
            <a:avLst>
              <a:gd name="adj" fmla="val 13158"/>
            </a:avLst>
          </a:prstGeom>
          <a:solidFill>
            <a:srgbClr val="41D9FF">
              <a:alpha val="18000"/>
            </a:srgbClr>
          </a:solidFill>
          <a:ln w="12700">
            <a:solidFill>
              <a:srgbClr val="41D9FF">
                <a:alpha val="50000"/>
              </a:srgbClr>
            </a:solidFill>
            <a:prstDash val="solid"/>
          </a:ln>
        </p:spPr>
      </p:sp>
      <p:sp>
        <p:nvSpPr>
          <p:cNvPr id="53" name="Text 51"/>
          <p:cNvSpPr/>
          <p:nvPr/>
        </p:nvSpPr>
        <p:spPr>
          <a:xfrm>
            <a:off x="658368" y="4338828"/>
            <a:ext cx="2148840" cy="137160"/>
          </a:xfrm>
          <a:prstGeom prst="rect">
            <a:avLst/>
          </a:prstGeom>
          <a:noFill/>
          <a:ln/>
        </p:spPr>
        <p:txBody>
          <a:bodyPr wrap="square" lIns="0" tIns="0" rIns="0" bIns="0" rtlCol="0" anchor="ctr">
            <a:noAutofit/>
          </a:bodyPr>
          <a:lstStyle/>
          <a:p>
            <a:pPr marL="0" indent="0" algn="ctr">
              <a:buNone/>
            </a:pPr>
            <a:r>
              <a:rPr lang="en-US" sz="900" b="1">
                <a:solidFill>
                  <a:srgbClr val="41D9FF"/>
                </a:solidFill>
              </a:rPr>
              <a:t>PRITHIV • CNN + CPU</a:t>
            </a:r>
            <a:endParaRPr lang="en-US" sz="900" dirty="0"/>
          </a:p>
        </p:txBody>
      </p:sp>
      <p:sp>
        <p:nvSpPr>
          <p:cNvPr id="54" name="Shape 52"/>
          <p:cNvSpPr/>
          <p:nvPr/>
        </p:nvSpPr>
        <p:spPr>
          <a:xfrm>
            <a:off x="2971800" y="4251960"/>
            <a:ext cx="2331720"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55" name="Text 53"/>
          <p:cNvSpPr/>
          <p:nvPr/>
        </p:nvSpPr>
        <p:spPr>
          <a:xfrm>
            <a:off x="2971800" y="4338828"/>
            <a:ext cx="2331720" cy="137160"/>
          </a:xfrm>
          <a:prstGeom prst="rect">
            <a:avLst/>
          </a:prstGeom>
          <a:noFill/>
          <a:ln/>
        </p:spPr>
        <p:txBody>
          <a:bodyPr wrap="square" lIns="0" tIns="0" rIns="0" bIns="0" rtlCol="0" anchor="ctr">
            <a:noAutofit/>
          </a:bodyPr>
          <a:lstStyle/>
          <a:p>
            <a:pPr marL="0" indent="0" algn="ctr">
              <a:buNone/>
            </a:pPr>
            <a:r>
              <a:rPr lang="en-US" sz="900" b="1">
                <a:solidFill>
                  <a:srgbClr val="76B900"/>
                </a:solidFill>
              </a:rPr>
              <a:t>SATYA • CUDA + KERNELS</a:t>
            </a:r>
            <a:endParaRPr lang="en-US" sz="900" dirty="0"/>
          </a:p>
        </p:txBody>
      </p:sp>
      <p:sp>
        <p:nvSpPr>
          <p:cNvPr id="56" name="Shape 54"/>
          <p:cNvSpPr/>
          <p:nvPr/>
        </p:nvSpPr>
        <p:spPr>
          <a:xfrm>
            <a:off x="5468112" y="4251960"/>
            <a:ext cx="1965960" cy="347472"/>
          </a:xfrm>
          <a:prstGeom prst="roundRect">
            <a:avLst>
              <a:gd name="adj" fmla="val 13158"/>
            </a:avLst>
          </a:prstGeom>
          <a:solidFill>
            <a:srgbClr val="FFB454">
              <a:alpha val="18000"/>
            </a:srgbClr>
          </a:solidFill>
          <a:ln w="12700">
            <a:solidFill>
              <a:srgbClr val="FFB454">
                <a:alpha val="50000"/>
              </a:srgbClr>
            </a:solidFill>
            <a:prstDash val="solid"/>
          </a:ln>
        </p:spPr>
      </p:sp>
      <p:sp>
        <p:nvSpPr>
          <p:cNvPr id="57" name="Text 55"/>
          <p:cNvSpPr/>
          <p:nvPr/>
        </p:nvSpPr>
        <p:spPr>
          <a:xfrm>
            <a:off x="5468112" y="4338828"/>
            <a:ext cx="1965960" cy="137160"/>
          </a:xfrm>
          <a:prstGeom prst="rect">
            <a:avLst/>
          </a:prstGeom>
          <a:noFill/>
          <a:ln/>
        </p:spPr>
        <p:txBody>
          <a:bodyPr wrap="square" lIns="0" tIns="0" rIns="0" bIns="0" rtlCol="0" anchor="ctr">
            <a:noAutofit/>
          </a:bodyPr>
          <a:lstStyle/>
          <a:p>
            <a:pPr marL="0" indent="0" algn="ctr">
              <a:buNone/>
            </a:pPr>
            <a:r>
              <a:rPr lang="en-US" sz="900" b="1">
                <a:solidFill>
                  <a:srgbClr val="FFB454"/>
                </a:solidFill>
              </a:rPr>
              <a:t>ROYDON • RESULTS</a:t>
            </a:r>
            <a:endParaRPr lang="en-US" sz="900" dirty="0"/>
          </a:p>
        </p:txBody>
      </p:sp>
      <p:sp>
        <p:nvSpPr>
          <p:cNvPr id="58" name="Text 56"/>
          <p:cNvSpPr/>
          <p:nvPr/>
        </p:nvSpPr>
        <p:spPr>
          <a:xfrm>
            <a:off x="658368" y="4901184"/>
            <a:ext cx="3017520" cy="274320"/>
          </a:xfrm>
          <a:prstGeom prst="rect">
            <a:avLst/>
          </a:prstGeom>
          <a:noFill/>
          <a:ln/>
        </p:spPr>
        <p:txBody>
          <a:bodyPr wrap="square" lIns="0" tIns="0" rIns="0" bIns="0" rtlCol="0" anchor="ctr">
            <a:noAutofit/>
          </a:bodyPr>
          <a:lstStyle/>
          <a:p>
            <a:pPr marL="0" indent="0">
              <a:buNone/>
            </a:pPr>
            <a:r>
              <a:rPr lang="de-DE" sz="1200">
                <a:solidFill>
                  <a:srgbClr val="7E8A97"/>
                </a:solidFill>
              </a:rPr>
              <a:t>50 epochs · 10% MNIST · Kaggle T4 ×2</a:t>
            </a:r>
            <a:endParaRPr lang="en-US" sz="1200" dirty="0"/>
          </a:p>
        </p:txBody>
      </p:sp>
      <p:sp>
        <p:nvSpPr>
          <p:cNvPr id="59"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dirty="0">
                <a:solidFill>
                  <a:srgbClr val="F4F7FA"/>
                </a:solidFill>
              </a:rPr>
              <a:t>How a CNN works — in one slide</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Our digit classifier: 28×28 image → convolution → ReLU/pool → 676 features → ten class scores.</a:t>
            </a:r>
            <a:endParaRPr lang="en-US" sz="1150" dirty="0"/>
          </a:p>
        </p:txBody>
      </p:sp>
      <p:sp>
        <p:nvSpPr>
          <p:cNvPr id="4" name="Shape 2"/>
          <p:cNvSpPr/>
          <p:nvPr/>
        </p:nvSpPr>
        <p:spPr>
          <a:xfrm>
            <a:off x="9966960" y="347472"/>
            <a:ext cx="1600200" cy="384048"/>
          </a:xfrm>
          <a:prstGeom prst="roundRect">
            <a:avLst>
              <a:gd name="adj" fmla="val 19048"/>
            </a:avLst>
          </a:prstGeom>
          <a:solidFill>
            <a:srgbClr val="41D9FF">
              <a:alpha val="16000"/>
            </a:srgbClr>
          </a:solidFill>
          <a:ln w="12700">
            <a:solidFill>
              <a:srgbClr val="41D9FF">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41D9FF"/>
                </a:solidFill>
              </a:rPr>
              <a:t>PRITHIV · PERSON 1</a:t>
            </a:r>
            <a:endParaRPr lang="en-US" sz="950" dirty="0"/>
          </a:p>
        </p:txBody>
      </p:sp>
      <p:sp>
        <p:nvSpPr>
          <p:cNvPr id="6" name="Shape 4"/>
          <p:cNvSpPr/>
          <p:nvPr/>
        </p:nvSpPr>
        <p:spPr>
          <a:xfrm>
            <a:off x="594360" y="1234440"/>
            <a:ext cx="10972800" cy="4846320"/>
          </a:xfrm>
          <a:prstGeom prst="roundRect">
            <a:avLst>
              <a:gd name="adj" fmla="val 1509"/>
            </a:avLst>
          </a:prstGeom>
          <a:solidFill>
            <a:srgbClr val="121923"/>
          </a:solidFill>
          <a:ln w="12700">
            <a:solidFill>
              <a:srgbClr val="25303D"/>
            </a:solidFill>
            <a:prstDash val="solid"/>
          </a:ln>
        </p:spPr>
      </p:sp>
      <p:sp>
        <p:nvSpPr>
          <p:cNvPr id="7" name="Shape 5"/>
          <p:cNvSpPr/>
          <p:nvPr/>
        </p:nvSpPr>
        <p:spPr>
          <a:xfrm>
            <a:off x="868680" y="1536192"/>
            <a:ext cx="1417320" cy="310896"/>
          </a:xfrm>
          <a:prstGeom prst="roundRect">
            <a:avLst>
              <a:gd name="adj" fmla="val 17647"/>
            </a:avLst>
          </a:prstGeom>
          <a:solidFill>
            <a:srgbClr val="41D9FF">
              <a:alpha val="14000"/>
            </a:srgbClr>
          </a:solidFill>
          <a:ln w="12700">
            <a:solidFill>
              <a:srgbClr val="41D9FF">
                <a:alpha val="45000"/>
              </a:srgbClr>
            </a:solidFill>
            <a:prstDash val="solid"/>
          </a:ln>
        </p:spPr>
      </p:sp>
      <p:sp>
        <p:nvSpPr>
          <p:cNvPr id="8" name="Text 6"/>
          <p:cNvSpPr/>
          <p:nvPr/>
        </p:nvSpPr>
        <p:spPr>
          <a:xfrm>
            <a:off x="868680" y="1613916"/>
            <a:ext cx="141732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41D9FF"/>
                </a:solidFill>
              </a:rPr>
              <a:t>1 • INPUT IMAGE</a:t>
            </a:r>
            <a:endParaRPr lang="en-US" sz="850" dirty="0"/>
          </a:p>
        </p:txBody>
      </p:sp>
      <p:sp>
        <p:nvSpPr>
          <p:cNvPr id="9" name="Shape 7"/>
          <p:cNvSpPr/>
          <p:nvPr/>
        </p:nvSpPr>
        <p:spPr>
          <a:xfrm>
            <a:off x="914400" y="2148840"/>
            <a:ext cx="233172" cy="233172"/>
          </a:xfrm>
          <a:prstGeom prst="rect">
            <a:avLst/>
          </a:prstGeom>
          <a:solidFill>
            <a:srgbClr val="24303C"/>
          </a:solidFill>
          <a:ln w="6350">
            <a:solidFill>
              <a:srgbClr val="33404E"/>
            </a:solidFill>
            <a:prstDash val="solid"/>
          </a:ln>
        </p:spPr>
      </p:sp>
      <p:sp>
        <p:nvSpPr>
          <p:cNvPr id="10" name="Shape 8"/>
          <p:cNvSpPr/>
          <p:nvPr/>
        </p:nvSpPr>
        <p:spPr>
          <a:xfrm>
            <a:off x="1161288" y="2148840"/>
            <a:ext cx="233172" cy="233172"/>
          </a:xfrm>
          <a:prstGeom prst="rect">
            <a:avLst/>
          </a:prstGeom>
          <a:solidFill>
            <a:srgbClr val="24303C"/>
          </a:solidFill>
          <a:ln w="6350">
            <a:solidFill>
              <a:srgbClr val="33404E"/>
            </a:solidFill>
            <a:prstDash val="solid"/>
          </a:ln>
        </p:spPr>
      </p:sp>
      <p:sp>
        <p:nvSpPr>
          <p:cNvPr id="11" name="Shape 9"/>
          <p:cNvSpPr/>
          <p:nvPr/>
        </p:nvSpPr>
        <p:spPr>
          <a:xfrm>
            <a:off x="1408176" y="2148840"/>
            <a:ext cx="233172" cy="233172"/>
          </a:xfrm>
          <a:prstGeom prst="rect">
            <a:avLst/>
          </a:prstGeom>
          <a:solidFill>
            <a:srgbClr val="24303C"/>
          </a:solidFill>
          <a:ln w="6350">
            <a:solidFill>
              <a:srgbClr val="33404E"/>
            </a:solidFill>
            <a:prstDash val="solid"/>
          </a:ln>
        </p:spPr>
      </p:sp>
      <p:sp>
        <p:nvSpPr>
          <p:cNvPr id="12" name="Shape 10"/>
          <p:cNvSpPr/>
          <p:nvPr/>
        </p:nvSpPr>
        <p:spPr>
          <a:xfrm>
            <a:off x="1655064" y="2148840"/>
            <a:ext cx="233172" cy="233172"/>
          </a:xfrm>
          <a:prstGeom prst="rect">
            <a:avLst/>
          </a:prstGeom>
          <a:solidFill>
            <a:srgbClr val="24303C"/>
          </a:solidFill>
          <a:ln w="6350">
            <a:solidFill>
              <a:srgbClr val="33404E"/>
            </a:solidFill>
            <a:prstDash val="solid"/>
          </a:ln>
        </p:spPr>
      </p:sp>
      <p:sp>
        <p:nvSpPr>
          <p:cNvPr id="13" name="Shape 11"/>
          <p:cNvSpPr/>
          <p:nvPr/>
        </p:nvSpPr>
        <p:spPr>
          <a:xfrm>
            <a:off x="1901952" y="2148840"/>
            <a:ext cx="233172" cy="233172"/>
          </a:xfrm>
          <a:prstGeom prst="rect">
            <a:avLst/>
          </a:prstGeom>
          <a:solidFill>
            <a:srgbClr val="24303C"/>
          </a:solidFill>
          <a:ln w="6350">
            <a:solidFill>
              <a:srgbClr val="33404E"/>
            </a:solidFill>
            <a:prstDash val="solid"/>
          </a:ln>
        </p:spPr>
      </p:sp>
      <p:sp>
        <p:nvSpPr>
          <p:cNvPr id="14" name="Shape 12"/>
          <p:cNvSpPr/>
          <p:nvPr/>
        </p:nvSpPr>
        <p:spPr>
          <a:xfrm>
            <a:off x="2148840" y="2148840"/>
            <a:ext cx="233172" cy="233172"/>
          </a:xfrm>
          <a:prstGeom prst="rect">
            <a:avLst/>
          </a:prstGeom>
          <a:solidFill>
            <a:srgbClr val="24303C"/>
          </a:solidFill>
          <a:ln w="6350">
            <a:solidFill>
              <a:srgbClr val="33404E"/>
            </a:solidFill>
            <a:prstDash val="solid"/>
          </a:ln>
        </p:spPr>
      </p:sp>
      <p:sp>
        <p:nvSpPr>
          <p:cNvPr id="15" name="Shape 13"/>
          <p:cNvSpPr/>
          <p:nvPr/>
        </p:nvSpPr>
        <p:spPr>
          <a:xfrm>
            <a:off x="914400" y="2395728"/>
            <a:ext cx="233172" cy="233172"/>
          </a:xfrm>
          <a:prstGeom prst="rect">
            <a:avLst/>
          </a:prstGeom>
          <a:solidFill>
            <a:srgbClr val="24303C"/>
          </a:solidFill>
          <a:ln w="6350">
            <a:solidFill>
              <a:srgbClr val="33404E"/>
            </a:solidFill>
            <a:prstDash val="solid"/>
          </a:ln>
        </p:spPr>
      </p:sp>
      <p:sp>
        <p:nvSpPr>
          <p:cNvPr id="16" name="Shape 14"/>
          <p:cNvSpPr/>
          <p:nvPr/>
        </p:nvSpPr>
        <p:spPr>
          <a:xfrm>
            <a:off x="1161288" y="2395728"/>
            <a:ext cx="233172" cy="233172"/>
          </a:xfrm>
          <a:prstGeom prst="rect">
            <a:avLst/>
          </a:prstGeom>
          <a:solidFill>
            <a:srgbClr val="24303C"/>
          </a:solidFill>
          <a:ln w="6350">
            <a:solidFill>
              <a:srgbClr val="33404E"/>
            </a:solidFill>
            <a:prstDash val="solid"/>
          </a:ln>
        </p:spPr>
      </p:sp>
      <p:sp>
        <p:nvSpPr>
          <p:cNvPr id="17" name="Shape 15"/>
          <p:cNvSpPr/>
          <p:nvPr/>
        </p:nvSpPr>
        <p:spPr>
          <a:xfrm>
            <a:off x="1408176" y="2395728"/>
            <a:ext cx="233172" cy="233172"/>
          </a:xfrm>
          <a:prstGeom prst="rect">
            <a:avLst/>
          </a:prstGeom>
          <a:solidFill>
            <a:srgbClr val="41D9FF">
              <a:alpha val="80000"/>
            </a:srgbClr>
          </a:solidFill>
          <a:ln w="15240">
            <a:solidFill>
              <a:srgbClr val="41D9FF"/>
            </a:solidFill>
            <a:prstDash val="solid"/>
          </a:ln>
        </p:spPr>
      </p:sp>
      <p:sp>
        <p:nvSpPr>
          <p:cNvPr id="18" name="Shape 16"/>
          <p:cNvSpPr/>
          <p:nvPr/>
        </p:nvSpPr>
        <p:spPr>
          <a:xfrm>
            <a:off x="1655064" y="2395728"/>
            <a:ext cx="233172" cy="233172"/>
          </a:xfrm>
          <a:prstGeom prst="rect">
            <a:avLst/>
          </a:prstGeom>
          <a:solidFill>
            <a:srgbClr val="41D9FF">
              <a:alpha val="80000"/>
            </a:srgbClr>
          </a:solidFill>
          <a:ln w="15240">
            <a:solidFill>
              <a:srgbClr val="41D9FF"/>
            </a:solidFill>
            <a:prstDash val="solid"/>
          </a:ln>
        </p:spPr>
      </p:sp>
      <p:sp>
        <p:nvSpPr>
          <p:cNvPr id="19" name="Shape 17"/>
          <p:cNvSpPr/>
          <p:nvPr/>
        </p:nvSpPr>
        <p:spPr>
          <a:xfrm>
            <a:off x="1901952" y="2395728"/>
            <a:ext cx="233172" cy="233172"/>
          </a:xfrm>
          <a:prstGeom prst="rect">
            <a:avLst/>
          </a:prstGeom>
          <a:solidFill>
            <a:srgbClr val="41D9FF">
              <a:alpha val="80000"/>
            </a:srgbClr>
          </a:solidFill>
          <a:ln w="15240">
            <a:solidFill>
              <a:srgbClr val="41D9FF"/>
            </a:solidFill>
            <a:prstDash val="solid"/>
          </a:ln>
        </p:spPr>
      </p:sp>
      <p:sp>
        <p:nvSpPr>
          <p:cNvPr id="20" name="Shape 18"/>
          <p:cNvSpPr/>
          <p:nvPr/>
        </p:nvSpPr>
        <p:spPr>
          <a:xfrm>
            <a:off x="2148840" y="2395728"/>
            <a:ext cx="233172" cy="233172"/>
          </a:xfrm>
          <a:prstGeom prst="rect">
            <a:avLst/>
          </a:prstGeom>
          <a:solidFill>
            <a:srgbClr val="24303C"/>
          </a:solidFill>
          <a:ln w="6350">
            <a:solidFill>
              <a:srgbClr val="33404E"/>
            </a:solidFill>
            <a:prstDash val="solid"/>
          </a:ln>
        </p:spPr>
      </p:sp>
      <p:sp>
        <p:nvSpPr>
          <p:cNvPr id="21" name="Shape 19"/>
          <p:cNvSpPr/>
          <p:nvPr/>
        </p:nvSpPr>
        <p:spPr>
          <a:xfrm>
            <a:off x="914400" y="2642616"/>
            <a:ext cx="233172" cy="233172"/>
          </a:xfrm>
          <a:prstGeom prst="rect">
            <a:avLst/>
          </a:prstGeom>
          <a:solidFill>
            <a:srgbClr val="24303C"/>
          </a:solidFill>
          <a:ln w="6350">
            <a:solidFill>
              <a:srgbClr val="33404E"/>
            </a:solidFill>
            <a:prstDash val="solid"/>
          </a:ln>
        </p:spPr>
      </p:sp>
      <p:sp>
        <p:nvSpPr>
          <p:cNvPr id="22" name="Shape 20"/>
          <p:cNvSpPr/>
          <p:nvPr/>
        </p:nvSpPr>
        <p:spPr>
          <a:xfrm>
            <a:off x="1161288" y="2642616"/>
            <a:ext cx="233172" cy="233172"/>
          </a:xfrm>
          <a:prstGeom prst="rect">
            <a:avLst/>
          </a:prstGeom>
          <a:solidFill>
            <a:srgbClr val="24303C"/>
          </a:solidFill>
          <a:ln w="6350">
            <a:solidFill>
              <a:srgbClr val="33404E"/>
            </a:solidFill>
            <a:prstDash val="solid"/>
          </a:ln>
        </p:spPr>
      </p:sp>
      <p:sp>
        <p:nvSpPr>
          <p:cNvPr id="23" name="Shape 21"/>
          <p:cNvSpPr/>
          <p:nvPr/>
        </p:nvSpPr>
        <p:spPr>
          <a:xfrm>
            <a:off x="1408176" y="2642616"/>
            <a:ext cx="233172" cy="233172"/>
          </a:xfrm>
          <a:prstGeom prst="rect">
            <a:avLst/>
          </a:prstGeom>
          <a:solidFill>
            <a:srgbClr val="41D9FF">
              <a:alpha val="80000"/>
            </a:srgbClr>
          </a:solidFill>
          <a:ln w="15240">
            <a:solidFill>
              <a:srgbClr val="41D9FF"/>
            </a:solidFill>
            <a:prstDash val="solid"/>
          </a:ln>
        </p:spPr>
      </p:sp>
      <p:sp>
        <p:nvSpPr>
          <p:cNvPr id="24" name="Shape 22"/>
          <p:cNvSpPr/>
          <p:nvPr/>
        </p:nvSpPr>
        <p:spPr>
          <a:xfrm>
            <a:off x="1655064" y="2642616"/>
            <a:ext cx="233172" cy="233172"/>
          </a:xfrm>
          <a:prstGeom prst="rect">
            <a:avLst/>
          </a:prstGeom>
          <a:solidFill>
            <a:srgbClr val="41D9FF">
              <a:alpha val="80000"/>
            </a:srgbClr>
          </a:solidFill>
          <a:ln w="15240">
            <a:solidFill>
              <a:srgbClr val="41D9FF"/>
            </a:solidFill>
            <a:prstDash val="solid"/>
          </a:ln>
        </p:spPr>
      </p:sp>
      <p:sp>
        <p:nvSpPr>
          <p:cNvPr id="25" name="Shape 23"/>
          <p:cNvSpPr/>
          <p:nvPr/>
        </p:nvSpPr>
        <p:spPr>
          <a:xfrm>
            <a:off x="1901952" y="2642616"/>
            <a:ext cx="233172" cy="233172"/>
          </a:xfrm>
          <a:prstGeom prst="rect">
            <a:avLst/>
          </a:prstGeom>
          <a:solidFill>
            <a:srgbClr val="41D9FF">
              <a:alpha val="80000"/>
            </a:srgbClr>
          </a:solidFill>
          <a:ln w="15240">
            <a:solidFill>
              <a:srgbClr val="41D9FF"/>
            </a:solidFill>
            <a:prstDash val="solid"/>
          </a:ln>
        </p:spPr>
      </p:sp>
      <p:sp>
        <p:nvSpPr>
          <p:cNvPr id="26" name="Shape 24"/>
          <p:cNvSpPr/>
          <p:nvPr/>
        </p:nvSpPr>
        <p:spPr>
          <a:xfrm>
            <a:off x="2148840" y="2642616"/>
            <a:ext cx="233172" cy="233172"/>
          </a:xfrm>
          <a:prstGeom prst="rect">
            <a:avLst/>
          </a:prstGeom>
          <a:solidFill>
            <a:srgbClr val="24303C"/>
          </a:solidFill>
          <a:ln w="6350">
            <a:solidFill>
              <a:srgbClr val="33404E"/>
            </a:solidFill>
            <a:prstDash val="solid"/>
          </a:ln>
        </p:spPr>
      </p:sp>
      <p:sp>
        <p:nvSpPr>
          <p:cNvPr id="27" name="Shape 25"/>
          <p:cNvSpPr/>
          <p:nvPr/>
        </p:nvSpPr>
        <p:spPr>
          <a:xfrm>
            <a:off x="914400" y="2889504"/>
            <a:ext cx="233172" cy="233172"/>
          </a:xfrm>
          <a:prstGeom prst="rect">
            <a:avLst/>
          </a:prstGeom>
          <a:solidFill>
            <a:srgbClr val="24303C"/>
          </a:solidFill>
          <a:ln w="6350">
            <a:solidFill>
              <a:srgbClr val="33404E"/>
            </a:solidFill>
            <a:prstDash val="solid"/>
          </a:ln>
        </p:spPr>
      </p:sp>
      <p:sp>
        <p:nvSpPr>
          <p:cNvPr id="28" name="Shape 26"/>
          <p:cNvSpPr/>
          <p:nvPr/>
        </p:nvSpPr>
        <p:spPr>
          <a:xfrm>
            <a:off x="1161288" y="2889504"/>
            <a:ext cx="233172" cy="233172"/>
          </a:xfrm>
          <a:prstGeom prst="rect">
            <a:avLst/>
          </a:prstGeom>
          <a:solidFill>
            <a:srgbClr val="24303C"/>
          </a:solidFill>
          <a:ln w="6350">
            <a:solidFill>
              <a:srgbClr val="33404E"/>
            </a:solidFill>
            <a:prstDash val="solid"/>
          </a:ln>
        </p:spPr>
      </p:sp>
      <p:sp>
        <p:nvSpPr>
          <p:cNvPr id="29" name="Shape 27"/>
          <p:cNvSpPr/>
          <p:nvPr/>
        </p:nvSpPr>
        <p:spPr>
          <a:xfrm>
            <a:off x="1408176" y="2889504"/>
            <a:ext cx="233172" cy="233172"/>
          </a:xfrm>
          <a:prstGeom prst="rect">
            <a:avLst/>
          </a:prstGeom>
          <a:solidFill>
            <a:srgbClr val="41D9FF">
              <a:alpha val="80000"/>
            </a:srgbClr>
          </a:solidFill>
          <a:ln w="15240">
            <a:solidFill>
              <a:srgbClr val="41D9FF"/>
            </a:solidFill>
            <a:prstDash val="solid"/>
          </a:ln>
        </p:spPr>
      </p:sp>
      <p:sp>
        <p:nvSpPr>
          <p:cNvPr id="30" name="Shape 28"/>
          <p:cNvSpPr/>
          <p:nvPr/>
        </p:nvSpPr>
        <p:spPr>
          <a:xfrm>
            <a:off x="1655064" y="2889504"/>
            <a:ext cx="233172" cy="233172"/>
          </a:xfrm>
          <a:prstGeom prst="rect">
            <a:avLst/>
          </a:prstGeom>
          <a:solidFill>
            <a:srgbClr val="41D9FF">
              <a:alpha val="80000"/>
            </a:srgbClr>
          </a:solidFill>
          <a:ln w="15240">
            <a:solidFill>
              <a:srgbClr val="41D9FF"/>
            </a:solidFill>
            <a:prstDash val="solid"/>
          </a:ln>
        </p:spPr>
      </p:sp>
      <p:sp>
        <p:nvSpPr>
          <p:cNvPr id="31" name="Shape 29"/>
          <p:cNvSpPr/>
          <p:nvPr/>
        </p:nvSpPr>
        <p:spPr>
          <a:xfrm>
            <a:off x="1901952" y="2889504"/>
            <a:ext cx="233172" cy="233172"/>
          </a:xfrm>
          <a:prstGeom prst="rect">
            <a:avLst/>
          </a:prstGeom>
          <a:solidFill>
            <a:srgbClr val="41D9FF">
              <a:alpha val="80000"/>
            </a:srgbClr>
          </a:solidFill>
          <a:ln w="15240">
            <a:solidFill>
              <a:srgbClr val="41D9FF"/>
            </a:solidFill>
            <a:prstDash val="solid"/>
          </a:ln>
        </p:spPr>
      </p:sp>
      <p:sp>
        <p:nvSpPr>
          <p:cNvPr id="32" name="Shape 30"/>
          <p:cNvSpPr/>
          <p:nvPr/>
        </p:nvSpPr>
        <p:spPr>
          <a:xfrm>
            <a:off x="2148840" y="2889504"/>
            <a:ext cx="233172" cy="233172"/>
          </a:xfrm>
          <a:prstGeom prst="rect">
            <a:avLst/>
          </a:prstGeom>
          <a:solidFill>
            <a:srgbClr val="24303C"/>
          </a:solidFill>
          <a:ln w="6350">
            <a:solidFill>
              <a:srgbClr val="33404E"/>
            </a:solidFill>
            <a:prstDash val="solid"/>
          </a:ln>
        </p:spPr>
      </p:sp>
      <p:sp>
        <p:nvSpPr>
          <p:cNvPr id="33" name="Shape 31"/>
          <p:cNvSpPr/>
          <p:nvPr/>
        </p:nvSpPr>
        <p:spPr>
          <a:xfrm>
            <a:off x="914400" y="3136392"/>
            <a:ext cx="233172" cy="233172"/>
          </a:xfrm>
          <a:prstGeom prst="rect">
            <a:avLst/>
          </a:prstGeom>
          <a:solidFill>
            <a:srgbClr val="24303C"/>
          </a:solidFill>
          <a:ln w="6350">
            <a:solidFill>
              <a:srgbClr val="33404E"/>
            </a:solidFill>
            <a:prstDash val="solid"/>
          </a:ln>
        </p:spPr>
      </p:sp>
      <p:sp>
        <p:nvSpPr>
          <p:cNvPr id="34" name="Shape 32"/>
          <p:cNvSpPr/>
          <p:nvPr/>
        </p:nvSpPr>
        <p:spPr>
          <a:xfrm>
            <a:off x="1161288" y="3136392"/>
            <a:ext cx="233172" cy="233172"/>
          </a:xfrm>
          <a:prstGeom prst="rect">
            <a:avLst/>
          </a:prstGeom>
          <a:solidFill>
            <a:srgbClr val="24303C"/>
          </a:solidFill>
          <a:ln w="6350">
            <a:solidFill>
              <a:srgbClr val="33404E"/>
            </a:solidFill>
            <a:prstDash val="solid"/>
          </a:ln>
        </p:spPr>
      </p:sp>
      <p:sp>
        <p:nvSpPr>
          <p:cNvPr id="35" name="Shape 33"/>
          <p:cNvSpPr/>
          <p:nvPr/>
        </p:nvSpPr>
        <p:spPr>
          <a:xfrm>
            <a:off x="1408176" y="3136392"/>
            <a:ext cx="233172" cy="233172"/>
          </a:xfrm>
          <a:prstGeom prst="rect">
            <a:avLst/>
          </a:prstGeom>
          <a:solidFill>
            <a:srgbClr val="24303C"/>
          </a:solidFill>
          <a:ln w="6350">
            <a:solidFill>
              <a:srgbClr val="33404E"/>
            </a:solidFill>
            <a:prstDash val="solid"/>
          </a:ln>
        </p:spPr>
      </p:sp>
      <p:sp>
        <p:nvSpPr>
          <p:cNvPr id="36" name="Shape 34"/>
          <p:cNvSpPr/>
          <p:nvPr/>
        </p:nvSpPr>
        <p:spPr>
          <a:xfrm>
            <a:off x="1655064" y="3136392"/>
            <a:ext cx="233172" cy="233172"/>
          </a:xfrm>
          <a:prstGeom prst="rect">
            <a:avLst/>
          </a:prstGeom>
          <a:solidFill>
            <a:srgbClr val="24303C"/>
          </a:solidFill>
          <a:ln w="6350">
            <a:solidFill>
              <a:srgbClr val="33404E"/>
            </a:solidFill>
            <a:prstDash val="solid"/>
          </a:ln>
        </p:spPr>
      </p:sp>
      <p:sp>
        <p:nvSpPr>
          <p:cNvPr id="37" name="Shape 35"/>
          <p:cNvSpPr/>
          <p:nvPr/>
        </p:nvSpPr>
        <p:spPr>
          <a:xfrm>
            <a:off x="1901952" y="3136392"/>
            <a:ext cx="233172" cy="233172"/>
          </a:xfrm>
          <a:prstGeom prst="rect">
            <a:avLst/>
          </a:prstGeom>
          <a:solidFill>
            <a:srgbClr val="24303C"/>
          </a:solidFill>
          <a:ln w="6350">
            <a:solidFill>
              <a:srgbClr val="33404E"/>
            </a:solidFill>
            <a:prstDash val="solid"/>
          </a:ln>
        </p:spPr>
      </p:sp>
      <p:sp>
        <p:nvSpPr>
          <p:cNvPr id="38" name="Shape 36"/>
          <p:cNvSpPr/>
          <p:nvPr/>
        </p:nvSpPr>
        <p:spPr>
          <a:xfrm>
            <a:off x="2148840" y="3136392"/>
            <a:ext cx="233172" cy="233172"/>
          </a:xfrm>
          <a:prstGeom prst="rect">
            <a:avLst/>
          </a:prstGeom>
          <a:solidFill>
            <a:srgbClr val="24303C"/>
          </a:solidFill>
          <a:ln w="6350">
            <a:solidFill>
              <a:srgbClr val="33404E"/>
            </a:solidFill>
            <a:prstDash val="solid"/>
          </a:ln>
        </p:spPr>
      </p:sp>
      <p:sp>
        <p:nvSpPr>
          <p:cNvPr id="39" name="Shape 37"/>
          <p:cNvSpPr/>
          <p:nvPr/>
        </p:nvSpPr>
        <p:spPr>
          <a:xfrm>
            <a:off x="914400" y="3383280"/>
            <a:ext cx="233172" cy="233172"/>
          </a:xfrm>
          <a:prstGeom prst="rect">
            <a:avLst/>
          </a:prstGeom>
          <a:solidFill>
            <a:srgbClr val="24303C"/>
          </a:solidFill>
          <a:ln w="6350">
            <a:solidFill>
              <a:srgbClr val="33404E"/>
            </a:solidFill>
            <a:prstDash val="solid"/>
          </a:ln>
        </p:spPr>
      </p:sp>
      <p:sp>
        <p:nvSpPr>
          <p:cNvPr id="40" name="Shape 38"/>
          <p:cNvSpPr/>
          <p:nvPr/>
        </p:nvSpPr>
        <p:spPr>
          <a:xfrm>
            <a:off x="1161288" y="3383280"/>
            <a:ext cx="233172" cy="233172"/>
          </a:xfrm>
          <a:prstGeom prst="rect">
            <a:avLst/>
          </a:prstGeom>
          <a:solidFill>
            <a:srgbClr val="24303C"/>
          </a:solidFill>
          <a:ln w="6350">
            <a:solidFill>
              <a:srgbClr val="33404E"/>
            </a:solidFill>
            <a:prstDash val="solid"/>
          </a:ln>
        </p:spPr>
      </p:sp>
      <p:sp>
        <p:nvSpPr>
          <p:cNvPr id="41" name="Shape 39"/>
          <p:cNvSpPr/>
          <p:nvPr/>
        </p:nvSpPr>
        <p:spPr>
          <a:xfrm>
            <a:off x="1408176" y="3383280"/>
            <a:ext cx="233172" cy="233172"/>
          </a:xfrm>
          <a:prstGeom prst="rect">
            <a:avLst/>
          </a:prstGeom>
          <a:solidFill>
            <a:srgbClr val="24303C"/>
          </a:solidFill>
          <a:ln w="6350">
            <a:solidFill>
              <a:srgbClr val="33404E"/>
            </a:solidFill>
            <a:prstDash val="solid"/>
          </a:ln>
        </p:spPr>
      </p:sp>
      <p:sp>
        <p:nvSpPr>
          <p:cNvPr id="42" name="Shape 40"/>
          <p:cNvSpPr/>
          <p:nvPr/>
        </p:nvSpPr>
        <p:spPr>
          <a:xfrm>
            <a:off x="1655064" y="3383280"/>
            <a:ext cx="233172" cy="233172"/>
          </a:xfrm>
          <a:prstGeom prst="rect">
            <a:avLst/>
          </a:prstGeom>
          <a:solidFill>
            <a:srgbClr val="24303C"/>
          </a:solidFill>
          <a:ln w="6350">
            <a:solidFill>
              <a:srgbClr val="33404E"/>
            </a:solidFill>
            <a:prstDash val="solid"/>
          </a:ln>
        </p:spPr>
      </p:sp>
      <p:sp>
        <p:nvSpPr>
          <p:cNvPr id="43" name="Shape 41"/>
          <p:cNvSpPr/>
          <p:nvPr/>
        </p:nvSpPr>
        <p:spPr>
          <a:xfrm>
            <a:off x="1901952" y="3383280"/>
            <a:ext cx="233172" cy="233172"/>
          </a:xfrm>
          <a:prstGeom prst="rect">
            <a:avLst/>
          </a:prstGeom>
          <a:solidFill>
            <a:srgbClr val="24303C"/>
          </a:solidFill>
          <a:ln w="6350">
            <a:solidFill>
              <a:srgbClr val="33404E"/>
            </a:solidFill>
            <a:prstDash val="solid"/>
          </a:ln>
        </p:spPr>
      </p:sp>
      <p:sp>
        <p:nvSpPr>
          <p:cNvPr id="44" name="Shape 42"/>
          <p:cNvSpPr/>
          <p:nvPr/>
        </p:nvSpPr>
        <p:spPr>
          <a:xfrm>
            <a:off x="2148840" y="3383280"/>
            <a:ext cx="233172" cy="233172"/>
          </a:xfrm>
          <a:prstGeom prst="rect">
            <a:avLst/>
          </a:prstGeom>
          <a:solidFill>
            <a:srgbClr val="24303C"/>
          </a:solidFill>
          <a:ln w="6350">
            <a:solidFill>
              <a:srgbClr val="33404E"/>
            </a:solidFill>
            <a:prstDash val="solid"/>
          </a:ln>
        </p:spPr>
      </p:sp>
      <p:sp>
        <p:nvSpPr>
          <p:cNvPr id="45" name="Text 43"/>
          <p:cNvSpPr/>
          <p:nvPr/>
        </p:nvSpPr>
        <p:spPr>
          <a:xfrm>
            <a:off x="1216152" y="3776472"/>
            <a:ext cx="640080" cy="182880"/>
          </a:xfrm>
          <a:prstGeom prst="rect">
            <a:avLst/>
          </a:prstGeom>
          <a:noFill/>
          <a:ln/>
        </p:spPr>
        <p:txBody>
          <a:bodyPr wrap="square" lIns="0" tIns="0" rIns="0" bIns="0" rtlCol="0" anchor="ctr">
            <a:noAutofit/>
          </a:bodyPr>
          <a:lstStyle/>
          <a:p>
            <a:pPr marL="0" indent="0" algn="ctr">
              <a:buNone/>
            </a:pPr>
            <a:r>
              <a:rPr lang="en-US" sz="1000">
                <a:solidFill>
                  <a:srgbClr val="7E8A97"/>
                </a:solidFill>
              </a:rPr>
              <a:t>28×28</a:t>
            </a:r>
            <a:endParaRPr lang="en-US" sz="1000" dirty="0"/>
          </a:p>
        </p:txBody>
      </p:sp>
      <p:sp>
        <p:nvSpPr>
          <p:cNvPr id="46" name="Shape 44"/>
          <p:cNvSpPr/>
          <p:nvPr/>
        </p:nvSpPr>
        <p:spPr>
          <a:xfrm>
            <a:off x="2542032" y="2852928"/>
            <a:ext cx="612648" cy="0"/>
          </a:xfrm>
          <a:prstGeom prst="line">
            <a:avLst/>
          </a:prstGeom>
          <a:noFill/>
          <a:ln w="27940">
            <a:solidFill>
              <a:srgbClr val="76B900"/>
            </a:solidFill>
            <a:prstDash val="solid"/>
            <a:headEnd type="none"/>
            <a:tailEnd type="triangle"/>
          </a:ln>
        </p:spPr>
      </p:sp>
      <p:sp>
        <p:nvSpPr>
          <p:cNvPr id="47" name="Shape 45"/>
          <p:cNvSpPr/>
          <p:nvPr/>
        </p:nvSpPr>
        <p:spPr>
          <a:xfrm>
            <a:off x="3246120" y="1536192"/>
            <a:ext cx="150876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48" name="Text 46"/>
          <p:cNvSpPr/>
          <p:nvPr/>
        </p:nvSpPr>
        <p:spPr>
          <a:xfrm>
            <a:off x="3246120" y="1613916"/>
            <a:ext cx="150876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2 • CONVOLUTION</a:t>
            </a:r>
            <a:endParaRPr lang="en-US" sz="850" dirty="0"/>
          </a:p>
        </p:txBody>
      </p:sp>
      <p:sp>
        <p:nvSpPr>
          <p:cNvPr id="49" name="Shape 47"/>
          <p:cNvSpPr/>
          <p:nvPr/>
        </p:nvSpPr>
        <p:spPr>
          <a:xfrm>
            <a:off x="3456432" y="2304288"/>
            <a:ext cx="274320" cy="274320"/>
          </a:xfrm>
          <a:prstGeom prst="rect">
            <a:avLst/>
          </a:prstGeom>
          <a:solidFill>
            <a:srgbClr val="76B900">
              <a:alpha val="84000"/>
            </a:srgbClr>
          </a:solidFill>
          <a:ln w="12700">
            <a:solidFill>
              <a:srgbClr val="76B900"/>
            </a:solidFill>
            <a:prstDash val="solid"/>
          </a:ln>
        </p:spPr>
      </p:sp>
      <p:sp>
        <p:nvSpPr>
          <p:cNvPr id="50" name="Shape 48"/>
          <p:cNvSpPr/>
          <p:nvPr/>
        </p:nvSpPr>
        <p:spPr>
          <a:xfrm>
            <a:off x="3767328" y="2304288"/>
            <a:ext cx="274320" cy="274320"/>
          </a:xfrm>
          <a:prstGeom prst="rect">
            <a:avLst/>
          </a:prstGeom>
          <a:solidFill>
            <a:srgbClr val="76B900">
              <a:alpha val="84000"/>
            </a:srgbClr>
          </a:solidFill>
          <a:ln w="12700">
            <a:solidFill>
              <a:srgbClr val="76B900"/>
            </a:solidFill>
            <a:prstDash val="solid"/>
          </a:ln>
        </p:spPr>
      </p:sp>
      <p:sp>
        <p:nvSpPr>
          <p:cNvPr id="51" name="Shape 49"/>
          <p:cNvSpPr/>
          <p:nvPr/>
        </p:nvSpPr>
        <p:spPr>
          <a:xfrm>
            <a:off x="4078224" y="2304288"/>
            <a:ext cx="274320" cy="274320"/>
          </a:xfrm>
          <a:prstGeom prst="rect">
            <a:avLst/>
          </a:prstGeom>
          <a:solidFill>
            <a:srgbClr val="76B900">
              <a:alpha val="84000"/>
            </a:srgbClr>
          </a:solidFill>
          <a:ln w="12700">
            <a:solidFill>
              <a:srgbClr val="76B900"/>
            </a:solidFill>
            <a:prstDash val="solid"/>
          </a:ln>
        </p:spPr>
      </p:sp>
      <p:sp>
        <p:nvSpPr>
          <p:cNvPr id="52" name="Shape 50"/>
          <p:cNvSpPr/>
          <p:nvPr/>
        </p:nvSpPr>
        <p:spPr>
          <a:xfrm>
            <a:off x="3456432" y="2615184"/>
            <a:ext cx="274320" cy="274320"/>
          </a:xfrm>
          <a:prstGeom prst="rect">
            <a:avLst/>
          </a:prstGeom>
          <a:solidFill>
            <a:srgbClr val="76B900">
              <a:alpha val="84000"/>
            </a:srgbClr>
          </a:solidFill>
          <a:ln w="12700">
            <a:solidFill>
              <a:srgbClr val="76B900"/>
            </a:solidFill>
            <a:prstDash val="solid"/>
          </a:ln>
        </p:spPr>
      </p:sp>
      <p:sp>
        <p:nvSpPr>
          <p:cNvPr id="53" name="Shape 51"/>
          <p:cNvSpPr/>
          <p:nvPr/>
        </p:nvSpPr>
        <p:spPr>
          <a:xfrm>
            <a:off x="3767328" y="2615184"/>
            <a:ext cx="274320" cy="274320"/>
          </a:xfrm>
          <a:prstGeom prst="rect">
            <a:avLst/>
          </a:prstGeom>
          <a:solidFill>
            <a:srgbClr val="76B900">
              <a:alpha val="84000"/>
            </a:srgbClr>
          </a:solidFill>
          <a:ln w="12700">
            <a:solidFill>
              <a:srgbClr val="76B900"/>
            </a:solidFill>
            <a:prstDash val="solid"/>
          </a:ln>
        </p:spPr>
      </p:sp>
      <p:sp>
        <p:nvSpPr>
          <p:cNvPr id="54" name="Shape 52"/>
          <p:cNvSpPr/>
          <p:nvPr/>
        </p:nvSpPr>
        <p:spPr>
          <a:xfrm>
            <a:off x="4078224" y="2615184"/>
            <a:ext cx="274320" cy="274320"/>
          </a:xfrm>
          <a:prstGeom prst="rect">
            <a:avLst/>
          </a:prstGeom>
          <a:solidFill>
            <a:srgbClr val="76B900">
              <a:alpha val="84000"/>
            </a:srgbClr>
          </a:solidFill>
          <a:ln w="12700">
            <a:solidFill>
              <a:srgbClr val="76B900"/>
            </a:solidFill>
            <a:prstDash val="solid"/>
          </a:ln>
        </p:spPr>
      </p:sp>
      <p:sp>
        <p:nvSpPr>
          <p:cNvPr id="55" name="Shape 53"/>
          <p:cNvSpPr/>
          <p:nvPr/>
        </p:nvSpPr>
        <p:spPr>
          <a:xfrm>
            <a:off x="3456432" y="2926080"/>
            <a:ext cx="274320" cy="274320"/>
          </a:xfrm>
          <a:prstGeom prst="rect">
            <a:avLst/>
          </a:prstGeom>
          <a:solidFill>
            <a:srgbClr val="76B900">
              <a:alpha val="84000"/>
            </a:srgbClr>
          </a:solidFill>
          <a:ln w="12700">
            <a:solidFill>
              <a:srgbClr val="76B900"/>
            </a:solidFill>
            <a:prstDash val="solid"/>
          </a:ln>
        </p:spPr>
      </p:sp>
      <p:sp>
        <p:nvSpPr>
          <p:cNvPr id="56" name="Shape 54"/>
          <p:cNvSpPr/>
          <p:nvPr/>
        </p:nvSpPr>
        <p:spPr>
          <a:xfrm>
            <a:off x="3767328" y="2926080"/>
            <a:ext cx="274320" cy="274320"/>
          </a:xfrm>
          <a:prstGeom prst="rect">
            <a:avLst/>
          </a:prstGeom>
          <a:solidFill>
            <a:srgbClr val="76B900">
              <a:alpha val="84000"/>
            </a:srgbClr>
          </a:solidFill>
          <a:ln w="12700">
            <a:solidFill>
              <a:srgbClr val="76B900"/>
            </a:solidFill>
            <a:prstDash val="solid"/>
          </a:ln>
        </p:spPr>
      </p:sp>
      <p:sp>
        <p:nvSpPr>
          <p:cNvPr id="57" name="Shape 55"/>
          <p:cNvSpPr/>
          <p:nvPr/>
        </p:nvSpPr>
        <p:spPr>
          <a:xfrm>
            <a:off x="4078224" y="2926080"/>
            <a:ext cx="274320" cy="274320"/>
          </a:xfrm>
          <a:prstGeom prst="rect">
            <a:avLst/>
          </a:prstGeom>
          <a:solidFill>
            <a:srgbClr val="76B900">
              <a:alpha val="84000"/>
            </a:srgbClr>
          </a:solidFill>
          <a:ln w="12700">
            <a:solidFill>
              <a:srgbClr val="76B900"/>
            </a:solidFill>
            <a:prstDash val="solid"/>
          </a:ln>
        </p:spPr>
      </p:sp>
      <p:sp>
        <p:nvSpPr>
          <p:cNvPr id="58" name="Text 56"/>
          <p:cNvSpPr/>
          <p:nvPr/>
        </p:nvSpPr>
        <p:spPr>
          <a:xfrm>
            <a:off x="3246120" y="3429000"/>
            <a:ext cx="1554480" cy="603504"/>
          </a:xfrm>
          <a:prstGeom prst="rect">
            <a:avLst/>
          </a:prstGeom>
          <a:noFill/>
          <a:ln/>
        </p:spPr>
        <p:txBody>
          <a:bodyPr wrap="square" lIns="0" tIns="0" rIns="0" bIns="0" rtlCol="0" anchor="ctr">
            <a:noAutofit/>
          </a:bodyPr>
          <a:lstStyle/>
          <a:p>
            <a:pPr marL="0" indent="0" algn="ctr">
              <a:buNone/>
            </a:pPr>
            <a:r>
              <a:rPr lang="en-US" sz="1150">
                <a:solidFill>
                  <a:srgbClr val="C7D0D9"/>
                </a:solidFill>
              </a:rPr>
              <a:t>4 filters × 3×3</a:t>
            </a:r>
          </a:p>
          <a:p>
            <a:pPr marL="0" indent="0" algn="ctr">
              <a:buNone/>
            </a:pPr>
            <a:r>
              <a:rPr lang="en-US" sz="1150">
                <a:solidFill>
                  <a:srgbClr val="C7D0D9"/>
                </a:solidFill>
              </a:rPr>
              <a:t>26×26 outputs</a:t>
            </a:r>
            <a:endParaRPr lang="en-US" sz="1150" dirty="0"/>
          </a:p>
        </p:txBody>
      </p:sp>
      <p:sp>
        <p:nvSpPr>
          <p:cNvPr id="59" name="Shape 57"/>
          <p:cNvSpPr/>
          <p:nvPr/>
        </p:nvSpPr>
        <p:spPr>
          <a:xfrm>
            <a:off x="5029200" y="2852928"/>
            <a:ext cx="530352" cy="0"/>
          </a:xfrm>
          <a:prstGeom prst="line">
            <a:avLst/>
          </a:prstGeom>
          <a:noFill/>
          <a:ln w="27940">
            <a:solidFill>
              <a:srgbClr val="76B900"/>
            </a:solidFill>
            <a:prstDash val="solid"/>
            <a:headEnd type="none"/>
            <a:tailEnd type="triangle"/>
          </a:ln>
        </p:spPr>
      </p:sp>
      <p:sp>
        <p:nvSpPr>
          <p:cNvPr id="60" name="Shape 58"/>
          <p:cNvSpPr/>
          <p:nvPr/>
        </p:nvSpPr>
        <p:spPr>
          <a:xfrm>
            <a:off x="5623560" y="1536192"/>
            <a:ext cx="1600200" cy="310896"/>
          </a:xfrm>
          <a:prstGeom prst="roundRect">
            <a:avLst>
              <a:gd name="adj" fmla="val 17647"/>
            </a:avLst>
          </a:prstGeom>
          <a:solidFill>
            <a:srgbClr val="A78BFA">
              <a:alpha val="14000"/>
            </a:srgbClr>
          </a:solidFill>
          <a:ln w="12700">
            <a:solidFill>
              <a:srgbClr val="A78BFA">
                <a:alpha val="45000"/>
              </a:srgbClr>
            </a:solidFill>
            <a:prstDash val="solid"/>
          </a:ln>
        </p:spPr>
      </p:sp>
      <p:sp>
        <p:nvSpPr>
          <p:cNvPr id="61" name="Text 59"/>
          <p:cNvSpPr/>
          <p:nvPr/>
        </p:nvSpPr>
        <p:spPr>
          <a:xfrm>
            <a:off x="5623560" y="1613916"/>
            <a:ext cx="160020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A78BFA"/>
                </a:solidFill>
              </a:rPr>
              <a:t>3 • FEATURE MAPS</a:t>
            </a:r>
            <a:endParaRPr lang="en-US" sz="850" dirty="0"/>
          </a:p>
        </p:txBody>
      </p:sp>
      <p:sp>
        <p:nvSpPr>
          <p:cNvPr id="62" name="Shape 60"/>
          <p:cNvSpPr/>
          <p:nvPr/>
        </p:nvSpPr>
        <p:spPr>
          <a:xfrm>
            <a:off x="5833872" y="2240280"/>
            <a:ext cx="960120" cy="960120"/>
          </a:xfrm>
          <a:prstGeom prst="rect">
            <a:avLst/>
          </a:prstGeom>
          <a:solidFill>
            <a:srgbClr val="A78BFA">
              <a:alpha val="35000"/>
            </a:srgbClr>
          </a:solidFill>
          <a:ln w="12700">
            <a:solidFill>
              <a:srgbClr val="A78BFA">
                <a:alpha val="80000"/>
              </a:srgbClr>
            </a:solidFill>
            <a:prstDash val="solid"/>
          </a:ln>
        </p:spPr>
      </p:sp>
      <p:sp>
        <p:nvSpPr>
          <p:cNvPr id="63" name="Shape 61"/>
          <p:cNvSpPr/>
          <p:nvPr/>
        </p:nvSpPr>
        <p:spPr>
          <a:xfrm>
            <a:off x="5998464" y="2404872"/>
            <a:ext cx="960120" cy="960120"/>
          </a:xfrm>
          <a:prstGeom prst="rect">
            <a:avLst/>
          </a:prstGeom>
          <a:solidFill>
            <a:srgbClr val="A78BFA">
              <a:alpha val="47000"/>
            </a:srgbClr>
          </a:solidFill>
          <a:ln w="12700">
            <a:solidFill>
              <a:srgbClr val="A78BFA">
                <a:alpha val="80000"/>
              </a:srgbClr>
            </a:solidFill>
            <a:prstDash val="solid"/>
          </a:ln>
        </p:spPr>
      </p:sp>
      <p:sp>
        <p:nvSpPr>
          <p:cNvPr id="64" name="Shape 62"/>
          <p:cNvSpPr/>
          <p:nvPr/>
        </p:nvSpPr>
        <p:spPr>
          <a:xfrm>
            <a:off x="6163056" y="2569464"/>
            <a:ext cx="960120" cy="960120"/>
          </a:xfrm>
          <a:prstGeom prst="rect">
            <a:avLst/>
          </a:prstGeom>
          <a:solidFill>
            <a:srgbClr val="A78BFA">
              <a:alpha val="59000"/>
            </a:srgbClr>
          </a:solidFill>
          <a:ln w="12700">
            <a:solidFill>
              <a:srgbClr val="A78BFA">
                <a:alpha val="80000"/>
              </a:srgbClr>
            </a:solidFill>
            <a:prstDash val="solid"/>
          </a:ln>
        </p:spPr>
      </p:sp>
      <p:sp>
        <p:nvSpPr>
          <p:cNvPr id="65" name="Text 63"/>
          <p:cNvSpPr/>
          <p:nvPr/>
        </p:nvSpPr>
        <p:spPr>
          <a:xfrm>
            <a:off x="5632704" y="3584448"/>
            <a:ext cx="1691640" cy="457200"/>
          </a:xfrm>
          <a:prstGeom prst="rect">
            <a:avLst/>
          </a:prstGeom>
          <a:noFill/>
          <a:ln/>
        </p:spPr>
        <p:txBody>
          <a:bodyPr wrap="square" lIns="0" tIns="0" rIns="0" bIns="0" rtlCol="0" anchor="ctr">
            <a:noAutofit/>
          </a:bodyPr>
          <a:lstStyle/>
          <a:p>
            <a:pPr marL="0" indent="0" algn="ctr">
              <a:buNone/>
            </a:pPr>
            <a:r>
              <a:rPr lang="en-US" sz="1150">
                <a:solidFill>
                  <a:srgbClr val="C7D0D9"/>
                </a:solidFill>
              </a:rPr>
              <a:t>4 feature maps</a:t>
            </a:r>
          </a:p>
          <a:p>
            <a:pPr marL="0" indent="0" algn="ctr">
              <a:buNone/>
            </a:pPr>
            <a:r>
              <a:rPr lang="en-US" sz="1150">
                <a:solidFill>
                  <a:srgbClr val="C7D0D9"/>
                </a:solidFill>
              </a:rPr>
              <a:t>local patterns</a:t>
            </a:r>
            <a:endParaRPr lang="en-US" sz="1150" dirty="0"/>
          </a:p>
        </p:txBody>
      </p:sp>
      <p:sp>
        <p:nvSpPr>
          <p:cNvPr id="66" name="Shape 64"/>
          <p:cNvSpPr/>
          <p:nvPr/>
        </p:nvSpPr>
        <p:spPr>
          <a:xfrm>
            <a:off x="7498080" y="2852928"/>
            <a:ext cx="530352" cy="0"/>
          </a:xfrm>
          <a:prstGeom prst="line">
            <a:avLst/>
          </a:prstGeom>
          <a:noFill/>
          <a:ln w="27940">
            <a:solidFill>
              <a:srgbClr val="76B900"/>
            </a:solidFill>
            <a:prstDash val="solid"/>
            <a:headEnd type="none"/>
            <a:tailEnd type="triangle"/>
          </a:ln>
        </p:spPr>
      </p:sp>
      <p:sp>
        <p:nvSpPr>
          <p:cNvPr id="67" name="Shape 65"/>
          <p:cNvSpPr/>
          <p:nvPr/>
        </p:nvSpPr>
        <p:spPr>
          <a:xfrm>
            <a:off x="8092440" y="1536192"/>
            <a:ext cx="1508760" cy="310896"/>
          </a:xfrm>
          <a:prstGeom prst="roundRect">
            <a:avLst>
              <a:gd name="adj" fmla="val 17647"/>
            </a:avLst>
          </a:prstGeom>
          <a:solidFill>
            <a:srgbClr val="FFB454">
              <a:alpha val="14000"/>
            </a:srgbClr>
          </a:solidFill>
          <a:ln w="12700">
            <a:solidFill>
              <a:srgbClr val="FFB454">
                <a:alpha val="45000"/>
              </a:srgbClr>
            </a:solidFill>
            <a:prstDash val="solid"/>
          </a:ln>
        </p:spPr>
      </p:sp>
      <p:sp>
        <p:nvSpPr>
          <p:cNvPr id="68" name="Text 66"/>
          <p:cNvSpPr/>
          <p:nvPr/>
        </p:nvSpPr>
        <p:spPr>
          <a:xfrm>
            <a:off x="8092440" y="1613916"/>
            <a:ext cx="150876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FFB454"/>
                </a:solidFill>
              </a:rPr>
              <a:t>4 • ReLU + POOL</a:t>
            </a:r>
            <a:endParaRPr lang="en-US" sz="850" dirty="0"/>
          </a:p>
        </p:txBody>
      </p:sp>
      <p:sp>
        <p:nvSpPr>
          <p:cNvPr id="69" name="Shape 67"/>
          <p:cNvSpPr/>
          <p:nvPr/>
        </p:nvSpPr>
        <p:spPr>
          <a:xfrm>
            <a:off x="8339328" y="2258568"/>
            <a:ext cx="1005840" cy="475488"/>
          </a:xfrm>
          <a:prstGeom prst="roundRect">
            <a:avLst>
              <a:gd name="adj" fmla="val 9615"/>
            </a:avLst>
          </a:prstGeom>
          <a:solidFill>
            <a:srgbClr val="FFB454">
              <a:alpha val="75000"/>
            </a:srgbClr>
          </a:solidFill>
          <a:ln w="12700">
            <a:solidFill>
              <a:srgbClr val="FFB454"/>
            </a:solidFill>
            <a:prstDash val="solid"/>
          </a:ln>
        </p:spPr>
      </p:sp>
      <p:sp>
        <p:nvSpPr>
          <p:cNvPr id="70" name="Text 68"/>
          <p:cNvSpPr/>
          <p:nvPr/>
        </p:nvSpPr>
        <p:spPr>
          <a:xfrm>
            <a:off x="8339328" y="2395728"/>
            <a:ext cx="1005840" cy="164592"/>
          </a:xfrm>
          <a:prstGeom prst="rect">
            <a:avLst/>
          </a:prstGeom>
          <a:noFill/>
          <a:ln/>
        </p:spPr>
        <p:txBody>
          <a:bodyPr wrap="square" lIns="0" tIns="0" rIns="0" bIns="0" rtlCol="0" anchor="ctr">
            <a:noAutofit/>
          </a:bodyPr>
          <a:lstStyle/>
          <a:p>
            <a:pPr marL="0" indent="0" algn="ctr">
              <a:buNone/>
            </a:pPr>
            <a:r>
              <a:rPr lang="en-US" sz="1400" b="1" dirty="0">
                <a:solidFill>
                  <a:srgbClr val="F4F7FA"/>
                </a:solidFill>
              </a:rPr>
              <a:t>ReLU</a:t>
            </a:r>
            <a:endParaRPr lang="en-US" sz="1400" dirty="0"/>
          </a:p>
        </p:txBody>
      </p:sp>
      <p:sp>
        <p:nvSpPr>
          <p:cNvPr id="71" name="Shape 69"/>
          <p:cNvSpPr/>
          <p:nvPr/>
        </p:nvSpPr>
        <p:spPr>
          <a:xfrm>
            <a:off x="8430768" y="2971800"/>
            <a:ext cx="822960" cy="475488"/>
          </a:xfrm>
          <a:prstGeom prst="roundRect">
            <a:avLst>
              <a:gd name="adj" fmla="val 9615"/>
            </a:avLst>
          </a:prstGeom>
          <a:solidFill>
            <a:srgbClr val="FFB454">
              <a:alpha val="45000"/>
            </a:srgbClr>
          </a:solidFill>
          <a:ln w="12700">
            <a:solidFill>
              <a:srgbClr val="FFB454"/>
            </a:solidFill>
            <a:prstDash val="solid"/>
          </a:ln>
        </p:spPr>
      </p:sp>
      <p:sp>
        <p:nvSpPr>
          <p:cNvPr id="72" name="Text 70"/>
          <p:cNvSpPr/>
          <p:nvPr/>
        </p:nvSpPr>
        <p:spPr>
          <a:xfrm>
            <a:off x="8430768" y="3108960"/>
            <a:ext cx="822960" cy="164592"/>
          </a:xfrm>
          <a:prstGeom prst="rect">
            <a:avLst/>
          </a:prstGeom>
          <a:noFill/>
          <a:ln/>
        </p:spPr>
        <p:txBody>
          <a:bodyPr wrap="square" lIns="0" tIns="0" rIns="0" bIns="0" rtlCol="0" anchor="ctr">
            <a:noAutofit/>
          </a:bodyPr>
          <a:lstStyle/>
          <a:p>
            <a:pPr marL="0" indent="0" algn="ctr">
              <a:buNone/>
            </a:pPr>
            <a:r>
              <a:rPr lang="en-US" sz="1300" b="1" dirty="0">
                <a:solidFill>
                  <a:srgbClr val="F4F7FA"/>
                </a:solidFill>
              </a:rPr>
              <a:t>Pool</a:t>
            </a:r>
            <a:endParaRPr lang="en-US" sz="1300" dirty="0"/>
          </a:p>
        </p:txBody>
      </p:sp>
      <p:sp>
        <p:nvSpPr>
          <p:cNvPr id="73" name="Shape 71"/>
          <p:cNvSpPr/>
          <p:nvPr/>
        </p:nvSpPr>
        <p:spPr>
          <a:xfrm>
            <a:off x="9802368" y="2852928"/>
            <a:ext cx="393192" cy="0"/>
          </a:xfrm>
          <a:prstGeom prst="line">
            <a:avLst/>
          </a:prstGeom>
          <a:noFill/>
          <a:ln w="27940">
            <a:solidFill>
              <a:srgbClr val="76B900"/>
            </a:solidFill>
            <a:prstDash val="solid"/>
            <a:headEnd type="none"/>
            <a:tailEnd type="triangle"/>
          </a:ln>
        </p:spPr>
      </p:sp>
      <p:sp>
        <p:nvSpPr>
          <p:cNvPr id="74" name="Shape 72"/>
          <p:cNvSpPr/>
          <p:nvPr/>
        </p:nvSpPr>
        <p:spPr>
          <a:xfrm>
            <a:off x="10222992" y="1536192"/>
            <a:ext cx="1051560" cy="310896"/>
          </a:xfrm>
          <a:prstGeom prst="roundRect">
            <a:avLst>
              <a:gd name="adj" fmla="val 17647"/>
            </a:avLst>
          </a:prstGeom>
          <a:solidFill>
            <a:srgbClr val="F9D65C">
              <a:alpha val="14000"/>
            </a:srgbClr>
          </a:solidFill>
          <a:ln w="12700">
            <a:solidFill>
              <a:srgbClr val="F9D65C">
                <a:alpha val="45000"/>
              </a:srgbClr>
            </a:solidFill>
            <a:prstDash val="solid"/>
          </a:ln>
        </p:spPr>
      </p:sp>
      <p:sp>
        <p:nvSpPr>
          <p:cNvPr id="75" name="Text 73"/>
          <p:cNvSpPr/>
          <p:nvPr/>
        </p:nvSpPr>
        <p:spPr>
          <a:xfrm>
            <a:off x="10222992" y="1613916"/>
            <a:ext cx="105156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F9D65C"/>
                </a:solidFill>
              </a:rPr>
              <a:t>5 • CLASSIFY</a:t>
            </a:r>
            <a:endParaRPr lang="en-US" sz="850" dirty="0"/>
          </a:p>
        </p:txBody>
      </p:sp>
      <p:sp>
        <p:nvSpPr>
          <p:cNvPr id="76" name="Shape 74"/>
          <p:cNvSpPr/>
          <p:nvPr/>
        </p:nvSpPr>
        <p:spPr>
          <a:xfrm>
            <a:off x="10469880" y="2212848"/>
            <a:ext cx="548640" cy="548640"/>
          </a:xfrm>
          <a:prstGeom prst="ellipse">
            <a:avLst/>
          </a:prstGeom>
          <a:solidFill>
            <a:srgbClr val="F9D65C">
              <a:alpha val="78000"/>
            </a:srgbClr>
          </a:solidFill>
          <a:ln w="12700">
            <a:solidFill>
              <a:srgbClr val="F9D65C"/>
            </a:solidFill>
            <a:prstDash val="solid"/>
          </a:ln>
        </p:spPr>
      </p:sp>
      <p:sp>
        <p:nvSpPr>
          <p:cNvPr id="77" name="Shape 75"/>
          <p:cNvSpPr/>
          <p:nvPr/>
        </p:nvSpPr>
        <p:spPr>
          <a:xfrm>
            <a:off x="10469880" y="2880360"/>
            <a:ext cx="548640" cy="548640"/>
          </a:xfrm>
          <a:prstGeom prst="ellipse">
            <a:avLst/>
          </a:prstGeom>
          <a:solidFill>
            <a:srgbClr val="F9D65C">
              <a:alpha val="45000"/>
            </a:srgbClr>
          </a:solidFill>
          <a:ln w="12700">
            <a:solidFill>
              <a:srgbClr val="F9D65C"/>
            </a:solidFill>
            <a:prstDash val="solid"/>
          </a:ln>
        </p:spPr>
      </p:sp>
      <p:sp>
        <p:nvSpPr>
          <p:cNvPr id="78" name="Text 76"/>
          <p:cNvSpPr/>
          <p:nvPr/>
        </p:nvSpPr>
        <p:spPr>
          <a:xfrm>
            <a:off x="10469880" y="2395728"/>
            <a:ext cx="548640" cy="146304"/>
          </a:xfrm>
          <a:prstGeom prst="rect">
            <a:avLst/>
          </a:prstGeom>
          <a:noFill/>
          <a:ln/>
        </p:spPr>
        <p:txBody>
          <a:bodyPr wrap="square" lIns="0" tIns="0" rIns="0" bIns="0" rtlCol="0" anchor="ctr">
            <a:noAutofit/>
          </a:bodyPr>
          <a:lstStyle/>
          <a:p>
            <a:pPr marL="0" indent="0" algn="ctr">
              <a:buNone/>
            </a:pPr>
            <a:r>
              <a:rPr lang="en-US" sz="1100" b="1">
                <a:solidFill>
                  <a:srgbClr val="F4F7FA"/>
                </a:solidFill>
              </a:rPr>
              <a:t>0–4</a:t>
            </a:r>
            <a:endParaRPr lang="en-US" sz="1100" dirty="0"/>
          </a:p>
        </p:txBody>
      </p:sp>
      <p:sp>
        <p:nvSpPr>
          <p:cNvPr id="79" name="Text 77"/>
          <p:cNvSpPr/>
          <p:nvPr/>
        </p:nvSpPr>
        <p:spPr>
          <a:xfrm>
            <a:off x="10469880" y="3063240"/>
            <a:ext cx="548640" cy="146304"/>
          </a:xfrm>
          <a:prstGeom prst="rect">
            <a:avLst/>
          </a:prstGeom>
          <a:noFill/>
          <a:ln/>
        </p:spPr>
        <p:txBody>
          <a:bodyPr wrap="square" lIns="0" tIns="0" rIns="0" bIns="0" rtlCol="0" anchor="ctr">
            <a:noAutofit/>
          </a:bodyPr>
          <a:lstStyle/>
          <a:p>
            <a:pPr marL="0" indent="0" algn="ctr">
              <a:buNone/>
            </a:pPr>
            <a:r>
              <a:rPr lang="en-US" sz="1100" b="1">
                <a:solidFill>
                  <a:srgbClr val="F4F7FA"/>
                </a:solidFill>
              </a:rPr>
              <a:t>5–9</a:t>
            </a:r>
            <a:endParaRPr lang="en-US" sz="1100" dirty="0"/>
          </a:p>
        </p:txBody>
      </p:sp>
      <p:sp>
        <p:nvSpPr>
          <p:cNvPr id="80" name="Text 78"/>
          <p:cNvSpPr/>
          <p:nvPr/>
        </p:nvSpPr>
        <p:spPr>
          <a:xfrm>
            <a:off x="932688" y="5074920"/>
            <a:ext cx="6583680" cy="393192"/>
          </a:xfrm>
          <a:prstGeom prst="rect">
            <a:avLst/>
          </a:prstGeom>
          <a:noFill/>
          <a:ln/>
        </p:spPr>
        <p:txBody>
          <a:bodyPr wrap="square" lIns="0" tIns="0" rIns="0" bIns="0" rtlCol="0" anchor="ctr">
            <a:noAutofit/>
          </a:bodyPr>
          <a:lstStyle/>
          <a:p>
            <a:pPr marL="0" indent="0">
              <a:buNone/>
            </a:pPr>
            <a:r>
              <a:rPr lang="en-US" sz="1550" b="1">
                <a:solidFill>
                  <a:srgbClr val="F4F7FA"/>
                </a:solidFill>
              </a:rPr>
              <a:t>Batch 64 performs 1.56 million multiply–accumulates in this convolution.</a:t>
            </a:r>
            <a:endParaRPr lang="en-US" sz="1550" dirty="0"/>
          </a:p>
        </p:txBody>
      </p:sp>
      <p:sp>
        <p:nvSpPr>
          <p:cNvPr id="81" name="Text 79"/>
          <p:cNvSpPr/>
          <p:nvPr/>
        </p:nvSpPr>
        <p:spPr>
          <a:xfrm>
            <a:off x="7726680" y="5047488"/>
            <a:ext cx="3337560" cy="438912"/>
          </a:xfrm>
          <a:prstGeom prst="rect">
            <a:avLst/>
          </a:prstGeom>
          <a:noFill/>
          <a:ln/>
        </p:spPr>
        <p:txBody>
          <a:bodyPr wrap="square" lIns="0" tIns="0" rIns="0" bIns="0" rtlCol="0" anchor="ctr">
            <a:noAutofit/>
          </a:bodyPr>
          <a:lstStyle/>
          <a:p>
            <a:pPr marL="0" indent="0" algn="r">
              <a:buNone/>
            </a:pPr>
            <a:r>
              <a:rPr lang="en-US" sz="1400" b="1">
                <a:solidFill>
                  <a:srgbClr val="A3E635"/>
                </a:solidFill>
              </a:rPr>
              <a:t>Each output is a separate weighted sum: a natural parallel work item.</a:t>
            </a:r>
            <a:endParaRPr lang="en-US" sz="1400" dirty="0"/>
          </a:p>
        </p:txBody>
      </p:sp>
      <p:sp>
        <p:nvSpPr>
          <p:cNvPr id="82"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dirty="0">
                <a:solidFill>
                  <a:srgbClr val="F4F7FA"/>
                </a:solidFill>
              </a:rPr>
              <a:t>Where parallelism helps in a CNN</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dirty="0">
                <a:solidFill>
                  <a:srgbClr val="7E8A97"/>
                </a:solidFill>
              </a:rPr>
              <a:t>Sequential logic does the same independent work one piece at a time; parallel execution does many pieces together.</a:t>
            </a:r>
            <a:endParaRPr lang="en-US" sz="1150" dirty="0"/>
          </a:p>
        </p:txBody>
      </p:sp>
      <p:sp>
        <p:nvSpPr>
          <p:cNvPr id="4" name="Shape 2"/>
          <p:cNvSpPr/>
          <p:nvPr/>
        </p:nvSpPr>
        <p:spPr>
          <a:xfrm>
            <a:off x="9966960" y="347472"/>
            <a:ext cx="1600200" cy="384048"/>
          </a:xfrm>
          <a:prstGeom prst="roundRect">
            <a:avLst>
              <a:gd name="adj" fmla="val 19048"/>
            </a:avLst>
          </a:prstGeom>
          <a:solidFill>
            <a:srgbClr val="41D9FF">
              <a:alpha val="16000"/>
            </a:srgbClr>
          </a:solidFill>
          <a:ln w="12700">
            <a:solidFill>
              <a:srgbClr val="41D9FF">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41D9FF"/>
                </a:solidFill>
              </a:rPr>
              <a:t>PRITHIV · PERSON 1</a:t>
            </a:r>
            <a:endParaRPr lang="en-US" sz="950" dirty="0"/>
          </a:p>
        </p:txBody>
      </p:sp>
      <p:sp>
        <p:nvSpPr>
          <p:cNvPr id="6" name="Shape 4"/>
          <p:cNvSpPr/>
          <p:nvPr/>
        </p:nvSpPr>
        <p:spPr>
          <a:xfrm>
            <a:off x="603504" y="1234440"/>
            <a:ext cx="5257800" cy="4983480"/>
          </a:xfrm>
          <a:prstGeom prst="roundRect">
            <a:avLst>
              <a:gd name="adj" fmla="val 1468"/>
            </a:avLst>
          </a:prstGeom>
          <a:solidFill>
            <a:srgbClr val="121923"/>
          </a:solidFill>
          <a:ln w="12700">
            <a:solidFill>
              <a:srgbClr val="25303D"/>
            </a:solidFill>
            <a:prstDash val="solid"/>
          </a:ln>
        </p:spPr>
      </p:sp>
      <p:sp>
        <p:nvSpPr>
          <p:cNvPr id="7" name="Shape 5"/>
          <p:cNvSpPr/>
          <p:nvPr/>
        </p:nvSpPr>
        <p:spPr>
          <a:xfrm>
            <a:off x="868680" y="1499616"/>
            <a:ext cx="1234440" cy="310896"/>
          </a:xfrm>
          <a:prstGeom prst="roundRect">
            <a:avLst>
              <a:gd name="adj" fmla="val 17647"/>
            </a:avLst>
          </a:prstGeom>
          <a:solidFill>
            <a:srgbClr val="FF6B6B">
              <a:alpha val="14000"/>
            </a:srgbClr>
          </a:solidFill>
          <a:ln w="12700">
            <a:solidFill>
              <a:srgbClr val="FF6B6B">
                <a:alpha val="45000"/>
              </a:srgbClr>
            </a:solidFill>
            <a:prstDash val="solid"/>
          </a:ln>
        </p:spPr>
      </p:sp>
      <p:sp>
        <p:nvSpPr>
          <p:cNvPr id="8" name="Text 6"/>
          <p:cNvSpPr/>
          <p:nvPr/>
        </p:nvSpPr>
        <p:spPr>
          <a:xfrm>
            <a:off x="868680" y="1577340"/>
            <a:ext cx="123444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FF6B6B"/>
                </a:solidFill>
              </a:rPr>
              <a:t>SEQUENTIAL</a:t>
            </a:r>
            <a:endParaRPr lang="en-US" sz="850" dirty="0"/>
          </a:p>
        </p:txBody>
      </p:sp>
      <p:sp>
        <p:nvSpPr>
          <p:cNvPr id="9" name="Text 7"/>
          <p:cNvSpPr/>
          <p:nvPr/>
        </p:nvSpPr>
        <p:spPr>
          <a:xfrm>
            <a:off x="868680" y="1947672"/>
            <a:ext cx="4480560" cy="329184"/>
          </a:xfrm>
          <a:prstGeom prst="rect">
            <a:avLst/>
          </a:prstGeom>
          <a:noFill/>
          <a:ln/>
        </p:spPr>
        <p:txBody>
          <a:bodyPr wrap="square" lIns="0" tIns="0" rIns="0" bIns="0" rtlCol="0" anchor="ctr">
            <a:noAutofit/>
          </a:bodyPr>
          <a:lstStyle/>
          <a:p>
            <a:pPr marL="0" indent="0">
              <a:buNone/>
            </a:pPr>
            <a:r>
              <a:rPr lang="en-US" sz="1600" b="1" dirty="0">
                <a:solidFill>
                  <a:srgbClr val="F4F7FA"/>
                </a:solidFill>
              </a:rPr>
              <a:t>One worker repeatedly computes output cells</a:t>
            </a:r>
            <a:endParaRPr lang="en-US" sz="1600" dirty="0"/>
          </a:p>
        </p:txBody>
      </p:sp>
      <p:sp>
        <p:nvSpPr>
          <p:cNvPr id="10" name="Shape 8"/>
          <p:cNvSpPr/>
          <p:nvPr/>
        </p:nvSpPr>
        <p:spPr>
          <a:xfrm>
            <a:off x="914400" y="2578608"/>
            <a:ext cx="420624" cy="438912"/>
          </a:xfrm>
          <a:prstGeom prst="roundRect">
            <a:avLst>
              <a:gd name="adj" fmla="val 8696"/>
            </a:avLst>
          </a:prstGeom>
          <a:solidFill>
            <a:srgbClr val="FF6B6B">
              <a:alpha val="95000"/>
            </a:srgbClr>
          </a:solidFill>
          <a:ln w="12700">
            <a:solidFill>
              <a:srgbClr val="FF6B6B"/>
            </a:solidFill>
            <a:prstDash val="solid"/>
          </a:ln>
        </p:spPr>
      </p:sp>
      <p:sp>
        <p:nvSpPr>
          <p:cNvPr id="11" name="Text 9"/>
          <p:cNvSpPr/>
          <p:nvPr/>
        </p:nvSpPr>
        <p:spPr>
          <a:xfrm>
            <a:off x="914400"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1</a:t>
            </a:r>
            <a:endParaRPr lang="en-US" sz="1000" dirty="0"/>
          </a:p>
        </p:txBody>
      </p:sp>
      <p:sp>
        <p:nvSpPr>
          <p:cNvPr id="12" name="Shape 10"/>
          <p:cNvSpPr/>
          <p:nvPr/>
        </p:nvSpPr>
        <p:spPr>
          <a:xfrm>
            <a:off x="1444752" y="2578608"/>
            <a:ext cx="420624" cy="438912"/>
          </a:xfrm>
          <a:prstGeom prst="roundRect">
            <a:avLst>
              <a:gd name="adj" fmla="val 8696"/>
            </a:avLst>
          </a:prstGeom>
          <a:solidFill>
            <a:srgbClr val="27313D"/>
          </a:solidFill>
          <a:ln w="12700">
            <a:solidFill>
              <a:srgbClr val="3A4654"/>
            </a:solidFill>
            <a:prstDash val="solid"/>
          </a:ln>
        </p:spPr>
      </p:sp>
      <p:sp>
        <p:nvSpPr>
          <p:cNvPr id="13" name="Text 11"/>
          <p:cNvSpPr/>
          <p:nvPr/>
        </p:nvSpPr>
        <p:spPr>
          <a:xfrm>
            <a:off x="1444752"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2</a:t>
            </a:r>
            <a:endParaRPr lang="en-US" sz="1000" dirty="0"/>
          </a:p>
        </p:txBody>
      </p:sp>
      <p:sp>
        <p:nvSpPr>
          <p:cNvPr id="14" name="Shape 12"/>
          <p:cNvSpPr/>
          <p:nvPr/>
        </p:nvSpPr>
        <p:spPr>
          <a:xfrm>
            <a:off x="1975104" y="2578608"/>
            <a:ext cx="420624" cy="438912"/>
          </a:xfrm>
          <a:prstGeom prst="roundRect">
            <a:avLst>
              <a:gd name="adj" fmla="val 8696"/>
            </a:avLst>
          </a:prstGeom>
          <a:solidFill>
            <a:srgbClr val="27313D"/>
          </a:solidFill>
          <a:ln w="12700">
            <a:solidFill>
              <a:srgbClr val="3A4654"/>
            </a:solidFill>
            <a:prstDash val="solid"/>
          </a:ln>
        </p:spPr>
      </p:sp>
      <p:sp>
        <p:nvSpPr>
          <p:cNvPr id="15" name="Text 13"/>
          <p:cNvSpPr/>
          <p:nvPr/>
        </p:nvSpPr>
        <p:spPr>
          <a:xfrm>
            <a:off x="1975104"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3</a:t>
            </a:r>
            <a:endParaRPr lang="en-US" sz="1000" dirty="0"/>
          </a:p>
        </p:txBody>
      </p:sp>
      <p:sp>
        <p:nvSpPr>
          <p:cNvPr id="16" name="Shape 14"/>
          <p:cNvSpPr/>
          <p:nvPr/>
        </p:nvSpPr>
        <p:spPr>
          <a:xfrm>
            <a:off x="2505456" y="2578608"/>
            <a:ext cx="420624" cy="438912"/>
          </a:xfrm>
          <a:prstGeom prst="roundRect">
            <a:avLst>
              <a:gd name="adj" fmla="val 8696"/>
            </a:avLst>
          </a:prstGeom>
          <a:solidFill>
            <a:srgbClr val="27313D"/>
          </a:solidFill>
          <a:ln w="12700">
            <a:solidFill>
              <a:srgbClr val="3A4654"/>
            </a:solidFill>
            <a:prstDash val="solid"/>
          </a:ln>
        </p:spPr>
      </p:sp>
      <p:sp>
        <p:nvSpPr>
          <p:cNvPr id="17" name="Text 15"/>
          <p:cNvSpPr/>
          <p:nvPr/>
        </p:nvSpPr>
        <p:spPr>
          <a:xfrm>
            <a:off x="2505456"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4</a:t>
            </a:r>
            <a:endParaRPr lang="en-US" sz="1000" dirty="0"/>
          </a:p>
        </p:txBody>
      </p:sp>
      <p:sp>
        <p:nvSpPr>
          <p:cNvPr id="18" name="Shape 16"/>
          <p:cNvSpPr/>
          <p:nvPr/>
        </p:nvSpPr>
        <p:spPr>
          <a:xfrm>
            <a:off x="3035808" y="2578608"/>
            <a:ext cx="420624" cy="438912"/>
          </a:xfrm>
          <a:prstGeom prst="roundRect">
            <a:avLst>
              <a:gd name="adj" fmla="val 8696"/>
            </a:avLst>
          </a:prstGeom>
          <a:solidFill>
            <a:srgbClr val="27313D"/>
          </a:solidFill>
          <a:ln w="12700">
            <a:solidFill>
              <a:srgbClr val="3A4654"/>
            </a:solidFill>
            <a:prstDash val="solid"/>
          </a:ln>
        </p:spPr>
      </p:sp>
      <p:sp>
        <p:nvSpPr>
          <p:cNvPr id="19" name="Text 17"/>
          <p:cNvSpPr/>
          <p:nvPr/>
        </p:nvSpPr>
        <p:spPr>
          <a:xfrm>
            <a:off x="3035808"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5</a:t>
            </a:r>
            <a:endParaRPr lang="en-US" sz="1000" dirty="0"/>
          </a:p>
        </p:txBody>
      </p:sp>
      <p:sp>
        <p:nvSpPr>
          <p:cNvPr id="20" name="Shape 18"/>
          <p:cNvSpPr/>
          <p:nvPr/>
        </p:nvSpPr>
        <p:spPr>
          <a:xfrm>
            <a:off x="3566160" y="2578608"/>
            <a:ext cx="420624" cy="438912"/>
          </a:xfrm>
          <a:prstGeom prst="roundRect">
            <a:avLst>
              <a:gd name="adj" fmla="val 8696"/>
            </a:avLst>
          </a:prstGeom>
          <a:solidFill>
            <a:srgbClr val="27313D"/>
          </a:solidFill>
          <a:ln w="12700">
            <a:solidFill>
              <a:srgbClr val="3A4654"/>
            </a:solidFill>
            <a:prstDash val="solid"/>
          </a:ln>
        </p:spPr>
      </p:sp>
      <p:sp>
        <p:nvSpPr>
          <p:cNvPr id="21" name="Text 19"/>
          <p:cNvSpPr/>
          <p:nvPr/>
        </p:nvSpPr>
        <p:spPr>
          <a:xfrm>
            <a:off x="3566160"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6</a:t>
            </a:r>
            <a:endParaRPr lang="en-US" sz="1000" dirty="0"/>
          </a:p>
        </p:txBody>
      </p:sp>
      <p:sp>
        <p:nvSpPr>
          <p:cNvPr id="22" name="Shape 20"/>
          <p:cNvSpPr/>
          <p:nvPr/>
        </p:nvSpPr>
        <p:spPr>
          <a:xfrm>
            <a:off x="4096512" y="2578608"/>
            <a:ext cx="420624" cy="438912"/>
          </a:xfrm>
          <a:prstGeom prst="roundRect">
            <a:avLst>
              <a:gd name="adj" fmla="val 8696"/>
            </a:avLst>
          </a:prstGeom>
          <a:solidFill>
            <a:srgbClr val="27313D"/>
          </a:solidFill>
          <a:ln w="12700">
            <a:solidFill>
              <a:srgbClr val="3A4654"/>
            </a:solidFill>
            <a:prstDash val="solid"/>
          </a:ln>
        </p:spPr>
      </p:sp>
      <p:sp>
        <p:nvSpPr>
          <p:cNvPr id="23" name="Text 21"/>
          <p:cNvSpPr/>
          <p:nvPr/>
        </p:nvSpPr>
        <p:spPr>
          <a:xfrm>
            <a:off x="4096512"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7</a:t>
            </a:r>
            <a:endParaRPr lang="en-US" sz="1000" dirty="0"/>
          </a:p>
        </p:txBody>
      </p:sp>
      <p:sp>
        <p:nvSpPr>
          <p:cNvPr id="24" name="Shape 22"/>
          <p:cNvSpPr/>
          <p:nvPr/>
        </p:nvSpPr>
        <p:spPr>
          <a:xfrm>
            <a:off x="4626864" y="2578608"/>
            <a:ext cx="420624" cy="438912"/>
          </a:xfrm>
          <a:prstGeom prst="roundRect">
            <a:avLst>
              <a:gd name="adj" fmla="val 8696"/>
            </a:avLst>
          </a:prstGeom>
          <a:solidFill>
            <a:srgbClr val="27313D"/>
          </a:solidFill>
          <a:ln w="12700">
            <a:solidFill>
              <a:srgbClr val="3A4654"/>
            </a:solidFill>
            <a:prstDash val="solid"/>
          </a:ln>
        </p:spPr>
      </p:sp>
      <p:sp>
        <p:nvSpPr>
          <p:cNvPr id="25" name="Text 23"/>
          <p:cNvSpPr/>
          <p:nvPr/>
        </p:nvSpPr>
        <p:spPr>
          <a:xfrm>
            <a:off x="4626864" y="2715768"/>
            <a:ext cx="42062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8</a:t>
            </a:r>
            <a:endParaRPr lang="en-US" sz="1000" dirty="0"/>
          </a:p>
        </p:txBody>
      </p:sp>
      <p:sp>
        <p:nvSpPr>
          <p:cNvPr id="26" name="Shape 24"/>
          <p:cNvSpPr/>
          <p:nvPr/>
        </p:nvSpPr>
        <p:spPr>
          <a:xfrm>
            <a:off x="914400" y="3310128"/>
            <a:ext cx="4224528" cy="0"/>
          </a:xfrm>
          <a:prstGeom prst="line">
            <a:avLst/>
          </a:prstGeom>
          <a:noFill/>
          <a:ln w="25400">
            <a:solidFill>
              <a:srgbClr val="FF6B6B"/>
            </a:solidFill>
            <a:prstDash val="solid"/>
            <a:headEnd type="none"/>
            <a:tailEnd type="triangle"/>
          </a:ln>
        </p:spPr>
      </p:sp>
      <p:sp>
        <p:nvSpPr>
          <p:cNvPr id="27" name="Text 25"/>
          <p:cNvSpPr/>
          <p:nvPr/>
        </p:nvSpPr>
        <p:spPr>
          <a:xfrm>
            <a:off x="5010912" y="3456432"/>
            <a:ext cx="457200" cy="182880"/>
          </a:xfrm>
          <a:prstGeom prst="rect">
            <a:avLst/>
          </a:prstGeom>
          <a:noFill/>
          <a:ln/>
        </p:spPr>
        <p:txBody>
          <a:bodyPr wrap="square" lIns="0" tIns="0" rIns="0" bIns="0" rtlCol="0" anchor="ctr">
            <a:noAutofit/>
          </a:bodyPr>
          <a:lstStyle/>
          <a:p>
            <a:pPr marL="0" indent="0">
              <a:buNone/>
            </a:pPr>
            <a:r>
              <a:rPr lang="en-US" sz="1000" dirty="0">
                <a:solidFill>
                  <a:srgbClr val="7E8A97"/>
                </a:solidFill>
              </a:rPr>
              <a:t>time →</a:t>
            </a:r>
            <a:endParaRPr lang="en-US" sz="1000" dirty="0"/>
          </a:p>
        </p:txBody>
      </p:sp>
      <p:sp>
        <p:nvSpPr>
          <p:cNvPr id="28" name="Text 26"/>
          <p:cNvSpPr/>
          <p:nvPr/>
        </p:nvSpPr>
        <p:spPr>
          <a:xfrm>
            <a:off x="914400" y="3858768"/>
            <a:ext cx="4434840" cy="1554480"/>
          </a:xfrm>
          <a:prstGeom prst="rect">
            <a:avLst/>
          </a:prstGeom>
          <a:noFill/>
          <a:ln/>
        </p:spPr>
        <p:txBody>
          <a:bodyPr wrap="square" lIns="381" tIns="381" rIns="381" bIns="381" rtlCol="0" anchor="ctr">
            <a:noAutofit/>
          </a:bodyPr>
          <a:lstStyle/>
          <a:p>
            <a:pPr marL="177800" indent="-177800">
              <a:buSzPct val="100000"/>
              <a:buChar char="•"/>
            </a:pPr>
            <a:r>
              <a:rPr lang="en-US" sz="1400">
                <a:solidFill>
                  <a:srgbClr val="C7D0D9"/>
                </a:solidFill>
              </a:rPr>
              <a:t>Nested loops cover batch, filters and pixels</a:t>
            </a:r>
          </a:p>
          <a:p>
            <a:pPr marL="177800" indent="-177800">
              <a:buSzPct val="100000"/>
              <a:buChar char="•"/>
            </a:pPr>
            <a:r>
              <a:rPr lang="en-US" sz="1400">
                <a:solidFill>
                  <a:srgbClr val="C7D0D9"/>
                </a:solidFill>
              </a:rPr>
              <a:t>One worker computes each complete weighted sum</a:t>
            </a:r>
          </a:p>
          <a:p>
            <a:pPr marL="177800" indent="-177800">
              <a:buSzPct val="100000"/>
              <a:buChar char="•"/>
            </a:pPr>
            <a:r>
              <a:rPr lang="en-US" sz="1400">
                <a:solidFill>
                  <a:srgbClr val="C7D0D9"/>
                </a:solidFill>
              </a:rPr>
              <a:t>Different output cells are independent</a:t>
            </a:r>
            <a:endParaRPr lang="en-US" sz="1400" dirty="0"/>
          </a:p>
        </p:txBody>
      </p:sp>
      <p:sp>
        <p:nvSpPr>
          <p:cNvPr id="29" name="Shape 27"/>
          <p:cNvSpPr/>
          <p:nvPr/>
        </p:nvSpPr>
        <p:spPr>
          <a:xfrm>
            <a:off x="6108192" y="1234440"/>
            <a:ext cx="5468112" cy="4983480"/>
          </a:xfrm>
          <a:prstGeom prst="roundRect">
            <a:avLst>
              <a:gd name="adj" fmla="val 1468"/>
            </a:avLst>
          </a:prstGeom>
          <a:solidFill>
            <a:srgbClr val="121923"/>
          </a:solidFill>
          <a:ln w="12700">
            <a:solidFill>
              <a:srgbClr val="25303D"/>
            </a:solidFill>
            <a:prstDash val="solid"/>
          </a:ln>
        </p:spPr>
      </p:sp>
      <p:sp>
        <p:nvSpPr>
          <p:cNvPr id="30" name="Shape 28"/>
          <p:cNvSpPr/>
          <p:nvPr/>
        </p:nvSpPr>
        <p:spPr>
          <a:xfrm>
            <a:off x="6382512" y="1499616"/>
            <a:ext cx="109728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31" name="Text 29"/>
          <p:cNvSpPr/>
          <p:nvPr/>
        </p:nvSpPr>
        <p:spPr>
          <a:xfrm>
            <a:off x="6382512" y="1577340"/>
            <a:ext cx="109728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PARALLEL</a:t>
            </a:r>
            <a:endParaRPr lang="en-US" sz="850" dirty="0"/>
          </a:p>
        </p:txBody>
      </p:sp>
      <p:sp>
        <p:nvSpPr>
          <p:cNvPr id="32" name="Text 30"/>
          <p:cNvSpPr/>
          <p:nvPr/>
        </p:nvSpPr>
        <p:spPr>
          <a:xfrm>
            <a:off x="6382512" y="1947672"/>
            <a:ext cx="4572000" cy="329184"/>
          </a:xfrm>
          <a:prstGeom prst="rect">
            <a:avLst/>
          </a:prstGeom>
          <a:noFill/>
          <a:ln/>
        </p:spPr>
        <p:txBody>
          <a:bodyPr wrap="square" lIns="0" tIns="0" rIns="0" bIns="0" rtlCol="0" anchor="ctr">
            <a:noAutofit/>
          </a:bodyPr>
          <a:lstStyle/>
          <a:p>
            <a:pPr marL="0" indent="0">
              <a:buNone/>
            </a:pPr>
            <a:r>
              <a:rPr lang="en-US" sz="1600" b="1" dirty="0">
                <a:solidFill>
                  <a:srgbClr val="F4F7FA"/>
                </a:solidFill>
              </a:rPr>
              <a:t>Many workers compute independent cells together</a:t>
            </a:r>
            <a:endParaRPr lang="en-US" sz="1600" dirty="0"/>
          </a:p>
        </p:txBody>
      </p:sp>
      <p:sp>
        <p:nvSpPr>
          <p:cNvPr id="33" name="Shape 31"/>
          <p:cNvSpPr/>
          <p:nvPr/>
        </p:nvSpPr>
        <p:spPr>
          <a:xfrm>
            <a:off x="6446520" y="2542032"/>
            <a:ext cx="694944" cy="438912"/>
          </a:xfrm>
          <a:prstGeom prst="roundRect">
            <a:avLst>
              <a:gd name="adj" fmla="val 8333"/>
            </a:avLst>
          </a:prstGeom>
          <a:solidFill>
            <a:srgbClr val="76B900">
              <a:alpha val="82000"/>
            </a:srgbClr>
          </a:solidFill>
          <a:ln w="12700">
            <a:solidFill>
              <a:srgbClr val="76B900">
                <a:alpha val="80000"/>
              </a:srgbClr>
            </a:solidFill>
            <a:prstDash val="solid"/>
          </a:ln>
        </p:spPr>
      </p:sp>
      <p:sp>
        <p:nvSpPr>
          <p:cNvPr id="34" name="Text 32"/>
          <p:cNvSpPr/>
          <p:nvPr/>
        </p:nvSpPr>
        <p:spPr>
          <a:xfrm>
            <a:off x="6446520" y="2679192"/>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T1</a:t>
            </a:r>
            <a:endParaRPr lang="en-US" sz="1000" dirty="0"/>
          </a:p>
        </p:txBody>
      </p:sp>
      <p:sp>
        <p:nvSpPr>
          <p:cNvPr id="35" name="Shape 33"/>
          <p:cNvSpPr/>
          <p:nvPr/>
        </p:nvSpPr>
        <p:spPr>
          <a:xfrm>
            <a:off x="7379208" y="2542032"/>
            <a:ext cx="694944" cy="438912"/>
          </a:xfrm>
          <a:prstGeom prst="roundRect">
            <a:avLst>
              <a:gd name="adj" fmla="val 8333"/>
            </a:avLst>
          </a:prstGeom>
          <a:solidFill>
            <a:srgbClr val="76B900">
              <a:alpha val="82000"/>
            </a:srgbClr>
          </a:solidFill>
          <a:ln w="12700">
            <a:solidFill>
              <a:srgbClr val="76B900">
                <a:alpha val="80000"/>
              </a:srgbClr>
            </a:solidFill>
            <a:prstDash val="solid"/>
          </a:ln>
        </p:spPr>
      </p:sp>
      <p:sp>
        <p:nvSpPr>
          <p:cNvPr id="36" name="Text 34"/>
          <p:cNvSpPr/>
          <p:nvPr/>
        </p:nvSpPr>
        <p:spPr>
          <a:xfrm>
            <a:off x="7379208" y="2679192"/>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T2</a:t>
            </a:r>
            <a:endParaRPr lang="en-US" sz="1000" dirty="0"/>
          </a:p>
        </p:txBody>
      </p:sp>
      <p:sp>
        <p:nvSpPr>
          <p:cNvPr id="37" name="Shape 35"/>
          <p:cNvSpPr/>
          <p:nvPr/>
        </p:nvSpPr>
        <p:spPr>
          <a:xfrm>
            <a:off x="8311896" y="2542032"/>
            <a:ext cx="694944" cy="438912"/>
          </a:xfrm>
          <a:prstGeom prst="roundRect">
            <a:avLst>
              <a:gd name="adj" fmla="val 8333"/>
            </a:avLst>
          </a:prstGeom>
          <a:solidFill>
            <a:srgbClr val="76B900">
              <a:alpha val="82000"/>
            </a:srgbClr>
          </a:solidFill>
          <a:ln w="12700">
            <a:solidFill>
              <a:srgbClr val="76B900">
                <a:alpha val="80000"/>
              </a:srgbClr>
            </a:solidFill>
            <a:prstDash val="solid"/>
          </a:ln>
        </p:spPr>
      </p:sp>
      <p:sp>
        <p:nvSpPr>
          <p:cNvPr id="38" name="Text 36"/>
          <p:cNvSpPr/>
          <p:nvPr/>
        </p:nvSpPr>
        <p:spPr>
          <a:xfrm>
            <a:off x="8311896" y="2679192"/>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T3</a:t>
            </a:r>
            <a:endParaRPr lang="en-US" sz="1000" dirty="0"/>
          </a:p>
        </p:txBody>
      </p:sp>
      <p:sp>
        <p:nvSpPr>
          <p:cNvPr id="39" name="Shape 37"/>
          <p:cNvSpPr/>
          <p:nvPr/>
        </p:nvSpPr>
        <p:spPr>
          <a:xfrm>
            <a:off x="9244584" y="2542032"/>
            <a:ext cx="694944" cy="438912"/>
          </a:xfrm>
          <a:prstGeom prst="roundRect">
            <a:avLst>
              <a:gd name="adj" fmla="val 8333"/>
            </a:avLst>
          </a:prstGeom>
          <a:solidFill>
            <a:srgbClr val="76B900">
              <a:alpha val="82000"/>
            </a:srgbClr>
          </a:solidFill>
          <a:ln w="12700">
            <a:solidFill>
              <a:srgbClr val="76B900">
                <a:alpha val="80000"/>
              </a:srgbClr>
            </a:solidFill>
            <a:prstDash val="solid"/>
          </a:ln>
        </p:spPr>
      </p:sp>
      <p:sp>
        <p:nvSpPr>
          <p:cNvPr id="40" name="Text 38"/>
          <p:cNvSpPr/>
          <p:nvPr/>
        </p:nvSpPr>
        <p:spPr>
          <a:xfrm>
            <a:off x="9244584" y="2679192"/>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T4</a:t>
            </a:r>
            <a:endParaRPr lang="en-US" sz="1000" dirty="0"/>
          </a:p>
        </p:txBody>
      </p:sp>
      <p:sp>
        <p:nvSpPr>
          <p:cNvPr id="41" name="Shape 39"/>
          <p:cNvSpPr/>
          <p:nvPr/>
        </p:nvSpPr>
        <p:spPr>
          <a:xfrm>
            <a:off x="6446520" y="3200400"/>
            <a:ext cx="694944" cy="438912"/>
          </a:xfrm>
          <a:prstGeom prst="roundRect">
            <a:avLst>
              <a:gd name="adj" fmla="val 8333"/>
            </a:avLst>
          </a:prstGeom>
          <a:solidFill>
            <a:srgbClr val="76B900">
              <a:alpha val="72000"/>
            </a:srgbClr>
          </a:solidFill>
          <a:ln w="12700">
            <a:solidFill>
              <a:srgbClr val="76B900">
                <a:alpha val="80000"/>
              </a:srgbClr>
            </a:solidFill>
            <a:prstDash val="solid"/>
          </a:ln>
        </p:spPr>
      </p:sp>
      <p:sp>
        <p:nvSpPr>
          <p:cNvPr id="42" name="Text 40"/>
          <p:cNvSpPr/>
          <p:nvPr/>
        </p:nvSpPr>
        <p:spPr>
          <a:xfrm>
            <a:off x="6446520" y="3337560"/>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T5</a:t>
            </a:r>
            <a:endParaRPr lang="en-US" sz="1000" dirty="0"/>
          </a:p>
        </p:txBody>
      </p:sp>
      <p:sp>
        <p:nvSpPr>
          <p:cNvPr id="43" name="Shape 41"/>
          <p:cNvSpPr/>
          <p:nvPr/>
        </p:nvSpPr>
        <p:spPr>
          <a:xfrm>
            <a:off x="7379208" y="3200400"/>
            <a:ext cx="694944" cy="438912"/>
          </a:xfrm>
          <a:prstGeom prst="roundRect">
            <a:avLst>
              <a:gd name="adj" fmla="val 8333"/>
            </a:avLst>
          </a:prstGeom>
          <a:solidFill>
            <a:srgbClr val="76B900">
              <a:alpha val="72000"/>
            </a:srgbClr>
          </a:solidFill>
          <a:ln w="12700">
            <a:solidFill>
              <a:srgbClr val="76B900">
                <a:alpha val="80000"/>
              </a:srgbClr>
            </a:solidFill>
            <a:prstDash val="solid"/>
          </a:ln>
        </p:spPr>
      </p:sp>
      <p:sp>
        <p:nvSpPr>
          <p:cNvPr id="44" name="Text 42"/>
          <p:cNvSpPr/>
          <p:nvPr/>
        </p:nvSpPr>
        <p:spPr>
          <a:xfrm>
            <a:off x="7379208" y="3337560"/>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T6</a:t>
            </a:r>
            <a:endParaRPr lang="en-US" sz="1000" dirty="0"/>
          </a:p>
        </p:txBody>
      </p:sp>
      <p:sp>
        <p:nvSpPr>
          <p:cNvPr id="45" name="Shape 43"/>
          <p:cNvSpPr/>
          <p:nvPr/>
        </p:nvSpPr>
        <p:spPr>
          <a:xfrm>
            <a:off x="8311896" y="3200400"/>
            <a:ext cx="694944" cy="438912"/>
          </a:xfrm>
          <a:prstGeom prst="roundRect">
            <a:avLst>
              <a:gd name="adj" fmla="val 8333"/>
            </a:avLst>
          </a:prstGeom>
          <a:solidFill>
            <a:srgbClr val="76B900">
              <a:alpha val="72000"/>
            </a:srgbClr>
          </a:solidFill>
          <a:ln w="12700">
            <a:solidFill>
              <a:srgbClr val="76B900">
                <a:alpha val="80000"/>
              </a:srgbClr>
            </a:solidFill>
            <a:prstDash val="solid"/>
          </a:ln>
        </p:spPr>
      </p:sp>
      <p:sp>
        <p:nvSpPr>
          <p:cNvPr id="46" name="Text 44"/>
          <p:cNvSpPr/>
          <p:nvPr/>
        </p:nvSpPr>
        <p:spPr>
          <a:xfrm>
            <a:off x="8311896" y="3337560"/>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T7</a:t>
            </a:r>
            <a:endParaRPr lang="en-US" sz="1000" dirty="0"/>
          </a:p>
        </p:txBody>
      </p:sp>
      <p:sp>
        <p:nvSpPr>
          <p:cNvPr id="47" name="Shape 45"/>
          <p:cNvSpPr/>
          <p:nvPr/>
        </p:nvSpPr>
        <p:spPr>
          <a:xfrm>
            <a:off x="9244584" y="3200400"/>
            <a:ext cx="694944" cy="438912"/>
          </a:xfrm>
          <a:prstGeom prst="roundRect">
            <a:avLst>
              <a:gd name="adj" fmla="val 8333"/>
            </a:avLst>
          </a:prstGeom>
          <a:solidFill>
            <a:srgbClr val="76B900">
              <a:alpha val="72000"/>
            </a:srgbClr>
          </a:solidFill>
          <a:ln w="12700">
            <a:solidFill>
              <a:srgbClr val="76B900">
                <a:alpha val="80000"/>
              </a:srgbClr>
            </a:solidFill>
            <a:prstDash val="solid"/>
          </a:ln>
        </p:spPr>
      </p:sp>
      <p:sp>
        <p:nvSpPr>
          <p:cNvPr id="48" name="Text 46"/>
          <p:cNvSpPr/>
          <p:nvPr/>
        </p:nvSpPr>
        <p:spPr>
          <a:xfrm>
            <a:off x="9244584" y="3337560"/>
            <a:ext cx="694944" cy="146304"/>
          </a:xfrm>
          <a:prstGeom prst="rect">
            <a:avLst/>
          </a:prstGeom>
          <a:noFill/>
          <a:ln/>
        </p:spPr>
        <p:txBody>
          <a:bodyPr wrap="square" lIns="0" tIns="0" rIns="0" bIns="0" rtlCol="0" anchor="ctr">
            <a:noAutofit/>
          </a:bodyPr>
          <a:lstStyle/>
          <a:p>
            <a:pPr marL="0" indent="0" algn="ctr">
              <a:buNone/>
            </a:pPr>
            <a:r>
              <a:rPr lang="en-US" sz="1000" b="1" dirty="0">
                <a:solidFill>
                  <a:srgbClr val="F4F7FA"/>
                </a:solidFill>
              </a:rPr>
              <a:t>T8</a:t>
            </a:r>
            <a:endParaRPr lang="en-US" sz="1000" dirty="0"/>
          </a:p>
        </p:txBody>
      </p:sp>
      <p:sp>
        <p:nvSpPr>
          <p:cNvPr id="49" name="Text 47"/>
          <p:cNvSpPr/>
          <p:nvPr/>
        </p:nvSpPr>
        <p:spPr>
          <a:xfrm>
            <a:off x="6446520" y="3886200"/>
            <a:ext cx="3474720" cy="219456"/>
          </a:xfrm>
          <a:prstGeom prst="rect">
            <a:avLst/>
          </a:prstGeom>
          <a:noFill/>
          <a:ln/>
        </p:spPr>
        <p:txBody>
          <a:bodyPr wrap="square" lIns="0" tIns="0" rIns="0" bIns="0" rtlCol="0" anchor="ctr">
            <a:noAutofit/>
          </a:bodyPr>
          <a:lstStyle/>
          <a:p>
            <a:pPr marL="0" indent="0">
              <a:buNone/>
            </a:pPr>
            <a:r>
              <a:rPr lang="en-US" sz="1100" dirty="0">
                <a:solidFill>
                  <a:srgbClr val="A3E635"/>
                </a:solidFill>
              </a:rPr>
              <a:t>same time window</a:t>
            </a:r>
            <a:endParaRPr lang="en-US" sz="1100" dirty="0"/>
          </a:p>
        </p:txBody>
      </p:sp>
      <p:sp>
        <p:nvSpPr>
          <p:cNvPr id="50" name="Shape 48"/>
          <p:cNvSpPr/>
          <p:nvPr/>
        </p:nvSpPr>
        <p:spPr>
          <a:xfrm>
            <a:off x="6400800" y="4343400"/>
            <a:ext cx="1691640"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51" name="Text 49"/>
          <p:cNvSpPr/>
          <p:nvPr/>
        </p:nvSpPr>
        <p:spPr>
          <a:xfrm>
            <a:off x="6400800" y="4430268"/>
            <a:ext cx="1691640"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CONV / GEMM</a:t>
            </a:r>
            <a:endParaRPr lang="en-US" sz="900" dirty="0"/>
          </a:p>
        </p:txBody>
      </p:sp>
      <p:sp>
        <p:nvSpPr>
          <p:cNvPr id="52" name="Shape 50"/>
          <p:cNvSpPr/>
          <p:nvPr/>
        </p:nvSpPr>
        <p:spPr>
          <a:xfrm>
            <a:off x="8366760" y="4343400"/>
            <a:ext cx="1691640" cy="347472"/>
          </a:xfrm>
          <a:prstGeom prst="roundRect">
            <a:avLst>
              <a:gd name="adj" fmla="val 13158"/>
            </a:avLst>
          </a:prstGeom>
          <a:solidFill>
            <a:srgbClr val="41D9FF">
              <a:alpha val="18000"/>
            </a:srgbClr>
          </a:solidFill>
          <a:ln w="12700">
            <a:solidFill>
              <a:srgbClr val="41D9FF">
                <a:alpha val="50000"/>
              </a:srgbClr>
            </a:solidFill>
            <a:prstDash val="solid"/>
          </a:ln>
        </p:spPr>
      </p:sp>
      <p:sp>
        <p:nvSpPr>
          <p:cNvPr id="53" name="Text 51"/>
          <p:cNvSpPr/>
          <p:nvPr/>
        </p:nvSpPr>
        <p:spPr>
          <a:xfrm>
            <a:off x="8366760" y="4430268"/>
            <a:ext cx="1691640" cy="137160"/>
          </a:xfrm>
          <a:prstGeom prst="rect">
            <a:avLst/>
          </a:prstGeom>
          <a:noFill/>
          <a:ln/>
        </p:spPr>
        <p:txBody>
          <a:bodyPr wrap="square" lIns="0" tIns="0" rIns="0" bIns="0" rtlCol="0" anchor="ctr">
            <a:noAutofit/>
          </a:bodyPr>
          <a:lstStyle/>
          <a:p>
            <a:pPr marL="0" indent="0" algn="ctr">
              <a:buNone/>
            </a:pPr>
            <a:r>
              <a:rPr lang="en-US" sz="900" b="1" dirty="0">
                <a:solidFill>
                  <a:srgbClr val="41D9FF"/>
                </a:solidFill>
              </a:rPr>
              <a:t>ACTIVATION</a:t>
            </a:r>
            <a:endParaRPr lang="en-US" sz="900" dirty="0"/>
          </a:p>
        </p:txBody>
      </p:sp>
      <p:sp>
        <p:nvSpPr>
          <p:cNvPr id="54" name="Shape 52"/>
          <p:cNvSpPr/>
          <p:nvPr/>
        </p:nvSpPr>
        <p:spPr>
          <a:xfrm>
            <a:off x="6400800" y="4892040"/>
            <a:ext cx="1691640" cy="347472"/>
          </a:xfrm>
          <a:prstGeom prst="roundRect">
            <a:avLst>
              <a:gd name="adj" fmla="val 13158"/>
            </a:avLst>
          </a:prstGeom>
          <a:solidFill>
            <a:srgbClr val="A78BFA">
              <a:alpha val="18000"/>
            </a:srgbClr>
          </a:solidFill>
          <a:ln w="12700">
            <a:solidFill>
              <a:srgbClr val="A78BFA">
                <a:alpha val="50000"/>
              </a:srgbClr>
            </a:solidFill>
            <a:prstDash val="solid"/>
          </a:ln>
        </p:spPr>
      </p:sp>
      <p:sp>
        <p:nvSpPr>
          <p:cNvPr id="55" name="Text 53"/>
          <p:cNvSpPr/>
          <p:nvPr/>
        </p:nvSpPr>
        <p:spPr>
          <a:xfrm>
            <a:off x="6400800" y="4978908"/>
            <a:ext cx="1691640" cy="137160"/>
          </a:xfrm>
          <a:prstGeom prst="rect">
            <a:avLst/>
          </a:prstGeom>
          <a:noFill/>
          <a:ln/>
        </p:spPr>
        <p:txBody>
          <a:bodyPr wrap="square" lIns="0" tIns="0" rIns="0" bIns="0" rtlCol="0" anchor="ctr">
            <a:noAutofit/>
          </a:bodyPr>
          <a:lstStyle/>
          <a:p>
            <a:pPr marL="0" indent="0" algn="ctr">
              <a:buNone/>
            </a:pPr>
            <a:r>
              <a:rPr lang="en-US" sz="900" b="1" dirty="0">
                <a:solidFill>
                  <a:srgbClr val="A78BFA"/>
                </a:solidFill>
              </a:rPr>
              <a:t>POOLING</a:t>
            </a:r>
            <a:endParaRPr lang="en-US" sz="900" dirty="0"/>
          </a:p>
        </p:txBody>
      </p:sp>
      <p:sp>
        <p:nvSpPr>
          <p:cNvPr id="56" name="Shape 54"/>
          <p:cNvSpPr/>
          <p:nvPr/>
        </p:nvSpPr>
        <p:spPr>
          <a:xfrm>
            <a:off x="8366760" y="4892040"/>
            <a:ext cx="1691640" cy="347472"/>
          </a:xfrm>
          <a:prstGeom prst="roundRect">
            <a:avLst>
              <a:gd name="adj" fmla="val 13158"/>
            </a:avLst>
          </a:prstGeom>
          <a:solidFill>
            <a:srgbClr val="FFB454">
              <a:alpha val="18000"/>
            </a:srgbClr>
          </a:solidFill>
          <a:ln w="12700">
            <a:solidFill>
              <a:srgbClr val="FFB454">
                <a:alpha val="50000"/>
              </a:srgbClr>
            </a:solidFill>
            <a:prstDash val="solid"/>
          </a:ln>
        </p:spPr>
      </p:sp>
      <p:sp>
        <p:nvSpPr>
          <p:cNvPr id="57" name="Text 55"/>
          <p:cNvSpPr/>
          <p:nvPr/>
        </p:nvSpPr>
        <p:spPr>
          <a:xfrm>
            <a:off x="8366760" y="4978908"/>
            <a:ext cx="1691640" cy="137160"/>
          </a:xfrm>
          <a:prstGeom prst="rect">
            <a:avLst/>
          </a:prstGeom>
          <a:noFill/>
          <a:ln/>
        </p:spPr>
        <p:txBody>
          <a:bodyPr wrap="square" lIns="0" tIns="0" rIns="0" bIns="0" rtlCol="0" anchor="ctr">
            <a:noAutofit/>
          </a:bodyPr>
          <a:lstStyle/>
          <a:p>
            <a:pPr marL="0" indent="0" algn="ctr">
              <a:buNone/>
            </a:pPr>
            <a:r>
              <a:rPr lang="en-US" sz="900" b="1" dirty="0">
                <a:solidFill>
                  <a:srgbClr val="FFB454"/>
                </a:solidFill>
              </a:rPr>
              <a:t>BATCHES</a:t>
            </a:r>
            <a:endParaRPr lang="en-US" sz="900" dirty="0"/>
          </a:p>
        </p:txBody>
      </p:sp>
      <p:sp>
        <p:nvSpPr>
          <p:cNvPr id="58" name="Text 56"/>
          <p:cNvSpPr/>
          <p:nvPr/>
        </p:nvSpPr>
        <p:spPr>
          <a:xfrm>
            <a:off x="6400800" y="5511800"/>
            <a:ext cx="4389120" cy="279400"/>
          </a:xfrm>
          <a:prstGeom prst="rect">
            <a:avLst/>
          </a:prstGeom>
          <a:noFill/>
          <a:ln/>
        </p:spPr>
        <p:txBody>
          <a:bodyPr wrap="square" lIns="0" tIns="0" rIns="0" bIns="0" rtlCol="0" anchor="ctr">
            <a:noAutofit/>
          </a:bodyPr>
          <a:lstStyle/>
          <a:p>
            <a:pPr marL="0" indent="0">
              <a:buNone/>
            </a:pPr>
            <a:r>
              <a:rPr lang="en-US" sz="1420" b="1">
                <a:solidFill>
                  <a:srgbClr val="F4F7FA"/>
                </a:solidFill>
              </a:rPr>
              <a:t>Best target: many independent output sums.</a:t>
            </a:r>
            <a:endParaRPr lang="en-US" sz="1420" dirty="0"/>
          </a:p>
        </p:txBody>
      </p:sp>
      <p:sp>
        <p:nvSpPr>
          <p:cNvPr id="59" name="Text 57"/>
          <p:cNvSpPr/>
          <p:nvPr/>
        </p:nvSpPr>
        <p:spPr>
          <a:xfrm>
            <a:off x="6400800" y="5879592"/>
            <a:ext cx="4709160" cy="256032"/>
          </a:xfrm>
          <a:prstGeom prst="rect">
            <a:avLst/>
          </a:prstGeom>
          <a:noFill/>
          <a:ln/>
        </p:spPr>
        <p:txBody>
          <a:bodyPr wrap="square" lIns="0" tIns="0" rIns="0" bIns="0" rtlCol="0" anchor="ctr">
            <a:noAutofit/>
          </a:bodyPr>
          <a:lstStyle/>
          <a:p>
            <a:pPr marL="0" indent="0">
              <a:buNone/>
            </a:pPr>
            <a:r>
              <a:rPr lang="en-US" sz="1150">
                <a:solidFill>
                  <a:srgbClr val="7E8A97"/>
                </a:solidFill>
              </a:rPr>
              <a:t>Limits: tiny jobs, launch overhead and synchronization.</a:t>
            </a:r>
            <a:endParaRPr lang="en-US" sz="1150" dirty="0"/>
          </a:p>
        </p:txBody>
      </p:sp>
      <p:sp>
        <p:nvSpPr>
          <p:cNvPr id="60"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dirty="0">
                <a:solidFill>
                  <a:srgbClr val="F4F7FA"/>
                </a:solidFill>
              </a:rPr>
              <a:t>How a CPU executes a CNN</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OpenMP assigns independent outputs to CPU threads. SIMD processes multiple values per instruction.</a:t>
            </a:r>
            <a:endParaRPr lang="en-US" sz="1150" dirty="0"/>
          </a:p>
        </p:txBody>
      </p:sp>
      <p:sp>
        <p:nvSpPr>
          <p:cNvPr id="4" name="Shape 2"/>
          <p:cNvSpPr/>
          <p:nvPr/>
        </p:nvSpPr>
        <p:spPr>
          <a:xfrm>
            <a:off x="9966960" y="347472"/>
            <a:ext cx="1600200" cy="384048"/>
          </a:xfrm>
          <a:prstGeom prst="roundRect">
            <a:avLst>
              <a:gd name="adj" fmla="val 19048"/>
            </a:avLst>
          </a:prstGeom>
          <a:solidFill>
            <a:srgbClr val="41D9FF">
              <a:alpha val="16000"/>
            </a:srgbClr>
          </a:solidFill>
          <a:ln w="12700">
            <a:solidFill>
              <a:srgbClr val="41D9FF">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41D9FF"/>
                </a:solidFill>
              </a:rPr>
              <a:t>PRITHIV · PERSON 1</a:t>
            </a:r>
            <a:endParaRPr lang="en-US" sz="950" dirty="0"/>
          </a:p>
        </p:txBody>
      </p:sp>
      <p:sp>
        <p:nvSpPr>
          <p:cNvPr id="6" name="Shape 4"/>
          <p:cNvSpPr/>
          <p:nvPr/>
        </p:nvSpPr>
        <p:spPr>
          <a:xfrm>
            <a:off x="603504" y="1207008"/>
            <a:ext cx="6400800" cy="5029200"/>
          </a:xfrm>
          <a:prstGeom prst="roundRect">
            <a:avLst>
              <a:gd name="adj" fmla="val 1455"/>
            </a:avLst>
          </a:prstGeom>
          <a:solidFill>
            <a:srgbClr val="121923"/>
          </a:solidFill>
          <a:ln w="12700">
            <a:solidFill>
              <a:srgbClr val="25303D"/>
            </a:solidFill>
            <a:prstDash val="solid"/>
          </a:ln>
        </p:spPr>
      </p:sp>
      <p:sp>
        <p:nvSpPr>
          <p:cNvPr id="7" name="Shape 5"/>
          <p:cNvSpPr/>
          <p:nvPr/>
        </p:nvSpPr>
        <p:spPr>
          <a:xfrm>
            <a:off x="877824" y="1481328"/>
            <a:ext cx="1051560" cy="310896"/>
          </a:xfrm>
          <a:prstGeom prst="roundRect">
            <a:avLst>
              <a:gd name="adj" fmla="val 17647"/>
            </a:avLst>
          </a:prstGeom>
          <a:solidFill>
            <a:srgbClr val="41D9FF">
              <a:alpha val="14000"/>
            </a:srgbClr>
          </a:solidFill>
          <a:ln w="12700">
            <a:solidFill>
              <a:srgbClr val="41D9FF">
                <a:alpha val="45000"/>
              </a:srgbClr>
            </a:solidFill>
            <a:prstDash val="solid"/>
          </a:ln>
        </p:spPr>
      </p:sp>
      <p:sp>
        <p:nvSpPr>
          <p:cNvPr id="8" name="Text 6"/>
          <p:cNvSpPr/>
          <p:nvPr/>
        </p:nvSpPr>
        <p:spPr>
          <a:xfrm>
            <a:off x="877824" y="1559052"/>
            <a:ext cx="105156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41D9FF"/>
                </a:solidFill>
              </a:rPr>
              <a:t>CPU VIEW</a:t>
            </a:r>
            <a:endParaRPr lang="en-US" sz="850" dirty="0"/>
          </a:p>
        </p:txBody>
      </p:sp>
      <p:sp>
        <p:nvSpPr>
          <p:cNvPr id="9" name="Shape 7"/>
          <p:cNvSpPr/>
          <p:nvPr/>
        </p:nvSpPr>
        <p:spPr>
          <a:xfrm>
            <a:off x="960120" y="1965960"/>
            <a:ext cx="2743200" cy="2560320"/>
          </a:xfrm>
          <a:prstGeom prst="roundRect">
            <a:avLst>
              <a:gd name="adj" fmla="val 2857"/>
            </a:avLst>
          </a:prstGeom>
          <a:solidFill>
            <a:srgbClr val="0D2530"/>
          </a:solidFill>
          <a:ln w="19050">
            <a:solidFill>
              <a:srgbClr val="41D9FF"/>
            </a:solidFill>
            <a:prstDash val="solid"/>
          </a:ln>
        </p:spPr>
      </p:sp>
      <p:sp>
        <p:nvSpPr>
          <p:cNvPr id="10" name="Text 8"/>
          <p:cNvSpPr/>
          <p:nvPr/>
        </p:nvSpPr>
        <p:spPr>
          <a:xfrm>
            <a:off x="1060704" y="2130552"/>
            <a:ext cx="640080" cy="228600"/>
          </a:xfrm>
          <a:prstGeom prst="rect">
            <a:avLst/>
          </a:prstGeom>
          <a:noFill/>
          <a:ln/>
        </p:spPr>
        <p:txBody>
          <a:bodyPr wrap="square" lIns="0" tIns="0" rIns="0" bIns="0" rtlCol="0" anchor="ctr">
            <a:noAutofit/>
          </a:bodyPr>
          <a:lstStyle/>
          <a:p>
            <a:pPr marL="0" indent="0">
              <a:buNone/>
            </a:pPr>
            <a:r>
              <a:rPr lang="en-US" sz="1800" b="1" dirty="0">
                <a:solidFill>
                  <a:srgbClr val="41D9FF"/>
                </a:solidFill>
              </a:rPr>
              <a:t>CPU</a:t>
            </a:r>
            <a:endParaRPr lang="en-US" sz="1800" dirty="0"/>
          </a:p>
        </p:txBody>
      </p:sp>
      <p:sp>
        <p:nvSpPr>
          <p:cNvPr id="11" name="Shape 9"/>
          <p:cNvSpPr/>
          <p:nvPr/>
        </p:nvSpPr>
        <p:spPr>
          <a:xfrm>
            <a:off x="1270000" y="2857500"/>
            <a:ext cx="698500" cy="571500"/>
          </a:xfrm>
          <a:prstGeom prst="roundRect">
            <a:avLst>
              <a:gd name="adj" fmla="val 8333"/>
            </a:avLst>
          </a:prstGeom>
          <a:solidFill>
            <a:srgbClr val="41D9FF">
              <a:alpha val="75000"/>
            </a:srgbClr>
          </a:solidFill>
          <a:ln w="12700">
            <a:solidFill>
              <a:srgbClr val="41D9FF">
                <a:alpha val="75000"/>
              </a:srgbClr>
            </a:solidFill>
            <a:prstDash val="solid"/>
          </a:ln>
        </p:spPr>
      </p:sp>
      <p:sp>
        <p:nvSpPr>
          <p:cNvPr id="12" name="Text 10"/>
          <p:cNvSpPr/>
          <p:nvPr/>
        </p:nvSpPr>
        <p:spPr>
          <a:xfrm>
            <a:off x="1270000" y="3048000"/>
            <a:ext cx="698500" cy="137160"/>
          </a:xfrm>
          <a:prstGeom prst="rect">
            <a:avLst/>
          </a:prstGeom>
          <a:noFill/>
          <a:ln/>
        </p:spPr>
        <p:txBody>
          <a:bodyPr wrap="square" lIns="0" tIns="0" rIns="0" bIns="0" rtlCol="0" anchor="ctr">
            <a:noAutofit/>
          </a:bodyPr>
          <a:lstStyle/>
          <a:p>
            <a:pPr marL="0" indent="0" algn="ctr">
              <a:buNone/>
            </a:pPr>
            <a:r>
              <a:rPr lang="en-US" sz="900" b="1">
                <a:solidFill>
                  <a:srgbClr val="F4F7FA"/>
                </a:solidFill>
              </a:rPr>
              <a:t>T0</a:t>
            </a:r>
            <a:endParaRPr lang="en-US" sz="900" dirty="0"/>
          </a:p>
        </p:txBody>
      </p:sp>
      <p:sp>
        <p:nvSpPr>
          <p:cNvPr id="13" name="Shape 11"/>
          <p:cNvSpPr/>
          <p:nvPr/>
        </p:nvSpPr>
        <p:spPr>
          <a:xfrm>
            <a:off x="2413000" y="2857500"/>
            <a:ext cx="698500" cy="571500"/>
          </a:xfrm>
          <a:prstGeom prst="roundRect">
            <a:avLst>
              <a:gd name="adj" fmla="val 8333"/>
            </a:avLst>
          </a:prstGeom>
          <a:solidFill>
            <a:srgbClr val="41D9FF">
              <a:alpha val="75000"/>
            </a:srgbClr>
          </a:solidFill>
          <a:ln w="12700">
            <a:solidFill>
              <a:srgbClr val="41D9FF">
                <a:alpha val="75000"/>
              </a:srgbClr>
            </a:solidFill>
            <a:prstDash val="solid"/>
          </a:ln>
        </p:spPr>
      </p:sp>
      <p:sp>
        <p:nvSpPr>
          <p:cNvPr id="14" name="Text 12"/>
          <p:cNvSpPr/>
          <p:nvPr/>
        </p:nvSpPr>
        <p:spPr>
          <a:xfrm>
            <a:off x="2413000" y="3048000"/>
            <a:ext cx="698500" cy="137160"/>
          </a:xfrm>
          <a:prstGeom prst="rect">
            <a:avLst/>
          </a:prstGeom>
          <a:noFill/>
          <a:ln/>
        </p:spPr>
        <p:txBody>
          <a:bodyPr wrap="square" lIns="0" tIns="0" rIns="0" bIns="0" rtlCol="0" anchor="ctr">
            <a:noAutofit/>
          </a:bodyPr>
          <a:lstStyle/>
          <a:p>
            <a:pPr marL="0" indent="0" algn="ctr">
              <a:buNone/>
            </a:pPr>
            <a:r>
              <a:rPr lang="en-US" sz="900" b="1">
                <a:solidFill>
                  <a:srgbClr val="F4F7FA"/>
                </a:solidFill>
              </a:rPr>
              <a:t>T1</a:t>
            </a:r>
            <a:endParaRPr lang="en-US" sz="900" dirty="0"/>
          </a:p>
        </p:txBody>
      </p:sp>
      <p:sp>
        <p:nvSpPr>
          <p:cNvPr id="15" name="Shape 13"/>
          <p:cNvSpPr/>
          <p:nvPr/>
        </p:nvSpPr>
        <p:spPr>
          <a:xfrm>
            <a:off x="1270000" y="3619500"/>
            <a:ext cx="698500" cy="571500"/>
          </a:xfrm>
          <a:prstGeom prst="roundRect">
            <a:avLst>
              <a:gd name="adj" fmla="val 8333"/>
            </a:avLst>
          </a:prstGeom>
          <a:solidFill>
            <a:srgbClr val="41D9FF">
              <a:alpha val="75000"/>
            </a:srgbClr>
          </a:solidFill>
          <a:ln w="12700">
            <a:solidFill>
              <a:srgbClr val="41D9FF">
                <a:alpha val="75000"/>
              </a:srgbClr>
            </a:solidFill>
            <a:prstDash val="solid"/>
          </a:ln>
        </p:spPr>
      </p:sp>
      <p:sp>
        <p:nvSpPr>
          <p:cNvPr id="16" name="Text 14"/>
          <p:cNvSpPr/>
          <p:nvPr/>
        </p:nvSpPr>
        <p:spPr>
          <a:xfrm>
            <a:off x="1270000" y="3810000"/>
            <a:ext cx="698500" cy="137160"/>
          </a:xfrm>
          <a:prstGeom prst="rect">
            <a:avLst/>
          </a:prstGeom>
          <a:noFill/>
          <a:ln/>
        </p:spPr>
        <p:txBody>
          <a:bodyPr wrap="square" lIns="0" tIns="0" rIns="0" bIns="0" rtlCol="0" anchor="ctr">
            <a:noAutofit/>
          </a:bodyPr>
          <a:lstStyle/>
          <a:p>
            <a:pPr marL="0" indent="0" algn="ctr">
              <a:buNone/>
            </a:pPr>
            <a:r>
              <a:rPr lang="en-US" sz="900" b="1">
                <a:solidFill>
                  <a:srgbClr val="F4F7FA"/>
                </a:solidFill>
              </a:rPr>
              <a:t>T2</a:t>
            </a:r>
            <a:endParaRPr lang="en-US" sz="900" dirty="0"/>
          </a:p>
        </p:txBody>
      </p:sp>
      <p:sp>
        <p:nvSpPr>
          <p:cNvPr id="17" name="Shape 15"/>
          <p:cNvSpPr/>
          <p:nvPr/>
        </p:nvSpPr>
        <p:spPr>
          <a:xfrm>
            <a:off x="2413000" y="3619500"/>
            <a:ext cx="698500" cy="571500"/>
          </a:xfrm>
          <a:prstGeom prst="roundRect">
            <a:avLst>
              <a:gd name="adj" fmla="val 8333"/>
            </a:avLst>
          </a:prstGeom>
          <a:solidFill>
            <a:srgbClr val="41D9FF">
              <a:alpha val="75000"/>
            </a:srgbClr>
          </a:solidFill>
          <a:ln w="12700">
            <a:solidFill>
              <a:srgbClr val="41D9FF">
                <a:alpha val="75000"/>
              </a:srgbClr>
            </a:solidFill>
            <a:prstDash val="solid"/>
          </a:ln>
        </p:spPr>
      </p:sp>
      <p:sp>
        <p:nvSpPr>
          <p:cNvPr id="18" name="Text 16"/>
          <p:cNvSpPr/>
          <p:nvPr/>
        </p:nvSpPr>
        <p:spPr>
          <a:xfrm>
            <a:off x="2413000" y="3810000"/>
            <a:ext cx="698500" cy="137160"/>
          </a:xfrm>
          <a:prstGeom prst="rect">
            <a:avLst/>
          </a:prstGeom>
          <a:noFill/>
          <a:ln/>
        </p:spPr>
        <p:txBody>
          <a:bodyPr wrap="square" lIns="0" tIns="0" rIns="0" bIns="0" rtlCol="0" anchor="ctr">
            <a:noAutofit/>
          </a:bodyPr>
          <a:lstStyle/>
          <a:p>
            <a:pPr marL="0" indent="0" algn="ctr">
              <a:buNone/>
            </a:pPr>
            <a:r>
              <a:rPr lang="en-US" sz="900" b="1">
                <a:solidFill>
                  <a:srgbClr val="F4F7FA"/>
                </a:solidFill>
              </a:rPr>
              <a:t>T3</a:t>
            </a:r>
            <a:endParaRPr lang="en-US" sz="900" dirty="0"/>
          </a:p>
        </p:txBody>
      </p:sp>
      <p:sp>
        <p:nvSpPr>
          <p:cNvPr id="27" name="Text 25"/>
          <p:cNvSpPr/>
          <p:nvPr/>
        </p:nvSpPr>
        <p:spPr>
          <a:xfrm>
            <a:off x="4069080" y="2057400"/>
            <a:ext cx="2331720" cy="723900"/>
          </a:xfrm>
          <a:prstGeom prst="rect">
            <a:avLst/>
          </a:prstGeom>
          <a:noFill/>
          <a:ln/>
        </p:spPr>
        <p:txBody>
          <a:bodyPr wrap="square" lIns="0" tIns="0" rIns="0" bIns="0" rtlCol="0" anchor="ctr">
            <a:noAutofit/>
          </a:bodyPr>
          <a:lstStyle/>
          <a:p>
            <a:pPr marL="0" indent="0">
              <a:buNone/>
            </a:pPr>
            <a:r>
              <a:rPr lang="en-US" sz="1500" b="1">
                <a:solidFill>
                  <a:srgbClr val="F4F7FA"/>
                </a:solidFill>
              </a:rPr>
              <a:t>OpenMP splits output cells</a:t>
            </a:r>
          </a:p>
          <a:p>
            <a:pPr marL="0" indent="0">
              <a:buNone/>
            </a:pPr>
            <a:r>
              <a:rPr lang="en-US" sz="1500" b="1">
                <a:solidFill>
                  <a:srgbClr val="F4F7FA"/>
                </a:solidFill>
              </a:rPr>
              <a:t>among four CPU threads.</a:t>
            </a:r>
            <a:endParaRPr lang="en-US" sz="1500" dirty="0"/>
          </a:p>
        </p:txBody>
      </p:sp>
      <p:sp>
        <p:nvSpPr>
          <p:cNvPr id="28" name="Shape 26"/>
          <p:cNvSpPr/>
          <p:nvPr/>
        </p:nvSpPr>
        <p:spPr>
          <a:xfrm>
            <a:off x="4160520" y="2816352"/>
            <a:ext cx="384048" cy="384048"/>
          </a:xfrm>
          <a:prstGeom prst="rect">
            <a:avLst/>
          </a:prstGeom>
          <a:solidFill>
            <a:srgbClr val="41D9FF">
              <a:alpha val="72000"/>
            </a:srgbClr>
          </a:solidFill>
          <a:ln w="7620">
            <a:solidFill>
              <a:srgbClr val="536170"/>
            </a:solidFill>
            <a:prstDash val="solid"/>
          </a:ln>
        </p:spPr>
      </p:sp>
      <p:sp>
        <p:nvSpPr>
          <p:cNvPr id="29" name="Shape 27"/>
          <p:cNvSpPr/>
          <p:nvPr/>
        </p:nvSpPr>
        <p:spPr>
          <a:xfrm>
            <a:off x="4654296" y="2816352"/>
            <a:ext cx="384048" cy="384048"/>
          </a:xfrm>
          <a:prstGeom prst="rect">
            <a:avLst/>
          </a:prstGeom>
          <a:solidFill>
            <a:srgbClr val="A78BFA">
              <a:alpha val="72000"/>
            </a:srgbClr>
          </a:solidFill>
          <a:ln w="7620">
            <a:solidFill>
              <a:srgbClr val="536170"/>
            </a:solidFill>
            <a:prstDash val="solid"/>
          </a:ln>
        </p:spPr>
      </p:sp>
      <p:sp>
        <p:nvSpPr>
          <p:cNvPr id="30" name="Shape 28"/>
          <p:cNvSpPr/>
          <p:nvPr/>
        </p:nvSpPr>
        <p:spPr>
          <a:xfrm>
            <a:off x="5148072" y="2816352"/>
            <a:ext cx="384048" cy="384048"/>
          </a:xfrm>
          <a:prstGeom prst="rect">
            <a:avLst/>
          </a:prstGeom>
          <a:solidFill>
            <a:srgbClr val="41D9FF">
              <a:alpha val="72000"/>
            </a:srgbClr>
          </a:solidFill>
          <a:ln w="7620">
            <a:solidFill>
              <a:srgbClr val="536170"/>
            </a:solidFill>
            <a:prstDash val="solid"/>
          </a:ln>
        </p:spPr>
      </p:sp>
      <p:sp>
        <p:nvSpPr>
          <p:cNvPr id="31" name="Shape 29"/>
          <p:cNvSpPr/>
          <p:nvPr/>
        </p:nvSpPr>
        <p:spPr>
          <a:xfrm>
            <a:off x="5641848" y="2816352"/>
            <a:ext cx="384048" cy="384048"/>
          </a:xfrm>
          <a:prstGeom prst="rect">
            <a:avLst/>
          </a:prstGeom>
          <a:solidFill>
            <a:srgbClr val="A78BFA">
              <a:alpha val="72000"/>
            </a:srgbClr>
          </a:solidFill>
          <a:ln w="7620">
            <a:solidFill>
              <a:srgbClr val="536170"/>
            </a:solidFill>
            <a:prstDash val="solid"/>
          </a:ln>
        </p:spPr>
      </p:sp>
      <p:sp>
        <p:nvSpPr>
          <p:cNvPr id="32" name="Shape 30"/>
          <p:cNvSpPr/>
          <p:nvPr/>
        </p:nvSpPr>
        <p:spPr>
          <a:xfrm>
            <a:off x="4160520" y="3346704"/>
            <a:ext cx="384048" cy="384048"/>
          </a:xfrm>
          <a:prstGeom prst="rect">
            <a:avLst/>
          </a:prstGeom>
          <a:solidFill>
            <a:srgbClr val="41D9FF">
              <a:alpha val="72000"/>
            </a:srgbClr>
          </a:solidFill>
          <a:ln w="7620">
            <a:solidFill>
              <a:srgbClr val="536170"/>
            </a:solidFill>
            <a:prstDash val="solid"/>
          </a:ln>
        </p:spPr>
      </p:sp>
      <p:sp>
        <p:nvSpPr>
          <p:cNvPr id="33" name="Shape 31"/>
          <p:cNvSpPr/>
          <p:nvPr/>
        </p:nvSpPr>
        <p:spPr>
          <a:xfrm>
            <a:off x="4654296" y="3346704"/>
            <a:ext cx="384048" cy="384048"/>
          </a:xfrm>
          <a:prstGeom prst="rect">
            <a:avLst/>
          </a:prstGeom>
          <a:solidFill>
            <a:srgbClr val="A78BFA">
              <a:alpha val="72000"/>
            </a:srgbClr>
          </a:solidFill>
          <a:ln w="7620">
            <a:solidFill>
              <a:srgbClr val="536170"/>
            </a:solidFill>
            <a:prstDash val="solid"/>
          </a:ln>
        </p:spPr>
      </p:sp>
      <p:sp>
        <p:nvSpPr>
          <p:cNvPr id="34" name="Shape 32"/>
          <p:cNvSpPr/>
          <p:nvPr/>
        </p:nvSpPr>
        <p:spPr>
          <a:xfrm>
            <a:off x="5148072" y="3346704"/>
            <a:ext cx="384048" cy="384048"/>
          </a:xfrm>
          <a:prstGeom prst="rect">
            <a:avLst/>
          </a:prstGeom>
          <a:solidFill>
            <a:srgbClr val="41D9FF">
              <a:alpha val="72000"/>
            </a:srgbClr>
          </a:solidFill>
          <a:ln w="7620">
            <a:solidFill>
              <a:srgbClr val="536170"/>
            </a:solidFill>
            <a:prstDash val="solid"/>
          </a:ln>
        </p:spPr>
      </p:sp>
      <p:sp>
        <p:nvSpPr>
          <p:cNvPr id="35" name="Shape 33"/>
          <p:cNvSpPr/>
          <p:nvPr/>
        </p:nvSpPr>
        <p:spPr>
          <a:xfrm>
            <a:off x="5641848" y="3346704"/>
            <a:ext cx="384048" cy="384048"/>
          </a:xfrm>
          <a:prstGeom prst="rect">
            <a:avLst/>
          </a:prstGeom>
          <a:solidFill>
            <a:srgbClr val="A78BFA">
              <a:alpha val="72000"/>
            </a:srgbClr>
          </a:solidFill>
          <a:ln w="7620">
            <a:solidFill>
              <a:srgbClr val="536170"/>
            </a:solidFill>
            <a:prstDash val="solid"/>
          </a:ln>
        </p:spPr>
      </p:sp>
      <p:sp>
        <p:nvSpPr>
          <p:cNvPr id="36" name="Shape 34"/>
          <p:cNvSpPr/>
          <p:nvPr/>
        </p:nvSpPr>
        <p:spPr>
          <a:xfrm>
            <a:off x="3694176" y="3227832"/>
            <a:ext cx="365760" cy="0"/>
          </a:xfrm>
          <a:prstGeom prst="line">
            <a:avLst/>
          </a:prstGeom>
          <a:noFill/>
          <a:ln w="25400">
            <a:solidFill>
              <a:srgbClr val="41D9FF"/>
            </a:solidFill>
            <a:prstDash val="solid"/>
            <a:headEnd type="none"/>
            <a:tailEnd type="triangle"/>
          </a:ln>
        </p:spPr>
      </p:sp>
      <p:sp>
        <p:nvSpPr>
          <p:cNvPr id="37" name="Text 35"/>
          <p:cNvSpPr/>
          <p:nvPr/>
        </p:nvSpPr>
        <p:spPr>
          <a:xfrm>
            <a:off x="4069080" y="4069080"/>
            <a:ext cx="2286000" cy="640080"/>
          </a:xfrm>
          <a:prstGeom prst="rect">
            <a:avLst/>
          </a:prstGeom>
          <a:noFill/>
          <a:ln/>
        </p:spPr>
        <p:txBody>
          <a:bodyPr wrap="square" lIns="0" tIns="0" rIns="0" bIns="0" rtlCol="0" anchor="ctr">
            <a:noAutofit/>
          </a:bodyPr>
          <a:lstStyle/>
          <a:p>
            <a:pPr marL="0" indent="0">
              <a:buNone/>
            </a:pPr>
            <a:r>
              <a:rPr lang="en-US" sz="1250">
                <a:solidFill>
                  <a:srgbClr val="C7D0D9"/>
                </a:solidFill>
              </a:rPr>
              <a:t>One writer per output.</a:t>
            </a:r>
          </a:p>
          <a:p>
            <a:pPr marL="0" indent="0">
              <a:buNone/>
            </a:pPr>
            <a:r>
              <a:rPr lang="en-US" sz="1250">
                <a:solidFill>
                  <a:srgbClr val="C7D0D9"/>
                </a:solidFill>
              </a:rPr>
              <a:t>Input and weights are read-only.</a:t>
            </a:r>
            <a:endParaRPr lang="en-US" sz="1250" dirty="0"/>
          </a:p>
        </p:txBody>
      </p:sp>
      <p:sp>
        <p:nvSpPr>
          <p:cNvPr id="38" name="Shape 36"/>
          <p:cNvSpPr/>
          <p:nvPr/>
        </p:nvSpPr>
        <p:spPr>
          <a:xfrm>
            <a:off x="7242048" y="1207008"/>
            <a:ext cx="4334256" cy="2331720"/>
          </a:xfrm>
          <a:prstGeom prst="roundRect">
            <a:avLst>
              <a:gd name="adj" fmla="val 3137"/>
            </a:avLst>
          </a:prstGeom>
          <a:solidFill>
            <a:srgbClr val="101B1A"/>
          </a:solidFill>
          <a:ln w="12700">
            <a:solidFill>
              <a:srgbClr val="24423A"/>
            </a:solidFill>
            <a:prstDash val="solid"/>
          </a:ln>
        </p:spPr>
      </p:sp>
      <p:sp>
        <p:nvSpPr>
          <p:cNvPr id="39" name="Shape 37"/>
          <p:cNvSpPr/>
          <p:nvPr/>
        </p:nvSpPr>
        <p:spPr>
          <a:xfrm>
            <a:off x="7479792" y="1481328"/>
            <a:ext cx="123444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40" name="Text 38"/>
          <p:cNvSpPr/>
          <p:nvPr/>
        </p:nvSpPr>
        <p:spPr>
          <a:xfrm>
            <a:off x="7479792" y="1559052"/>
            <a:ext cx="123444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ADVANTAGES</a:t>
            </a:r>
            <a:endParaRPr lang="en-US" sz="850" dirty="0"/>
          </a:p>
        </p:txBody>
      </p:sp>
      <p:sp>
        <p:nvSpPr>
          <p:cNvPr id="41" name="Text 39"/>
          <p:cNvSpPr/>
          <p:nvPr/>
        </p:nvSpPr>
        <p:spPr>
          <a:xfrm>
            <a:off x="7479792" y="1993392"/>
            <a:ext cx="3611880" cy="1234440"/>
          </a:xfrm>
          <a:prstGeom prst="rect">
            <a:avLst/>
          </a:prstGeom>
          <a:noFill/>
          <a:ln/>
        </p:spPr>
        <p:txBody>
          <a:bodyPr wrap="square" lIns="381" tIns="381" rIns="381" bIns="381" rtlCol="0" anchor="ctr">
            <a:noAutofit/>
          </a:bodyPr>
          <a:lstStyle/>
          <a:p>
            <a:pPr marL="177800" indent="-177800">
              <a:buSzPct val="100000"/>
              <a:buChar char="•"/>
            </a:pPr>
            <a:r>
              <a:rPr lang="en-US" sz="1400">
                <a:solidFill>
                  <a:srgbClr val="C7D0D9"/>
                </a:solidFill>
              </a:rPr>
              <a:t>Low overhead; no GPU transfer</a:t>
            </a:r>
          </a:p>
          <a:p>
            <a:pPr marL="177800" indent="-177800">
              <a:buSzPct val="100000"/>
              <a:buChar char="•"/>
            </a:pPr>
            <a:r>
              <a:rPr lang="en-US" sz="1400">
                <a:solidFill>
                  <a:srgbClr val="C7D0D9"/>
                </a:solidFill>
              </a:rPr>
              <a:t>OpenMP threads share the input data</a:t>
            </a:r>
          </a:p>
          <a:p>
            <a:pPr marL="177800" indent="-177800">
              <a:buSzPct val="100000"/>
              <a:buChar char="•"/>
            </a:pPr>
            <a:r>
              <a:rPr lang="en-US" sz="1400">
                <a:solidFill>
                  <a:srgbClr val="C7D0D9"/>
                </a:solidFill>
              </a:rPr>
              <a:t>Good latency for small requests</a:t>
            </a:r>
            <a:endParaRPr lang="en-US" sz="1400" dirty="0"/>
          </a:p>
        </p:txBody>
      </p:sp>
      <p:sp>
        <p:nvSpPr>
          <p:cNvPr id="42" name="Shape 40"/>
          <p:cNvSpPr/>
          <p:nvPr/>
        </p:nvSpPr>
        <p:spPr>
          <a:xfrm>
            <a:off x="7242048" y="3703320"/>
            <a:ext cx="4334256" cy="2532888"/>
          </a:xfrm>
          <a:prstGeom prst="roundRect">
            <a:avLst>
              <a:gd name="adj" fmla="val 2888"/>
            </a:avLst>
          </a:prstGeom>
          <a:solidFill>
            <a:srgbClr val="211518"/>
          </a:solidFill>
          <a:ln w="12700">
            <a:solidFill>
              <a:srgbClr val="4E2D32"/>
            </a:solidFill>
            <a:prstDash val="solid"/>
          </a:ln>
        </p:spPr>
      </p:sp>
      <p:sp>
        <p:nvSpPr>
          <p:cNvPr id="43" name="Shape 41"/>
          <p:cNvSpPr/>
          <p:nvPr/>
        </p:nvSpPr>
        <p:spPr>
          <a:xfrm>
            <a:off x="7479792" y="3968496"/>
            <a:ext cx="1389888" cy="310896"/>
          </a:xfrm>
          <a:prstGeom prst="roundRect">
            <a:avLst>
              <a:gd name="adj" fmla="val 17647"/>
            </a:avLst>
          </a:prstGeom>
          <a:solidFill>
            <a:srgbClr val="FF6B6B">
              <a:alpha val="14000"/>
            </a:srgbClr>
          </a:solidFill>
          <a:ln w="12700">
            <a:solidFill>
              <a:srgbClr val="FF6B6B">
                <a:alpha val="45000"/>
              </a:srgbClr>
            </a:solidFill>
            <a:prstDash val="solid"/>
          </a:ln>
        </p:spPr>
      </p:sp>
      <p:sp>
        <p:nvSpPr>
          <p:cNvPr id="44" name="Text 42"/>
          <p:cNvSpPr/>
          <p:nvPr/>
        </p:nvSpPr>
        <p:spPr>
          <a:xfrm>
            <a:off x="7479792" y="4046220"/>
            <a:ext cx="1389888"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FF6B6B"/>
                </a:solidFill>
              </a:rPr>
              <a:t>LIMITS FOR CNNs</a:t>
            </a:r>
            <a:endParaRPr lang="en-US" sz="850" dirty="0"/>
          </a:p>
        </p:txBody>
      </p:sp>
      <p:sp>
        <p:nvSpPr>
          <p:cNvPr id="45" name="Text 43"/>
          <p:cNvSpPr/>
          <p:nvPr/>
        </p:nvSpPr>
        <p:spPr>
          <a:xfrm>
            <a:off x="7479792" y="4480560"/>
            <a:ext cx="3611880" cy="1353312"/>
          </a:xfrm>
          <a:prstGeom prst="rect">
            <a:avLst/>
          </a:prstGeom>
          <a:noFill/>
          <a:ln/>
        </p:spPr>
        <p:txBody>
          <a:bodyPr wrap="square" lIns="381" tIns="381" rIns="381" bIns="381" rtlCol="0" anchor="ctr">
            <a:noAutofit/>
          </a:bodyPr>
          <a:lstStyle/>
          <a:p>
            <a:pPr marL="177800" indent="-177800">
              <a:buSzPct val="100000"/>
              <a:buChar char="•"/>
            </a:pPr>
            <a:r>
              <a:rPr lang="en-US" sz="1400">
                <a:solidFill>
                  <a:srgbClr val="C7D0D9"/>
                </a:solidFill>
              </a:rPr>
              <a:t>Fewer concurrent workers than a GPU</a:t>
            </a:r>
          </a:p>
          <a:p>
            <a:pPr marL="177800" indent="-177800">
              <a:buSzPct val="100000"/>
              <a:buChar char="•"/>
            </a:pPr>
            <a:r>
              <a:rPr lang="en-US" sz="1400">
                <a:solidFill>
                  <a:srgbClr val="C7D0D9"/>
                </a:solidFill>
              </a:rPr>
              <a:t>Threads share cache/memory bandwidth</a:t>
            </a:r>
          </a:p>
          <a:p>
            <a:pPr marL="177800" indent="-177800">
              <a:buSzPct val="100000"/>
              <a:buChar char="•"/>
            </a:pPr>
            <a:r>
              <a:rPr lang="en-US" sz="1400">
                <a:solidFill>
                  <a:srgbClr val="C7D0D9"/>
                </a:solidFill>
              </a:rPr>
              <a:t>Coordination can outweigh tiny jobs</a:t>
            </a:r>
            <a:endParaRPr lang="en-US" sz="1400" dirty="0"/>
          </a:p>
        </p:txBody>
      </p:sp>
      <p:sp>
        <p:nvSpPr>
          <p:cNvPr id="46" name="Text 44"/>
          <p:cNvSpPr/>
          <p:nvPr/>
        </p:nvSpPr>
        <p:spPr>
          <a:xfrm>
            <a:off x="1005840" y="5166360"/>
            <a:ext cx="2560320" cy="329184"/>
          </a:xfrm>
          <a:prstGeom prst="rect">
            <a:avLst/>
          </a:prstGeom>
          <a:noFill/>
          <a:ln/>
        </p:spPr>
        <p:txBody>
          <a:bodyPr wrap="square" lIns="0" tIns="0" rIns="0" bIns="0" rtlCol="0" anchor="ctr">
            <a:noAutofit/>
          </a:bodyPr>
          <a:lstStyle/>
          <a:p>
            <a:pPr marL="0" indent="0">
              <a:buNone/>
            </a:pPr>
            <a:r>
              <a:rPr lang="en-US" sz="1600" b="1">
                <a:solidFill>
                  <a:srgbClr val="41D9FF"/>
                </a:solidFill>
              </a:rPr>
              <a:t>CPU: low request latency</a:t>
            </a:r>
            <a:endParaRPr lang="en-US" sz="1600" dirty="0"/>
          </a:p>
        </p:txBody>
      </p:sp>
      <p:sp>
        <p:nvSpPr>
          <p:cNvPr id="47" name="Text 45"/>
          <p:cNvSpPr/>
          <p:nvPr/>
        </p:nvSpPr>
        <p:spPr>
          <a:xfrm>
            <a:off x="4069080" y="5166360"/>
            <a:ext cx="2743200" cy="457200"/>
          </a:xfrm>
          <a:prstGeom prst="rect">
            <a:avLst/>
          </a:prstGeom>
          <a:noFill/>
          <a:ln/>
        </p:spPr>
        <p:txBody>
          <a:bodyPr wrap="square" lIns="0" tIns="0" rIns="0" bIns="0" rtlCol="0" anchor="ctr">
            <a:noAutofit/>
          </a:bodyPr>
          <a:lstStyle/>
          <a:p>
            <a:pPr marL="0" indent="0">
              <a:buNone/>
            </a:pPr>
            <a:r>
              <a:rPr lang="en-US" sz="1540" b="1">
                <a:solidFill>
                  <a:srgbClr val="A3E635"/>
                </a:solidFill>
              </a:rPr>
              <a:t>GPU: high batch throughput</a:t>
            </a:r>
            <a:endParaRPr lang="en-US" sz="1540" dirty="0"/>
          </a:p>
        </p:txBody>
      </p:sp>
      <p:sp>
        <p:nvSpPr>
          <p:cNvPr id="48"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dirty="0">
                <a:solidFill>
                  <a:srgbClr val="F4F7FA"/>
                </a:solidFill>
              </a:rPr>
              <a:t>GPGPU: using the GPU for general computation</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dirty="0">
                <a:solidFill>
                  <a:srgbClr val="7E8A97"/>
                </a:solidFill>
              </a:rPr>
              <a:t>A GPU is not only for graphics. GPGPU uses its many simple compute lanes for data-parallel workloads such as CNNs.</a:t>
            </a:r>
            <a:endParaRPr lang="en-US" sz="1150" dirty="0"/>
          </a:p>
        </p:txBody>
      </p:sp>
      <p:sp>
        <p:nvSpPr>
          <p:cNvPr id="4" name="Shape 2"/>
          <p:cNvSpPr/>
          <p:nvPr/>
        </p:nvSpPr>
        <p:spPr>
          <a:xfrm>
            <a:off x="9966960" y="347472"/>
            <a:ext cx="1600200" cy="384048"/>
          </a:xfrm>
          <a:prstGeom prst="roundRect">
            <a:avLst>
              <a:gd name="adj" fmla="val 19048"/>
            </a:avLst>
          </a:prstGeom>
          <a:solidFill>
            <a:srgbClr val="76B900">
              <a:alpha val="16000"/>
            </a:srgbClr>
          </a:solidFill>
          <a:ln w="12700">
            <a:solidFill>
              <a:srgbClr val="76B900">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76B900"/>
                </a:solidFill>
              </a:rPr>
              <a:t>SATYA · PERSON 2</a:t>
            </a:r>
            <a:endParaRPr lang="en-US" sz="950" dirty="0"/>
          </a:p>
        </p:txBody>
      </p:sp>
      <p:sp>
        <p:nvSpPr>
          <p:cNvPr id="6" name="Shape 4"/>
          <p:cNvSpPr/>
          <p:nvPr/>
        </p:nvSpPr>
        <p:spPr>
          <a:xfrm>
            <a:off x="603504" y="1207008"/>
            <a:ext cx="10972800" cy="5029200"/>
          </a:xfrm>
          <a:prstGeom prst="roundRect">
            <a:avLst>
              <a:gd name="adj" fmla="val 1455"/>
            </a:avLst>
          </a:prstGeom>
          <a:solidFill>
            <a:srgbClr val="121923"/>
          </a:solidFill>
          <a:ln w="12700">
            <a:solidFill>
              <a:srgbClr val="25303D"/>
            </a:solidFill>
            <a:prstDash val="solid"/>
          </a:ln>
        </p:spPr>
      </p:sp>
      <p:sp>
        <p:nvSpPr>
          <p:cNvPr id="7" name="Shape 5"/>
          <p:cNvSpPr/>
          <p:nvPr/>
        </p:nvSpPr>
        <p:spPr>
          <a:xfrm>
            <a:off x="896112" y="1490472"/>
            <a:ext cx="777240" cy="310896"/>
          </a:xfrm>
          <a:prstGeom prst="roundRect">
            <a:avLst>
              <a:gd name="adj" fmla="val 17647"/>
            </a:avLst>
          </a:prstGeom>
          <a:solidFill>
            <a:srgbClr val="41D9FF">
              <a:alpha val="14000"/>
            </a:srgbClr>
          </a:solidFill>
          <a:ln w="12700">
            <a:solidFill>
              <a:srgbClr val="41D9FF">
                <a:alpha val="45000"/>
              </a:srgbClr>
            </a:solidFill>
            <a:prstDash val="solid"/>
          </a:ln>
        </p:spPr>
      </p:sp>
      <p:sp>
        <p:nvSpPr>
          <p:cNvPr id="8" name="Text 6"/>
          <p:cNvSpPr/>
          <p:nvPr/>
        </p:nvSpPr>
        <p:spPr>
          <a:xfrm>
            <a:off x="896112" y="1568196"/>
            <a:ext cx="77724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41D9FF"/>
                </a:solidFill>
              </a:rPr>
              <a:t>CPU</a:t>
            </a:r>
            <a:endParaRPr lang="en-US" sz="850" dirty="0"/>
          </a:p>
        </p:txBody>
      </p:sp>
      <p:sp>
        <p:nvSpPr>
          <p:cNvPr id="9" name="Text 7"/>
          <p:cNvSpPr/>
          <p:nvPr/>
        </p:nvSpPr>
        <p:spPr>
          <a:xfrm>
            <a:off x="896112" y="1956816"/>
            <a:ext cx="2194560" cy="310896"/>
          </a:xfrm>
          <a:prstGeom prst="rect">
            <a:avLst/>
          </a:prstGeom>
          <a:noFill/>
          <a:ln/>
        </p:spPr>
        <p:txBody>
          <a:bodyPr wrap="square" lIns="0" tIns="0" rIns="0" bIns="0" rtlCol="0" anchor="ctr">
            <a:noAutofit/>
          </a:bodyPr>
          <a:lstStyle/>
          <a:p>
            <a:pPr marL="0" indent="0">
              <a:buNone/>
            </a:pPr>
            <a:r>
              <a:rPr lang="en-US" sz="1600" b="1" dirty="0">
                <a:solidFill>
                  <a:srgbClr val="F4F7FA"/>
                </a:solidFill>
              </a:rPr>
              <a:t>Few complex cores</a:t>
            </a:r>
            <a:endParaRPr lang="en-US" sz="1600" dirty="0"/>
          </a:p>
        </p:txBody>
      </p:sp>
      <p:sp>
        <p:nvSpPr>
          <p:cNvPr id="10" name="Shape 8"/>
          <p:cNvSpPr/>
          <p:nvPr/>
        </p:nvSpPr>
        <p:spPr>
          <a:xfrm>
            <a:off x="932688" y="2578608"/>
            <a:ext cx="384048" cy="402336"/>
          </a:xfrm>
          <a:prstGeom prst="roundRect">
            <a:avLst>
              <a:gd name="adj" fmla="val 9524"/>
            </a:avLst>
          </a:prstGeom>
          <a:solidFill>
            <a:srgbClr val="41D9FF">
              <a:alpha val="76000"/>
            </a:srgbClr>
          </a:solidFill>
          <a:ln w="12700">
            <a:solidFill>
              <a:srgbClr val="41D9FF"/>
            </a:solidFill>
            <a:prstDash val="solid"/>
          </a:ln>
        </p:spPr>
      </p:sp>
      <p:sp>
        <p:nvSpPr>
          <p:cNvPr id="11" name="Shape 9"/>
          <p:cNvSpPr/>
          <p:nvPr/>
        </p:nvSpPr>
        <p:spPr>
          <a:xfrm>
            <a:off x="1435608" y="2578608"/>
            <a:ext cx="384048" cy="402336"/>
          </a:xfrm>
          <a:prstGeom prst="roundRect">
            <a:avLst>
              <a:gd name="adj" fmla="val 9524"/>
            </a:avLst>
          </a:prstGeom>
          <a:solidFill>
            <a:srgbClr val="41D9FF">
              <a:alpha val="76000"/>
            </a:srgbClr>
          </a:solidFill>
          <a:ln w="12700">
            <a:solidFill>
              <a:srgbClr val="41D9FF"/>
            </a:solidFill>
            <a:prstDash val="solid"/>
          </a:ln>
        </p:spPr>
      </p:sp>
      <p:sp>
        <p:nvSpPr>
          <p:cNvPr id="12" name="Shape 10"/>
          <p:cNvSpPr/>
          <p:nvPr/>
        </p:nvSpPr>
        <p:spPr>
          <a:xfrm>
            <a:off x="1938528" y="2578608"/>
            <a:ext cx="384048" cy="402336"/>
          </a:xfrm>
          <a:prstGeom prst="roundRect">
            <a:avLst>
              <a:gd name="adj" fmla="val 9524"/>
            </a:avLst>
          </a:prstGeom>
          <a:solidFill>
            <a:srgbClr val="41D9FF">
              <a:alpha val="76000"/>
            </a:srgbClr>
          </a:solidFill>
          <a:ln w="12700">
            <a:solidFill>
              <a:srgbClr val="41D9FF"/>
            </a:solidFill>
            <a:prstDash val="solid"/>
          </a:ln>
        </p:spPr>
      </p:sp>
      <p:sp>
        <p:nvSpPr>
          <p:cNvPr id="13" name="Shape 11"/>
          <p:cNvSpPr/>
          <p:nvPr/>
        </p:nvSpPr>
        <p:spPr>
          <a:xfrm>
            <a:off x="2441448" y="2578608"/>
            <a:ext cx="384048" cy="402336"/>
          </a:xfrm>
          <a:prstGeom prst="roundRect">
            <a:avLst>
              <a:gd name="adj" fmla="val 9524"/>
            </a:avLst>
          </a:prstGeom>
          <a:solidFill>
            <a:srgbClr val="41D9FF">
              <a:alpha val="76000"/>
            </a:srgbClr>
          </a:solidFill>
          <a:ln w="12700">
            <a:solidFill>
              <a:srgbClr val="41D9FF"/>
            </a:solidFill>
            <a:prstDash val="solid"/>
          </a:ln>
        </p:spPr>
      </p:sp>
      <p:sp>
        <p:nvSpPr>
          <p:cNvPr id="14" name="Shape 12"/>
          <p:cNvSpPr/>
          <p:nvPr/>
        </p:nvSpPr>
        <p:spPr>
          <a:xfrm>
            <a:off x="932688" y="3182112"/>
            <a:ext cx="384048" cy="402336"/>
          </a:xfrm>
          <a:prstGeom prst="roundRect">
            <a:avLst>
              <a:gd name="adj" fmla="val 9524"/>
            </a:avLst>
          </a:prstGeom>
          <a:solidFill>
            <a:srgbClr val="41D9FF">
              <a:alpha val="76000"/>
            </a:srgbClr>
          </a:solidFill>
          <a:ln w="12700">
            <a:solidFill>
              <a:srgbClr val="41D9FF"/>
            </a:solidFill>
            <a:prstDash val="solid"/>
          </a:ln>
        </p:spPr>
      </p:sp>
      <p:sp>
        <p:nvSpPr>
          <p:cNvPr id="15" name="Shape 13"/>
          <p:cNvSpPr/>
          <p:nvPr/>
        </p:nvSpPr>
        <p:spPr>
          <a:xfrm>
            <a:off x="1435608" y="3182112"/>
            <a:ext cx="384048" cy="402336"/>
          </a:xfrm>
          <a:prstGeom prst="roundRect">
            <a:avLst>
              <a:gd name="adj" fmla="val 9524"/>
            </a:avLst>
          </a:prstGeom>
          <a:solidFill>
            <a:srgbClr val="41D9FF">
              <a:alpha val="76000"/>
            </a:srgbClr>
          </a:solidFill>
          <a:ln w="12700">
            <a:solidFill>
              <a:srgbClr val="41D9FF"/>
            </a:solidFill>
            <a:prstDash val="solid"/>
          </a:ln>
        </p:spPr>
      </p:sp>
      <p:sp>
        <p:nvSpPr>
          <p:cNvPr id="16" name="Shape 14"/>
          <p:cNvSpPr/>
          <p:nvPr/>
        </p:nvSpPr>
        <p:spPr>
          <a:xfrm>
            <a:off x="1938528" y="3182112"/>
            <a:ext cx="384048" cy="402336"/>
          </a:xfrm>
          <a:prstGeom prst="roundRect">
            <a:avLst>
              <a:gd name="adj" fmla="val 9524"/>
            </a:avLst>
          </a:prstGeom>
          <a:solidFill>
            <a:srgbClr val="41D9FF">
              <a:alpha val="76000"/>
            </a:srgbClr>
          </a:solidFill>
          <a:ln w="12700">
            <a:solidFill>
              <a:srgbClr val="41D9FF"/>
            </a:solidFill>
            <a:prstDash val="solid"/>
          </a:ln>
        </p:spPr>
      </p:sp>
      <p:sp>
        <p:nvSpPr>
          <p:cNvPr id="17" name="Shape 15"/>
          <p:cNvSpPr/>
          <p:nvPr/>
        </p:nvSpPr>
        <p:spPr>
          <a:xfrm>
            <a:off x="2441448" y="3182112"/>
            <a:ext cx="384048" cy="402336"/>
          </a:xfrm>
          <a:prstGeom prst="roundRect">
            <a:avLst>
              <a:gd name="adj" fmla="val 9524"/>
            </a:avLst>
          </a:prstGeom>
          <a:solidFill>
            <a:srgbClr val="41D9FF">
              <a:alpha val="76000"/>
            </a:srgbClr>
          </a:solidFill>
          <a:ln w="12700">
            <a:solidFill>
              <a:srgbClr val="41D9FF"/>
            </a:solidFill>
            <a:prstDash val="solid"/>
          </a:ln>
        </p:spPr>
      </p:sp>
      <p:sp>
        <p:nvSpPr>
          <p:cNvPr id="18" name="Text 16"/>
          <p:cNvSpPr/>
          <p:nvPr/>
        </p:nvSpPr>
        <p:spPr>
          <a:xfrm>
            <a:off x="896112" y="3977640"/>
            <a:ext cx="2286000" cy="640080"/>
          </a:xfrm>
          <a:prstGeom prst="rect">
            <a:avLst/>
          </a:prstGeom>
          <a:noFill/>
          <a:ln/>
        </p:spPr>
        <p:txBody>
          <a:bodyPr wrap="square" lIns="0" tIns="0" rIns="0" bIns="0" rtlCol="0" anchor="ctr">
            <a:noAutofit/>
          </a:bodyPr>
          <a:lstStyle/>
          <a:p>
            <a:pPr marL="0" indent="0">
              <a:buNone/>
            </a:pPr>
            <a:r>
              <a:rPr lang="en-US" sz="1250" dirty="0">
                <a:solidFill>
                  <a:srgbClr val="C7D0D9"/>
                </a:solidFill>
              </a:rPr>
              <a:t>Optimized for latency, branching and control</a:t>
            </a:r>
            <a:endParaRPr lang="en-US" sz="1250" dirty="0"/>
          </a:p>
        </p:txBody>
      </p:sp>
      <p:sp>
        <p:nvSpPr>
          <p:cNvPr id="19" name="Shape 17"/>
          <p:cNvSpPr/>
          <p:nvPr/>
        </p:nvSpPr>
        <p:spPr>
          <a:xfrm>
            <a:off x="3703320" y="1490472"/>
            <a:ext cx="96012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20" name="Text 18"/>
          <p:cNvSpPr/>
          <p:nvPr/>
        </p:nvSpPr>
        <p:spPr>
          <a:xfrm>
            <a:off x="3703320" y="1568196"/>
            <a:ext cx="96012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GPGPU</a:t>
            </a:r>
            <a:endParaRPr lang="en-US" sz="850" dirty="0"/>
          </a:p>
        </p:txBody>
      </p:sp>
      <p:sp>
        <p:nvSpPr>
          <p:cNvPr id="21" name="Text 19"/>
          <p:cNvSpPr/>
          <p:nvPr/>
        </p:nvSpPr>
        <p:spPr>
          <a:xfrm>
            <a:off x="3703320" y="1956816"/>
            <a:ext cx="2880360" cy="310896"/>
          </a:xfrm>
          <a:prstGeom prst="rect">
            <a:avLst/>
          </a:prstGeom>
          <a:noFill/>
          <a:ln/>
        </p:spPr>
        <p:txBody>
          <a:bodyPr wrap="square" lIns="0" tIns="0" rIns="0" bIns="0" rtlCol="0" anchor="ctr">
            <a:noAutofit/>
          </a:bodyPr>
          <a:lstStyle/>
          <a:p>
            <a:pPr marL="0" indent="0">
              <a:buNone/>
            </a:pPr>
            <a:r>
              <a:rPr lang="en-US" sz="1600" b="1" dirty="0">
                <a:solidFill>
                  <a:srgbClr val="F4F7FA"/>
                </a:solidFill>
              </a:rPr>
              <a:t>Many lightweight compute lanes</a:t>
            </a:r>
            <a:endParaRPr lang="en-US" sz="1600" dirty="0"/>
          </a:p>
        </p:txBody>
      </p:sp>
      <p:sp>
        <p:nvSpPr>
          <p:cNvPr id="22" name="Shape 20"/>
          <p:cNvSpPr/>
          <p:nvPr/>
        </p:nvSpPr>
        <p:spPr>
          <a:xfrm>
            <a:off x="3730752" y="2542032"/>
            <a:ext cx="146304" cy="146304"/>
          </a:xfrm>
          <a:prstGeom prst="rect">
            <a:avLst/>
          </a:prstGeom>
          <a:solidFill>
            <a:srgbClr val="76B900">
              <a:alpha val="90000"/>
            </a:srgbClr>
          </a:solidFill>
          <a:ln w="12700">
            <a:solidFill>
              <a:srgbClr val="76B900">
                <a:alpha val="0"/>
              </a:srgbClr>
            </a:solidFill>
            <a:prstDash val="solid"/>
          </a:ln>
        </p:spPr>
      </p:sp>
      <p:sp>
        <p:nvSpPr>
          <p:cNvPr id="23" name="Shape 21"/>
          <p:cNvSpPr/>
          <p:nvPr/>
        </p:nvSpPr>
        <p:spPr>
          <a:xfrm>
            <a:off x="3941064" y="2542032"/>
            <a:ext cx="146304" cy="146304"/>
          </a:xfrm>
          <a:prstGeom prst="rect">
            <a:avLst/>
          </a:prstGeom>
          <a:solidFill>
            <a:srgbClr val="76B900">
              <a:alpha val="90000"/>
            </a:srgbClr>
          </a:solidFill>
          <a:ln w="12700">
            <a:solidFill>
              <a:srgbClr val="76B900">
                <a:alpha val="0"/>
              </a:srgbClr>
            </a:solidFill>
            <a:prstDash val="solid"/>
          </a:ln>
        </p:spPr>
      </p:sp>
      <p:sp>
        <p:nvSpPr>
          <p:cNvPr id="24" name="Shape 22"/>
          <p:cNvSpPr/>
          <p:nvPr/>
        </p:nvSpPr>
        <p:spPr>
          <a:xfrm>
            <a:off x="4151376" y="2542032"/>
            <a:ext cx="146304" cy="146304"/>
          </a:xfrm>
          <a:prstGeom prst="rect">
            <a:avLst/>
          </a:prstGeom>
          <a:solidFill>
            <a:srgbClr val="76B900">
              <a:alpha val="90000"/>
            </a:srgbClr>
          </a:solidFill>
          <a:ln w="12700">
            <a:solidFill>
              <a:srgbClr val="76B900">
                <a:alpha val="0"/>
              </a:srgbClr>
            </a:solidFill>
            <a:prstDash val="solid"/>
          </a:ln>
        </p:spPr>
      </p:sp>
      <p:sp>
        <p:nvSpPr>
          <p:cNvPr id="25" name="Shape 23"/>
          <p:cNvSpPr/>
          <p:nvPr/>
        </p:nvSpPr>
        <p:spPr>
          <a:xfrm>
            <a:off x="4361688" y="2542032"/>
            <a:ext cx="146304" cy="146304"/>
          </a:xfrm>
          <a:prstGeom prst="rect">
            <a:avLst/>
          </a:prstGeom>
          <a:solidFill>
            <a:srgbClr val="76B900">
              <a:alpha val="90000"/>
            </a:srgbClr>
          </a:solidFill>
          <a:ln w="12700">
            <a:solidFill>
              <a:srgbClr val="76B900">
                <a:alpha val="0"/>
              </a:srgbClr>
            </a:solidFill>
            <a:prstDash val="solid"/>
          </a:ln>
        </p:spPr>
      </p:sp>
      <p:sp>
        <p:nvSpPr>
          <p:cNvPr id="26" name="Shape 24"/>
          <p:cNvSpPr/>
          <p:nvPr/>
        </p:nvSpPr>
        <p:spPr>
          <a:xfrm>
            <a:off x="4572000" y="2542032"/>
            <a:ext cx="146304" cy="146304"/>
          </a:xfrm>
          <a:prstGeom prst="rect">
            <a:avLst/>
          </a:prstGeom>
          <a:solidFill>
            <a:srgbClr val="76B900">
              <a:alpha val="90000"/>
            </a:srgbClr>
          </a:solidFill>
          <a:ln w="12700">
            <a:solidFill>
              <a:srgbClr val="76B900">
                <a:alpha val="0"/>
              </a:srgbClr>
            </a:solidFill>
            <a:prstDash val="solid"/>
          </a:ln>
        </p:spPr>
      </p:sp>
      <p:sp>
        <p:nvSpPr>
          <p:cNvPr id="27" name="Shape 25"/>
          <p:cNvSpPr/>
          <p:nvPr/>
        </p:nvSpPr>
        <p:spPr>
          <a:xfrm>
            <a:off x="4782312" y="2542032"/>
            <a:ext cx="146304" cy="146304"/>
          </a:xfrm>
          <a:prstGeom prst="rect">
            <a:avLst/>
          </a:prstGeom>
          <a:solidFill>
            <a:srgbClr val="76B900">
              <a:alpha val="90000"/>
            </a:srgbClr>
          </a:solidFill>
          <a:ln w="12700">
            <a:solidFill>
              <a:srgbClr val="76B900">
                <a:alpha val="0"/>
              </a:srgbClr>
            </a:solidFill>
            <a:prstDash val="solid"/>
          </a:ln>
        </p:spPr>
      </p:sp>
      <p:sp>
        <p:nvSpPr>
          <p:cNvPr id="28" name="Shape 26"/>
          <p:cNvSpPr/>
          <p:nvPr/>
        </p:nvSpPr>
        <p:spPr>
          <a:xfrm>
            <a:off x="4992624" y="2542032"/>
            <a:ext cx="146304" cy="146304"/>
          </a:xfrm>
          <a:prstGeom prst="rect">
            <a:avLst/>
          </a:prstGeom>
          <a:solidFill>
            <a:srgbClr val="76B900">
              <a:alpha val="90000"/>
            </a:srgbClr>
          </a:solidFill>
          <a:ln w="12700">
            <a:solidFill>
              <a:srgbClr val="76B900">
                <a:alpha val="0"/>
              </a:srgbClr>
            </a:solidFill>
            <a:prstDash val="solid"/>
          </a:ln>
        </p:spPr>
      </p:sp>
      <p:sp>
        <p:nvSpPr>
          <p:cNvPr id="29" name="Shape 27"/>
          <p:cNvSpPr/>
          <p:nvPr/>
        </p:nvSpPr>
        <p:spPr>
          <a:xfrm>
            <a:off x="5202936" y="2542032"/>
            <a:ext cx="146304" cy="146304"/>
          </a:xfrm>
          <a:prstGeom prst="rect">
            <a:avLst/>
          </a:prstGeom>
          <a:solidFill>
            <a:srgbClr val="76B900">
              <a:alpha val="90000"/>
            </a:srgbClr>
          </a:solidFill>
          <a:ln w="12700">
            <a:solidFill>
              <a:srgbClr val="76B900">
                <a:alpha val="0"/>
              </a:srgbClr>
            </a:solidFill>
            <a:prstDash val="solid"/>
          </a:ln>
        </p:spPr>
      </p:sp>
      <p:sp>
        <p:nvSpPr>
          <p:cNvPr id="30" name="Shape 28"/>
          <p:cNvSpPr/>
          <p:nvPr/>
        </p:nvSpPr>
        <p:spPr>
          <a:xfrm>
            <a:off x="5413248" y="2542032"/>
            <a:ext cx="146304" cy="146304"/>
          </a:xfrm>
          <a:prstGeom prst="rect">
            <a:avLst/>
          </a:prstGeom>
          <a:solidFill>
            <a:srgbClr val="76B900">
              <a:alpha val="90000"/>
            </a:srgbClr>
          </a:solidFill>
          <a:ln w="12700">
            <a:solidFill>
              <a:srgbClr val="76B900">
                <a:alpha val="0"/>
              </a:srgbClr>
            </a:solidFill>
            <a:prstDash val="solid"/>
          </a:ln>
        </p:spPr>
      </p:sp>
      <p:sp>
        <p:nvSpPr>
          <p:cNvPr id="31" name="Shape 29"/>
          <p:cNvSpPr/>
          <p:nvPr/>
        </p:nvSpPr>
        <p:spPr>
          <a:xfrm>
            <a:off x="5623560" y="2542032"/>
            <a:ext cx="146304" cy="146304"/>
          </a:xfrm>
          <a:prstGeom prst="rect">
            <a:avLst/>
          </a:prstGeom>
          <a:solidFill>
            <a:srgbClr val="76B900">
              <a:alpha val="90000"/>
            </a:srgbClr>
          </a:solidFill>
          <a:ln w="12700">
            <a:solidFill>
              <a:srgbClr val="76B900">
                <a:alpha val="0"/>
              </a:srgbClr>
            </a:solidFill>
            <a:prstDash val="solid"/>
          </a:ln>
        </p:spPr>
      </p:sp>
      <p:sp>
        <p:nvSpPr>
          <p:cNvPr id="32" name="Shape 30"/>
          <p:cNvSpPr/>
          <p:nvPr/>
        </p:nvSpPr>
        <p:spPr>
          <a:xfrm>
            <a:off x="5833872" y="2542032"/>
            <a:ext cx="146304" cy="146304"/>
          </a:xfrm>
          <a:prstGeom prst="rect">
            <a:avLst/>
          </a:prstGeom>
          <a:solidFill>
            <a:srgbClr val="76B900">
              <a:alpha val="90000"/>
            </a:srgbClr>
          </a:solidFill>
          <a:ln w="12700">
            <a:solidFill>
              <a:srgbClr val="76B900">
                <a:alpha val="0"/>
              </a:srgbClr>
            </a:solidFill>
            <a:prstDash val="solid"/>
          </a:ln>
        </p:spPr>
      </p:sp>
      <p:sp>
        <p:nvSpPr>
          <p:cNvPr id="33" name="Shape 31"/>
          <p:cNvSpPr/>
          <p:nvPr/>
        </p:nvSpPr>
        <p:spPr>
          <a:xfrm>
            <a:off x="6044184" y="2542032"/>
            <a:ext cx="146304" cy="146304"/>
          </a:xfrm>
          <a:prstGeom prst="rect">
            <a:avLst/>
          </a:prstGeom>
          <a:solidFill>
            <a:srgbClr val="76B900">
              <a:alpha val="90000"/>
            </a:srgbClr>
          </a:solidFill>
          <a:ln w="12700">
            <a:solidFill>
              <a:srgbClr val="76B900">
                <a:alpha val="0"/>
              </a:srgbClr>
            </a:solidFill>
            <a:prstDash val="solid"/>
          </a:ln>
        </p:spPr>
      </p:sp>
      <p:sp>
        <p:nvSpPr>
          <p:cNvPr id="34" name="Shape 32"/>
          <p:cNvSpPr/>
          <p:nvPr/>
        </p:nvSpPr>
        <p:spPr>
          <a:xfrm>
            <a:off x="3730752" y="2852928"/>
            <a:ext cx="146304" cy="146304"/>
          </a:xfrm>
          <a:prstGeom prst="rect">
            <a:avLst/>
          </a:prstGeom>
          <a:solidFill>
            <a:srgbClr val="76B900">
              <a:alpha val="75000"/>
            </a:srgbClr>
          </a:solidFill>
          <a:ln w="12700">
            <a:solidFill>
              <a:srgbClr val="76B900">
                <a:alpha val="0"/>
              </a:srgbClr>
            </a:solidFill>
            <a:prstDash val="solid"/>
          </a:ln>
        </p:spPr>
      </p:sp>
      <p:sp>
        <p:nvSpPr>
          <p:cNvPr id="35" name="Shape 33"/>
          <p:cNvSpPr/>
          <p:nvPr/>
        </p:nvSpPr>
        <p:spPr>
          <a:xfrm>
            <a:off x="3941064" y="2852928"/>
            <a:ext cx="146304" cy="146304"/>
          </a:xfrm>
          <a:prstGeom prst="rect">
            <a:avLst/>
          </a:prstGeom>
          <a:solidFill>
            <a:srgbClr val="76B900">
              <a:alpha val="75000"/>
            </a:srgbClr>
          </a:solidFill>
          <a:ln w="12700">
            <a:solidFill>
              <a:srgbClr val="76B900">
                <a:alpha val="0"/>
              </a:srgbClr>
            </a:solidFill>
            <a:prstDash val="solid"/>
          </a:ln>
        </p:spPr>
      </p:sp>
      <p:sp>
        <p:nvSpPr>
          <p:cNvPr id="36" name="Shape 34"/>
          <p:cNvSpPr/>
          <p:nvPr/>
        </p:nvSpPr>
        <p:spPr>
          <a:xfrm>
            <a:off x="4151376" y="2852928"/>
            <a:ext cx="146304" cy="146304"/>
          </a:xfrm>
          <a:prstGeom prst="rect">
            <a:avLst/>
          </a:prstGeom>
          <a:solidFill>
            <a:srgbClr val="76B900">
              <a:alpha val="75000"/>
            </a:srgbClr>
          </a:solidFill>
          <a:ln w="12700">
            <a:solidFill>
              <a:srgbClr val="76B900">
                <a:alpha val="0"/>
              </a:srgbClr>
            </a:solidFill>
            <a:prstDash val="solid"/>
          </a:ln>
        </p:spPr>
      </p:sp>
      <p:sp>
        <p:nvSpPr>
          <p:cNvPr id="37" name="Shape 35"/>
          <p:cNvSpPr/>
          <p:nvPr/>
        </p:nvSpPr>
        <p:spPr>
          <a:xfrm>
            <a:off x="4361688" y="2852928"/>
            <a:ext cx="146304" cy="146304"/>
          </a:xfrm>
          <a:prstGeom prst="rect">
            <a:avLst/>
          </a:prstGeom>
          <a:solidFill>
            <a:srgbClr val="76B900">
              <a:alpha val="75000"/>
            </a:srgbClr>
          </a:solidFill>
          <a:ln w="12700">
            <a:solidFill>
              <a:srgbClr val="76B900">
                <a:alpha val="0"/>
              </a:srgbClr>
            </a:solidFill>
            <a:prstDash val="solid"/>
          </a:ln>
        </p:spPr>
      </p:sp>
      <p:sp>
        <p:nvSpPr>
          <p:cNvPr id="38" name="Shape 36"/>
          <p:cNvSpPr/>
          <p:nvPr/>
        </p:nvSpPr>
        <p:spPr>
          <a:xfrm>
            <a:off x="4572000" y="2852928"/>
            <a:ext cx="146304" cy="146304"/>
          </a:xfrm>
          <a:prstGeom prst="rect">
            <a:avLst/>
          </a:prstGeom>
          <a:solidFill>
            <a:srgbClr val="76B900">
              <a:alpha val="75000"/>
            </a:srgbClr>
          </a:solidFill>
          <a:ln w="12700">
            <a:solidFill>
              <a:srgbClr val="76B900">
                <a:alpha val="0"/>
              </a:srgbClr>
            </a:solidFill>
            <a:prstDash val="solid"/>
          </a:ln>
        </p:spPr>
      </p:sp>
      <p:sp>
        <p:nvSpPr>
          <p:cNvPr id="39" name="Shape 37"/>
          <p:cNvSpPr/>
          <p:nvPr/>
        </p:nvSpPr>
        <p:spPr>
          <a:xfrm>
            <a:off x="4782312" y="2852928"/>
            <a:ext cx="146304" cy="146304"/>
          </a:xfrm>
          <a:prstGeom prst="rect">
            <a:avLst/>
          </a:prstGeom>
          <a:solidFill>
            <a:srgbClr val="76B900">
              <a:alpha val="75000"/>
            </a:srgbClr>
          </a:solidFill>
          <a:ln w="12700">
            <a:solidFill>
              <a:srgbClr val="76B900">
                <a:alpha val="0"/>
              </a:srgbClr>
            </a:solidFill>
            <a:prstDash val="solid"/>
          </a:ln>
        </p:spPr>
      </p:sp>
      <p:sp>
        <p:nvSpPr>
          <p:cNvPr id="40" name="Shape 38"/>
          <p:cNvSpPr/>
          <p:nvPr/>
        </p:nvSpPr>
        <p:spPr>
          <a:xfrm>
            <a:off x="4992624" y="2852928"/>
            <a:ext cx="146304" cy="146304"/>
          </a:xfrm>
          <a:prstGeom prst="rect">
            <a:avLst/>
          </a:prstGeom>
          <a:solidFill>
            <a:srgbClr val="76B900">
              <a:alpha val="75000"/>
            </a:srgbClr>
          </a:solidFill>
          <a:ln w="12700">
            <a:solidFill>
              <a:srgbClr val="76B900">
                <a:alpha val="0"/>
              </a:srgbClr>
            </a:solidFill>
            <a:prstDash val="solid"/>
          </a:ln>
        </p:spPr>
      </p:sp>
      <p:sp>
        <p:nvSpPr>
          <p:cNvPr id="41" name="Shape 39"/>
          <p:cNvSpPr/>
          <p:nvPr/>
        </p:nvSpPr>
        <p:spPr>
          <a:xfrm>
            <a:off x="5202936" y="2852928"/>
            <a:ext cx="146304" cy="146304"/>
          </a:xfrm>
          <a:prstGeom prst="rect">
            <a:avLst/>
          </a:prstGeom>
          <a:solidFill>
            <a:srgbClr val="76B900">
              <a:alpha val="75000"/>
            </a:srgbClr>
          </a:solidFill>
          <a:ln w="12700">
            <a:solidFill>
              <a:srgbClr val="76B900">
                <a:alpha val="0"/>
              </a:srgbClr>
            </a:solidFill>
            <a:prstDash val="solid"/>
          </a:ln>
        </p:spPr>
      </p:sp>
      <p:sp>
        <p:nvSpPr>
          <p:cNvPr id="42" name="Shape 40"/>
          <p:cNvSpPr/>
          <p:nvPr/>
        </p:nvSpPr>
        <p:spPr>
          <a:xfrm>
            <a:off x="5413248" y="2852928"/>
            <a:ext cx="146304" cy="146304"/>
          </a:xfrm>
          <a:prstGeom prst="rect">
            <a:avLst/>
          </a:prstGeom>
          <a:solidFill>
            <a:srgbClr val="76B900">
              <a:alpha val="75000"/>
            </a:srgbClr>
          </a:solidFill>
          <a:ln w="12700">
            <a:solidFill>
              <a:srgbClr val="76B900">
                <a:alpha val="0"/>
              </a:srgbClr>
            </a:solidFill>
            <a:prstDash val="solid"/>
          </a:ln>
        </p:spPr>
      </p:sp>
      <p:sp>
        <p:nvSpPr>
          <p:cNvPr id="43" name="Shape 41"/>
          <p:cNvSpPr/>
          <p:nvPr/>
        </p:nvSpPr>
        <p:spPr>
          <a:xfrm>
            <a:off x="5623560" y="2852928"/>
            <a:ext cx="146304" cy="146304"/>
          </a:xfrm>
          <a:prstGeom prst="rect">
            <a:avLst/>
          </a:prstGeom>
          <a:solidFill>
            <a:srgbClr val="76B900">
              <a:alpha val="75000"/>
            </a:srgbClr>
          </a:solidFill>
          <a:ln w="12700">
            <a:solidFill>
              <a:srgbClr val="76B900">
                <a:alpha val="0"/>
              </a:srgbClr>
            </a:solidFill>
            <a:prstDash val="solid"/>
          </a:ln>
        </p:spPr>
      </p:sp>
      <p:sp>
        <p:nvSpPr>
          <p:cNvPr id="44" name="Shape 42"/>
          <p:cNvSpPr/>
          <p:nvPr/>
        </p:nvSpPr>
        <p:spPr>
          <a:xfrm>
            <a:off x="5833872" y="2852928"/>
            <a:ext cx="146304" cy="146304"/>
          </a:xfrm>
          <a:prstGeom prst="rect">
            <a:avLst/>
          </a:prstGeom>
          <a:solidFill>
            <a:srgbClr val="76B900">
              <a:alpha val="75000"/>
            </a:srgbClr>
          </a:solidFill>
          <a:ln w="12700">
            <a:solidFill>
              <a:srgbClr val="76B900">
                <a:alpha val="0"/>
              </a:srgbClr>
            </a:solidFill>
            <a:prstDash val="solid"/>
          </a:ln>
        </p:spPr>
      </p:sp>
      <p:sp>
        <p:nvSpPr>
          <p:cNvPr id="45" name="Shape 43"/>
          <p:cNvSpPr/>
          <p:nvPr/>
        </p:nvSpPr>
        <p:spPr>
          <a:xfrm>
            <a:off x="6044184" y="2852928"/>
            <a:ext cx="146304" cy="146304"/>
          </a:xfrm>
          <a:prstGeom prst="rect">
            <a:avLst/>
          </a:prstGeom>
          <a:solidFill>
            <a:srgbClr val="76B900">
              <a:alpha val="75000"/>
            </a:srgbClr>
          </a:solidFill>
          <a:ln w="12700">
            <a:solidFill>
              <a:srgbClr val="76B900">
                <a:alpha val="0"/>
              </a:srgbClr>
            </a:solidFill>
            <a:prstDash val="solid"/>
          </a:ln>
        </p:spPr>
      </p:sp>
      <p:sp>
        <p:nvSpPr>
          <p:cNvPr id="46" name="Shape 44"/>
          <p:cNvSpPr/>
          <p:nvPr/>
        </p:nvSpPr>
        <p:spPr>
          <a:xfrm>
            <a:off x="3730752" y="3163824"/>
            <a:ext cx="146304" cy="146304"/>
          </a:xfrm>
          <a:prstGeom prst="rect">
            <a:avLst/>
          </a:prstGeom>
          <a:solidFill>
            <a:srgbClr val="76B900">
              <a:alpha val="90000"/>
            </a:srgbClr>
          </a:solidFill>
          <a:ln w="12700">
            <a:solidFill>
              <a:srgbClr val="76B900">
                <a:alpha val="0"/>
              </a:srgbClr>
            </a:solidFill>
            <a:prstDash val="solid"/>
          </a:ln>
        </p:spPr>
      </p:sp>
      <p:sp>
        <p:nvSpPr>
          <p:cNvPr id="47" name="Shape 45"/>
          <p:cNvSpPr/>
          <p:nvPr/>
        </p:nvSpPr>
        <p:spPr>
          <a:xfrm>
            <a:off x="3941064" y="3163824"/>
            <a:ext cx="146304" cy="146304"/>
          </a:xfrm>
          <a:prstGeom prst="rect">
            <a:avLst/>
          </a:prstGeom>
          <a:solidFill>
            <a:srgbClr val="76B900">
              <a:alpha val="90000"/>
            </a:srgbClr>
          </a:solidFill>
          <a:ln w="12700">
            <a:solidFill>
              <a:srgbClr val="76B900">
                <a:alpha val="0"/>
              </a:srgbClr>
            </a:solidFill>
            <a:prstDash val="solid"/>
          </a:ln>
        </p:spPr>
      </p:sp>
      <p:sp>
        <p:nvSpPr>
          <p:cNvPr id="48" name="Shape 46"/>
          <p:cNvSpPr/>
          <p:nvPr/>
        </p:nvSpPr>
        <p:spPr>
          <a:xfrm>
            <a:off x="4151376" y="3163824"/>
            <a:ext cx="146304" cy="146304"/>
          </a:xfrm>
          <a:prstGeom prst="rect">
            <a:avLst/>
          </a:prstGeom>
          <a:solidFill>
            <a:srgbClr val="76B900">
              <a:alpha val="90000"/>
            </a:srgbClr>
          </a:solidFill>
          <a:ln w="12700">
            <a:solidFill>
              <a:srgbClr val="76B900">
                <a:alpha val="0"/>
              </a:srgbClr>
            </a:solidFill>
            <a:prstDash val="solid"/>
          </a:ln>
        </p:spPr>
      </p:sp>
      <p:sp>
        <p:nvSpPr>
          <p:cNvPr id="49" name="Shape 47"/>
          <p:cNvSpPr/>
          <p:nvPr/>
        </p:nvSpPr>
        <p:spPr>
          <a:xfrm>
            <a:off x="4361688" y="3163824"/>
            <a:ext cx="146304" cy="146304"/>
          </a:xfrm>
          <a:prstGeom prst="rect">
            <a:avLst/>
          </a:prstGeom>
          <a:solidFill>
            <a:srgbClr val="76B900">
              <a:alpha val="90000"/>
            </a:srgbClr>
          </a:solidFill>
          <a:ln w="12700">
            <a:solidFill>
              <a:srgbClr val="76B900">
                <a:alpha val="0"/>
              </a:srgbClr>
            </a:solidFill>
            <a:prstDash val="solid"/>
          </a:ln>
        </p:spPr>
      </p:sp>
      <p:sp>
        <p:nvSpPr>
          <p:cNvPr id="50" name="Shape 48"/>
          <p:cNvSpPr/>
          <p:nvPr/>
        </p:nvSpPr>
        <p:spPr>
          <a:xfrm>
            <a:off x="4572000" y="3163824"/>
            <a:ext cx="146304" cy="146304"/>
          </a:xfrm>
          <a:prstGeom prst="rect">
            <a:avLst/>
          </a:prstGeom>
          <a:solidFill>
            <a:srgbClr val="76B900">
              <a:alpha val="90000"/>
            </a:srgbClr>
          </a:solidFill>
          <a:ln w="12700">
            <a:solidFill>
              <a:srgbClr val="76B900">
                <a:alpha val="0"/>
              </a:srgbClr>
            </a:solidFill>
            <a:prstDash val="solid"/>
          </a:ln>
        </p:spPr>
      </p:sp>
      <p:sp>
        <p:nvSpPr>
          <p:cNvPr id="51" name="Shape 49"/>
          <p:cNvSpPr/>
          <p:nvPr/>
        </p:nvSpPr>
        <p:spPr>
          <a:xfrm>
            <a:off x="4782312" y="3163824"/>
            <a:ext cx="146304" cy="146304"/>
          </a:xfrm>
          <a:prstGeom prst="rect">
            <a:avLst/>
          </a:prstGeom>
          <a:solidFill>
            <a:srgbClr val="76B900">
              <a:alpha val="90000"/>
            </a:srgbClr>
          </a:solidFill>
          <a:ln w="12700">
            <a:solidFill>
              <a:srgbClr val="76B900">
                <a:alpha val="0"/>
              </a:srgbClr>
            </a:solidFill>
            <a:prstDash val="solid"/>
          </a:ln>
        </p:spPr>
      </p:sp>
      <p:sp>
        <p:nvSpPr>
          <p:cNvPr id="52" name="Shape 50"/>
          <p:cNvSpPr/>
          <p:nvPr/>
        </p:nvSpPr>
        <p:spPr>
          <a:xfrm>
            <a:off x="4992624" y="3163824"/>
            <a:ext cx="146304" cy="146304"/>
          </a:xfrm>
          <a:prstGeom prst="rect">
            <a:avLst/>
          </a:prstGeom>
          <a:solidFill>
            <a:srgbClr val="76B900">
              <a:alpha val="90000"/>
            </a:srgbClr>
          </a:solidFill>
          <a:ln w="12700">
            <a:solidFill>
              <a:srgbClr val="76B900">
                <a:alpha val="0"/>
              </a:srgbClr>
            </a:solidFill>
            <a:prstDash val="solid"/>
          </a:ln>
        </p:spPr>
      </p:sp>
      <p:sp>
        <p:nvSpPr>
          <p:cNvPr id="53" name="Shape 51"/>
          <p:cNvSpPr/>
          <p:nvPr/>
        </p:nvSpPr>
        <p:spPr>
          <a:xfrm>
            <a:off x="5202936" y="3163824"/>
            <a:ext cx="146304" cy="146304"/>
          </a:xfrm>
          <a:prstGeom prst="rect">
            <a:avLst/>
          </a:prstGeom>
          <a:solidFill>
            <a:srgbClr val="76B900">
              <a:alpha val="90000"/>
            </a:srgbClr>
          </a:solidFill>
          <a:ln w="12700">
            <a:solidFill>
              <a:srgbClr val="76B900">
                <a:alpha val="0"/>
              </a:srgbClr>
            </a:solidFill>
            <a:prstDash val="solid"/>
          </a:ln>
        </p:spPr>
      </p:sp>
      <p:sp>
        <p:nvSpPr>
          <p:cNvPr id="54" name="Shape 52"/>
          <p:cNvSpPr/>
          <p:nvPr/>
        </p:nvSpPr>
        <p:spPr>
          <a:xfrm>
            <a:off x="5413248" y="3163824"/>
            <a:ext cx="146304" cy="146304"/>
          </a:xfrm>
          <a:prstGeom prst="rect">
            <a:avLst/>
          </a:prstGeom>
          <a:solidFill>
            <a:srgbClr val="76B900">
              <a:alpha val="90000"/>
            </a:srgbClr>
          </a:solidFill>
          <a:ln w="12700">
            <a:solidFill>
              <a:srgbClr val="76B900">
                <a:alpha val="0"/>
              </a:srgbClr>
            </a:solidFill>
            <a:prstDash val="solid"/>
          </a:ln>
        </p:spPr>
      </p:sp>
      <p:sp>
        <p:nvSpPr>
          <p:cNvPr id="55" name="Shape 53"/>
          <p:cNvSpPr/>
          <p:nvPr/>
        </p:nvSpPr>
        <p:spPr>
          <a:xfrm>
            <a:off x="5623560" y="3163824"/>
            <a:ext cx="146304" cy="146304"/>
          </a:xfrm>
          <a:prstGeom prst="rect">
            <a:avLst/>
          </a:prstGeom>
          <a:solidFill>
            <a:srgbClr val="76B900">
              <a:alpha val="90000"/>
            </a:srgbClr>
          </a:solidFill>
          <a:ln w="12700">
            <a:solidFill>
              <a:srgbClr val="76B900">
                <a:alpha val="0"/>
              </a:srgbClr>
            </a:solidFill>
            <a:prstDash val="solid"/>
          </a:ln>
        </p:spPr>
      </p:sp>
      <p:sp>
        <p:nvSpPr>
          <p:cNvPr id="56" name="Shape 54"/>
          <p:cNvSpPr/>
          <p:nvPr/>
        </p:nvSpPr>
        <p:spPr>
          <a:xfrm>
            <a:off x="5833872" y="3163824"/>
            <a:ext cx="146304" cy="146304"/>
          </a:xfrm>
          <a:prstGeom prst="rect">
            <a:avLst/>
          </a:prstGeom>
          <a:solidFill>
            <a:srgbClr val="76B900">
              <a:alpha val="90000"/>
            </a:srgbClr>
          </a:solidFill>
          <a:ln w="12700">
            <a:solidFill>
              <a:srgbClr val="76B900">
                <a:alpha val="0"/>
              </a:srgbClr>
            </a:solidFill>
            <a:prstDash val="solid"/>
          </a:ln>
        </p:spPr>
      </p:sp>
      <p:sp>
        <p:nvSpPr>
          <p:cNvPr id="57" name="Shape 55"/>
          <p:cNvSpPr/>
          <p:nvPr/>
        </p:nvSpPr>
        <p:spPr>
          <a:xfrm>
            <a:off x="6044184" y="3163824"/>
            <a:ext cx="146304" cy="146304"/>
          </a:xfrm>
          <a:prstGeom prst="rect">
            <a:avLst/>
          </a:prstGeom>
          <a:solidFill>
            <a:srgbClr val="76B900">
              <a:alpha val="90000"/>
            </a:srgbClr>
          </a:solidFill>
          <a:ln w="12700">
            <a:solidFill>
              <a:srgbClr val="76B900">
                <a:alpha val="0"/>
              </a:srgbClr>
            </a:solidFill>
            <a:prstDash val="solid"/>
          </a:ln>
        </p:spPr>
      </p:sp>
      <p:sp>
        <p:nvSpPr>
          <p:cNvPr id="58" name="Shape 56"/>
          <p:cNvSpPr/>
          <p:nvPr/>
        </p:nvSpPr>
        <p:spPr>
          <a:xfrm>
            <a:off x="3730752" y="3474720"/>
            <a:ext cx="146304" cy="146304"/>
          </a:xfrm>
          <a:prstGeom prst="rect">
            <a:avLst/>
          </a:prstGeom>
          <a:solidFill>
            <a:srgbClr val="76B900">
              <a:alpha val="75000"/>
            </a:srgbClr>
          </a:solidFill>
          <a:ln w="12700">
            <a:solidFill>
              <a:srgbClr val="76B900">
                <a:alpha val="0"/>
              </a:srgbClr>
            </a:solidFill>
            <a:prstDash val="solid"/>
          </a:ln>
        </p:spPr>
      </p:sp>
      <p:sp>
        <p:nvSpPr>
          <p:cNvPr id="59" name="Shape 57"/>
          <p:cNvSpPr/>
          <p:nvPr/>
        </p:nvSpPr>
        <p:spPr>
          <a:xfrm>
            <a:off x="3941064" y="3474720"/>
            <a:ext cx="146304" cy="146304"/>
          </a:xfrm>
          <a:prstGeom prst="rect">
            <a:avLst/>
          </a:prstGeom>
          <a:solidFill>
            <a:srgbClr val="76B900">
              <a:alpha val="75000"/>
            </a:srgbClr>
          </a:solidFill>
          <a:ln w="12700">
            <a:solidFill>
              <a:srgbClr val="76B900">
                <a:alpha val="0"/>
              </a:srgbClr>
            </a:solidFill>
            <a:prstDash val="solid"/>
          </a:ln>
        </p:spPr>
      </p:sp>
      <p:sp>
        <p:nvSpPr>
          <p:cNvPr id="60" name="Shape 58"/>
          <p:cNvSpPr/>
          <p:nvPr/>
        </p:nvSpPr>
        <p:spPr>
          <a:xfrm>
            <a:off x="4151376" y="3474720"/>
            <a:ext cx="146304" cy="146304"/>
          </a:xfrm>
          <a:prstGeom prst="rect">
            <a:avLst/>
          </a:prstGeom>
          <a:solidFill>
            <a:srgbClr val="76B900">
              <a:alpha val="75000"/>
            </a:srgbClr>
          </a:solidFill>
          <a:ln w="12700">
            <a:solidFill>
              <a:srgbClr val="76B900">
                <a:alpha val="0"/>
              </a:srgbClr>
            </a:solidFill>
            <a:prstDash val="solid"/>
          </a:ln>
        </p:spPr>
      </p:sp>
      <p:sp>
        <p:nvSpPr>
          <p:cNvPr id="61" name="Shape 59"/>
          <p:cNvSpPr/>
          <p:nvPr/>
        </p:nvSpPr>
        <p:spPr>
          <a:xfrm>
            <a:off x="4361688" y="3474720"/>
            <a:ext cx="146304" cy="146304"/>
          </a:xfrm>
          <a:prstGeom prst="rect">
            <a:avLst/>
          </a:prstGeom>
          <a:solidFill>
            <a:srgbClr val="76B900">
              <a:alpha val="75000"/>
            </a:srgbClr>
          </a:solidFill>
          <a:ln w="12700">
            <a:solidFill>
              <a:srgbClr val="76B900">
                <a:alpha val="0"/>
              </a:srgbClr>
            </a:solidFill>
            <a:prstDash val="solid"/>
          </a:ln>
        </p:spPr>
      </p:sp>
      <p:sp>
        <p:nvSpPr>
          <p:cNvPr id="62" name="Shape 60"/>
          <p:cNvSpPr/>
          <p:nvPr/>
        </p:nvSpPr>
        <p:spPr>
          <a:xfrm>
            <a:off x="4572000" y="3474720"/>
            <a:ext cx="146304" cy="146304"/>
          </a:xfrm>
          <a:prstGeom prst="rect">
            <a:avLst/>
          </a:prstGeom>
          <a:solidFill>
            <a:srgbClr val="76B900">
              <a:alpha val="75000"/>
            </a:srgbClr>
          </a:solidFill>
          <a:ln w="12700">
            <a:solidFill>
              <a:srgbClr val="76B900">
                <a:alpha val="0"/>
              </a:srgbClr>
            </a:solidFill>
            <a:prstDash val="solid"/>
          </a:ln>
        </p:spPr>
      </p:sp>
      <p:sp>
        <p:nvSpPr>
          <p:cNvPr id="63" name="Shape 61"/>
          <p:cNvSpPr/>
          <p:nvPr/>
        </p:nvSpPr>
        <p:spPr>
          <a:xfrm>
            <a:off x="4782312" y="3474720"/>
            <a:ext cx="146304" cy="146304"/>
          </a:xfrm>
          <a:prstGeom prst="rect">
            <a:avLst/>
          </a:prstGeom>
          <a:solidFill>
            <a:srgbClr val="76B900">
              <a:alpha val="75000"/>
            </a:srgbClr>
          </a:solidFill>
          <a:ln w="12700">
            <a:solidFill>
              <a:srgbClr val="76B900">
                <a:alpha val="0"/>
              </a:srgbClr>
            </a:solidFill>
            <a:prstDash val="solid"/>
          </a:ln>
        </p:spPr>
      </p:sp>
      <p:sp>
        <p:nvSpPr>
          <p:cNvPr id="64" name="Shape 62"/>
          <p:cNvSpPr/>
          <p:nvPr/>
        </p:nvSpPr>
        <p:spPr>
          <a:xfrm>
            <a:off x="4992624" y="3474720"/>
            <a:ext cx="146304" cy="146304"/>
          </a:xfrm>
          <a:prstGeom prst="rect">
            <a:avLst/>
          </a:prstGeom>
          <a:solidFill>
            <a:srgbClr val="76B900">
              <a:alpha val="75000"/>
            </a:srgbClr>
          </a:solidFill>
          <a:ln w="12700">
            <a:solidFill>
              <a:srgbClr val="76B900">
                <a:alpha val="0"/>
              </a:srgbClr>
            </a:solidFill>
            <a:prstDash val="solid"/>
          </a:ln>
        </p:spPr>
      </p:sp>
      <p:sp>
        <p:nvSpPr>
          <p:cNvPr id="65" name="Shape 63"/>
          <p:cNvSpPr/>
          <p:nvPr/>
        </p:nvSpPr>
        <p:spPr>
          <a:xfrm>
            <a:off x="5202936" y="3474720"/>
            <a:ext cx="146304" cy="146304"/>
          </a:xfrm>
          <a:prstGeom prst="rect">
            <a:avLst/>
          </a:prstGeom>
          <a:solidFill>
            <a:srgbClr val="76B900">
              <a:alpha val="75000"/>
            </a:srgbClr>
          </a:solidFill>
          <a:ln w="12700">
            <a:solidFill>
              <a:srgbClr val="76B900">
                <a:alpha val="0"/>
              </a:srgbClr>
            </a:solidFill>
            <a:prstDash val="solid"/>
          </a:ln>
        </p:spPr>
      </p:sp>
      <p:sp>
        <p:nvSpPr>
          <p:cNvPr id="66" name="Shape 64"/>
          <p:cNvSpPr/>
          <p:nvPr/>
        </p:nvSpPr>
        <p:spPr>
          <a:xfrm>
            <a:off x="5413248" y="3474720"/>
            <a:ext cx="146304" cy="146304"/>
          </a:xfrm>
          <a:prstGeom prst="rect">
            <a:avLst/>
          </a:prstGeom>
          <a:solidFill>
            <a:srgbClr val="76B900">
              <a:alpha val="75000"/>
            </a:srgbClr>
          </a:solidFill>
          <a:ln w="12700">
            <a:solidFill>
              <a:srgbClr val="76B900">
                <a:alpha val="0"/>
              </a:srgbClr>
            </a:solidFill>
            <a:prstDash val="solid"/>
          </a:ln>
        </p:spPr>
      </p:sp>
      <p:sp>
        <p:nvSpPr>
          <p:cNvPr id="67" name="Shape 65"/>
          <p:cNvSpPr/>
          <p:nvPr/>
        </p:nvSpPr>
        <p:spPr>
          <a:xfrm>
            <a:off x="5623560" y="3474720"/>
            <a:ext cx="146304" cy="146304"/>
          </a:xfrm>
          <a:prstGeom prst="rect">
            <a:avLst/>
          </a:prstGeom>
          <a:solidFill>
            <a:srgbClr val="76B900">
              <a:alpha val="75000"/>
            </a:srgbClr>
          </a:solidFill>
          <a:ln w="12700">
            <a:solidFill>
              <a:srgbClr val="76B900">
                <a:alpha val="0"/>
              </a:srgbClr>
            </a:solidFill>
            <a:prstDash val="solid"/>
          </a:ln>
        </p:spPr>
      </p:sp>
      <p:sp>
        <p:nvSpPr>
          <p:cNvPr id="68" name="Shape 66"/>
          <p:cNvSpPr/>
          <p:nvPr/>
        </p:nvSpPr>
        <p:spPr>
          <a:xfrm>
            <a:off x="5833872" y="3474720"/>
            <a:ext cx="146304" cy="146304"/>
          </a:xfrm>
          <a:prstGeom prst="rect">
            <a:avLst/>
          </a:prstGeom>
          <a:solidFill>
            <a:srgbClr val="76B900">
              <a:alpha val="75000"/>
            </a:srgbClr>
          </a:solidFill>
          <a:ln w="12700">
            <a:solidFill>
              <a:srgbClr val="76B900">
                <a:alpha val="0"/>
              </a:srgbClr>
            </a:solidFill>
            <a:prstDash val="solid"/>
          </a:ln>
        </p:spPr>
      </p:sp>
      <p:sp>
        <p:nvSpPr>
          <p:cNvPr id="69" name="Shape 67"/>
          <p:cNvSpPr/>
          <p:nvPr/>
        </p:nvSpPr>
        <p:spPr>
          <a:xfrm>
            <a:off x="6044184" y="3474720"/>
            <a:ext cx="146304" cy="146304"/>
          </a:xfrm>
          <a:prstGeom prst="rect">
            <a:avLst/>
          </a:prstGeom>
          <a:solidFill>
            <a:srgbClr val="76B900">
              <a:alpha val="75000"/>
            </a:srgbClr>
          </a:solidFill>
          <a:ln w="12700">
            <a:solidFill>
              <a:srgbClr val="76B900">
                <a:alpha val="0"/>
              </a:srgbClr>
            </a:solidFill>
            <a:prstDash val="solid"/>
          </a:ln>
        </p:spPr>
      </p:sp>
      <p:sp>
        <p:nvSpPr>
          <p:cNvPr id="70" name="Text 68"/>
          <p:cNvSpPr/>
          <p:nvPr/>
        </p:nvSpPr>
        <p:spPr>
          <a:xfrm>
            <a:off x="3703320" y="3977640"/>
            <a:ext cx="2743200" cy="640080"/>
          </a:xfrm>
          <a:prstGeom prst="rect">
            <a:avLst/>
          </a:prstGeom>
          <a:noFill/>
          <a:ln/>
        </p:spPr>
        <p:txBody>
          <a:bodyPr wrap="square" lIns="0" tIns="0" rIns="0" bIns="0" rtlCol="0" anchor="ctr">
            <a:noAutofit/>
          </a:bodyPr>
          <a:lstStyle/>
          <a:p>
            <a:pPr marL="0" indent="0">
              <a:buNone/>
            </a:pPr>
            <a:r>
              <a:rPr lang="en-US" sz="1250" dirty="0">
                <a:solidFill>
                  <a:srgbClr val="C7D0D9"/>
                </a:solidFill>
              </a:rPr>
              <a:t>Same operation applied to lots of data at once</a:t>
            </a:r>
            <a:endParaRPr lang="en-US" sz="1250" dirty="0"/>
          </a:p>
        </p:txBody>
      </p:sp>
      <p:sp>
        <p:nvSpPr>
          <p:cNvPr id="71" name="Shape 69"/>
          <p:cNvSpPr/>
          <p:nvPr/>
        </p:nvSpPr>
        <p:spPr>
          <a:xfrm>
            <a:off x="6903720" y="1572768"/>
            <a:ext cx="4160520" cy="4495800"/>
          </a:xfrm>
          <a:prstGeom prst="roundRect">
            <a:avLst>
              <a:gd name="adj" fmla="val 1758"/>
            </a:avLst>
          </a:prstGeom>
          <a:solidFill>
            <a:srgbClr val="18212D"/>
          </a:solidFill>
          <a:ln w="12700">
            <a:solidFill>
              <a:srgbClr val="344252"/>
            </a:solidFill>
            <a:prstDash val="solid"/>
          </a:ln>
        </p:spPr>
      </p:sp>
      <p:sp>
        <p:nvSpPr>
          <p:cNvPr id="72" name="Text 70"/>
          <p:cNvSpPr/>
          <p:nvPr/>
        </p:nvSpPr>
        <p:spPr>
          <a:xfrm>
            <a:off x="7196328" y="1847088"/>
            <a:ext cx="2377440" cy="310896"/>
          </a:xfrm>
          <a:prstGeom prst="rect">
            <a:avLst/>
          </a:prstGeom>
          <a:noFill/>
          <a:ln/>
        </p:spPr>
        <p:txBody>
          <a:bodyPr wrap="square" lIns="0" tIns="0" rIns="0" bIns="0" rtlCol="0" anchor="ctr">
            <a:noAutofit/>
          </a:bodyPr>
          <a:lstStyle/>
          <a:p>
            <a:pPr marL="0" indent="0">
              <a:buNone/>
            </a:pPr>
            <a:r>
              <a:rPr lang="en-US" sz="1800" b="1" dirty="0">
                <a:solidFill>
                  <a:srgbClr val="A3E635"/>
                </a:solidFill>
              </a:rPr>
              <a:t>Why CNNs fit</a:t>
            </a:r>
            <a:endParaRPr lang="en-US" sz="1800" dirty="0"/>
          </a:p>
        </p:txBody>
      </p:sp>
      <p:sp>
        <p:nvSpPr>
          <p:cNvPr id="73" name="Text 71"/>
          <p:cNvSpPr/>
          <p:nvPr/>
        </p:nvSpPr>
        <p:spPr>
          <a:xfrm>
            <a:off x="7223760" y="2404872"/>
            <a:ext cx="1828800" cy="228600"/>
          </a:xfrm>
          <a:prstGeom prst="rect">
            <a:avLst/>
          </a:prstGeom>
          <a:noFill/>
          <a:ln/>
        </p:spPr>
        <p:txBody>
          <a:bodyPr wrap="square" lIns="0" tIns="0" rIns="0" bIns="0" rtlCol="0" anchor="ctr">
            <a:noAutofit/>
          </a:bodyPr>
          <a:lstStyle/>
          <a:p>
            <a:pPr marL="0" indent="0">
              <a:buNone/>
            </a:pPr>
            <a:r>
              <a:rPr lang="en-US" sz="1350" dirty="0">
                <a:solidFill>
                  <a:srgbClr val="C7D0D9"/>
                </a:solidFill>
              </a:rPr>
              <a:t>Output pixels</a:t>
            </a:r>
            <a:endParaRPr lang="en-US" sz="1350" dirty="0"/>
          </a:p>
        </p:txBody>
      </p:sp>
      <p:sp>
        <p:nvSpPr>
          <p:cNvPr id="74" name="Shape 72"/>
          <p:cNvSpPr/>
          <p:nvPr/>
        </p:nvSpPr>
        <p:spPr>
          <a:xfrm>
            <a:off x="9189720" y="2331720"/>
            <a:ext cx="1207008"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75" name="Text 73"/>
          <p:cNvSpPr/>
          <p:nvPr/>
        </p:nvSpPr>
        <p:spPr>
          <a:xfrm>
            <a:off x="9189720" y="2418588"/>
            <a:ext cx="1207008"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PARALLEL</a:t>
            </a:r>
            <a:endParaRPr lang="en-US" sz="900" dirty="0"/>
          </a:p>
        </p:txBody>
      </p:sp>
      <p:sp>
        <p:nvSpPr>
          <p:cNvPr id="76" name="Text 74"/>
          <p:cNvSpPr/>
          <p:nvPr/>
        </p:nvSpPr>
        <p:spPr>
          <a:xfrm>
            <a:off x="7223760" y="3026664"/>
            <a:ext cx="1828800" cy="228600"/>
          </a:xfrm>
          <a:prstGeom prst="rect">
            <a:avLst/>
          </a:prstGeom>
          <a:noFill/>
          <a:ln/>
        </p:spPr>
        <p:txBody>
          <a:bodyPr wrap="square" lIns="0" tIns="0" rIns="0" bIns="0" rtlCol="0" anchor="ctr">
            <a:noAutofit/>
          </a:bodyPr>
          <a:lstStyle/>
          <a:p>
            <a:pPr marL="0" indent="0">
              <a:buNone/>
            </a:pPr>
            <a:r>
              <a:rPr lang="en-US" sz="1350" dirty="0">
                <a:solidFill>
                  <a:srgbClr val="C7D0D9"/>
                </a:solidFill>
              </a:rPr>
              <a:t>Filters / channels</a:t>
            </a:r>
            <a:endParaRPr lang="en-US" sz="1350" dirty="0"/>
          </a:p>
        </p:txBody>
      </p:sp>
      <p:sp>
        <p:nvSpPr>
          <p:cNvPr id="77" name="Shape 75"/>
          <p:cNvSpPr/>
          <p:nvPr/>
        </p:nvSpPr>
        <p:spPr>
          <a:xfrm>
            <a:off x="9189720" y="2953512"/>
            <a:ext cx="1207008"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78" name="Text 76"/>
          <p:cNvSpPr/>
          <p:nvPr/>
        </p:nvSpPr>
        <p:spPr>
          <a:xfrm>
            <a:off x="9189720" y="3040380"/>
            <a:ext cx="1207008"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PARALLEL</a:t>
            </a:r>
            <a:endParaRPr lang="en-US" sz="900" dirty="0"/>
          </a:p>
        </p:txBody>
      </p:sp>
      <p:sp>
        <p:nvSpPr>
          <p:cNvPr id="79" name="Text 77"/>
          <p:cNvSpPr/>
          <p:nvPr/>
        </p:nvSpPr>
        <p:spPr>
          <a:xfrm>
            <a:off x="7223760" y="3648456"/>
            <a:ext cx="1828800" cy="228600"/>
          </a:xfrm>
          <a:prstGeom prst="rect">
            <a:avLst/>
          </a:prstGeom>
          <a:noFill/>
          <a:ln/>
        </p:spPr>
        <p:txBody>
          <a:bodyPr wrap="square" lIns="0" tIns="0" rIns="0" bIns="0" rtlCol="0" anchor="ctr">
            <a:noAutofit/>
          </a:bodyPr>
          <a:lstStyle/>
          <a:p>
            <a:pPr marL="0" indent="0">
              <a:buNone/>
            </a:pPr>
            <a:r>
              <a:rPr lang="en-US" sz="1350" dirty="0">
                <a:solidFill>
                  <a:srgbClr val="C7D0D9"/>
                </a:solidFill>
              </a:rPr>
              <a:t>Images in batch</a:t>
            </a:r>
            <a:endParaRPr lang="en-US" sz="1350" dirty="0"/>
          </a:p>
        </p:txBody>
      </p:sp>
      <p:sp>
        <p:nvSpPr>
          <p:cNvPr id="80" name="Shape 78"/>
          <p:cNvSpPr/>
          <p:nvPr/>
        </p:nvSpPr>
        <p:spPr>
          <a:xfrm>
            <a:off x="9189720" y="3575304"/>
            <a:ext cx="1207008"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81" name="Text 79"/>
          <p:cNvSpPr/>
          <p:nvPr/>
        </p:nvSpPr>
        <p:spPr>
          <a:xfrm>
            <a:off x="9189720" y="3662172"/>
            <a:ext cx="1207008"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PARALLEL</a:t>
            </a:r>
            <a:endParaRPr lang="en-US" sz="900" dirty="0"/>
          </a:p>
        </p:txBody>
      </p:sp>
      <p:sp>
        <p:nvSpPr>
          <p:cNvPr id="82" name="Text 80"/>
          <p:cNvSpPr/>
          <p:nvPr/>
        </p:nvSpPr>
        <p:spPr>
          <a:xfrm>
            <a:off x="7223760" y="4270248"/>
            <a:ext cx="1828800" cy="228600"/>
          </a:xfrm>
          <a:prstGeom prst="rect">
            <a:avLst/>
          </a:prstGeom>
          <a:noFill/>
          <a:ln/>
        </p:spPr>
        <p:txBody>
          <a:bodyPr wrap="square" lIns="0" tIns="0" rIns="0" bIns="0" rtlCol="0" anchor="ctr">
            <a:noAutofit/>
          </a:bodyPr>
          <a:lstStyle/>
          <a:p>
            <a:pPr marL="0" indent="0">
              <a:buNone/>
            </a:pPr>
            <a:r>
              <a:rPr lang="en-US" sz="1350" dirty="0">
                <a:solidFill>
                  <a:srgbClr val="C7D0D9"/>
                </a:solidFill>
              </a:rPr>
              <a:t>Matrix multiplies</a:t>
            </a:r>
            <a:endParaRPr lang="en-US" sz="1350" dirty="0"/>
          </a:p>
        </p:txBody>
      </p:sp>
      <p:sp>
        <p:nvSpPr>
          <p:cNvPr id="83" name="Shape 81"/>
          <p:cNvSpPr/>
          <p:nvPr/>
        </p:nvSpPr>
        <p:spPr>
          <a:xfrm>
            <a:off x="9189720" y="4197096"/>
            <a:ext cx="1207008"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84" name="Text 82"/>
          <p:cNvSpPr/>
          <p:nvPr/>
        </p:nvSpPr>
        <p:spPr>
          <a:xfrm>
            <a:off x="9189720" y="4283964"/>
            <a:ext cx="1207008"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PARALLEL</a:t>
            </a:r>
            <a:endParaRPr lang="en-US" sz="900" dirty="0"/>
          </a:p>
        </p:txBody>
      </p:sp>
      <p:sp>
        <p:nvSpPr>
          <p:cNvPr id="85" name="Text 83"/>
          <p:cNvSpPr/>
          <p:nvPr/>
        </p:nvSpPr>
        <p:spPr>
          <a:xfrm>
            <a:off x="7223760" y="4864100"/>
            <a:ext cx="3291840" cy="457200"/>
          </a:xfrm>
          <a:prstGeom prst="rect">
            <a:avLst/>
          </a:prstGeom>
          <a:noFill/>
          <a:ln/>
        </p:spPr>
        <p:txBody>
          <a:bodyPr wrap="square" lIns="0" tIns="0" rIns="0" bIns="0" rtlCol="0" anchor="ctr">
            <a:noAutofit/>
          </a:bodyPr>
          <a:lstStyle/>
          <a:p>
            <a:pPr marL="0" indent="0">
              <a:buNone/>
            </a:pPr>
            <a:r>
              <a:rPr lang="en-US" sz="1450" b="1">
                <a:solidFill>
                  <a:srgbClr val="F4F7FA"/>
                </a:solidFill>
              </a:rPr>
              <a:t>Batches expose many independent output sums.</a:t>
            </a:r>
            <a:endParaRPr lang="en-US" sz="1450" dirty="0"/>
          </a:p>
        </p:txBody>
      </p:sp>
      <p:sp>
        <p:nvSpPr>
          <p:cNvPr id="86" name="Text 84"/>
          <p:cNvSpPr/>
          <p:nvPr/>
        </p:nvSpPr>
        <p:spPr>
          <a:xfrm>
            <a:off x="7223760" y="5448300"/>
            <a:ext cx="3337560" cy="431800"/>
          </a:xfrm>
          <a:prstGeom prst="rect">
            <a:avLst/>
          </a:prstGeom>
          <a:noFill/>
          <a:ln/>
        </p:spPr>
        <p:txBody>
          <a:bodyPr wrap="square" lIns="0" tIns="0" rIns="0" bIns="0" rtlCol="0" anchor="ctr">
            <a:noAutofit/>
          </a:bodyPr>
          <a:lstStyle/>
          <a:p>
            <a:pPr marL="0" indent="0">
              <a:buNone/>
            </a:pPr>
            <a:r>
              <a:rPr lang="en-US" sz="1230">
                <a:solidFill>
                  <a:srgbClr val="7E8A97"/>
                </a:solidFill>
              </a:rPr>
              <a:t>Useful work must outweigh launch and data-movement costs.</a:t>
            </a:r>
            <a:endParaRPr lang="en-US" sz="1230" dirty="0"/>
          </a:p>
        </p:txBody>
      </p:sp>
      <p:sp>
        <p:nvSpPr>
          <p:cNvPr id="87"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dirty="0">
                <a:solidFill>
                  <a:srgbClr val="F4F7FA"/>
                </a:solidFill>
              </a:rPr>
              <a:t>How CUDA turns a GPU into a parallel program</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dirty="0">
                <a:solidFill>
                  <a:srgbClr val="7E8A97"/>
                </a:solidFill>
              </a:rPr>
              <a:t>CUDA lets the CPU launch GPU kernels as a hierarchy of grids, blocks and threads.</a:t>
            </a:r>
            <a:endParaRPr lang="en-US" sz="1150" dirty="0"/>
          </a:p>
        </p:txBody>
      </p:sp>
      <p:sp>
        <p:nvSpPr>
          <p:cNvPr id="4" name="Shape 2"/>
          <p:cNvSpPr/>
          <p:nvPr/>
        </p:nvSpPr>
        <p:spPr>
          <a:xfrm>
            <a:off x="9966960" y="347472"/>
            <a:ext cx="1600200" cy="384048"/>
          </a:xfrm>
          <a:prstGeom prst="roundRect">
            <a:avLst>
              <a:gd name="adj" fmla="val 19048"/>
            </a:avLst>
          </a:prstGeom>
          <a:solidFill>
            <a:srgbClr val="76B900">
              <a:alpha val="16000"/>
            </a:srgbClr>
          </a:solidFill>
          <a:ln w="12700">
            <a:solidFill>
              <a:srgbClr val="76B900">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76B900"/>
                </a:solidFill>
              </a:rPr>
              <a:t>SATYA · PERSON 2</a:t>
            </a:r>
            <a:endParaRPr lang="en-US" sz="950" dirty="0"/>
          </a:p>
        </p:txBody>
      </p:sp>
      <p:sp>
        <p:nvSpPr>
          <p:cNvPr id="6" name="Shape 4"/>
          <p:cNvSpPr/>
          <p:nvPr/>
        </p:nvSpPr>
        <p:spPr>
          <a:xfrm>
            <a:off x="603504" y="1225296"/>
            <a:ext cx="3703320" cy="4983480"/>
          </a:xfrm>
          <a:prstGeom prst="roundRect">
            <a:avLst>
              <a:gd name="adj" fmla="val 1975"/>
            </a:avLst>
          </a:prstGeom>
          <a:solidFill>
            <a:srgbClr val="121923"/>
          </a:solidFill>
          <a:ln w="12700">
            <a:solidFill>
              <a:srgbClr val="25303D"/>
            </a:solidFill>
            <a:prstDash val="solid"/>
          </a:ln>
        </p:spPr>
      </p:sp>
      <p:sp>
        <p:nvSpPr>
          <p:cNvPr id="7" name="Shape 5"/>
          <p:cNvSpPr/>
          <p:nvPr/>
        </p:nvSpPr>
        <p:spPr>
          <a:xfrm>
            <a:off x="868680" y="1499616"/>
            <a:ext cx="1143000" cy="310896"/>
          </a:xfrm>
          <a:prstGeom prst="roundRect">
            <a:avLst>
              <a:gd name="adj" fmla="val 17647"/>
            </a:avLst>
          </a:prstGeom>
          <a:solidFill>
            <a:srgbClr val="41D9FF">
              <a:alpha val="14000"/>
            </a:srgbClr>
          </a:solidFill>
          <a:ln w="12700">
            <a:solidFill>
              <a:srgbClr val="41D9FF">
                <a:alpha val="45000"/>
              </a:srgbClr>
            </a:solidFill>
            <a:prstDash val="solid"/>
          </a:ln>
        </p:spPr>
      </p:sp>
      <p:sp>
        <p:nvSpPr>
          <p:cNvPr id="8" name="Text 6"/>
          <p:cNvSpPr/>
          <p:nvPr/>
        </p:nvSpPr>
        <p:spPr>
          <a:xfrm>
            <a:off x="868680" y="1577340"/>
            <a:ext cx="114300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41D9FF"/>
                </a:solidFill>
              </a:rPr>
              <a:t>HOST / CPU</a:t>
            </a:r>
            <a:endParaRPr lang="en-US" sz="850" dirty="0"/>
          </a:p>
        </p:txBody>
      </p:sp>
      <p:sp>
        <p:nvSpPr>
          <p:cNvPr id="9" name="Shape 7"/>
          <p:cNvSpPr/>
          <p:nvPr/>
        </p:nvSpPr>
        <p:spPr>
          <a:xfrm>
            <a:off x="896112" y="2011680"/>
            <a:ext cx="2880360" cy="566928"/>
          </a:xfrm>
          <a:prstGeom prst="roundRect">
            <a:avLst>
              <a:gd name="adj" fmla="val 8065"/>
            </a:avLst>
          </a:prstGeom>
          <a:solidFill>
            <a:srgbClr val="172633"/>
          </a:solidFill>
          <a:ln w="12700">
            <a:solidFill>
              <a:srgbClr val="41D9FF">
                <a:alpha val="45000"/>
              </a:srgbClr>
            </a:solidFill>
            <a:prstDash val="solid"/>
          </a:ln>
        </p:spPr>
      </p:sp>
      <p:sp>
        <p:nvSpPr>
          <p:cNvPr id="10" name="Shape 8"/>
          <p:cNvSpPr/>
          <p:nvPr/>
        </p:nvSpPr>
        <p:spPr>
          <a:xfrm>
            <a:off x="1024128" y="2139696"/>
            <a:ext cx="301752" cy="301752"/>
          </a:xfrm>
          <a:prstGeom prst="ellipse">
            <a:avLst/>
          </a:prstGeom>
          <a:solidFill>
            <a:srgbClr val="41D9FF"/>
          </a:solidFill>
          <a:ln w="12700">
            <a:solidFill>
              <a:srgbClr val="41D9FF"/>
            </a:solidFill>
            <a:prstDash val="solid"/>
          </a:ln>
        </p:spPr>
      </p:sp>
      <p:sp>
        <p:nvSpPr>
          <p:cNvPr id="11" name="Text 9"/>
          <p:cNvSpPr/>
          <p:nvPr/>
        </p:nvSpPr>
        <p:spPr>
          <a:xfrm>
            <a:off x="1024128" y="2212848"/>
            <a:ext cx="301752" cy="118872"/>
          </a:xfrm>
          <a:prstGeom prst="rect">
            <a:avLst/>
          </a:prstGeom>
          <a:noFill/>
          <a:ln/>
        </p:spPr>
        <p:txBody>
          <a:bodyPr wrap="square" lIns="0" tIns="0" rIns="0" bIns="0" rtlCol="0" anchor="ctr">
            <a:noAutofit/>
          </a:bodyPr>
          <a:lstStyle/>
          <a:p>
            <a:pPr marL="0" indent="0" algn="ctr">
              <a:buNone/>
            </a:pPr>
            <a:r>
              <a:rPr lang="en-US" sz="900" b="1" dirty="0">
                <a:solidFill>
                  <a:srgbClr val="0B0F14"/>
                </a:solidFill>
              </a:rPr>
              <a:t>1</a:t>
            </a:r>
            <a:endParaRPr lang="en-US" sz="900" dirty="0"/>
          </a:p>
        </p:txBody>
      </p:sp>
      <p:sp>
        <p:nvSpPr>
          <p:cNvPr id="12" name="Text 10"/>
          <p:cNvSpPr/>
          <p:nvPr/>
        </p:nvSpPr>
        <p:spPr>
          <a:xfrm>
            <a:off x="1463040" y="2176272"/>
            <a:ext cx="2057400" cy="219456"/>
          </a:xfrm>
          <a:prstGeom prst="rect">
            <a:avLst/>
          </a:prstGeom>
          <a:noFill/>
          <a:ln/>
        </p:spPr>
        <p:txBody>
          <a:bodyPr wrap="square" lIns="0" tIns="0" rIns="0" bIns="0" rtlCol="0" anchor="ctr">
            <a:noAutofit/>
          </a:bodyPr>
          <a:lstStyle/>
          <a:p>
            <a:pPr marL="0" indent="0">
              <a:buNone/>
            </a:pPr>
            <a:r>
              <a:rPr lang="en-US" sz="1260" b="1">
                <a:solidFill>
                  <a:srgbClr val="F4F7FA"/>
                </a:solidFill>
              </a:rPr>
              <a:t>Upload tensors once</a:t>
            </a:r>
            <a:endParaRPr lang="en-US" sz="1260" dirty="0"/>
          </a:p>
        </p:txBody>
      </p:sp>
      <p:sp>
        <p:nvSpPr>
          <p:cNvPr id="13" name="Shape 11"/>
          <p:cNvSpPr/>
          <p:nvPr/>
        </p:nvSpPr>
        <p:spPr>
          <a:xfrm>
            <a:off x="896112" y="2816352"/>
            <a:ext cx="2880360" cy="566928"/>
          </a:xfrm>
          <a:prstGeom prst="roundRect">
            <a:avLst>
              <a:gd name="adj" fmla="val 8065"/>
            </a:avLst>
          </a:prstGeom>
          <a:solidFill>
            <a:srgbClr val="172633"/>
          </a:solidFill>
          <a:ln w="12700">
            <a:solidFill>
              <a:srgbClr val="41D9FF">
                <a:alpha val="45000"/>
              </a:srgbClr>
            </a:solidFill>
            <a:prstDash val="solid"/>
          </a:ln>
        </p:spPr>
      </p:sp>
      <p:sp>
        <p:nvSpPr>
          <p:cNvPr id="14" name="Shape 12"/>
          <p:cNvSpPr/>
          <p:nvPr/>
        </p:nvSpPr>
        <p:spPr>
          <a:xfrm>
            <a:off x="1024128" y="2944368"/>
            <a:ext cx="301752" cy="301752"/>
          </a:xfrm>
          <a:prstGeom prst="ellipse">
            <a:avLst/>
          </a:prstGeom>
          <a:solidFill>
            <a:srgbClr val="41D9FF"/>
          </a:solidFill>
          <a:ln w="12700">
            <a:solidFill>
              <a:srgbClr val="41D9FF"/>
            </a:solidFill>
            <a:prstDash val="solid"/>
          </a:ln>
        </p:spPr>
      </p:sp>
      <p:sp>
        <p:nvSpPr>
          <p:cNvPr id="15" name="Text 13"/>
          <p:cNvSpPr/>
          <p:nvPr/>
        </p:nvSpPr>
        <p:spPr>
          <a:xfrm>
            <a:off x="1024128" y="3017520"/>
            <a:ext cx="301752" cy="118872"/>
          </a:xfrm>
          <a:prstGeom prst="rect">
            <a:avLst/>
          </a:prstGeom>
          <a:noFill/>
          <a:ln/>
        </p:spPr>
        <p:txBody>
          <a:bodyPr wrap="square" lIns="0" tIns="0" rIns="0" bIns="0" rtlCol="0" anchor="ctr">
            <a:noAutofit/>
          </a:bodyPr>
          <a:lstStyle/>
          <a:p>
            <a:pPr marL="0" indent="0" algn="ctr">
              <a:buNone/>
            </a:pPr>
            <a:r>
              <a:rPr lang="en-US" sz="900" b="1" dirty="0">
                <a:solidFill>
                  <a:srgbClr val="0B0F14"/>
                </a:solidFill>
              </a:rPr>
              <a:t>2</a:t>
            </a:r>
            <a:endParaRPr lang="en-US" sz="900" dirty="0"/>
          </a:p>
        </p:txBody>
      </p:sp>
      <p:sp>
        <p:nvSpPr>
          <p:cNvPr id="16" name="Text 14"/>
          <p:cNvSpPr/>
          <p:nvPr/>
        </p:nvSpPr>
        <p:spPr>
          <a:xfrm>
            <a:off x="1463040" y="2980944"/>
            <a:ext cx="2057400" cy="219456"/>
          </a:xfrm>
          <a:prstGeom prst="rect">
            <a:avLst/>
          </a:prstGeom>
          <a:noFill/>
          <a:ln/>
        </p:spPr>
        <p:txBody>
          <a:bodyPr wrap="square" lIns="0" tIns="0" rIns="0" bIns="0" rtlCol="0" anchor="ctr">
            <a:noAutofit/>
          </a:bodyPr>
          <a:lstStyle/>
          <a:p>
            <a:pPr marL="0" indent="0">
              <a:buNone/>
            </a:pPr>
            <a:r>
              <a:rPr lang="en-US" sz="1260" b="1" dirty="0">
                <a:solidFill>
                  <a:srgbClr val="F4F7FA"/>
                </a:solidFill>
              </a:rPr>
              <a:t>Choose grid &amp; block</a:t>
            </a:r>
            <a:endParaRPr lang="en-US" sz="1260" dirty="0"/>
          </a:p>
        </p:txBody>
      </p:sp>
      <p:sp>
        <p:nvSpPr>
          <p:cNvPr id="17" name="Shape 15"/>
          <p:cNvSpPr/>
          <p:nvPr/>
        </p:nvSpPr>
        <p:spPr>
          <a:xfrm>
            <a:off x="896112" y="3621024"/>
            <a:ext cx="2880360" cy="566928"/>
          </a:xfrm>
          <a:prstGeom prst="roundRect">
            <a:avLst>
              <a:gd name="adj" fmla="val 8065"/>
            </a:avLst>
          </a:prstGeom>
          <a:solidFill>
            <a:srgbClr val="172633"/>
          </a:solidFill>
          <a:ln w="12700">
            <a:solidFill>
              <a:srgbClr val="41D9FF">
                <a:alpha val="45000"/>
              </a:srgbClr>
            </a:solidFill>
            <a:prstDash val="solid"/>
          </a:ln>
        </p:spPr>
      </p:sp>
      <p:sp>
        <p:nvSpPr>
          <p:cNvPr id="18" name="Shape 16"/>
          <p:cNvSpPr/>
          <p:nvPr/>
        </p:nvSpPr>
        <p:spPr>
          <a:xfrm>
            <a:off x="1024128" y="3749040"/>
            <a:ext cx="301752" cy="301752"/>
          </a:xfrm>
          <a:prstGeom prst="ellipse">
            <a:avLst/>
          </a:prstGeom>
          <a:solidFill>
            <a:srgbClr val="41D9FF"/>
          </a:solidFill>
          <a:ln w="12700">
            <a:solidFill>
              <a:srgbClr val="41D9FF"/>
            </a:solidFill>
            <a:prstDash val="solid"/>
          </a:ln>
        </p:spPr>
      </p:sp>
      <p:sp>
        <p:nvSpPr>
          <p:cNvPr id="19" name="Text 17"/>
          <p:cNvSpPr/>
          <p:nvPr/>
        </p:nvSpPr>
        <p:spPr>
          <a:xfrm>
            <a:off x="1024128" y="3822192"/>
            <a:ext cx="301752" cy="118872"/>
          </a:xfrm>
          <a:prstGeom prst="rect">
            <a:avLst/>
          </a:prstGeom>
          <a:noFill/>
          <a:ln/>
        </p:spPr>
        <p:txBody>
          <a:bodyPr wrap="square" lIns="0" tIns="0" rIns="0" bIns="0" rtlCol="0" anchor="ctr">
            <a:noAutofit/>
          </a:bodyPr>
          <a:lstStyle/>
          <a:p>
            <a:pPr marL="0" indent="0" algn="ctr">
              <a:buNone/>
            </a:pPr>
            <a:r>
              <a:rPr lang="en-US" sz="900" b="1" dirty="0">
                <a:solidFill>
                  <a:srgbClr val="0B0F14"/>
                </a:solidFill>
              </a:rPr>
              <a:t>3</a:t>
            </a:r>
            <a:endParaRPr lang="en-US" sz="900" dirty="0"/>
          </a:p>
        </p:txBody>
      </p:sp>
      <p:sp>
        <p:nvSpPr>
          <p:cNvPr id="20" name="Text 18"/>
          <p:cNvSpPr/>
          <p:nvPr/>
        </p:nvSpPr>
        <p:spPr>
          <a:xfrm>
            <a:off x="1463040" y="3785616"/>
            <a:ext cx="2057400" cy="219456"/>
          </a:xfrm>
          <a:prstGeom prst="rect">
            <a:avLst/>
          </a:prstGeom>
          <a:noFill/>
          <a:ln/>
        </p:spPr>
        <p:txBody>
          <a:bodyPr wrap="square" lIns="0" tIns="0" rIns="0" bIns="0" rtlCol="0" anchor="ctr">
            <a:noAutofit/>
          </a:bodyPr>
          <a:lstStyle/>
          <a:p>
            <a:pPr marL="0" indent="0">
              <a:buNone/>
            </a:pPr>
            <a:r>
              <a:rPr lang="en-US" sz="1260" b="1" dirty="0">
                <a:solidFill>
                  <a:srgbClr val="F4F7FA"/>
                </a:solidFill>
              </a:rPr>
              <a:t>Launch kernel</a:t>
            </a:r>
            <a:endParaRPr lang="en-US" sz="1260" dirty="0"/>
          </a:p>
        </p:txBody>
      </p:sp>
      <p:sp>
        <p:nvSpPr>
          <p:cNvPr id="21" name="Shape 19"/>
          <p:cNvSpPr/>
          <p:nvPr/>
        </p:nvSpPr>
        <p:spPr>
          <a:xfrm>
            <a:off x="896112" y="4425696"/>
            <a:ext cx="2880360" cy="566928"/>
          </a:xfrm>
          <a:prstGeom prst="roundRect">
            <a:avLst>
              <a:gd name="adj" fmla="val 8065"/>
            </a:avLst>
          </a:prstGeom>
          <a:solidFill>
            <a:srgbClr val="172633"/>
          </a:solidFill>
          <a:ln w="12700">
            <a:solidFill>
              <a:srgbClr val="41D9FF">
                <a:alpha val="45000"/>
              </a:srgbClr>
            </a:solidFill>
            <a:prstDash val="solid"/>
          </a:ln>
        </p:spPr>
      </p:sp>
      <p:sp>
        <p:nvSpPr>
          <p:cNvPr id="22" name="Shape 20"/>
          <p:cNvSpPr/>
          <p:nvPr/>
        </p:nvSpPr>
        <p:spPr>
          <a:xfrm>
            <a:off x="1024128" y="4553712"/>
            <a:ext cx="301752" cy="301752"/>
          </a:xfrm>
          <a:prstGeom prst="ellipse">
            <a:avLst/>
          </a:prstGeom>
          <a:solidFill>
            <a:srgbClr val="41D9FF"/>
          </a:solidFill>
          <a:ln w="12700">
            <a:solidFill>
              <a:srgbClr val="41D9FF"/>
            </a:solidFill>
            <a:prstDash val="solid"/>
          </a:ln>
        </p:spPr>
      </p:sp>
      <p:sp>
        <p:nvSpPr>
          <p:cNvPr id="23" name="Text 21"/>
          <p:cNvSpPr/>
          <p:nvPr/>
        </p:nvSpPr>
        <p:spPr>
          <a:xfrm>
            <a:off x="1024128" y="4626864"/>
            <a:ext cx="301752" cy="118872"/>
          </a:xfrm>
          <a:prstGeom prst="rect">
            <a:avLst/>
          </a:prstGeom>
          <a:noFill/>
          <a:ln/>
        </p:spPr>
        <p:txBody>
          <a:bodyPr wrap="square" lIns="0" tIns="0" rIns="0" bIns="0" rtlCol="0" anchor="ctr">
            <a:noAutofit/>
          </a:bodyPr>
          <a:lstStyle/>
          <a:p>
            <a:pPr marL="0" indent="0" algn="ctr">
              <a:buNone/>
            </a:pPr>
            <a:r>
              <a:rPr lang="en-US" sz="900" b="1" dirty="0">
                <a:solidFill>
                  <a:srgbClr val="0B0F14"/>
                </a:solidFill>
              </a:rPr>
              <a:t>4</a:t>
            </a:r>
            <a:endParaRPr lang="en-US" sz="900" dirty="0"/>
          </a:p>
        </p:txBody>
      </p:sp>
      <p:sp>
        <p:nvSpPr>
          <p:cNvPr id="24" name="Text 22"/>
          <p:cNvSpPr/>
          <p:nvPr/>
        </p:nvSpPr>
        <p:spPr>
          <a:xfrm>
            <a:off x="1463040" y="4590288"/>
            <a:ext cx="2057400" cy="219456"/>
          </a:xfrm>
          <a:prstGeom prst="rect">
            <a:avLst/>
          </a:prstGeom>
          <a:noFill/>
          <a:ln/>
        </p:spPr>
        <p:txBody>
          <a:bodyPr wrap="square" lIns="0" tIns="0" rIns="0" bIns="0" rtlCol="0" anchor="ctr">
            <a:noAutofit/>
          </a:bodyPr>
          <a:lstStyle/>
          <a:p>
            <a:pPr marL="0" indent="0">
              <a:buNone/>
            </a:pPr>
            <a:r>
              <a:rPr lang="en-US" sz="1260" b="1">
                <a:solidFill>
                  <a:srgbClr val="F4F7FA"/>
                </a:solidFill>
              </a:rPr>
              <a:t>Wait for completion</a:t>
            </a:r>
            <a:endParaRPr lang="en-US" sz="1260" dirty="0"/>
          </a:p>
        </p:txBody>
      </p:sp>
      <p:sp>
        <p:nvSpPr>
          <p:cNvPr id="25" name="Shape 23"/>
          <p:cNvSpPr/>
          <p:nvPr/>
        </p:nvSpPr>
        <p:spPr>
          <a:xfrm>
            <a:off x="4553712" y="1225296"/>
            <a:ext cx="7022592" cy="4983480"/>
          </a:xfrm>
          <a:prstGeom prst="roundRect">
            <a:avLst>
              <a:gd name="adj" fmla="val 1468"/>
            </a:avLst>
          </a:prstGeom>
          <a:solidFill>
            <a:srgbClr val="121923"/>
          </a:solidFill>
          <a:ln w="12700">
            <a:solidFill>
              <a:srgbClr val="25303D"/>
            </a:solidFill>
            <a:prstDash val="solid"/>
          </a:ln>
        </p:spPr>
      </p:sp>
      <p:sp>
        <p:nvSpPr>
          <p:cNvPr id="26" name="Shape 24"/>
          <p:cNvSpPr/>
          <p:nvPr/>
        </p:nvSpPr>
        <p:spPr>
          <a:xfrm>
            <a:off x="4828032" y="1499616"/>
            <a:ext cx="114300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27" name="Text 25"/>
          <p:cNvSpPr/>
          <p:nvPr/>
        </p:nvSpPr>
        <p:spPr>
          <a:xfrm>
            <a:off x="4828032" y="1577340"/>
            <a:ext cx="114300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DEVICE / GPU</a:t>
            </a:r>
            <a:endParaRPr lang="en-US" sz="850" dirty="0"/>
          </a:p>
        </p:txBody>
      </p:sp>
      <p:sp>
        <p:nvSpPr>
          <p:cNvPr id="28" name="Text 26"/>
          <p:cNvSpPr/>
          <p:nvPr/>
        </p:nvSpPr>
        <p:spPr>
          <a:xfrm>
            <a:off x="4846320" y="1947672"/>
            <a:ext cx="594360" cy="228600"/>
          </a:xfrm>
          <a:prstGeom prst="rect">
            <a:avLst/>
          </a:prstGeom>
          <a:noFill/>
          <a:ln/>
        </p:spPr>
        <p:txBody>
          <a:bodyPr wrap="square" lIns="0" tIns="0" rIns="0" bIns="0" rtlCol="0" anchor="ctr">
            <a:noAutofit/>
          </a:bodyPr>
          <a:lstStyle/>
          <a:p>
            <a:pPr marL="0" indent="0">
              <a:buNone/>
            </a:pPr>
            <a:r>
              <a:rPr lang="en-US" sz="1500" b="1" dirty="0">
                <a:solidFill>
                  <a:srgbClr val="A3E635"/>
                </a:solidFill>
              </a:rPr>
              <a:t>Grid</a:t>
            </a:r>
            <a:endParaRPr lang="en-US" sz="1500" dirty="0"/>
          </a:p>
        </p:txBody>
      </p:sp>
      <p:sp>
        <p:nvSpPr>
          <p:cNvPr id="29" name="Shape 27"/>
          <p:cNvSpPr/>
          <p:nvPr/>
        </p:nvSpPr>
        <p:spPr>
          <a:xfrm>
            <a:off x="4892040" y="2395728"/>
            <a:ext cx="2057400" cy="1024128"/>
          </a:xfrm>
          <a:prstGeom prst="roundRect">
            <a:avLst>
              <a:gd name="adj" fmla="val 3571"/>
            </a:avLst>
          </a:prstGeom>
          <a:solidFill>
            <a:srgbClr val="14241A"/>
          </a:solidFill>
          <a:ln w="12700">
            <a:solidFill>
              <a:srgbClr val="76B900"/>
            </a:solidFill>
            <a:prstDash val="solid"/>
          </a:ln>
        </p:spPr>
      </p:sp>
      <p:sp>
        <p:nvSpPr>
          <p:cNvPr id="30" name="Text 28"/>
          <p:cNvSpPr/>
          <p:nvPr/>
        </p:nvSpPr>
        <p:spPr>
          <a:xfrm>
            <a:off x="5001768" y="2505456"/>
            <a:ext cx="658368" cy="164592"/>
          </a:xfrm>
          <a:prstGeom prst="rect">
            <a:avLst/>
          </a:prstGeom>
          <a:noFill/>
          <a:ln/>
        </p:spPr>
        <p:txBody>
          <a:bodyPr wrap="square" lIns="0" tIns="0" rIns="0" bIns="0" rtlCol="0" anchor="ctr">
            <a:noAutofit/>
          </a:bodyPr>
          <a:lstStyle/>
          <a:p>
            <a:pPr marL="0" indent="0">
              <a:buNone/>
            </a:pPr>
            <a:r>
              <a:rPr lang="en-US" sz="1050" b="1" dirty="0">
                <a:solidFill>
                  <a:srgbClr val="76B900"/>
                </a:solidFill>
              </a:rPr>
              <a:t>Block 0</a:t>
            </a:r>
            <a:endParaRPr lang="en-US" sz="1050" dirty="0"/>
          </a:p>
        </p:txBody>
      </p:sp>
      <p:sp>
        <p:nvSpPr>
          <p:cNvPr id="31" name="Shape 29"/>
          <p:cNvSpPr/>
          <p:nvPr/>
        </p:nvSpPr>
        <p:spPr>
          <a:xfrm>
            <a:off x="5038344" y="2779776"/>
            <a:ext cx="201168" cy="182880"/>
          </a:xfrm>
          <a:prstGeom prst="rect">
            <a:avLst/>
          </a:prstGeom>
          <a:solidFill>
            <a:srgbClr val="76B900">
              <a:alpha val="90000"/>
            </a:srgbClr>
          </a:solidFill>
          <a:ln w="12700">
            <a:solidFill>
              <a:srgbClr val="76B900">
                <a:alpha val="0"/>
              </a:srgbClr>
            </a:solidFill>
            <a:prstDash val="solid"/>
          </a:ln>
        </p:spPr>
      </p:sp>
      <p:sp>
        <p:nvSpPr>
          <p:cNvPr id="32" name="Shape 30"/>
          <p:cNvSpPr/>
          <p:nvPr/>
        </p:nvSpPr>
        <p:spPr>
          <a:xfrm>
            <a:off x="5321808" y="2779776"/>
            <a:ext cx="201168" cy="182880"/>
          </a:xfrm>
          <a:prstGeom prst="rect">
            <a:avLst/>
          </a:prstGeom>
          <a:solidFill>
            <a:srgbClr val="76B900">
              <a:alpha val="74000"/>
            </a:srgbClr>
          </a:solidFill>
          <a:ln w="12700">
            <a:solidFill>
              <a:srgbClr val="76B900">
                <a:alpha val="0"/>
              </a:srgbClr>
            </a:solidFill>
            <a:prstDash val="solid"/>
          </a:ln>
        </p:spPr>
      </p:sp>
      <p:sp>
        <p:nvSpPr>
          <p:cNvPr id="33" name="Shape 31"/>
          <p:cNvSpPr/>
          <p:nvPr/>
        </p:nvSpPr>
        <p:spPr>
          <a:xfrm>
            <a:off x="5605272" y="2779776"/>
            <a:ext cx="201168" cy="182880"/>
          </a:xfrm>
          <a:prstGeom prst="rect">
            <a:avLst/>
          </a:prstGeom>
          <a:solidFill>
            <a:srgbClr val="76B900">
              <a:alpha val="58000"/>
            </a:srgbClr>
          </a:solidFill>
          <a:ln w="12700">
            <a:solidFill>
              <a:srgbClr val="76B900">
                <a:alpha val="0"/>
              </a:srgbClr>
            </a:solidFill>
            <a:prstDash val="solid"/>
          </a:ln>
        </p:spPr>
      </p:sp>
      <p:sp>
        <p:nvSpPr>
          <p:cNvPr id="34" name="Shape 32"/>
          <p:cNvSpPr/>
          <p:nvPr/>
        </p:nvSpPr>
        <p:spPr>
          <a:xfrm>
            <a:off x="5888736" y="2779776"/>
            <a:ext cx="201168" cy="182880"/>
          </a:xfrm>
          <a:prstGeom prst="rect">
            <a:avLst/>
          </a:prstGeom>
          <a:solidFill>
            <a:srgbClr val="76B900">
              <a:alpha val="90000"/>
            </a:srgbClr>
          </a:solidFill>
          <a:ln w="12700">
            <a:solidFill>
              <a:srgbClr val="76B900">
                <a:alpha val="0"/>
              </a:srgbClr>
            </a:solidFill>
            <a:prstDash val="solid"/>
          </a:ln>
        </p:spPr>
      </p:sp>
      <p:sp>
        <p:nvSpPr>
          <p:cNvPr id="35" name="Shape 33"/>
          <p:cNvSpPr/>
          <p:nvPr/>
        </p:nvSpPr>
        <p:spPr>
          <a:xfrm>
            <a:off x="6172200" y="2779776"/>
            <a:ext cx="201168" cy="182880"/>
          </a:xfrm>
          <a:prstGeom prst="rect">
            <a:avLst/>
          </a:prstGeom>
          <a:solidFill>
            <a:srgbClr val="76B900">
              <a:alpha val="74000"/>
            </a:srgbClr>
          </a:solidFill>
          <a:ln w="12700">
            <a:solidFill>
              <a:srgbClr val="76B900">
                <a:alpha val="0"/>
              </a:srgbClr>
            </a:solidFill>
            <a:prstDash val="solid"/>
          </a:ln>
        </p:spPr>
      </p:sp>
      <p:sp>
        <p:nvSpPr>
          <p:cNvPr id="36" name="Shape 34"/>
          <p:cNvSpPr/>
          <p:nvPr/>
        </p:nvSpPr>
        <p:spPr>
          <a:xfrm>
            <a:off x="6455664" y="2779776"/>
            <a:ext cx="201168" cy="182880"/>
          </a:xfrm>
          <a:prstGeom prst="rect">
            <a:avLst/>
          </a:prstGeom>
          <a:solidFill>
            <a:srgbClr val="76B900">
              <a:alpha val="58000"/>
            </a:srgbClr>
          </a:solidFill>
          <a:ln w="12700">
            <a:solidFill>
              <a:srgbClr val="76B900">
                <a:alpha val="0"/>
              </a:srgbClr>
            </a:solidFill>
            <a:prstDash val="solid"/>
          </a:ln>
        </p:spPr>
      </p:sp>
      <p:sp>
        <p:nvSpPr>
          <p:cNvPr id="37" name="Shape 35"/>
          <p:cNvSpPr/>
          <p:nvPr/>
        </p:nvSpPr>
        <p:spPr>
          <a:xfrm>
            <a:off x="5038344" y="3044952"/>
            <a:ext cx="201168" cy="182880"/>
          </a:xfrm>
          <a:prstGeom prst="rect">
            <a:avLst/>
          </a:prstGeom>
          <a:solidFill>
            <a:srgbClr val="76B900">
              <a:alpha val="90000"/>
            </a:srgbClr>
          </a:solidFill>
          <a:ln w="12700">
            <a:solidFill>
              <a:srgbClr val="76B900">
                <a:alpha val="0"/>
              </a:srgbClr>
            </a:solidFill>
            <a:prstDash val="solid"/>
          </a:ln>
        </p:spPr>
      </p:sp>
      <p:sp>
        <p:nvSpPr>
          <p:cNvPr id="38" name="Shape 36"/>
          <p:cNvSpPr/>
          <p:nvPr/>
        </p:nvSpPr>
        <p:spPr>
          <a:xfrm>
            <a:off x="5321808" y="3044952"/>
            <a:ext cx="201168" cy="182880"/>
          </a:xfrm>
          <a:prstGeom prst="rect">
            <a:avLst/>
          </a:prstGeom>
          <a:solidFill>
            <a:srgbClr val="76B900">
              <a:alpha val="74000"/>
            </a:srgbClr>
          </a:solidFill>
          <a:ln w="12700">
            <a:solidFill>
              <a:srgbClr val="76B900">
                <a:alpha val="0"/>
              </a:srgbClr>
            </a:solidFill>
            <a:prstDash val="solid"/>
          </a:ln>
        </p:spPr>
      </p:sp>
      <p:sp>
        <p:nvSpPr>
          <p:cNvPr id="39" name="Shape 37"/>
          <p:cNvSpPr/>
          <p:nvPr/>
        </p:nvSpPr>
        <p:spPr>
          <a:xfrm>
            <a:off x="5605272" y="3044952"/>
            <a:ext cx="201168" cy="182880"/>
          </a:xfrm>
          <a:prstGeom prst="rect">
            <a:avLst/>
          </a:prstGeom>
          <a:solidFill>
            <a:srgbClr val="76B900">
              <a:alpha val="58000"/>
            </a:srgbClr>
          </a:solidFill>
          <a:ln w="12700">
            <a:solidFill>
              <a:srgbClr val="76B900">
                <a:alpha val="0"/>
              </a:srgbClr>
            </a:solidFill>
            <a:prstDash val="solid"/>
          </a:ln>
        </p:spPr>
      </p:sp>
      <p:sp>
        <p:nvSpPr>
          <p:cNvPr id="40" name="Shape 38"/>
          <p:cNvSpPr/>
          <p:nvPr/>
        </p:nvSpPr>
        <p:spPr>
          <a:xfrm>
            <a:off x="5888736" y="3044952"/>
            <a:ext cx="201168" cy="182880"/>
          </a:xfrm>
          <a:prstGeom prst="rect">
            <a:avLst/>
          </a:prstGeom>
          <a:solidFill>
            <a:srgbClr val="76B900">
              <a:alpha val="90000"/>
            </a:srgbClr>
          </a:solidFill>
          <a:ln w="12700">
            <a:solidFill>
              <a:srgbClr val="76B900">
                <a:alpha val="0"/>
              </a:srgbClr>
            </a:solidFill>
            <a:prstDash val="solid"/>
          </a:ln>
        </p:spPr>
      </p:sp>
      <p:sp>
        <p:nvSpPr>
          <p:cNvPr id="41" name="Shape 39"/>
          <p:cNvSpPr/>
          <p:nvPr/>
        </p:nvSpPr>
        <p:spPr>
          <a:xfrm>
            <a:off x="6172200" y="3044952"/>
            <a:ext cx="201168" cy="182880"/>
          </a:xfrm>
          <a:prstGeom prst="rect">
            <a:avLst/>
          </a:prstGeom>
          <a:solidFill>
            <a:srgbClr val="76B900">
              <a:alpha val="74000"/>
            </a:srgbClr>
          </a:solidFill>
          <a:ln w="12700">
            <a:solidFill>
              <a:srgbClr val="76B900">
                <a:alpha val="0"/>
              </a:srgbClr>
            </a:solidFill>
            <a:prstDash val="solid"/>
          </a:ln>
        </p:spPr>
      </p:sp>
      <p:sp>
        <p:nvSpPr>
          <p:cNvPr id="42" name="Shape 40"/>
          <p:cNvSpPr/>
          <p:nvPr/>
        </p:nvSpPr>
        <p:spPr>
          <a:xfrm>
            <a:off x="6455664" y="3044952"/>
            <a:ext cx="201168" cy="182880"/>
          </a:xfrm>
          <a:prstGeom prst="rect">
            <a:avLst/>
          </a:prstGeom>
          <a:solidFill>
            <a:srgbClr val="76B900">
              <a:alpha val="58000"/>
            </a:srgbClr>
          </a:solidFill>
          <a:ln w="12700">
            <a:solidFill>
              <a:srgbClr val="76B900">
                <a:alpha val="0"/>
              </a:srgbClr>
            </a:solidFill>
            <a:prstDash val="solid"/>
          </a:ln>
        </p:spPr>
      </p:sp>
      <p:sp>
        <p:nvSpPr>
          <p:cNvPr id="43" name="Shape 41"/>
          <p:cNvSpPr/>
          <p:nvPr/>
        </p:nvSpPr>
        <p:spPr>
          <a:xfrm>
            <a:off x="7315200" y="2395728"/>
            <a:ext cx="2057400" cy="1024128"/>
          </a:xfrm>
          <a:prstGeom prst="roundRect">
            <a:avLst>
              <a:gd name="adj" fmla="val 3571"/>
            </a:avLst>
          </a:prstGeom>
          <a:solidFill>
            <a:srgbClr val="14241A"/>
          </a:solidFill>
          <a:ln w="12700">
            <a:solidFill>
              <a:srgbClr val="76B900"/>
            </a:solidFill>
            <a:prstDash val="solid"/>
          </a:ln>
        </p:spPr>
      </p:sp>
      <p:sp>
        <p:nvSpPr>
          <p:cNvPr id="44" name="Text 42"/>
          <p:cNvSpPr/>
          <p:nvPr/>
        </p:nvSpPr>
        <p:spPr>
          <a:xfrm>
            <a:off x="7424928" y="2505456"/>
            <a:ext cx="658368" cy="164592"/>
          </a:xfrm>
          <a:prstGeom prst="rect">
            <a:avLst/>
          </a:prstGeom>
          <a:noFill/>
          <a:ln/>
        </p:spPr>
        <p:txBody>
          <a:bodyPr wrap="square" lIns="0" tIns="0" rIns="0" bIns="0" rtlCol="0" anchor="ctr">
            <a:noAutofit/>
          </a:bodyPr>
          <a:lstStyle/>
          <a:p>
            <a:pPr marL="0" indent="0">
              <a:buNone/>
            </a:pPr>
            <a:r>
              <a:rPr lang="en-US" sz="1050" b="1" dirty="0">
                <a:solidFill>
                  <a:srgbClr val="76B900"/>
                </a:solidFill>
              </a:rPr>
              <a:t>Block 1</a:t>
            </a:r>
            <a:endParaRPr lang="en-US" sz="1050" dirty="0"/>
          </a:p>
        </p:txBody>
      </p:sp>
      <p:sp>
        <p:nvSpPr>
          <p:cNvPr id="45" name="Shape 43"/>
          <p:cNvSpPr/>
          <p:nvPr/>
        </p:nvSpPr>
        <p:spPr>
          <a:xfrm>
            <a:off x="7461504" y="2779776"/>
            <a:ext cx="201168" cy="182880"/>
          </a:xfrm>
          <a:prstGeom prst="rect">
            <a:avLst/>
          </a:prstGeom>
          <a:solidFill>
            <a:srgbClr val="76B900">
              <a:alpha val="90000"/>
            </a:srgbClr>
          </a:solidFill>
          <a:ln w="12700">
            <a:solidFill>
              <a:srgbClr val="76B900">
                <a:alpha val="0"/>
              </a:srgbClr>
            </a:solidFill>
            <a:prstDash val="solid"/>
          </a:ln>
        </p:spPr>
      </p:sp>
      <p:sp>
        <p:nvSpPr>
          <p:cNvPr id="46" name="Shape 44"/>
          <p:cNvSpPr/>
          <p:nvPr/>
        </p:nvSpPr>
        <p:spPr>
          <a:xfrm>
            <a:off x="7744968" y="2779776"/>
            <a:ext cx="201168" cy="182880"/>
          </a:xfrm>
          <a:prstGeom prst="rect">
            <a:avLst/>
          </a:prstGeom>
          <a:solidFill>
            <a:srgbClr val="76B900">
              <a:alpha val="74000"/>
            </a:srgbClr>
          </a:solidFill>
          <a:ln w="12700">
            <a:solidFill>
              <a:srgbClr val="76B900">
                <a:alpha val="0"/>
              </a:srgbClr>
            </a:solidFill>
            <a:prstDash val="solid"/>
          </a:ln>
        </p:spPr>
      </p:sp>
      <p:sp>
        <p:nvSpPr>
          <p:cNvPr id="47" name="Shape 45"/>
          <p:cNvSpPr/>
          <p:nvPr/>
        </p:nvSpPr>
        <p:spPr>
          <a:xfrm>
            <a:off x="8028432" y="2779776"/>
            <a:ext cx="201168" cy="182880"/>
          </a:xfrm>
          <a:prstGeom prst="rect">
            <a:avLst/>
          </a:prstGeom>
          <a:solidFill>
            <a:srgbClr val="76B900">
              <a:alpha val="58000"/>
            </a:srgbClr>
          </a:solidFill>
          <a:ln w="12700">
            <a:solidFill>
              <a:srgbClr val="76B900">
                <a:alpha val="0"/>
              </a:srgbClr>
            </a:solidFill>
            <a:prstDash val="solid"/>
          </a:ln>
        </p:spPr>
      </p:sp>
      <p:sp>
        <p:nvSpPr>
          <p:cNvPr id="48" name="Shape 46"/>
          <p:cNvSpPr/>
          <p:nvPr/>
        </p:nvSpPr>
        <p:spPr>
          <a:xfrm>
            <a:off x="8311896" y="2779776"/>
            <a:ext cx="201168" cy="182880"/>
          </a:xfrm>
          <a:prstGeom prst="rect">
            <a:avLst/>
          </a:prstGeom>
          <a:solidFill>
            <a:srgbClr val="76B900">
              <a:alpha val="90000"/>
            </a:srgbClr>
          </a:solidFill>
          <a:ln w="12700">
            <a:solidFill>
              <a:srgbClr val="76B900">
                <a:alpha val="0"/>
              </a:srgbClr>
            </a:solidFill>
            <a:prstDash val="solid"/>
          </a:ln>
        </p:spPr>
      </p:sp>
      <p:sp>
        <p:nvSpPr>
          <p:cNvPr id="49" name="Shape 47"/>
          <p:cNvSpPr/>
          <p:nvPr/>
        </p:nvSpPr>
        <p:spPr>
          <a:xfrm>
            <a:off x="8595360" y="2779776"/>
            <a:ext cx="201168" cy="182880"/>
          </a:xfrm>
          <a:prstGeom prst="rect">
            <a:avLst/>
          </a:prstGeom>
          <a:solidFill>
            <a:srgbClr val="76B900">
              <a:alpha val="74000"/>
            </a:srgbClr>
          </a:solidFill>
          <a:ln w="12700">
            <a:solidFill>
              <a:srgbClr val="76B900">
                <a:alpha val="0"/>
              </a:srgbClr>
            </a:solidFill>
            <a:prstDash val="solid"/>
          </a:ln>
        </p:spPr>
      </p:sp>
      <p:sp>
        <p:nvSpPr>
          <p:cNvPr id="50" name="Shape 48"/>
          <p:cNvSpPr/>
          <p:nvPr/>
        </p:nvSpPr>
        <p:spPr>
          <a:xfrm>
            <a:off x="8878824" y="2779776"/>
            <a:ext cx="201168" cy="182880"/>
          </a:xfrm>
          <a:prstGeom prst="rect">
            <a:avLst/>
          </a:prstGeom>
          <a:solidFill>
            <a:srgbClr val="76B900">
              <a:alpha val="58000"/>
            </a:srgbClr>
          </a:solidFill>
          <a:ln w="12700">
            <a:solidFill>
              <a:srgbClr val="76B900">
                <a:alpha val="0"/>
              </a:srgbClr>
            </a:solidFill>
            <a:prstDash val="solid"/>
          </a:ln>
        </p:spPr>
      </p:sp>
      <p:sp>
        <p:nvSpPr>
          <p:cNvPr id="51" name="Shape 49"/>
          <p:cNvSpPr/>
          <p:nvPr/>
        </p:nvSpPr>
        <p:spPr>
          <a:xfrm>
            <a:off x="7461504" y="3044952"/>
            <a:ext cx="201168" cy="182880"/>
          </a:xfrm>
          <a:prstGeom prst="rect">
            <a:avLst/>
          </a:prstGeom>
          <a:solidFill>
            <a:srgbClr val="76B900">
              <a:alpha val="90000"/>
            </a:srgbClr>
          </a:solidFill>
          <a:ln w="12700">
            <a:solidFill>
              <a:srgbClr val="76B900">
                <a:alpha val="0"/>
              </a:srgbClr>
            </a:solidFill>
            <a:prstDash val="solid"/>
          </a:ln>
        </p:spPr>
      </p:sp>
      <p:sp>
        <p:nvSpPr>
          <p:cNvPr id="52" name="Shape 50"/>
          <p:cNvSpPr/>
          <p:nvPr/>
        </p:nvSpPr>
        <p:spPr>
          <a:xfrm>
            <a:off x="7744968" y="3044952"/>
            <a:ext cx="201168" cy="182880"/>
          </a:xfrm>
          <a:prstGeom prst="rect">
            <a:avLst/>
          </a:prstGeom>
          <a:solidFill>
            <a:srgbClr val="76B900">
              <a:alpha val="74000"/>
            </a:srgbClr>
          </a:solidFill>
          <a:ln w="12700">
            <a:solidFill>
              <a:srgbClr val="76B900">
                <a:alpha val="0"/>
              </a:srgbClr>
            </a:solidFill>
            <a:prstDash val="solid"/>
          </a:ln>
        </p:spPr>
      </p:sp>
      <p:sp>
        <p:nvSpPr>
          <p:cNvPr id="53" name="Shape 51"/>
          <p:cNvSpPr/>
          <p:nvPr/>
        </p:nvSpPr>
        <p:spPr>
          <a:xfrm>
            <a:off x="8028432" y="3044952"/>
            <a:ext cx="201168" cy="182880"/>
          </a:xfrm>
          <a:prstGeom prst="rect">
            <a:avLst/>
          </a:prstGeom>
          <a:solidFill>
            <a:srgbClr val="76B900">
              <a:alpha val="58000"/>
            </a:srgbClr>
          </a:solidFill>
          <a:ln w="12700">
            <a:solidFill>
              <a:srgbClr val="76B900">
                <a:alpha val="0"/>
              </a:srgbClr>
            </a:solidFill>
            <a:prstDash val="solid"/>
          </a:ln>
        </p:spPr>
      </p:sp>
      <p:sp>
        <p:nvSpPr>
          <p:cNvPr id="54" name="Shape 52"/>
          <p:cNvSpPr/>
          <p:nvPr/>
        </p:nvSpPr>
        <p:spPr>
          <a:xfrm>
            <a:off x="8311896" y="3044952"/>
            <a:ext cx="201168" cy="182880"/>
          </a:xfrm>
          <a:prstGeom prst="rect">
            <a:avLst/>
          </a:prstGeom>
          <a:solidFill>
            <a:srgbClr val="76B900">
              <a:alpha val="90000"/>
            </a:srgbClr>
          </a:solidFill>
          <a:ln w="12700">
            <a:solidFill>
              <a:srgbClr val="76B900">
                <a:alpha val="0"/>
              </a:srgbClr>
            </a:solidFill>
            <a:prstDash val="solid"/>
          </a:ln>
        </p:spPr>
      </p:sp>
      <p:sp>
        <p:nvSpPr>
          <p:cNvPr id="55" name="Shape 53"/>
          <p:cNvSpPr/>
          <p:nvPr/>
        </p:nvSpPr>
        <p:spPr>
          <a:xfrm>
            <a:off x="8595360" y="3044952"/>
            <a:ext cx="201168" cy="182880"/>
          </a:xfrm>
          <a:prstGeom prst="rect">
            <a:avLst/>
          </a:prstGeom>
          <a:solidFill>
            <a:srgbClr val="76B900">
              <a:alpha val="74000"/>
            </a:srgbClr>
          </a:solidFill>
          <a:ln w="12700">
            <a:solidFill>
              <a:srgbClr val="76B900">
                <a:alpha val="0"/>
              </a:srgbClr>
            </a:solidFill>
            <a:prstDash val="solid"/>
          </a:ln>
        </p:spPr>
      </p:sp>
      <p:sp>
        <p:nvSpPr>
          <p:cNvPr id="56" name="Shape 54"/>
          <p:cNvSpPr/>
          <p:nvPr/>
        </p:nvSpPr>
        <p:spPr>
          <a:xfrm>
            <a:off x="8878824" y="3044952"/>
            <a:ext cx="201168" cy="182880"/>
          </a:xfrm>
          <a:prstGeom prst="rect">
            <a:avLst/>
          </a:prstGeom>
          <a:solidFill>
            <a:srgbClr val="76B900">
              <a:alpha val="58000"/>
            </a:srgbClr>
          </a:solidFill>
          <a:ln w="12700">
            <a:solidFill>
              <a:srgbClr val="76B900">
                <a:alpha val="0"/>
              </a:srgbClr>
            </a:solidFill>
            <a:prstDash val="solid"/>
          </a:ln>
        </p:spPr>
      </p:sp>
      <p:sp>
        <p:nvSpPr>
          <p:cNvPr id="57" name="Shape 55"/>
          <p:cNvSpPr/>
          <p:nvPr/>
        </p:nvSpPr>
        <p:spPr>
          <a:xfrm>
            <a:off x="4892040" y="3730752"/>
            <a:ext cx="2057400" cy="1024128"/>
          </a:xfrm>
          <a:prstGeom prst="roundRect">
            <a:avLst>
              <a:gd name="adj" fmla="val 3571"/>
            </a:avLst>
          </a:prstGeom>
          <a:solidFill>
            <a:srgbClr val="14241A"/>
          </a:solidFill>
          <a:ln w="12700">
            <a:solidFill>
              <a:srgbClr val="76B900"/>
            </a:solidFill>
            <a:prstDash val="solid"/>
          </a:ln>
        </p:spPr>
      </p:sp>
      <p:sp>
        <p:nvSpPr>
          <p:cNvPr id="58" name="Text 56"/>
          <p:cNvSpPr/>
          <p:nvPr/>
        </p:nvSpPr>
        <p:spPr>
          <a:xfrm>
            <a:off x="5001768" y="3840480"/>
            <a:ext cx="658368" cy="164592"/>
          </a:xfrm>
          <a:prstGeom prst="rect">
            <a:avLst/>
          </a:prstGeom>
          <a:noFill/>
          <a:ln/>
        </p:spPr>
        <p:txBody>
          <a:bodyPr wrap="square" lIns="0" tIns="0" rIns="0" bIns="0" rtlCol="0" anchor="ctr">
            <a:noAutofit/>
          </a:bodyPr>
          <a:lstStyle/>
          <a:p>
            <a:pPr marL="0" indent="0">
              <a:buNone/>
            </a:pPr>
            <a:r>
              <a:rPr lang="en-US" sz="1050" b="1" dirty="0">
                <a:solidFill>
                  <a:srgbClr val="76B900"/>
                </a:solidFill>
              </a:rPr>
              <a:t>Block 2</a:t>
            </a:r>
            <a:endParaRPr lang="en-US" sz="1050" dirty="0"/>
          </a:p>
        </p:txBody>
      </p:sp>
      <p:sp>
        <p:nvSpPr>
          <p:cNvPr id="59" name="Shape 57"/>
          <p:cNvSpPr/>
          <p:nvPr/>
        </p:nvSpPr>
        <p:spPr>
          <a:xfrm>
            <a:off x="5038344" y="4114800"/>
            <a:ext cx="201168" cy="182880"/>
          </a:xfrm>
          <a:prstGeom prst="rect">
            <a:avLst/>
          </a:prstGeom>
          <a:solidFill>
            <a:srgbClr val="76B900">
              <a:alpha val="90000"/>
            </a:srgbClr>
          </a:solidFill>
          <a:ln w="12700">
            <a:solidFill>
              <a:srgbClr val="76B900">
                <a:alpha val="0"/>
              </a:srgbClr>
            </a:solidFill>
            <a:prstDash val="solid"/>
          </a:ln>
        </p:spPr>
      </p:sp>
      <p:sp>
        <p:nvSpPr>
          <p:cNvPr id="60" name="Shape 58"/>
          <p:cNvSpPr/>
          <p:nvPr/>
        </p:nvSpPr>
        <p:spPr>
          <a:xfrm>
            <a:off x="5321808" y="4114800"/>
            <a:ext cx="201168" cy="182880"/>
          </a:xfrm>
          <a:prstGeom prst="rect">
            <a:avLst/>
          </a:prstGeom>
          <a:solidFill>
            <a:srgbClr val="76B900">
              <a:alpha val="74000"/>
            </a:srgbClr>
          </a:solidFill>
          <a:ln w="12700">
            <a:solidFill>
              <a:srgbClr val="76B900">
                <a:alpha val="0"/>
              </a:srgbClr>
            </a:solidFill>
            <a:prstDash val="solid"/>
          </a:ln>
        </p:spPr>
      </p:sp>
      <p:sp>
        <p:nvSpPr>
          <p:cNvPr id="61" name="Shape 59"/>
          <p:cNvSpPr/>
          <p:nvPr/>
        </p:nvSpPr>
        <p:spPr>
          <a:xfrm>
            <a:off x="5605272" y="4114800"/>
            <a:ext cx="201168" cy="182880"/>
          </a:xfrm>
          <a:prstGeom prst="rect">
            <a:avLst/>
          </a:prstGeom>
          <a:solidFill>
            <a:srgbClr val="76B900">
              <a:alpha val="58000"/>
            </a:srgbClr>
          </a:solidFill>
          <a:ln w="12700">
            <a:solidFill>
              <a:srgbClr val="76B900">
                <a:alpha val="0"/>
              </a:srgbClr>
            </a:solidFill>
            <a:prstDash val="solid"/>
          </a:ln>
        </p:spPr>
      </p:sp>
      <p:sp>
        <p:nvSpPr>
          <p:cNvPr id="62" name="Shape 60"/>
          <p:cNvSpPr/>
          <p:nvPr/>
        </p:nvSpPr>
        <p:spPr>
          <a:xfrm>
            <a:off x="5888736" y="4114800"/>
            <a:ext cx="201168" cy="182880"/>
          </a:xfrm>
          <a:prstGeom prst="rect">
            <a:avLst/>
          </a:prstGeom>
          <a:solidFill>
            <a:srgbClr val="76B900">
              <a:alpha val="90000"/>
            </a:srgbClr>
          </a:solidFill>
          <a:ln w="12700">
            <a:solidFill>
              <a:srgbClr val="76B900">
                <a:alpha val="0"/>
              </a:srgbClr>
            </a:solidFill>
            <a:prstDash val="solid"/>
          </a:ln>
        </p:spPr>
      </p:sp>
      <p:sp>
        <p:nvSpPr>
          <p:cNvPr id="63" name="Shape 61"/>
          <p:cNvSpPr/>
          <p:nvPr/>
        </p:nvSpPr>
        <p:spPr>
          <a:xfrm>
            <a:off x="6172200" y="4114800"/>
            <a:ext cx="201168" cy="182880"/>
          </a:xfrm>
          <a:prstGeom prst="rect">
            <a:avLst/>
          </a:prstGeom>
          <a:solidFill>
            <a:srgbClr val="76B900">
              <a:alpha val="74000"/>
            </a:srgbClr>
          </a:solidFill>
          <a:ln w="12700">
            <a:solidFill>
              <a:srgbClr val="76B900">
                <a:alpha val="0"/>
              </a:srgbClr>
            </a:solidFill>
            <a:prstDash val="solid"/>
          </a:ln>
        </p:spPr>
      </p:sp>
      <p:sp>
        <p:nvSpPr>
          <p:cNvPr id="64" name="Shape 62"/>
          <p:cNvSpPr/>
          <p:nvPr/>
        </p:nvSpPr>
        <p:spPr>
          <a:xfrm>
            <a:off x="6455664" y="4114800"/>
            <a:ext cx="201168" cy="182880"/>
          </a:xfrm>
          <a:prstGeom prst="rect">
            <a:avLst/>
          </a:prstGeom>
          <a:solidFill>
            <a:srgbClr val="76B900">
              <a:alpha val="58000"/>
            </a:srgbClr>
          </a:solidFill>
          <a:ln w="12700">
            <a:solidFill>
              <a:srgbClr val="76B900">
                <a:alpha val="0"/>
              </a:srgbClr>
            </a:solidFill>
            <a:prstDash val="solid"/>
          </a:ln>
        </p:spPr>
      </p:sp>
      <p:sp>
        <p:nvSpPr>
          <p:cNvPr id="65" name="Shape 63"/>
          <p:cNvSpPr/>
          <p:nvPr/>
        </p:nvSpPr>
        <p:spPr>
          <a:xfrm>
            <a:off x="5038344" y="4379976"/>
            <a:ext cx="201168" cy="182880"/>
          </a:xfrm>
          <a:prstGeom prst="rect">
            <a:avLst/>
          </a:prstGeom>
          <a:solidFill>
            <a:srgbClr val="76B900">
              <a:alpha val="90000"/>
            </a:srgbClr>
          </a:solidFill>
          <a:ln w="12700">
            <a:solidFill>
              <a:srgbClr val="76B900">
                <a:alpha val="0"/>
              </a:srgbClr>
            </a:solidFill>
            <a:prstDash val="solid"/>
          </a:ln>
        </p:spPr>
      </p:sp>
      <p:sp>
        <p:nvSpPr>
          <p:cNvPr id="66" name="Shape 64"/>
          <p:cNvSpPr/>
          <p:nvPr/>
        </p:nvSpPr>
        <p:spPr>
          <a:xfrm>
            <a:off x="5321808" y="4379976"/>
            <a:ext cx="201168" cy="182880"/>
          </a:xfrm>
          <a:prstGeom prst="rect">
            <a:avLst/>
          </a:prstGeom>
          <a:solidFill>
            <a:srgbClr val="76B900">
              <a:alpha val="74000"/>
            </a:srgbClr>
          </a:solidFill>
          <a:ln w="12700">
            <a:solidFill>
              <a:srgbClr val="76B900">
                <a:alpha val="0"/>
              </a:srgbClr>
            </a:solidFill>
            <a:prstDash val="solid"/>
          </a:ln>
        </p:spPr>
      </p:sp>
      <p:sp>
        <p:nvSpPr>
          <p:cNvPr id="67" name="Shape 65"/>
          <p:cNvSpPr/>
          <p:nvPr/>
        </p:nvSpPr>
        <p:spPr>
          <a:xfrm>
            <a:off x="5605272" y="4379976"/>
            <a:ext cx="201168" cy="182880"/>
          </a:xfrm>
          <a:prstGeom prst="rect">
            <a:avLst/>
          </a:prstGeom>
          <a:solidFill>
            <a:srgbClr val="76B900">
              <a:alpha val="58000"/>
            </a:srgbClr>
          </a:solidFill>
          <a:ln w="12700">
            <a:solidFill>
              <a:srgbClr val="76B900">
                <a:alpha val="0"/>
              </a:srgbClr>
            </a:solidFill>
            <a:prstDash val="solid"/>
          </a:ln>
        </p:spPr>
      </p:sp>
      <p:sp>
        <p:nvSpPr>
          <p:cNvPr id="68" name="Shape 66"/>
          <p:cNvSpPr/>
          <p:nvPr/>
        </p:nvSpPr>
        <p:spPr>
          <a:xfrm>
            <a:off x="5888736" y="4379976"/>
            <a:ext cx="201168" cy="182880"/>
          </a:xfrm>
          <a:prstGeom prst="rect">
            <a:avLst/>
          </a:prstGeom>
          <a:solidFill>
            <a:srgbClr val="76B900">
              <a:alpha val="90000"/>
            </a:srgbClr>
          </a:solidFill>
          <a:ln w="12700">
            <a:solidFill>
              <a:srgbClr val="76B900">
                <a:alpha val="0"/>
              </a:srgbClr>
            </a:solidFill>
            <a:prstDash val="solid"/>
          </a:ln>
        </p:spPr>
      </p:sp>
      <p:sp>
        <p:nvSpPr>
          <p:cNvPr id="69" name="Shape 67"/>
          <p:cNvSpPr/>
          <p:nvPr/>
        </p:nvSpPr>
        <p:spPr>
          <a:xfrm>
            <a:off x="6172200" y="4379976"/>
            <a:ext cx="201168" cy="182880"/>
          </a:xfrm>
          <a:prstGeom prst="rect">
            <a:avLst/>
          </a:prstGeom>
          <a:solidFill>
            <a:srgbClr val="76B900">
              <a:alpha val="74000"/>
            </a:srgbClr>
          </a:solidFill>
          <a:ln w="12700">
            <a:solidFill>
              <a:srgbClr val="76B900">
                <a:alpha val="0"/>
              </a:srgbClr>
            </a:solidFill>
            <a:prstDash val="solid"/>
          </a:ln>
        </p:spPr>
      </p:sp>
      <p:sp>
        <p:nvSpPr>
          <p:cNvPr id="70" name="Shape 68"/>
          <p:cNvSpPr/>
          <p:nvPr/>
        </p:nvSpPr>
        <p:spPr>
          <a:xfrm>
            <a:off x="6455664" y="4379976"/>
            <a:ext cx="201168" cy="182880"/>
          </a:xfrm>
          <a:prstGeom prst="rect">
            <a:avLst/>
          </a:prstGeom>
          <a:solidFill>
            <a:srgbClr val="76B900">
              <a:alpha val="58000"/>
            </a:srgbClr>
          </a:solidFill>
          <a:ln w="12700">
            <a:solidFill>
              <a:srgbClr val="76B900">
                <a:alpha val="0"/>
              </a:srgbClr>
            </a:solidFill>
            <a:prstDash val="solid"/>
          </a:ln>
        </p:spPr>
      </p:sp>
      <p:sp>
        <p:nvSpPr>
          <p:cNvPr id="71" name="Shape 69"/>
          <p:cNvSpPr/>
          <p:nvPr/>
        </p:nvSpPr>
        <p:spPr>
          <a:xfrm>
            <a:off x="7315200" y="3730752"/>
            <a:ext cx="2057400" cy="1024128"/>
          </a:xfrm>
          <a:prstGeom prst="roundRect">
            <a:avLst>
              <a:gd name="adj" fmla="val 3571"/>
            </a:avLst>
          </a:prstGeom>
          <a:solidFill>
            <a:srgbClr val="14241A"/>
          </a:solidFill>
          <a:ln w="12700">
            <a:solidFill>
              <a:srgbClr val="76B900"/>
            </a:solidFill>
            <a:prstDash val="solid"/>
          </a:ln>
        </p:spPr>
      </p:sp>
      <p:sp>
        <p:nvSpPr>
          <p:cNvPr id="72" name="Text 70"/>
          <p:cNvSpPr/>
          <p:nvPr/>
        </p:nvSpPr>
        <p:spPr>
          <a:xfrm>
            <a:off x="7424928" y="3840480"/>
            <a:ext cx="658368" cy="164592"/>
          </a:xfrm>
          <a:prstGeom prst="rect">
            <a:avLst/>
          </a:prstGeom>
          <a:noFill/>
          <a:ln/>
        </p:spPr>
        <p:txBody>
          <a:bodyPr wrap="square" lIns="0" tIns="0" rIns="0" bIns="0" rtlCol="0" anchor="ctr">
            <a:noAutofit/>
          </a:bodyPr>
          <a:lstStyle/>
          <a:p>
            <a:pPr marL="0" indent="0">
              <a:buNone/>
            </a:pPr>
            <a:r>
              <a:rPr lang="en-US" sz="1050" b="1" dirty="0">
                <a:solidFill>
                  <a:srgbClr val="76B900"/>
                </a:solidFill>
              </a:rPr>
              <a:t>Block 3</a:t>
            </a:r>
            <a:endParaRPr lang="en-US" sz="1050" dirty="0"/>
          </a:p>
        </p:txBody>
      </p:sp>
      <p:sp>
        <p:nvSpPr>
          <p:cNvPr id="73" name="Shape 71"/>
          <p:cNvSpPr/>
          <p:nvPr/>
        </p:nvSpPr>
        <p:spPr>
          <a:xfrm>
            <a:off x="7461504" y="4114800"/>
            <a:ext cx="201168" cy="182880"/>
          </a:xfrm>
          <a:prstGeom prst="rect">
            <a:avLst/>
          </a:prstGeom>
          <a:solidFill>
            <a:srgbClr val="76B900">
              <a:alpha val="90000"/>
            </a:srgbClr>
          </a:solidFill>
          <a:ln w="12700">
            <a:solidFill>
              <a:srgbClr val="76B900">
                <a:alpha val="0"/>
              </a:srgbClr>
            </a:solidFill>
            <a:prstDash val="solid"/>
          </a:ln>
        </p:spPr>
      </p:sp>
      <p:sp>
        <p:nvSpPr>
          <p:cNvPr id="74" name="Shape 72"/>
          <p:cNvSpPr/>
          <p:nvPr/>
        </p:nvSpPr>
        <p:spPr>
          <a:xfrm>
            <a:off x="7744968" y="4114800"/>
            <a:ext cx="201168" cy="182880"/>
          </a:xfrm>
          <a:prstGeom prst="rect">
            <a:avLst/>
          </a:prstGeom>
          <a:solidFill>
            <a:srgbClr val="76B900">
              <a:alpha val="74000"/>
            </a:srgbClr>
          </a:solidFill>
          <a:ln w="12700">
            <a:solidFill>
              <a:srgbClr val="76B900">
                <a:alpha val="0"/>
              </a:srgbClr>
            </a:solidFill>
            <a:prstDash val="solid"/>
          </a:ln>
        </p:spPr>
      </p:sp>
      <p:sp>
        <p:nvSpPr>
          <p:cNvPr id="75" name="Shape 73"/>
          <p:cNvSpPr/>
          <p:nvPr/>
        </p:nvSpPr>
        <p:spPr>
          <a:xfrm>
            <a:off x="8028432" y="4114800"/>
            <a:ext cx="201168" cy="182880"/>
          </a:xfrm>
          <a:prstGeom prst="rect">
            <a:avLst/>
          </a:prstGeom>
          <a:solidFill>
            <a:srgbClr val="76B900">
              <a:alpha val="58000"/>
            </a:srgbClr>
          </a:solidFill>
          <a:ln w="12700">
            <a:solidFill>
              <a:srgbClr val="76B900">
                <a:alpha val="0"/>
              </a:srgbClr>
            </a:solidFill>
            <a:prstDash val="solid"/>
          </a:ln>
        </p:spPr>
      </p:sp>
      <p:sp>
        <p:nvSpPr>
          <p:cNvPr id="76" name="Shape 74"/>
          <p:cNvSpPr/>
          <p:nvPr/>
        </p:nvSpPr>
        <p:spPr>
          <a:xfrm>
            <a:off x="8311896" y="4114800"/>
            <a:ext cx="201168" cy="182880"/>
          </a:xfrm>
          <a:prstGeom prst="rect">
            <a:avLst/>
          </a:prstGeom>
          <a:solidFill>
            <a:srgbClr val="76B900">
              <a:alpha val="90000"/>
            </a:srgbClr>
          </a:solidFill>
          <a:ln w="12700">
            <a:solidFill>
              <a:srgbClr val="76B900">
                <a:alpha val="0"/>
              </a:srgbClr>
            </a:solidFill>
            <a:prstDash val="solid"/>
          </a:ln>
        </p:spPr>
      </p:sp>
      <p:sp>
        <p:nvSpPr>
          <p:cNvPr id="77" name="Shape 75"/>
          <p:cNvSpPr/>
          <p:nvPr/>
        </p:nvSpPr>
        <p:spPr>
          <a:xfrm>
            <a:off x="8595360" y="4114800"/>
            <a:ext cx="201168" cy="182880"/>
          </a:xfrm>
          <a:prstGeom prst="rect">
            <a:avLst/>
          </a:prstGeom>
          <a:solidFill>
            <a:srgbClr val="76B900">
              <a:alpha val="74000"/>
            </a:srgbClr>
          </a:solidFill>
          <a:ln w="12700">
            <a:solidFill>
              <a:srgbClr val="76B900">
                <a:alpha val="0"/>
              </a:srgbClr>
            </a:solidFill>
            <a:prstDash val="solid"/>
          </a:ln>
        </p:spPr>
      </p:sp>
      <p:sp>
        <p:nvSpPr>
          <p:cNvPr id="78" name="Shape 76"/>
          <p:cNvSpPr/>
          <p:nvPr/>
        </p:nvSpPr>
        <p:spPr>
          <a:xfrm>
            <a:off x="8878824" y="4114800"/>
            <a:ext cx="201168" cy="182880"/>
          </a:xfrm>
          <a:prstGeom prst="rect">
            <a:avLst/>
          </a:prstGeom>
          <a:solidFill>
            <a:srgbClr val="76B900">
              <a:alpha val="58000"/>
            </a:srgbClr>
          </a:solidFill>
          <a:ln w="12700">
            <a:solidFill>
              <a:srgbClr val="76B900">
                <a:alpha val="0"/>
              </a:srgbClr>
            </a:solidFill>
            <a:prstDash val="solid"/>
          </a:ln>
        </p:spPr>
      </p:sp>
      <p:sp>
        <p:nvSpPr>
          <p:cNvPr id="79" name="Shape 77"/>
          <p:cNvSpPr/>
          <p:nvPr/>
        </p:nvSpPr>
        <p:spPr>
          <a:xfrm>
            <a:off x="7461504" y="4379976"/>
            <a:ext cx="201168" cy="182880"/>
          </a:xfrm>
          <a:prstGeom prst="rect">
            <a:avLst/>
          </a:prstGeom>
          <a:solidFill>
            <a:srgbClr val="76B900">
              <a:alpha val="90000"/>
            </a:srgbClr>
          </a:solidFill>
          <a:ln w="12700">
            <a:solidFill>
              <a:srgbClr val="76B900">
                <a:alpha val="0"/>
              </a:srgbClr>
            </a:solidFill>
            <a:prstDash val="solid"/>
          </a:ln>
        </p:spPr>
      </p:sp>
      <p:sp>
        <p:nvSpPr>
          <p:cNvPr id="80" name="Shape 78"/>
          <p:cNvSpPr/>
          <p:nvPr/>
        </p:nvSpPr>
        <p:spPr>
          <a:xfrm>
            <a:off x="7744968" y="4379976"/>
            <a:ext cx="201168" cy="182880"/>
          </a:xfrm>
          <a:prstGeom prst="rect">
            <a:avLst/>
          </a:prstGeom>
          <a:solidFill>
            <a:srgbClr val="76B900">
              <a:alpha val="74000"/>
            </a:srgbClr>
          </a:solidFill>
          <a:ln w="12700">
            <a:solidFill>
              <a:srgbClr val="76B900">
                <a:alpha val="0"/>
              </a:srgbClr>
            </a:solidFill>
            <a:prstDash val="solid"/>
          </a:ln>
        </p:spPr>
      </p:sp>
      <p:sp>
        <p:nvSpPr>
          <p:cNvPr id="81" name="Shape 79"/>
          <p:cNvSpPr/>
          <p:nvPr/>
        </p:nvSpPr>
        <p:spPr>
          <a:xfrm>
            <a:off x="8028432" y="4379976"/>
            <a:ext cx="201168" cy="182880"/>
          </a:xfrm>
          <a:prstGeom prst="rect">
            <a:avLst/>
          </a:prstGeom>
          <a:solidFill>
            <a:srgbClr val="76B900">
              <a:alpha val="58000"/>
            </a:srgbClr>
          </a:solidFill>
          <a:ln w="12700">
            <a:solidFill>
              <a:srgbClr val="76B900">
                <a:alpha val="0"/>
              </a:srgbClr>
            </a:solidFill>
            <a:prstDash val="solid"/>
          </a:ln>
        </p:spPr>
      </p:sp>
      <p:sp>
        <p:nvSpPr>
          <p:cNvPr id="82" name="Shape 80"/>
          <p:cNvSpPr/>
          <p:nvPr/>
        </p:nvSpPr>
        <p:spPr>
          <a:xfrm>
            <a:off x="8311896" y="4379976"/>
            <a:ext cx="201168" cy="182880"/>
          </a:xfrm>
          <a:prstGeom prst="rect">
            <a:avLst/>
          </a:prstGeom>
          <a:solidFill>
            <a:srgbClr val="76B900">
              <a:alpha val="90000"/>
            </a:srgbClr>
          </a:solidFill>
          <a:ln w="12700">
            <a:solidFill>
              <a:srgbClr val="76B900">
                <a:alpha val="0"/>
              </a:srgbClr>
            </a:solidFill>
            <a:prstDash val="solid"/>
          </a:ln>
        </p:spPr>
      </p:sp>
      <p:sp>
        <p:nvSpPr>
          <p:cNvPr id="83" name="Shape 81"/>
          <p:cNvSpPr/>
          <p:nvPr/>
        </p:nvSpPr>
        <p:spPr>
          <a:xfrm>
            <a:off x="8595360" y="4379976"/>
            <a:ext cx="201168" cy="182880"/>
          </a:xfrm>
          <a:prstGeom prst="rect">
            <a:avLst/>
          </a:prstGeom>
          <a:solidFill>
            <a:srgbClr val="76B900">
              <a:alpha val="74000"/>
            </a:srgbClr>
          </a:solidFill>
          <a:ln w="12700">
            <a:solidFill>
              <a:srgbClr val="76B900">
                <a:alpha val="0"/>
              </a:srgbClr>
            </a:solidFill>
            <a:prstDash val="solid"/>
          </a:ln>
        </p:spPr>
      </p:sp>
      <p:sp>
        <p:nvSpPr>
          <p:cNvPr id="84" name="Shape 82"/>
          <p:cNvSpPr/>
          <p:nvPr/>
        </p:nvSpPr>
        <p:spPr>
          <a:xfrm>
            <a:off x="8878824" y="4379976"/>
            <a:ext cx="201168" cy="182880"/>
          </a:xfrm>
          <a:prstGeom prst="rect">
            <a:avLst/>
          </a:prstGeom>
          <a:solidFill>
            <a:srgbClr val="76B900">
              <a:alpha val="58000"/>
            </a:srgbClr>
          </a:solidFill>
          <a:ln w="12700">
            <a:solidFill>
              <a:srgbClr val="76B900">
                <a:alpha val="0"/>
              </a:srgbClr>
            </a:solidFill>
            <a:prstDash val="solid"/>
          </a:ln>
        </p:spPr>
      </p:sp>
      <p:sp>
        <p:nvSpPr>
          <p:cNvPr id="85" name="Text 83"/>
          <p:cNvSpPr/>
          <p:nvPr/>
        </p:nvSpPr>
        <p:spPr>
          <a:xfrm>
            <a:off x="4892040" y="5175504"/>
            <a:ext cx="4114800" cy="274320"/>
          </a:xfrm>
          <a:prstGeom prst="rect">
            <a:avLst/>
          </a:prstGeom>
          <a:noFill/>
          <a:ln/>
        </p:spPr>
        <p:txBody>
          <a:bodyPr wrap="square" lIns="0" tIns="0" rIns="0" bIns="0" rtlCol="0" anchor="ctr">
            <a:noAutofit/>
          </a:bodyPr>
          <a:lstStyle/>
          <a:p>
            <a:pPr marL="0" indent="0">
              <a:buNone/>
            </a:pPr>
            <a:r>
              <a:rPr lang="en-US" sz="1350" b="1">
                <a:solidFill>
                  <a:srgbClr val="F4F7FA"/>
                </a:solidFill>
              </a:rPr>
              <a:t>One output per thread; 256 threads per block.</a:t>
            </a:r>
            <a:endParaRPr lang="en-US" sz="1350" dirty="0"/>
          </a:p>
        </p:txBody>
      </p:sp>
      <p:sp>
        <p:nvSpPr>
          <p:cNvPr id="86" name="Text 84"/>
          <p:cNvSpPr/>
          <p:nvPr/>
        </p:nvSpPr>
        <p:spPr>
          <a:xfrm>
            <a:off x="9464040" y="2029968"/>
            <a:ext cx="1234440" cy="219456"/>
          </a:xfrm>
          <a:prstGeom prst="rect">
            <a:avLst/>
          </a:prstGeom>
          <a:noFill/>
          <a:ln/>
        </p:spPr>
        <p:txBody>
          <a:bodyPr wrap="square" lIns="0" tIns="0" rIns="0" bIns="0" rtlCol="0" anchor="ctr">
            <a:noAutofit/>
          </a:bodyPr>
          <a:lstStyle/>
          <a:p>
            <a:pPr marL="0" indent="0">
              <a:buNone/>
            </a:pPr>
            <a:r>
              <a:rPr lang="en-US" sz="1350" b="1" dirty="0">
                <a:solidFill>
                  <a:srgbClr val="F4F7FA"/>
                </a:solidFill>
              </a:rPr>
              <a:t>Memory</a:t>
            </a:r>
            <a:endParaRPr lang="en-US" sz="1350" dirty="0"/>
          </a:p>
        </p:txBody>
      </p:sp>
      <p:sp>
        <p:nvSpPr>
          <p:cNvPr id="87" name="Shape 85"/>
          <p:cNvSpPr/>
          <p:nvPr/>
        </p:nvSpPr>
        <p:spPr>
          <a:xfrm>
            <a:off x="9464040" y="2487168"/>
            <a:ext cx="1463040" cy="530352"/>
          </a:xfrm>
          <a:prstGeom prst="roundRect">
            <a:avLst>
              <a:gd name="adj" fmla="val 6897"/>
            </a:avLst>
          </a:prstGeom>
          <a:solidFill>
            <a:srgbClr val="76B900">
              <a:alpha val="58000"/>
            </a:srgbClr>
          </a:solidFill>
          <a:ln w="12700">
            <a:solidFill>
              <a:srgbClr val="76B900"/>
            </a:solidFill>
            <a:prstDash val="solid"/>
          </a:ln>
        </p:spPr>
      </p:sp>
      <p:sp>
        <p:nvSpPr>
          <p:cNvPr id="88" name="Text 86"/>
          <p:cNvSpPr/>
          <p:nvPr/>
        </p:nvSpPr>
        <p:spPr>
          <a:xfrm>
            <a:off x="9573768" y="2615184"/>
            <a:ext cx="731520" cy="146304"/>
          </a:xfrm>
          <a:prstGeom prst="rect">
            <a:avLst/>
          </a:prstGeom>
          <a:noFill/>
          <a:ln/>
        </p:spPr>
        <p:txBody>
          <a:bodyPr wrap="square" lIns="0" tIns="0" rIns="0" bIns="0" rtlCol="0" anchor="ctr">
            <a:noAutofit/>
          </a:bodyPr>
          <a:lstStyle/>
          <a:p>
            <a:pPr marL="0" indent="0">
              <a:buNone/>
            </a:pPr>
            <a:r>
              <a:rPr lang="en-US" sz="1100" b="1" dirty="0">
                <a:solidFill>
                  <a:srgbClr val="F4F7FA"/>
                </a:solidFill>
              </a:rPr>
              <a:t>Registers</a:t>
            </a:r>
            <a:endParaRPr lang="en-US" sz="1100" dirty="0"/>
          </a:p>
        </p:txBody>
      </p:sp>
      <p:sp>
        <p:nvSpPr>
          <p:cNvPr id="89" name="Text 87"/>
          <p:cNvSpPr/>
          <p:nvPr/>
        </p:nvSpPr>
        <p:spPr>
          <a:xfrm>
            <a:off x="10204704" y="2615184"/>
            <a:ext cx="594360" cy="146304"/>
          </a:xfrm>
          <a:prstGeom prst="rect">
            <a:avLst/>
          </a:prstGeom>
          <a:noFill/>
          <a:ln/>
        </p:spPr>
        <p:txBody>
          <a:bodyPr wrap="square" lIns="0" tIns="0" rIns="0" bIns="0" rtlCol="0" anchor="ctr">
            <a:noAutofit/>
          </a:bodyPr>
          <a:lstStyle/>
          <a:p>
            <a:pPr marL="0" indent="0" algn="r">
              <a:buNone/>
            </a:pPr>
            <a:r>
              <a:rPr lang="en-US" sz="950" dirty="0">
                <a:solidFill>
                  <a:srgbClr val="7E8A97"/>
                </a:solidFill>
              </a:rPr>
              <a:t>fastest</a:t>
            </a:r>
            <a:endParaRPr lang="en-US" sz="950" dirty="0"/>
          </a:p>
        </p:txBody>
      </p:sp>
      <p:sp>
        <p:nvSpPr>
          <p:cNvPr id="90" name="Shape 88"/>
          <p:cNvSpPr/>
          <p:nvPr/>
        </p:nvSpPr>
        <p:spPr>
          <a:xfrm>
            <a:off x="9464040" y="3273552"/>
            <a:ext cx="1463040" cy="530352"/>
          </a:xfrm>
          <a:prstGeom prst="roundRect">
            <a:avLst>
              <a:gd name="adj" fmla="val 6897"/>
            </a:avLst>
          </a:prstGeom>
          <a:solidFill>
            <a:srgbClr val="A78BFA">
              <a:alpha val="58000"/>
            </a:srgbClr>
          </a:solidFill>
          <a:ln w="12700">
            <a:solidFill>
              <a:srgbClr val="A78BFA"/>
            </a:solidFill>
            <a:prstDash val="solid"/>
          </a:ln>
        </p:spPr>
      </p:sp>
      <p:sp>
        <p:nvSpPr>
          <p:cNvPr id="91" name="Text 89"/>
          <p:cNvSpPr/>
          <p:nvPr/>
        </p:nvSpPr>
        <p:spPr>
          <a:xfrm>
            <a:off x="9573768" y="3401568"/>
            <a:ext cx="731520" cy="146304"/>
          </a:xfrm>
          <a:prstGeom prst="rect">
            <a:avLst/>
          </a:prstGeom>
          <a:noFill/>
          <a:ln/>
        </p:spPr>
        <p:txBody>
          <a:bodyPr wrap="square" lIns="0" tIns="0" rIns="0" bIns="0" rtlCol="0" anchor="ctr">
            <a:noAutofit/>
          </a:bodyPr>
          <a:lstStyle/>
          <a:p>
            <a:pPr marL="0" indent="0">
              <a:buNone/>
            </a:pPr>
            <a:r>
              <a:rPr lang="en-US" sz="1100" b="1" dirty="0">
                <a:solidFill>
                  <a:srgbClr val="F4F7FA"/>
                </a:solidFill>
              </a:rPr>
              <a:t>Shared</a:t>
            </a:r>
            <a:endParaRPr lang="en-US" sz="1100" dirty="0"/>
          </a:p>
        </p:txBody>
      </p:sp>
      <p:sp>
        <p:nvSpPr>
          <p:cNvPr id="92" name="Text 90"/>
          <p:cNvSpPr/>
          <p:nvPr/>
        </p:nvSpPr>
        <p:spPr>
          <a:xfrm>
            <a:off x="10204704" y="3401568"/>
            <a:ext cx="594360" cy="146304"/>
          </a:xfrm>
          <a:prstGeom prst="rect">
            <a:avLst/>
          </a:prstGeom>
          <a:noFill/>
          <a:ln/>
        </p:spPr>
        <p:txBody>
          <a:bodyPr wrap="square" lIns="0" tIns="0" rIns="0" bIns="0" rtlCol="0" anchor="ctr">
            <a:noAutofit/>
          </a:bodyPr>
          <a:lstStyle/>
          <a:p>
            <a:pPr marL="0" indent="0" algn="r">
              <a:buNone/>
            </a:pPr>
            <a:r>
              <a:rPr lang="en-US" sz="950" dirty="0">
                <a:solidFill>
                  <a:srgbClr val="7E8A97"/>
                </a:solidFill>
              </a:rPr>
              <a:t>per block</a:t>
            </a:r>
            <a:endParaRPr lang="en-US" sz="950" dirty="0"/>
          </a:p>
        </p:txBody>
      </p:sp>
      <p:sp>
        <p:nvSpPr>
          <p:cNvPr id="93" name="Shape 91"/>
          <p:cNvSpPr/>
          <p:nvPr/>
        </p:nvSpPr>
        <p:spPr>
          <a:xfrm>
            <a:off x="9464040" y="4059936"/>
            <a:ext cx="1463040" cy="530352"/>
          </a:xfrm>
          <a:prstGeom prst="roundRect">
            <a:avLst>
              <a:gd name="adj" fmla="val 6897"/>
            </a:avLst>
          </a:prstGeom>
          <a:solidFill>
            <a:srgbClr val="FFB454">
              <a:alpha val="58000"/>
            </a:srgbClr>
          </a:solidFill>
          <a:ln w="12700">
            <a:solidFill>
              <a:srgbClr val="FFB454"/>
            </a:solidFill>
            <a:prstDash val="solid"/>
          </a:ln>
        </p:spPr>
      </p:sp>
      <p:sp>
        <p:nvSpPr>
          <p:cNvPr id="94" name="Text 92"/>
          <p:cNvSpPr/>
          <p:nvPr/>
        </p:nvSpPr>
        <p:spPr>
          <a:xfrm>
            <a:off x="9573768" y="4187952"/>
            <a:ext cx="731520" cy="146304"/>
          </a:xfrm>
          <a:prstGeom prst="rect">
            <a:avLst/>
          </a:prstGeom>
          <a:noFill/>
          <a:ln/>
        </p:spPr>
        <p:txBody>
          <a:bodyPr wrap="square" lIns="0" tIns="0" rIns="0" bIns="0" rtlCol="0" anchor="ctr">
            <a:noAutofit/>
          </a:bodyPr>
          <a:lstStyle/>
          <a:p>
            <a:pPr marL="0" indent="0">
              <a:buNone/>
            </a:pPr>
            <a:r>
              <a:rPr lang="en-US" sz="1100" b="1" dirty="0">
                <a:solidFill>
                  <a:srgbClr val="F4F7FA"/>
                </a:solidFill>
              </a:rPr>
              <a:t>Global</a:t>
            </a:r>
            <a:endParaRPr lang="en-US" sz="1100" dirty="0"/>
          </a:p>
        </p:txBody>
      </p:sp>
      <p:sp>
        <p:nvSpPr>
          <p:cNvPr id="95" name="Text 93"/>
          <p:cNvSpPr/>
          <p:nvPr/>
        </p:nvSpPr>
        <p:spPr>
          <a:xfrm>
            <a:off x="10204704" y="4187952"/>
            <a:ext cx="594360" cy="146304"/>
          </a:xfrm>
          <a:prstGeom prst="rect">
            <a:avLst/>
          </a:prstGeom>
          <a:noFill/>
          <a:ln/>
        </p:spPr>
        <p:txBody>
          <a:bodyPr wrap="square" lIns="0" tIns="0" rIns="0" bIns="0" rtlCol="0" anchor="ctr">
            <a:noAutofit/>
          </a:bodyPr>
          <a:lstStyle/>
          <a:p>
            <a:pPr marL="0" indent="0" algn="r">
              <a:buNone/>
            </a:pPr>
            <a:r>
              <a:rPr lang="en-US" sz="950" dirty="0">
                <a:solidFill>
                  <a:srgbClr val="7E8A97"/>
                </a:solidFill>
              </a:rPr>
              <a:t>large</a:t>
            </a:r>
            <a:endParaRPr lang="en-US" sz="950" dirty="0"/>
          </a:p>
        </p:txBody>
      </p:sp>
      <p:sp>
        <p:nvSpPr>
          <p:cNvPr id="96" name="Text 94"/>
          <p:cNvSpPr/>
          <p:nvPr/>
        </p:nvSpPr>
        <p:spPr>
          <a:xfrm>
            <a:off x="4892040" y="5623560"/>
            <a:ext cx="5943600" cy="420624"/>
          </a:xfrm>
          <a:prstGeom prst="rect">
            <a:avLst/>
          </a:prstGeom>
          <a:noFill/>
          <a:ln/>
        </p:spPr>
        <p:txBody>
          <a:bodyPr wrap="square" lIns="0" tIns="0" rIns="0" bIns="0" rtlCol="0" anchor="ctr">
            <a:noAutofit/>
          </a:bodyPr>
          <a:lstStyle/>
          <a:p>
            <a:pPr marL="0" indent="0">
              <a:buNone/>
            </a:pPr>
            <a:r>
              <a:rPr lang="en-US" sz="1450" b="1">
                <a:solidFill>
                  <a:srgbClr val="A3E635"/>
                </a:solidFill>
              </a:rPr>
              <a:t>CUDA exposes concurrent work; shared-memory reuse is an optimization to test.</a:t>
            </a:r>
            <a:endParaRPr lang="en-US" sz="1450" dirty="0"/>
          </a:p>
        </p:txBody>
      </p:sp>
      <p:sp>
        <p:nvSpPr>
          <p:cNvPr id="97"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CUDA kernels in the CNN program</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dirty="0">
                <a:solidFill>
                  <a:srgbClr val="7E8A97"/>
                </a:solidFill>
              </a:rPr>
              <a:t>A kernel is the GPU function executed by many threads. We map CNN operations to kernels, then choose how much control to keep.</a:t>
            </a:r>
            <a:endParaRPr lang="en-US" sz="1150" dirty="0"/>
          </a:p>
        </p:txBody>
      </p:sp>
      <p:sp>
        <p:nvSpPr>
          <p:cNvPr id="4" name="Shape 2"/>
          <p:cNvSpPr/>
          <p:nvPr/>
        </p:nvSpPr>
        <p:spPr>
          <a:xfrm>
            <a:off x="9966960" y="347472"/>
            <a:ext cx="1600200" cy="384048"/>
          </a:xfrm>
          <a:prstGeom prst="roundRect">
            <a:avLst>
              <a:gd name="adj" fmla="val 19048"/>
            </a:avLst>
          </a:prstGeom>
          <a:solidFill>
            <a:srgbClr val="76B900">
              <a:alpha val="16000"/>
            </a:srgbClr>
          </a:solidFill>
          <a:ln w="12700">
            <a:solidFill>
              <a:srgbClr val="76B900">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76B900"/>
                </a:solidFill>
              </a:rPr>
              <a:t>SATYA · PERSON 2</a:t>
            </a:r>
            <a:endParaRPr lang="en-US" sz="950" dirty="0"/>
          </a:p>
        </p:txBody>
      </p:sp>
      <p:sp>
        <p:nvSpPr>
          <p:cNvPr id="6" name="Shape 4"/>
          <p:cNvSpPr/>
          <p:nvPr/>
        </p:nvSpPr>
        <p:spPr>
          <a:xfrm>
            <a:off x="603504" y="1225296"/>
            <a:ext cx="10972800" cy="1883664"/>
          </a:xfrm>
          <a:prstGeom prst="roundRect">
            <a:avLst>
              <a:gd name="adj" fmla="val 3883"/>
            </a:avLst>
          </a:prstGeom>
          <a:solidFill>
            <a:srgbClr val="121923"/>
          </a:solidFill>
          <a:ln w="12700">
            <a:solidFill>
              <a:srgbClr val="25303D"/>
            </a:solidFill>
            <a:prstDash val="solid"/>
          </a:ln>
        </p:spPr>
      </p:sp>
      <p:sp>
        <p:nvSpPr>
          <p:cNvPr id="7" name="Shape 5"/>
          <p:cNvSpPr/>
          <p:nvPr/>
        </p:nvSpPr>
        <p:spPr>
          <a:xfrm>
            <a:off x="868680" y="1755648"/>
            <a:ext cx="1243584" cy="658368"/>
          </a:xfrm>
          <a:prstGeom prst="roundRect">
            <a:avLst>
              <a:gd name="adj" fmla="val 8333"/>
            </a:avLst>
          </a:prstGeom>
          <a:solidFill>
            <a:srgbClr val="41D9FF">
              <a:alpha val="70000"/>
            </a:srgbClr>
          </a:solidFill>
          <a:ln w="15240">
            <a:solidFill>
              <a:srgbClr val="41D9FF"/>
            </a:solidFill>
            <a:prstDash val="solid"/>
          </a:ln>
        </p:spPr>
      </p:sp>
      <p:sp>
        <p:nvSpPr>
          <p:cNvPr id="8" name="Text 6"/>
          <p:cNvSpPr/>
          <p:nvPr/>
        </p:nvSpPr>
        <p:spPr>
          <a:xfrm>
            <a:off x="868680"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INPUT</a:t>
            </a:r>
            <a:endParaRPr lang="en-US" sz="1200" dirty="0"/>
          </a:p>
        </p:txBody>
      </p:sp>
      <p:sp>
        <p:nvSpPr>
          <p:cNvPr id="9" name="Shape 7"/>
          <p:cNvSpPr/>
          <p:nvPr/>
        </p:nvSpPr>
        <p:spPr>
          <a:xfrm>
            <a:off x="2157984" y="2084832"/>
            <a:ext cx="338328" cy="0"/>
          </a:xfrm>
          <a:prstGeom prst="line">
            <a:avLst/>
          </a:prstGeom>
          <a:noFill/>
          <a:ln w="19050">
            <a:solidFill>
              <a:srgbClr val="7E8A97"/>
            </a:solidFill>
            <a:prstDash val="solid"/>
            <a:headEnd type="none"/>
            <a:tailEnd type="triangle"/>
          </a:ln>
        </p:spPr>
      </p:sp>
      <p:sp>
        <p:nvSpPr>
          <p:cNvPr id="10" name="Shape 8"/>
          <p:cNvSpPr/>
          <p:nvPr/>
        </p:nvSpPr>
        <p:spPr>
          <a:xfrm>
            <a:off x="2624328" y="1755648"/>
            <a:ext cx="1243584" cy="658368"/>
          </a:xfrm>
          <a:prstGeom prst="roundRect">
            <a:avLst>
              <a:gd name="adj" fmla="val 8333"/>
            </a:avLst>
          </a:prstGeom>
          <a:solidFill>
            <a:srgbClr val="76B900">
              <a:alpha val="70000"/>
            </a:srgbClr>
          </a:solidFill>
          <a:ln w="15240">
            <a:solidFill>
              <a:srgbClr val="76B900"/>
            </a:solidFill>
            <a:prstDash val="solid"/>
          </a:ln>
        </p:spPr>
      </p:sp>
      <p:sp>
        <p:nvSpPr>
          <p:cNvPr id="11" name="Text 9"/>
          <p:cNvSpPr/>
          <p:nvPr/>
        </p:nvSpPr>
        <p:spPr>
          <a:xfrm>
            <a:off x="2624328"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CONV</a:t>
            </a:r>
            <a:endParaRPr lang="en-US" sz="1200" dirty="0"/>
          </a:p>
        </p:txBody>
      </p:sp>
      <p:sp>
        <p:nvSpPr>
          <p:cNvPr id="12" name="Shape 10"/>
          <p:cNvSpPr/>
          <p:nvPr/>
        </p:nvSpPr>
        <p:spPr>
          <a:xfrm>
            <a:off x="3913632" y="2084832"/>
            <a:ext cx="338328" cy="0"/>
          </a:xfrm>
          <a:prstGeom prst="line">
            <a:avLst/>
          </a:prstGeom>
          <a:noFill/>
          <a:ln w="19050">
            <a:solidFill>
              <a:srgbClr val="7E8A97"/>
            </a:solidFill>
            <a:prstDash val="solid"/>
            <a:headEnd type="none"/>
            <a:tailEnd type="triangle"/>
          </a:ln>
        </p:spPr>
      </p:sp>
      <p:sp>
        <p:nvSpPr>
          <p:cNvPr id="13" name="Shape 11"/>
          <p:cNvSpPr/>
          <p:nvPr/>
        </p:nvSpPr>
        <p:spPr>
          <a:xfrm>
            <a:off x="4379976" y="1755648"/>
            <a:ext cx="1243584" cy="658368"/>
          </a:xfrm>
          <a:prstGeom prst="roundRect">
            <a:avLst>
              <a:gd name="adj" fmla="val 8333"/>
            </a:avLst>
          </a:prstGeom>
          <a:solidFill>
            <a:srgbClr val="A78BFA">
              <a:alpha val="70000"/>
            </a:srgbClr>
          </a:solidFill>
          <a:ln w="15240">
            <a:solidFill>
              <a:srgbClr val="A78BFA"/>
            </a:solidFill>
            <a:prstDash val="solid"/>
          </a:ln>
        </p:spPr>
      </p:sp>
      <p:sp>
        <p:nvSpPr>
          <p:cNvPr id="14" name="Text 12"/>
          <p:cNvSpPr/>
          <p:nvPr/>
        </p:nvSpPr>
        <p:spPr>
          <a:xfrm>
            <a:off x="4379976"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ReLU</a:t>
            </a:r>
            <a:endParaRPr lang="en-US" sz="1200" dirty="0"/>
          </a:p>
        </p:txBody>
      </p:sp>
      <p:sp>
        <p:nvSpPr>
          <p:cNvPr id="15" name="Shape 13"/>
          <p:cNvSpPr/>
          <p:nvPr/>
        </p:nvSpPr>
        <p:spPr>
          <a:xfrm>
            <a:off x="5669280" y="2084832"/>
            <a:ext cx="338328" cy="0"/>
          </a:xfrm>
          <a:prstGeom prst="line">
            <a:avLst/>
          </a:prstGeom>
          <a:noFill/>
          <a:ln w="19050">
            <a:solidFill>
              <a:srgbClr val="7E8A97"/>
            </a:solidFill>
            <a:prstDash val="solid"/>
            <a:headEnd type="none"/>
            <a:tailEnd type="triangle"/>
          </a:ln>
        </p:spPr>
      </p:sp>
      <p:sp>
        <p:nvSpPr>
          <p:cNvPr id="16" name="Shape 14"/>
          <p:cNvSpPr/>
          <p:nvPr/>
        </p:nvSpPr>
        <p:spPr>
          <a:xfrm>
            <a:off x="6135624" y="1755648"/>
            <a:ext cx="1243584" cy="658368"/>
          </a:xfrm>
          <a:prstGeom prst="roundRect">
            <a:avLst>
              <a:gd name="adj" fmla="val 8333"/>
            </a:avLst>
          </a:prstGeom>
          <a:solidFill>
            <a:srgbClr val="FFB454">
              <a:alpha val="70000"/>
            </a:srgbClr>
          </a:solidFill>
          <a:ln w="15240">
            <a:solidFill>
              <a:srgbClr val="FFB454"/>
            </a:solidFill>
            <a:prstDash val="solid"/>
          </a:ln>
        </p:spPr>
      </p:sp>
      <p:sp>
        <p:nvSpPr>
          <p:cNvPr id="17" name="Text 15"/>
          <p:cNvSpPr/>
          <p:nvPr/>
        </p:nvSpPr>
        <p:spPr>
          <a:xfrm>
            <a:off x="6135624"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POOL</a:t>
            </a:r>
            <a:endParaRPr lang="en-US" sz="1200" dirty="0"/>
          </a:p>
        </p:txBody>
      </p:sp>
      <p:sp>
        <p:nvSpPr>
          <p:cNvPr id="18" name="Shape 16"/>
          <p:cNvSpPr/>
          <p:nvPr/>
        </p:nvSpPr>
        <p:spPr>
          <a:xfrm>
            <a:off x="7424928" y="2084832"/>
            <a:ext cx="338328" cy="0"/>
          </a:xfrm>
          <a:prstGeom prst="line">
            <a:avLst/>
          </a:prstGeom>
          <a:noFill/>
          <a:ln w="19050">
            <a:solidFill>
              <a:srgbClr val="7E8A97"/>
            </a:solidFill>
            <a:prstDash val="solid"/>
            <a:headEnd type="none"/>
            <a:tailEnd type="triangle"/>
          </a:ln>
        </p:spPr>
      </p:sp>
      <p:sp>
        <p:nvSpPr>
          <p:cNvPr id="19" name="Shape 17"/>
          <p:cNvSpPr/>
          <p:nvPr/>
        </p:nvSpPr>
        <p:spPr>
          <a:xfrm>
            <a:off x="7891272" y="1755648"/>
            <a:ext cx="1243584" cy="658368"/>
          </a:xfrm>
          <a:prstGeom prst="roundRect">
            <a:avLst>
              <a:gd name="adj" fmla="val 8333"/>
            </a:avLst>
          </a:prstGeom>
          <a:solidFill>
            <a:srgbClr val="F9D65C">
              <a:alpha val="70000"/>
            </a:srgbClr>
          </a:solidFill>
          <a:ln w="15240">
            <a:solidFill>
              <a:srgbClr val="F9D65C"/>
            </a:solidFill>
            <a:prstDash val="solid"/>
          </a:ln>
        </p:spPr>
      </p:sp>
      <p:sp>
        <p:nvSpPr>
          <p:cNvPr id="20" name="Text 18"/>
          <p:cNvSpPr/>
          <p:nvPr/>
        </p:nvSpPr>
        <p:spPr>
          <a:xfrm>
            <a:off x="7891272"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FC</a:t>
            </a:r>
            <a:endParaRPr lang="en-US" sz="1200" dirty="0"/>
          </a:p>
        </p:txBody>
      </p:sp>
      <p:sp>
        <p:nvSpPr>
          <p:cNvPr id="21" name="Shape 19"/>
          <p:cNvSpPr/>
          <p:nvPr/>
        </p:nvSpPr>
        <p:spPr>
          <a:xfrm>
            <a:off x="9180576" y="2084832"/>
            <a:ext cx="338328" cy="0"/>
          </a:xfrm>
          <a:prstGeom prst="line">
            <a:avLst/>
          </a:prstGeom>
          <a:noFill/>
          <a:ln w="19050">
            <a:solidFill>
              <a:srgbClr val="7E8A97"/>
            </a:solidFill>
            <a:prstDash val="solid"/>
            <a:headEnd type="none"/>
            <a:tailEnd type="triangle"/>
          </a:ln>
        </p:spPr>
      </p:sp>
      <p:sp>
        <p:nvSpPr>
          <p:cNvPr id="22" name="Shape 20"/>
          <p:cNvSpPr/>
          <p:nvPr/>
        </p:nvSpPr>
        <p:spPr>
          <a:xfrm>
            <a:off x="9646920" y="1755648"/>
            <a:ext cx="1243584" cy="658368"/>
          </a:xfrm>
          <a:prstGeom prst="roundRect">
            <a:avLst>
              <a:gd name="adj" fmla="val 8333"/>
            </a:avLst>
          </a:prstGeom>
          <a:solidFill>
            <a:srgbClr val="41D9FF">
              <a:alpha val="70000"/>
            </a:srgbClr>
          </a:solidFill>
          <a:ln w="15240">
            <a:solidFill>
              <a:srgbClr val="41D9FF"/>
            </a:solidFill>
            <a:prstDash val="solid"/>
          </a:ln>
        </p:spPr>
      </p:sp>
      <p:sp>
        <p:nvSpPr>
          <p:cNvPr id="23" name="Text 21"/>
          <p:cNvSpPr/>
          <p:nvPr/>
        </p:nvSpPr>
        <p:spPr>
          <a:xfrm>
            <a:off x="9646920" y="1956816"/>
            <a:ext cx="1243584" cy="201168"/>
          </a:xfrm>
          <a:prstGeom prst="rect">
            <a:avLst/>
          </a:prstGeom>
          <a:noFill/>
          <a:ln/>
        </p:spPr>
        <p:txBody>
          <a:bodyPr wrap="square" lIns="0" tIns="0" rIns="0" bIns="0" rtlCol="0" anchor="ctr">
            <a:noAutofit/>
          </a:bodyPr>
          <a:lstStyle/>
          <a:p>
            <a:pPr marL="0" indent="0" algn="ctr">
              <a:buNone/>
            </a:pPr>
            <a:r>
              <a:rPr lang="en-US" sz="1200" b="1" dirty="0">
                <a:solidFill>
                  <a:srgbClr val="F4F7FA"/>
                </a:solidFill>
              </a:rPr>
              <a:t>OUTPUT</a:t>
            </a:r>
            <a:endParaRPr lang="en-US" sz="1200" dirty="0"/>
          </a:p>
        </p:txBody>
      </p:sp>
      <p:sp>
        <p:nvSpPr>
          <p:cNvPr id="24" name="Text 22"/>
          <p:cNvSpPr/>
          <p:nvPr/>
        </p:nvSpPr>
        <p:spPr>
          <a:xfrm>
            <a:off x="886968" y="2633472"/>
            <a:ext cx="7589520" cy="274320"/>
          </a:xfrm>
          <a:prstGeom prst="rect">
            <a:avLst/>
          </a:prstGeom>
          <a:noFill/>
          <a:ln/>
        </p:spPr>
        <p:txBody>
          <a:bodyPr wrap="square" lIns="0" tIns="0" rIns="0" bIns="0" rtlCol="0" anchor="ctr">
            <a:noAutofit/>
          </a:bodyPr>
          <a:lstStyle/>
          <a:p>
            <a:pPr marL="0" indent="0">
              <a:buNone/>
            </a:pPr>
            <a:r>
              <a:rPr lang="en-US" sz="1160">
                <a:solidFill>
                  <a:srgbClr val="7E8A97"/>
                </a:solidFill>
              </a:rPr>
              <a:t>Same model, data, loss and SGD. Custom kernels replace convolution forward and backward.</a:t>
            </a:r>
            <a:endParaRPr lang="en-US" sz="1160" dirty="0"/>
          </a:p>
        </p:txBody>
      </p:sp>
      <p:sp>
        <p:nvSpPr>
          <p:cNvPr id="25" name="Shape 23"/>
          <p:cNvSpPr/>
          <p:nvPr/>
        </p:nvSpPr>
        <p:spPr>
          <a:xfrm>
            <a:off x="603504" y="3346704"/>
            <a:ext cx="5074920" cy="2871216"/>
          </a:xfrm>
          <a:prstGeom prst="roundRect">
            <a:avLst>
              <a:gd name="adj" fmla="val 2548"/>
            </a:avLst>
          </a:prstGeom>
          <a:solidFill>
            <a:srgbClr val="121923"/>
          </a:solidFill>
          <a:ln w="12700">
            <a:solidFill>
              <a:srgbClr val="25303D"/>
            </a:solidFill>
            <a:prstDash val="solid"/>
          </a:ln>
        </p:spPr>
      </p:sp>
      <p:sp>
        <p:nvSpPr>
          <p:cNvPr id="26" name="Shape 24"/>
          <p:cNvSpPr/>
          <p:nvPr/>
        </p:nvSpPr>
        <p:spPr>
          <a:xfrm>
            <a:off x="868680" y="3621024"/>
            <a:ext cx="169164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27" name="Text 25"/>
          <p:cNvSpPr/>
          <p:nvPr/>
        </p:nvSpPr>
        <p:spPr>
          <a:xfrm>
            <a:off x="868680" y="3698748"/>
            <a:ext cx="169164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CONV KERNEL MAPPING</a:t>
            </a:r>
            <a:endParaRPr lang="en-US" sz="850" dirty="0"/>
          </a:p>
        </p:txBody>
      </p:sp>
      <p:sp>
        <p:nvSpPr>
          <p:cNvPr id="28" name="Text 26"/>
          <p:cNvSpPr/>
          <p:nvPr/>
        </p:nvSpPr>
        <p:spPr>
          <a:xfrm>
            <a:off x="868680" y="4087368"/>
            <a:ext cx="4191000" cy="317500"/>
          </a:xfrm>
          <a:prstGeom prst="rect">
            <a:avLst/>
          </a:prstGeom>
          <a:noFill/>
          <a:ln/>
        </p:spPr>
        <p:txBody>
          <a:bodyPr wrap="square" lIns="0" tIns="0" rIns="0" bIns="0" rtlCol="0" anchor="ctr">
            <a:noAutofit/>
          </a:bodyPr>
          <a:lstStyle/>
          <a:p>
            <a:pPr marL="0" indent="0">
              <a:buNone/>
            </a:pPr>
            <a:r>
              <a:rPr lang="en-US" sz="1550" b="1">
                <a:solidFill>
                  <a:srgbClr val="F4F7FA"/>
                </a:solidFill>
              </a:rPr>
              <a:t>Forward convolution</a:t>
            </a:r>
            <a:endParaRPr lang="en-US" sz="1550" dirty="0"/>
          </a:p>
        </p:txBody>
      </p:sp>
      <p:sp>
        <p:nvSpPr>
          <p:cNvPr id="29" name="Text 27"/>
          <p:cNvSpPr/>
          <p:nvPr/>
        </p:nvSpPr>
        <p:spPr>
          <a:xfrm>
            <a:off x="868680" y="4480560"/>
            <a:ext cx="4160520" cy="1371600"/>
          </a:xfrm>
          <a:prstGeom prst="rect">
            <a:avLst/>
          </a:prstGeom>
          <a:noFill/>
          <a:ln/>
        </p:spPr>
        <p:txBody>
          <a:bodyPr wrap="square" lIns="381" tIns="381" rIns="381" bIns="381" rtlCol="0" anchor="ctr">
            <a:noAutofit/>
          </a:bodyPr>
          <a:lstStyle/>
          <a:p>
            <a:pPr marL="177800" indent="-177800">
              <a:buSzPct val="100000"/>
              <a:buChar char="•"/>
            </a:pPr>
            <a:r>
              <a:rPr lang="en-US" sz="1380">
                <a:solidFill>
                  <a:srgbClr val="C7D0D9"/>
                </a:solidFill>
              </a:rPr>
              <a:t>Thread → one output; 256 threads/block</a:t>
            </a:r>
          </a:p>
          <a:p>
            <a:pPr marL="177800" indent="-177800">
              <a:buSzPct val="100000"/>
              <a:buChar char="•"/>
            </a:pPr>
            <a:r>
              <a:rPr lang="en-US" sz="1380">
                <a:solidFill>
                  <a:srgbClr val="C7D0D9"/>
                </a:solidFill>
              </a:rPr>
              <a:t>Each output sums nine products plus bias</a:t>
            </a:r>
          </a:p>
          <a:p>
            <a:pPr marL="177800" indent="-177800">
              <a:buSzPct val="100000"/>
              <a:buChar char="•"/>
            </a:pPr>
            <a:r>
              <a:rPr lang="en-US" sz="1380">
                <a:solidFill>
                  <a:srgbClr val="C7D0D9"/>
                </a:solidFill>
              </a:rPr>
              <a:t>Tiled variant → 16×16 outputs reuse 18×18 input</a:t>
            </a:r>
            <a:endParaRPr lang="en-US" sz="1380" dirty="0"/>
          </a:p>
        </p:txBody>
      </p:sp>
      <p:sp>
        <p:nvSpPr>
          <p:cNvPr id="30" name="Text 28"/>
          <p:cNvSpPr/>
          <p:nvPr/>
        </p:nvSpPr>
        <p:spPr>
          <a:xfrm>
            <a:off x="868680" y="5788152"/>
            <a:ext cx="4297680" cy="256032"/>
          </a:xfrm>
          <a:prstGeom prst="rect">
            <a:avLst/>
          </a:prstGeom>
          <a:noFill/>
          <a:ln/>
        </p:spPr>
        <p:txBody>
          <a:bodyPr wrap="square" lIns="0" tIns="0" rIns="0" bIns="0" rtlCol="0" anchor="ctr">
            <a:noAutofit/>
          </a:bodyPr>
          <a:lstStyle/>
          <a:p>
            <a:pPr marL="0" indent="0">
              <a:buNone/>
            </a:pPr>
            <a:r>
              <a:rPr lang="en-US" sz="1250" b="1">
                <a:solidFill>
                  <a:srgbClr val="A3E635"/>
                </a:solidFill>
              </a:rPr>
              <a:t>Backward: block reductions sum the weight gradients.</a:t>
            </a:r>
            <a:endParaRPr lang="en-US" sz="1250" dirty="0"/>
          </a:p>
        </p:txBody>
      </p:sp>
      <p:sp>
        <p:nvSpPr>
          <p:cNvPr id="31" name="Shape 29"/>
          <p:cNvSpPr/>
          <p:nvPr/>
        </p:nvSpPr>
        <p:spPr>
          <a:xfrm>
            <a:off x="5897880" y="3346704"/>
            <a:ext cx="5678424" cy="2871216"/>
          </a:xfrm>
          <a:prstGeom prst="roundRect">
            <a:avLst>
              <a:gd name="adj" fmla="val 2548"/>
            </a:avLst>
          </a:prstGeom>
          <a:solidFill>
            <a:srgbClr val="121923"/>
          </a:solidFill>
          <a:ln w="12700">
            <a:solidFill>
              <a:srgbClr val="25303D"/>
            </a:solidFill>
            <a:prstDash val="solid"/>
          </a:ln>
        </p:spPr>
      </p:sp>
      <p:sp>
        <p:nvSpPr>
          <p:cNvPr id="32" name="Shape 30"/>
          <p:cNvSpPr/>
          <p:nvPr/>
        </p:nvSpPr>
        <p:spPr>
          <a:xfrm>
            <a:off x="6172200" y="3621024"/>
            <a:ext cx="1417320" cy="310896"/>
          </a:xfrm>
          <a:prstGeom prst="roundRect">
            <a:avLst>
              <a:gd name="adj" fmla="val 17647"/>
            </a:avLst>
          </a:prstGeom>
          <a:solidFill>
            <a:srgbClr val="41D9FF">
              <a:alpha val="14000"/>
            </a:srgbClr>
          </a:solidFill>
          <a:ln w="12700">
            <a:solidFill>
              <a:srgbClr val="41D9FF">
                <a:alpha val="45000"/>
              </a:srgbClr>
            </a:solidFill>
            <a:prstDash val="solid"/>
          </a:ln>
        </p:spPr>
      </p:sp>
      <p:sp>
        <p:nvSpPr>
          <p:cNvPr id="33" name="Text 31"/>
          <p:cNvSpPr/>
          <p:nvPr/>
        </p:nvSpPr>
        <p:spPr>
          <a:xfrm>
            <a:off x="6172200" y="3698748"/>
            <a:ext cx="141732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41D9FF"/>
                </a:solidFill>
              </a:rPr>
              <a:t>PROGRAM DESIGN</a:t>
            </a:r>
            <a:endParaRPr lang="en-US" sz="850" dirty="0"/>
          </a:p>
        </p:txBody>
      </p:sp>
      <p:sp>
        <p:nvSpPr>
          <p:cNvPr id="34" name="Shape 32"/>
          <p:cNvSpPr/>
          <p:nvPr/>
        </p:nvSpPr>
        <p:spPr>
          <a:xfrm>
            <a:off x="6236208" y="4050792"/>
            <a:ext cx="4754880" cy="493776"/>
          </a:xfrm>
          <a:prstGeom prst="roundRect">
            <a:avLst>
              <a:gd name="adj" fmla="val 9259"/>
            </a:avLst>
          </a:prstGeom>
          <a:solidFill>
            <a:srgbClr val="41D9FF">
              <a:alpha val="23000"/>
            </a:srgbClr>
          </a:solidFill>
          <a:ln w="12700">
            <a:solidFill>
              <a:srgbClr val="41D9FF">
                <a:alpha val="75000"/>
              </a:srgbClr>
            </a:solidFill>
            <a:prstDash val="solid"/>
          </a:ln>
        </p:spPr>
      </p:sp>
      <p:sp>
        <p:nvSpPr>
          <p:cNvPr id="35" name="Text 33"/>
          <p:cNvSpPr/>
          <p:nvPr/>
        </p:nvSpPr>
        <p:spPr>
          <a:xfrm>
            <a:off x="6419088" y="4178808"/>
            <a:ext cx="777240" cy="164592"/>
          </a:xfrm>
          <a:prstGeom prst="rect">
            <a:avLst/>
          </a:prstGeom>
          <a:noFill/>
          <a:ln/>
        </p:spPr>
        <p:txBody>
          <a:bodyPr wrap="square" lIns="0" tIns="0" rIns="0" bIns="0" rtlCol="0" anchor="ctr">
            <a:noAutofit/>
          </a:bodyPr>
          <a:lstStyle/>
          <a:p>
            <a:pPr marL="0" indent="0">
              <a:buNone/>
            </a:pPr>
            <a:r>
              <a:rPr lang="en-US" sz="1200" b="1" dirty="0">
                <a:solidFill>
                  <a:srgbClr val="41D9FF"/>
                </a:solidFill>
              </a:rPr>
              <a:t>PyTorch</a:t>
            </a:r>
            <a:endParaRPr lang="en-US" sz="1200" dirty="0"/>
          </a:p>
        </p:txBody>
      </p:sp>
      <p:sp>
        <p:nvSpPr>
          <p:cNvPr id="36" name="Text 34"/>
          <p:cNvSpPr/>
          <p:nvPr/>
        </p:nvSpPr>
        <p:spPr>
          <a:xfrm>
            <a:off x="7269480" y="4178808"/>
            <a:ext cx="2194560" cy="164592"/>
          </a:xfrm>
          <a:prstGeom prst="rect">
            <a:avLst/>
          </a:prstGeom>
          <a:noFill/>
          <a:ln/>
        </p:spPr>
        <p:txBody>
          <a:bodyPr wrap="square" lIns="0" tIns="0" rIns="0" bIns="0" rtlCol="0" anchor="ctr">
            <a:noAutofit/>
          </a:bodyPr>
          <a:lstStyle/>
          <a:p>
            <a:pPr marL="0" indent="0">
              <a:buNone/>
            </a:pPr>
            <a:r>
              <a:rPr lang="en-US" sz="1070">
                <a:solidFill>
                  <a:srgbClr val="F4F7FA"/>
                </a:solidFill>
              </a:rPr>
              <a:t>Layers, loss, autograd, SGD</a:t>
            </a:r>
            <a:endParaRPr lang="en-US" sz="1070" dirty="0"/>
          </a:p>
        </p:txBody>
      </p:sp>
      <p:sp>
        <p:nvSpPr>
          <p:cNvPr id="37" name="Text 35"/>
          <p:cNvSpPr/>
          <p:nvPr/>
        </p:nvSpPr>
        <p:spPr>
          <a:xfrm>
            <a:off x="9528048" y="4178808"/>
            <a:ext cx="1234440" cy="164592"/>
          </a:xfrm>
          <a:prstGeom prst="rect">
            <a:avLst/>
          </a:prstGeom>
          <a:noFill/>
          <a:ln/>
        </p:spPr>
        <p:txBody>
          <a:bodyPr wrap="square" lIns="0" tIns="0" rIns="0" bIns="0" rtlCol="0" anchor="ctr">
            <a:noAutofit/>
          </a:bodyPr>
          <a:lstStyle/>
          <a:p>
            <a:pPr marL="0" indent="0" algn="r">
              <a:buNone/>
            </a:pPr>
            <a:r>
              <a:rPr lang="en-US" sz="970">
                <a:solidFill>
                  <a:srgbClr val="7E8A97"/>
                </a:solidFill>
              </a:rPr>
              <a:t>shared wrapper</a:t>
            </a:r>
            <a:endParaRPr lang="en-US" sz="970" dirty="0"/>
          </a:p>
        </p:txBody>
      </p:sp>
      <p:sp>
        <p:nvSpPr>
          <p:cNvPr id="38" name="Shape 36"/>
          <p:cNvSpPr/>
          <p:nvPr/>
        </p:nvSpPr>
        <p:spPr>
          <a:xfrm>
            <a:off x="6236208" y="4690872"/>
            <a:ext cx="4754880" cy="493776"/>
          </a:xfrm>
          <a:prstGeom prst="roundRect">
            <a:avLst>
              <a:gd name="adj" fmla="val 9259"/>
            </a:avLst>
          </a:prstGeom>
          <a:solidFill>
            <a:srgbClr val="FFB454">
              <a:alpha val="23000"/>
            </a:srgbClr>
          </a:solidFill>
          <a:ln w="12700">
            <a:solidFill>
              <a:srgbClr val="FFB454">
                <a:alpha val="75000"/>
              </a:srgbClr>
            </a:solidFill>
            <a:prstDash val="solid"/>
          </a:ln>
        </p:spPr>
      </p:sp>
      <p:sp>
        <p:nvSpPr>
          <p:cNvPr id="39" name="Text 37"/>
          <p:cNvSpPr/>
          <p:nvPr/>
        </p:nvSpPr>
        <p:spPr>
          <a:xfrm>
            <a:off x="6419088" y="4818888"/>
            <a:ext cx="777240" cy="164592"/>
          </a:xfrm>
          <a:prstGeom prst="rect">
            <a:avLst/>
          </a:prstGeom>
          <a:noFill/>
          <a:ln/>
        </p:spPr>
        <p:txBody>
          <a:bodyPr wrap="square" lIns="0" tIns="0" rIns="0" bIns="0" rtlCol="0" anchor="ctr">
            <a:noAutofit/>
          </a:bodyPr>
          <a:lstStyle/>
          <a:p>
            <a:pPr marL="0" indent="0">
              <a:buNone/>
            </a:pPr>
            <a:r>
              <a:rPr lang="en-US" sz="1200" b="1" dirty="0">
                <a:solidFill>
                  <a:srgbClr val="FFB454"/>
                </a:solidFill>
              </a:rPr>
              <a:t>cuDNN</a:t>
            </a:r>
            <a:endParaRPr lang="en-US" sz="1200" dirty="0"/>
          </a:p>
        </p:txBody>
      </p:sp>
      <p:sp>
        <p:nvSpPr>
          <p:cNvPr id="40" name="Text 38"/>
          <p:cNvSpPr/>
          <p:nvPr/>
        </p:nvSpPr>
        <p:spPr>
          <a:xfrm>
            <a:off x="7269480" y="4818888"/>
            <a:ext cx="2194560" cy="164592"/>
          </a:xfrm>
          <a:prstGeom prst="rect">
            <a:avLst/>
          </a:prstGeom>
          <a:noFill/>
          <a:ln/>
        </p:spPr>
        <p:txBody>
          <a:bodyPr wrap="square" lIns="0" tIns="0" rIns="0" bIns="0" rtlCol="0" anchor="ctr">
            <a:noAutofit/>
          </a:bodyPr>
          <a:lstStyle/>
          <a:p>
            <a:pPr marL="0" indent="0">
              <a:buNone/>
            </a:pPr>
            <a:r>
              <a:rPr lang="en-US" sz="1070">
                <a:solidFill>
                  <a:srgbClr val="F4F7FA"/>
                </a:solidFill>
              </a:rPr>
              <a:t>Direct library convolution</a:t>
            </a:r>
            <a:endParaRPr lang="en-US" sz="1070" dirty="0"/>
          </a:p>
        </p:txBody>
      </p:sp>
      <p:sp>
        <p:nvSpPr>
          <p:cNvPr id="41" name="Text 39"/>
          <p:cNvSpPr/>
          <p:nvPr/>
        </p:nvSpPr>
        <p:spPr>
          <a:xfrm>
            <a:off x="9528048" y="4818888"/>
            <a:ext cx="1234440" cy="164592"/>
          </a:xfrm>
          <a:prstGeom prst="rect">
            <a:avLst/>
          </a:prstGeom>
          <a:noFill/>
          <a:ln/>
        </p:spPr>
        <p:txBody>
          <a:bodyPr wrap="square" lIns="0" tIns="0" rIns="0" bIns="0" rtlCol="0" anchor="ctr">
            <a:noAutofit/>
          </a:bodyPr>
          <a:lstStyle/>
          <a:p>
            <a:pPr marL="0" indent="0" algn="r">
              <a:buNone/>
            </a:pPr>
            <a:r>
              <a:rPr lang="en-US" sz="970">
                <a:solidFill>
                  <a:srgbClr val="7E8A97"/>
                </a:solidFill>
              </a:rPr>
              <a:t>fixed algorithms</a:t>
            </a:r>
            <a:endParaRPr lang="en-US" sz="970" dirty="0"/>
          </a:p>
        </p:txBody>
      </p:sp>
      <p:sp>
        <p:nvSpPr>
          <p:cNvPr id="42" name="Shape 40"/>
          <p:cNvSpPr/>
          <p:nvPr/>
        </p:nvSpPr>
        <p:spPr>
          <a:xfrm>
            <a:off x="6236208" y="5330952"/>
            <a:ext cx="4754880" cy="493776"/>
          </a:xfrm>
          <a:prstGeom prst="roundRect">
            <a:avLst>
              <a:gd name="adj" fmla="val 9259"/>
            </a:avLst>
          </a:prstGeom>
          <a:solidFill>
            <a:srgbClr val="76B900">
              <a:alpha val="23000"/>
            </a:srgbClr>
          </a:solidFill>
          <a:ln w="12700">
            <a:solidFill>
              <a:srgbClr val="76B900">
                <a:alpha val="75000"/>
              </a:srgbClr>
            </a:solidFill>
            <a:prstDash val="solid"/>
          </a:ln>
        </p:spPr>
      </p:sp>
      <p:sp>
        <p:nvSpPr>
          <p:cNvPr id="43" name="Text 41"/>
          <p:cNvSpPr/>
          <p:nvPr/>
        </p:nvSpPr>
        <p:spPr>
          <a:xfrm>
            <a:off x="6419088" y="5458968"/>
            <a:ext cx="777240" cy="164592"/>
          </a:xfrm>
          <a:prstGeom prst="rect">
            <a:avLst/>
          </a:prstGeom>
          <a:noFill/>
          <a:ln/>
        </p:spPr>
        <p:txBody>
          <a:bodyPr wrap="square" lIns="0" tIns="0" rIns="0" bIns="0" rtlCol="0" anchor="ctr">
            <a:noAutofit/>
          </a:bodyPr>
          <a:lstStyle/>
          <a:p>
            <a:pPr marL="0" indent="0">
              <a:buNone/>
            </a:pPr>
            <a:r>
              <a:rPr lang="en-US" sz="1200" b="1" dirty="0">
                <a:solidFill>
                  <a:srgbClr val="76B900"/>
                </a:solidFill>
              </a:rPr>
              <a:t>CUDA</a:t>
            </a:r>
            <a:endParaRPr lang="en-US" sz="1200" dirty="0"/>
          </a:p>
        </p:txBody>
      </p:sp>
      <p:sp>
        <p:nvSpPr>
          <p:cNvPr id="44" name="Text 42"/>
          <p:cNvSpPr/>
          <p:nvPr/>
        </p:nvSpPr>
        <p:spPr>
          <a:xfrm>
            <a:off x="7269480" y="5458968"/>
            <a:ext cx="2194560" cy="164592"/>
          </a:xfrm>
          <a:prstGeom prst="rect">
            <a:avLst/>
          </a:prstGeom>
          <a:noFill/>
          <a:ln/>
        </p:spPr>
        <p:txBody>
          <a:bodyPr wrap="square" lIns="0" tIns="0" rIns="0" bIns="0" rtlCol="0" anchor="ctr">
            <a:noAutofit/>
          </a:bodyPr>
          <a:lstStyle/>
          <a:p>
            <a:pPr marL="0" indent="0">
              <a:buNone/>
            </a:pPr>
            <a:r>
              <a:rPr lang="en-US" sz="1070">
                <a:solidFill>
                  <a:srgbClr val="F4F7FA"/>
                </a:solidFill>
              </a:rPr>
              <a:t>Custom CUDA convolution</a:t>
            </a:r>
            <a:endParaRPr lang="en-US" sz="1070" dirty="0"/>
          </a:p>
        </p:txBody>
      </p:sp>
      <p:sp>
        <p:nvSpPr>
          <p:cNvPr id="45" name="Text 43"/>
          <p:cNvSpPr/>
          <p:nvPr/>
        </p:nvSpPr>
        <p:spPr>
          <a:xfrm>
            <a:off x="9528048" y="5458968"/>
            <a:ext cx="1234440" cy="164592"/>
          </a:xfrm>
          <a:prstGeom prst="rect">
            <a:avLst/>
          </a:prstGeom>
          <a:noFill/>
          <a:ln/>
        </p:spPr>
        <p:txBody>
          <a:bodyPr wrap="square" lIns="0" tIns="0" rIns="0" bIns="0" rtlCol="0" anchor="ctr">
            <a:noAutofit/>
          </a:bodyPr>
          <a:lstStyle/>
          <a:p>
            <a:pPr marL="0" indent="0" algn="r">
              <a:buNone/>
            </a:pPr>
            <a:r>
              <a:rPr lang="en-US" sz="970">
                <a:solidFill>
                  <a:srgbClr val="7E8A97"/>
                </a:solidFill>
              </a:rPr>
              <a:t>thread control</a:t>
            </a:r>
            <a:endParaRPr lang="en-US" sz="970" dirty="0"/>
          </a:p>
        </p:txBody>
      </p:sp>
      <p:sp>
        <p:nvSpPr>
          <p:cNvPr id="46" name="Text 44"/>
          <p:cNvSpPr/>
          <p:nvPr/>
        </p:nvSpPr>
        <p:spPr>
          <a:xfrm>
            <a:off x="6236208" y="5918200"/>
            <a:ext cx="4800600" cy="342900"/>
          </a:xfrm>
          <a:prstGeom prst="rect">
            <a:avLst/>
          </a:prstGeom>
          <a:noFill/>
          <a:ln/>
        </p:spPr>
        <p:txBody>
          <a:bodyPr wrap="square" lIns="0" tIns="0" rIns="0" bIns="0" rtlCol="0" anchor="ctr">
            <a:noAutofit/>
          </a:bodyPr>
          <a:lstStyle/>
          <a:p>
            <a:pPr marL="0" indent="0">
              <a:buNone/>
            </a:pPr>
            <a:r>
              <a:rPr lang="en-US" sz="1070">
                <a:solidFill>
                  <a:srgbClr val="C7D0D9"/>
                </a:solidFill>
              </a:rPr>
              <a:t>All paths use the same CNN. PyTorch GPU also invokes cuDNN.</a:t>
            </a:r>
            <a:endParaRPr lang="en-US" sz="1070" dirty="0"/>
          </a:p>
        </p:txBody>
      </p:sp>
      <p:sp>
        <p:nvSpPr>
          <p:cNvPr id="47"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How DataParallel works across two GPUs</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Split batch 64 across two replicas; gather logits, backpropagate and sum parameter gradients on GPU 0.</a:t>
            </a:r>
            <a:endParaRPr lang="en-US" sz="1150" dirty="0"/>
          </a:p>
        </p:txBody>
      </p:sp>
      <p:sp>
        <p:nvSpPr>
          <p:cNvPr id="4" name="Shape 2"/>
          <p:cNvSpPr/>
          <p:nvPr/>
        </p:nvSpPr>
        <p:spPr>
          <a:xfrm>
            <a:off x="9966960" y="347472"/>
            <a:ext cx="1600200" cy="384048"/>
          </a:xfrm>
          <a:prstGeom prst="roundRect">
            <a:avLst>
              <a:gd name="adj" fmla="val 19048"/>
            </a:avLst>
          </a:prstGeom>
          <a:solidFill>
            <a:srgbClr val="76B900">
              <a:alpha val="16000"/>
            </a:srgbClr>
          </a:solidFill>
          <a:ln w="12700">
            <a:solidFill>
              <a:srgbClr val="76B900">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76B900"/>
                </a:solidFill>
              </a:rPr>
              <a:t>SATYA · PERSON 2</a:t>
            </a:r>
            <a:endParaRPr lang="en-US" sz="950" dirty="0"/>
          </a:p>
        </p:txBody>
      </p:sp>
      <p:sp>
        <p:nvSpPr>
          <p:cNvPr id="6" name="Shape 4"/>
          <p:cNvSpPr/>
          <p:nvPr/>
        </p:nvSpPr>
        <p:spPr>
          <a:xfrm>
            <a:off x="603504" y="1225296"/>
            <a:ext cx="10972800" cy="5010912"/>
          </a:xfrm>
          <a:prstGeom prst="roundRect">
            <a:avLst>
              <a:gd name="adj" fmla="val 1460"/>
            </a:avLst>
          </a:prstGeom>
          <a:solidFill>
            <a:srgbClr val="121923"/>
          </a:solidFill>
          <a:ln w="12700">
            <a:solidFill>
              <a:srgbClr val="25303D"/>
            </a:solidFill>
            <a:prstDash val="solid"/>
          </a:ln>
        </p:spPr>
      </p:sp>
      <p:sp>
        <p:nvSpPr>
          <p:cNvPr id="7" name="Shape 5"/>
          <p:cNvSpPr/>
          <p:nvPr/>
        </p:nvSpPr>
        <p:spPr>
          <a:xfrm>
            <a:off x="877824" y="1490472"/>
            <a:ext cx="187452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8" name="Text 6"/>
          <p:cNvSpPr/>
          <p:nvPr/>
        </p:nvSpPr>
        <p:spPr>
          <a:xfrm>
            <a:off x="877824" y="1568196"/>
            <a:ext cx="187452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FORWARD + BACKWARD FLOW</a:t>
            </a:r>
            <a:endParaRPr lang="en-US" sz="850" dirty="0"/>
          </a:p>
        </p:txBody>
      </p:sp>
      <p:sp>
        <p:nvSpPr>
          <p:cNvPr id="9" name="Shape 7"/>
          <p:cNvSpPr/>
          <p:nvPr/>
        </p:nvSpPr>
        <p:spPr>
          <a:xfrm>
            <a:off x="950976" y="2359152"/>
            <a:ext cx="1325880" cy="960120"/>
          </a:xfrm>
          <a:prstGeom prst="roundRect">
            <a:avLst>
              <a:gd name="adj" fmla="val 5714"/>
            </a:avLst>
          </a:prstGeom>
          <a:solidFill>
            <a:srgbClr val="41D9FF">
              <a:alpha val="70000"/>
            </a:srgbClr>
          </a:solidFill>
          <a:ln w="12700">
            <a:solidFill>
              <a:srgbClr val="41D9FF"/>
            </a:solidFill>
            <a:prstDash val="solid"/>
          </a:ln>
        </p:spPr>
      </p:sp>
      <p:sp>
        <p:nvSpPr>
          <p:cNvPr id="10" name="Text 8"/>
          <p:cNvSpPr/>
          <p:nvPr/>
        </p:nvSpPr>
        <p:spPr>
          <a:xfrm>
            <a:off x="950976" y="2587752"/>
            <a:ext cx="1325880" cy="457200"/>
          </a:xfrm>
          <a:prstGeom prst="rect">
            <a:avLst/>
          </a:prstGeom>
          <a:noFill/>
          <a:ln/>
        </p:spPr>
        <p:txBody>
          <a:bodyPr wrap="square" lIns="0" tIns="0" rIns="0" bIns="0" rtlCol="0" anchor="ctr">
            <a:noAutofit/>
          </a:bodyPr>
          <a:lstStyle/>
          <a:p>
            <a:pPr marL="0" indent="0" algn="ctr">
              <a:buNone/>
            </a:pPr>
            <a:r>
              <a:rPr lang="en-US" sz="1500" b="1">
                <a:solidFill>
                  <a:srgbClr val="F4F7FA"/>
                </a:solidFill>
              </a:rPr>
              <a:t>BATCH</a:t>
            </a:r>
          </a:p>
          <a:p>
            <a:pPr marL="0" indent="0" algn="ctr">
              <a:buNone/>
            </a:pPr>
            <a:r>
              <a:rPr lang="en-US" sz="1500" b="1">
                <a:solidFill>
                  <a:srgbClr val="F4F7FA"/>
                </a:solidFill>
              </a:rPr>
              <a:t>64 images</a:t>
            </a:r>
            <a:endParaRPr lang="en-US" sz="1500" dirty="0"/>
          </a:p>
        </p:txBody>
      </p:sp>
      <p:sp>
        <p:nvSpPr>
          <p:cNvPr id="11" name="Shape 9"/>
          <p:cNvSpPr/>
          <p:nvPr/>
        </p:nvSpPr>
        <p:spPr>
          <a:xfrm>
            <a:off x="2331720" y="2834640"/>
            <a:ext cx="640080" cy="0"/>
          </a:xfrm>
          <a:prstGeom prst="line">
            <a:avLst/>
          </a:prstGeom>
          <a:noFill/>
          <a:ln w="25400">
            <a:solidFill>
              <a:srgbClr val="7E8A97"/>
            </a:solidFill>
            <a:prstDash val="solid"/>
            <a:headEnd type="none"/>
            <a:tailEnd type="triangle"/>
          </a:ln>
        </p:spPr>
      </p:sp>
      <p:sp>
        <p:nvSpPr>
          <p:cNvPr id="12" name="Text 10"/>
          <p:cNvSpPr/>
          <p:nvPr/>
        </p:nvSpPr>
        <p:spPr>
          <a:xfrm>
            <a:off x="2423160" y="2468880"/>
            <a:ext cx="548640" cy="201168"/>
          </a:xfrm>
          <a:prstGeom prst="rect">
            <a:avLst/>
          </a:prstGeom>
          <a:noFill/>
          <a:ln/>
        </p:spPr>
        <p:txBody>
          <a:bodyPr wrap="square" lIns="0" tIns="0" rIns="0" bIns="0" rtlCol="0" anchor="ctr">
            <a:noAutofit/>
          </a:bodyPr>
          <a:lstStyle/>
          <a:p>
            <a:pPr marL="0" indent="0" algn="ctr">
              <a:buNone/>
            </a:pPr>
            <a:r>
              <a:rPr lang="en-US" sz="1000" dirty="0">
                <a:solidFill>
                  <a:srgbClr val="7E8A97"/>
                </a:solidFill>
              </a:rPr>
              <a:t>scatter</a:t>
            </a:r>
            <a:endParaRPr lang="en-US" sz="1000" dirty="0"/>
          </a:p>
        </p:txBody>
      </p:sp>
      <p:sp>
        <p:nvSpPr>
          <p:cNvPr id="13" name="Shape 11"/>
          <p:cNvSpPr/>
          <p:nvPr/>
        </p:nvSpPr>
        <p:spPr>
          <a:xfrm>
            <a:off x="3063240" y="1965960"/>
            <a:ext cx="1965960" cy="1417320"/>
          </a:xfrm>
          <a:prstGeom prst="roundRect">
            <a:avLst>
              <a:gd name="adj" fmla="val 4516"/>
            </a:avLst>
          </a:prstGeom>
          <a:solidFill>
            <a:srgbClr val="76B900">
              <a:alpha val="25000"/>
            </a:srgbClr>
          </a:solidFill>
          <a:ln w="16510">
            <a:solidFill>
              <a:srgbClr val="76B900"/>
            </a:solidFill>
            <a:prstDash val="solid"/>
          </a:ln>
        </p:spPr>
      </p:sp>
      <p:sp>
        <p:nvSpPr>
          <p:cNvPr id="14" name="Text 12"/>
          <p:cNvSpPr/>
          <p:nvPr/>
        </p:nvSpPr>
        <p:spPr>
          <a:xfrm>
            <a:off x="3246120" y="2130552"/>
            <a:ext cx="731520" cy="201168"/>
          </a:xfrm>
          <a:prstGeom prst="rect">
            <a:avLst/>
          </a:prstGeom>
          <a:noFill/>
          <a:ln/>
        </p:spPr>
        <p:txBody>
          <a:bodyPr wrap="square" lIns="0" tIns="0" rIns="0" bIns="0" rtlCol="0" anchor="ctr">
            <a:noAutofit/>
          </a:bodyPr>
          <a:lstStyle/>
          <a:p>
            <a:pPr marL="0" indent="0">
              <a:buNone/>
            </a:pPr>
            <a:r>
              <a:rPr lang="en-US" sz="1300" b="1" dirty="0">
                <a:solidFill>
                  <a:srgbClr val="A3E635"/>
                </a:solidFill>
              </a:rPr>
              <a:t>GPU 0</a:t>
            </a:r>
            <a:endParaRPr lang="en-US" sz="1300" dirty="0"/>
          </a:p>
        </p:txBody>
      </p:sp>
      <p:sp>
        <p:nvSpPr>
          <p:cNvPr id="15" name="Text 13"/>
          <p:cNvSpPr/>
          <p:nvPr/>
        </p:nvSpPr>
        <p:spPr>
          <a:xfrm>
            <a:off x="3246120" y="2468880"/>
            <a:ext cx="1325880" cy="201168"/>
          </a:xfrm>
          <a:prstGeom prst="rect">
            <a:avLst/>
          </a:prstGeom>
          <a:noFill/>
          <a:ln/>
        </p:spPr>
        <p:txBody>
          <a:bodyPr wrap="square" lIns="0" tIns="0" rIns="0" bIns="0" rtlCol="0" anchor="ctr">
            <a:noAutofit/>
          </a:bodyPr>
          <a:lstStyle/>
          <a:p>
            <a:pPr marL="0" indent="0">
              <a:buNone/>
            </a:pPr>
            <a:r>
              <a:rPr lang="en-US" sz="1140" dirty="0">
                <a:solidFill>
                  <a:srgbClr val="F4F7FA"/>
                </a:solidFill>
              </a:rPr>
              <a:t>model replica</a:t>
            </a:r>
            <a:endParaRPr lang="en-US" sz="1140" dirty="0"/>
          </a:p>
        </p:txBody>
      </p:sp>
      <p:sp>
        <p:nvSpPr>
          <p:cNvPr id="16" name="Text 14"/>
          <p:cNvSpPr/>
          <p:nvPr/>
        </p:nvSpPr>
        <p:spPr>
          <a:xfrm>
            <a:off x="3246120" y="2825496"/>
            <a:ext cx="1325880" cy="201168"/>
          </a:xfrm>
          <a:prstGeom prst="rect">
            <a:avLst/>
          </a:prstGeom>
          <a:noFill/>
          <a:ln/>
        </p:spPr>
        <p:txBody>
          <a:bodyPr wrap="square" lIns="0" tIns="0" rIns="0" bIns="0" rtlCol="0" anchor="ctr">
            <a:noAutofit/>
          </a:bodyPr>
          <a:lstStyle/>
          <a:p>
            <a:pPr marL="0" indent="0">
              <a:buNone/>
            </a:pPr>
            <a:r>
              <a:rPr lang="en-US" sz="1050">
                <a:solidFill>
                  <a:srgbClr val="7E8A97"/>
                </a:solidFill>
              </a:rPr>
              <a:t>32 images</a:t>
            </a:r>
            <a:endParaRPr lang="en-US" sz="1050" dirty="0"/>
          </a:p>
        </p:txBody>
      </p:sp>
      <p:sp>
        <p:nvSpPr>
          <p:cNvPr id="17" name="Shape 15"/>
          <p:cNvSpPr/>
          <p:nvPr/>
        </p:nvSpPr>
        <p:spPr>
          <a:xfrm flipV="1">
            <a:off x="2267712" y="2679192"/>
            <a:ext cx="768096" cy="155448"/>
          </a:xfrm>
          <a:prstGeom prst="line">
            <a:avLst/>
          </a:prstGeom>
          <a:noFill/>
          <a:ln w="19050">
            <a:solidFill>
              <a:srgbClr val="76B900"/>
            </a:solidFill>
            <a:prstDash val="solid"/>
            <a:headEnd type="none"/>
            <a:tailEnd type="triangle"/>
          </a:ln>
        </p:spPr>
      </p:sp>
      <p:sp>
        <p:nvSpPr>
          <p:cNvPr id="18" name="Shape 16"/>
          <p:cNvSpPr/>
          <p:nvPr/>
        </p:nvSpPr>
        <p:spPr>
          <a:xfrm>
            <a:off x="3063240" y="3977640"/>
            <a:ext cx="1965960" cy="1417320"/>
          </a:xfrm>
          <a:prstGeom prst="roundRect">
            <a:avLst>
              <a:gd name="adj" fmla="val 4516"/>
            </a:avLst>
          </a:prstGeom>
          <a:solidFill>
            <a:srgbClr val="76B900">
              <a:alpha val="25000"/>
            </a:srgbClr>
          </a:solidFill>
          <a:ln w="16510">
            <a:solidFill>
              <a:srgbClr val="76B900"/>
            </a:solidFill>
            <a:prstDash val="solid"/>
          </a:ln>
        </p:spPr>
      </p:sp>
      <p:sp>
        <p:nvSpPr>
          <p:cNvPr id="19" name="Text 17"/>
          <p:cNvSpPr/>
          <p:nvPr/>
        </p:nvSpPr>
        <p:spPr>
          <a:xfrm>
            <a:off x="3246120" y="4142232"/>
            <a:ext cx="731520" cy="201168"/>
          </a:xfrm>
          <a:prstGeom prst="rect">
            <a:avLst/>
          </a:prstGeom>
          <a:noFill/>
          <a:ln/>
        </p:spPr>
        <p:txBody>
          <a:bodyPr wrap="square" lIns="0" tIns="0" rIns="0" bIns="0" rtlCol="0" anchor="ctr">
            <a:noAutofit/>
          </a:bodyPr>
          <a:lstStyle/>
          <a:p>
            <a:pPr marL="0" indent="0">
              <a:buNone/>
            </a:pPr>
            <a:r>
              <a:rPr lang="en-US" sz="1300" b="1" dirty="0">
                <a:solidFill>
                  <a:srgbClr val="A3E635"/>
                </a:solidFill>
              </a:rPr>
              <a:t>GPU 1</a:t>
            </a:r>
            <a:endParaRPr lang="en-US" sz="1300" dirty="0"/>
          </a:p>
        </p:txBody>
      </p:sp>
      <p:sp>
        <p:nvSpPr>
          <p:cNvPr id="20" name="Text 18"/>
          <p:cNvSpPr/>
          <p:nvPr/>
        </p:nvSpPr>
        <p:spPr>
          <a:xfrm>
            <a:off x="3246120" y="4480560"/>
            <a:ext cx="1325880" cy="201168"/>
          </a:xfrm>
          <a:prstGeom prst="rect">
            <a:avLst/>
          </a:prstGeom>
          <a:noFill/>
          <a:ln/>
        </p:spPr>
        <p:txBody>
          <a:bodyPr wrap="square" lIns="0" tIns="0" rIns="0" bIns="0" rtlCol="0" anchor="ctr">
            <a:noAutofit/>
          </a:bodyPr>
          <a:lstStyle/>
          <a:p>
            <a:pPr marL="0" indent="0">
              <a:buNone/>
            </a:pPr>
            <a:r>
              <a:rPr lang="en-US" sz="1140" dirty="0">
                <a:solidFill>
                  <a:srgbClr val="F4F7FA"/>
                </a:solidFill>
              </a:rPr>
              <a:t>model replica</a:t>
            </a:r>
            <a:endParaRPr lang="en-US" sz="1140" dirty="0"/>
          </a:p>
        </p:txBody>
      </p:sp>
      <p:sp>
        <p:nvSpPr>
          <p:cNvPr id="21" name="Text 19"/>
          <p:cNvSpPr/>
          <p:nvPr/>
        </p:nvSpPr>
        <p:spPr>
          <a:xfrm>
            <a:off x="3246120" y="4837176"/>
            <a:ext cx="1325880" cy="201168"/>
          </a:xfrm>
          <a:prstGeom prst="rect">
            <a:avLst/>
          </a:prstGeom>
          <a:noFill/>
          <a:ln/>
        </p:spPr>
        <p:txBody>
          <a:bodyPr wrap="square" lIns="0" tIns="0" rIns="0" bIns="0" rtlCol="0" anchor="ctr">
            <a:noAutofit/>
          </a:bodyPr>
          <a:lstStyle/>
          <a:p>
            <a:pPr marL="0" indent="0">
              <a:buNone/>
            </a:pPr>
            <a:r>
              <a:rPr lang="en-US" sz="1050">
                <a:solidFill>
                  <a:srgbClr val="7E8A97"/>
                </a:solidFill>
              </a:rPr>
              <a:t>32 images</a:t>
            </a:r>
            <a:endParaRPr lang="en-US" sz="1050" dirty="0"/>
          </a:p>
        </p:txBody>
      </p:sp>
      <p:sp>
        <p:nvSpPr>
          <p:cNvPr id="22" name="Shape 20"/>
          <p:cNvSpPr/>
          <p:nvPr/>
        </p:nvSpPr>
        <p:spPr>
          <a:xfrm>
            <a:off x="2267712" y="2834640"/>
            <a:ext cx="768096" cy="1856232"/>
          </a:xfrm>
          <a:prstGeom prst="line">
            <a:avLst/>
          </a:prstGeom>
          <a:noFill/>
          <a:ln w="19050">
            <a:solidFill>
              <a:srgbClr val="76B900"/>
            </a:solidFill>
            <a:prstDash val="solid"/>
            <a:headEnd type="none"/>
            <a:tailEnd type="triangle"/>
          </a:ln>
        </p:spPr>
      </p:sp>
      <p:sp>
        <p:nvSpPr>
          <p:cNvPr id="23" name="Shape 21"/>
          <p:cNvSpPr/>
          <p:nvPr/>
        </p:nvSpPr>
        <p:spPr>
          <a:xfrm>
            <a:off x="5047488" y="2697480"/>
            <a:ext cx="822960" cy="594360"/>
          </a:xfrm>
          <a:prstGeom prst="line">
            <a:avLst/>
          </a:prstGeom>
          <a:noFill/>
          <a:ln w="22860">
            <a:solidFill>
              <a:srgbClr val="FFB454"/>
            </a:solidFill>
            <a:prstDash val="solid"/>
            <a:headEnd type="none"/>
            <a:tailEnd type="triangle"/>
          </a:ln>
        </p:spPr>
      </p:sp>
      <p:sp>
        <p:nvSpPr>
          <p:cNvPr id="24" name="Shape 22"/>
          <p:cNvSpPr/>
          <p:nvPr/>
        </p:nvSpPr>
        <p:spPr>
          <a:xfrm flipV="1">
            <a:off x="5047488" y="3621024"/>
            <a:ext cx="822960" cy="1060704"/>
          </a:xfrm>
          <a:prstGeom prst="line">
            <a:avLst/>
          </a:prstGeom>
          <a:noFill/>
          <a:ln w="22860">
            <a:solidFill>
              <a:srgbClr val="FFB454"/>
            </a:solidFill>
            <a:prstDash val="solid"/>
            <a:headEnd type="none"/>
            <a:tailEnd type="triangle"/>
          </a:ln>
        </p:spPr>
      </p:sp>
      <p:sp>
        <p:nvSpPr>
          <p:cNvPr id="25" name="Shape 23"/>
          <p:cNvSpPr/>
          <p:nvPr/>
        </p:nvSpPr>
        <p:spPr>
          <a:xfrm>
            <a:off x="5925312" y="2944368"/>
            <a:ext cx="1828800" cy="1069848"/>
          </a:xfrm>
          <a:prstGeom prst="roundRect">
            <a:avLst>
              <a:gd name="adj" fmla="val 5128"/>
            </a:avLst>
          </a:prstGeom>
          <a:solidFill>
            <a:srgbClr val="FFB454">
              <a:alpha val="22000"/>
            </a:srgbClr>
          </a:solidFill>
          <a:ln w="12700">
            <a:solidFill>
              <a:srgbClr val="FFB454"/>
            </a:solidFill>
            <a:prstDash val="solid"/>
          </a:ln>
        </p:spPr>
      </p:sp>
      <p:sp>
        <p:nvSpPr>
          <p:cNvPr id="26" name="Text 24"/>
          <p:cNvSpPr/>
          <p:nvPr/>
        </p:nvSpPr>
        <p:spPr>
          <a:xfrm>
            <a:off x="5925312" y="3111500"/>
            <a:ext cx="1828800" cy="787400"/>
          </a:xfrm>
          <a:prstGeom prst="rect">
            <a:avLst/>
          </a:prstGeom>
          <a:noFill/>
          <a:ln/>
        </p:spPr>
        <p:txBody>
          <a:bodyPr wrap="square" lIns="0" tIns="0" rIns="0" bIns="0" rtlCol="0" anchor="ctr">
            <a:noAutofit/>
          </a:bodyPr>
          <a:lstStyle/>
          <a:p>
            <a:pPr marL="0" indent="0" algn="ctr">
              <a:buNone/>
            </a:pPr>
            <a:r>
              <a:rPr lang="en-US" sz="1300" b="1">
                <a:solidFill>
                  <a:srgbClr val="F4F7FA"/>
                </a:solidFill>
              </a:rPr>
              <a:t>GPU 0</a:t>
            </a:r>
          </a:p>
          <a:p>
            <a:pPr marL="0" indent="0" algn="ctr">
              <a:buNone/>
            </a:pPr>
            <a:r>
              <a:rPr lang="en-US" sz="1300" b="1">
                <a:solidFill>
                  <a:srgbClr val="F4F7FA"/>
                </a:solidFill>
              </a:rPr>
              <a:t>Gather logits</a:t>
            </a:r>
          </a:p>
          <a:p>
            <a:pPr marL="0" indent="0" algn="ctr">
              <a:buNone/>
            </a:pPr>
            <a:r>
              <a:rPr lang="en-US" sz="1300" b="1">
                <a:solidFill>
                  <a:srgbClr val="F4F7FA"/>
                </a:solidFill>
              </a:rPr>
              <a:t>Sum gradients</a:t>
            </a:r>
            <a:endParaRPr lang="en-US" sz="1300" dirty="0"/>
          </a:p>
        </p:txBody>
      </p:sp>
      <p:sp>
        <p:nvSpPr>
          <p:cNvPr id="27" name="Shape 25"/>
          <p:cNvSpPr/>
          <p:nvPr/>
        </p:nvSpPr>
        <p:spPr>
          <a:xfrm>
            <a:off x="7790688" y="3493008"/>
            <a:ext cx="603504" cy="0"/>
          </a:xfrm>
          <a:prstGeom prst="line">
            <a:avLst/>
          </a:prstGeom>
          <a:noFill/>
          <a:ln w="25400">
            <a:solidFill>
              <a:srgbClr val="FFB454"/>
            </a:solidFill>
            <a:prstDash val="solid"/>
            <a:headEnd type="none"/>
            <a:tailEnd type="triangle"/>
          </a:ln>
        </p:spPr>
      </p:sp>
      <p:sp>
        <p:nvSpPr>
          <p:cNvPr id="28" name="Shape 26"/>
          <p:cNvSpPr/>
          <p:nvPr/>
        </p:nvSpPr>
        <p:spPr>
          <a:xfrm>
            <a:off x="8458200" y="2971800"/>
            <a:ext cx="1920240" cy="1024128"/>
          </a:xfrm>
          <a:prstGeom prst="roundRect">
            <a:avLst>
              <a:gd name="adj" fmla="val 5357"/>
            </a:avLst>
          </a:prstGeom>
          <a:solidFill>
            <a:srgbClr val="A78BFA">
              <a:alpha val="24000"/>
            </a:srgbClr>
          </a:solidFill>
          <a:ln w="12700">
            <a:solidFill>
              <a:srgbClr val="A78BFA"/>
            </a:solidFill>
            <a:prstDash val="solid"/>
          </a:ln>
        </p:spPr>
      </p:sp>
      <p:sp>
        <p:nvSpPr>
          <p:cNvPr id="29" name="Text 27"/>
          <p:cNvSpPr/>
          <p:nvPr/>
        </p:nvSpPr>
        <p:spPr>
          <a:xfrm>
            <a:off x="8458200" y="3218688"/>
            <a:ext cx="1920240" cy="438912"/>
          </a:xfrm>
          <a:prstGeom prst="rect">
            <a:avLst/>
          </a:prstGeom>
          <a:noFill/>
          <a:ln/>
        </p:spPr>
        <p:txBody>
          <a:bodyPr wrap="square" lIns="0" tIns="0" rIns="0" bIns="0" rtlCol="0" anchor="ctr">
            <a:noAutofit/>
          </a:bodyPr>
          <a:lstStyle/>
          <a:p>
            <a:pPr marL="0" indent="0" algn="ctr">
              <a:buNone/>
            </a:pPr>
            <a:r>
              <a:rPr lang="en-US" sz="1300" b="1" dirty="0">
                <a:solidFill>
                  <a:srgbClr val="F4F7FA"/>
                </a:solidFill>
              </a:rPr>
              <a:t>optimizer</a:t>
            </a:r>
            <a:endParaRPr lang="en-US" sz="1300" dirty="0"/>
          </a:p>
          <a:p>
            <a:pPr marL="0" indent="0" algn="ctr">
              <a:buNone/>
            </a:pPr>
            <a:r>
              <a:rPr lang="en-US" sz="1300" b="1" dirty="0">
                <a:solidFill>
                  <a:srgbClr val="F4F7FA"/>
                </a:solidFill>
              </a:rPr>
              <a:t>updates model</a:t>
            </a:r>
            <a:endParaRPr lang="en-US" sz="1300" dirty="0"/>
          </a:p>
        </p:txBody>
      </p:sp>
      <p:sp>
        <p:nvSpPr>
          <p:cNvPr id="30" name="Shape 28"/>
          <p:cNvSpPr/>
          <p:nvPr/>
        </p:nvSpPr>
        <p:spPr>
          <a:xfrm>
            <a:off x="8119872" y="1572768"/>
            <a:ext cx="2971800" cy="1397000"/>
          </a:xfrm>
          <a:prstGeom prst="roundRect">
            <a:avLst>
              <a:gd name="adj" fmla="val 7080"/>
            </a:avLst>
          </a:prstGeom>
          <a:solidFill>
            <a:srgbClr val="151C25"/>
          </a:solidFill>
          <a:ln w="12700">
            <a:solidFill>
              <a:srgbClr val="344252"/>
            </a:solidFill>
            <a:prstDash val="solid"/>
          </a:ln>
        </p:spPr>
      </p:sp>
      <p:sp>
        <p:nvSpPr>
          <p:cNvPr id="31" name="Text 29"/>
          <p:cNvSpPr/>
          <p:nvPr/>
        </p:nvSpPr>
        <p:spPr>
          <a:xfrm>
            <a:off x="8302752" y="1773936"/>
            <a:ext cx="2468880" cy="228600"/>
          </a:xfrm>
          <a:prstGeom prst="rect">
            <a:avLst/>
          </a:prstGeom>
          <a:noFill/>
          <a:ln/>
        </p:spPr>
        <p:txBody>
          <a:bodyPr wrap="square" lIns="0" tIns="0" rIns="0" bIns="0" rtlCol="0" anchor="ctr">
            <a:noAutofit/>
          </a:bodyPr>
          <a:lstStyle/>
          <a:p>
            <a:pPr marL="0" indent="0">
              <a:buNone/>
            </a:pPr>
            <a:r>
              <a:rPr lang="en-US" sz="1330" b="1" dirty="0">
                <a:solidFill>
                  <a:srgbClr val="F4F7FA"/>
                </a:solidFill>
              </a:rPr>
              <a:t>What we had to handle</a:t>
            </a:r>
            <a:endParaRPr lang="en-US" sz="1330" dirty="0"/>
          </a:p>
        </p:txBody>
      </p:sp>
      <p:sp>
        <p:nvSpPr>
          <p:cNvPr id="32" name="Text 30"/>
          <p:cNvSpPr/>
          <p:nvPr/>
        </p:nvSpPr>
        <p:spPr>
          <a:xfrm>
            <a:off x="8302752" y="2108200"/>
            <a:ext cx="2423160" cy="698500"/>
          </a:xfrm>
          <a:prstGeom prst="rect">
            <a:avLst/>
          </a:prstGeom>
          <a:noFill/>
          <a:ln/>
        </p:spPr>
        <p:txBody>
          <a:bodyPr wrap="square" lIns="0" tIns="0" rIns="0" bIns="0" rtlCol="0" anchor="ctr">
            <a:noAutofit/>
          </a:bodyPr>
          <a:lstStyle/>
          <a:p>
            <a:pPr marL="0" indent="0">
              <a:buNone/>
            </a:pPr>
            <a:r>
              <a:rPr lang="en-US" sz="970">
                <a:solidFill>
                  <a:srgbClr val="7E8A97"/>
                </a:solidFill>
              </a:rPr>
              <a:t>Correct device + current stream</a:t>
            </a:r>
          </a:p>
          <a:p>
            <a:pPr marL="0" indent="0">
              <a:buNone/>
            </a:pPr>
            <a:r>
              <a:rPr lang="en-US" sz="970">
                <a:solidFill>
                  <a:srgbClr val="7E8A97"/>
                </a:solidFill>
              </a:rPr>
              <a:t>Per-device cuDNN state</a:t>
            </a:r>
          </a:p>
          <a:p>
            <a:pPr marL="0" indent="0">
              <a:buNone/>
            </a:pPr>
            <a:r>
              <a:rPr lang="en-US" sz="970">
                <a:solidFill>
                  <a:srgbClr val="7E8A97"/>
                </a:solidFill>
              </a:rPr>
              <a:t>Save unwrapped checkpoints</a:t>
            </a:r>
            <a:endParaRPr lang="en-US" sz="970" dirty="0"/>
          </a:p>
        </p:txBody>
      </p:sp>
      <p:sp>
        <p:nvSpPr>
          <p:cNvPr id="33" name="Text 31"/>
          <p:cNvSpPr/>
          <p:nvPr/>
        </p:nvSpPr>
        <p:spPr>
          <a:xfrm>
            <a:off x="969264" y="5461000"/>
            <a:ext cx="640080" cy="201168"/>
          </a:xfrm>
          <a:prstGeom prst="rect">
            <a:avLst/>
          </a:prstGeom>
          <a:noFill/>
          <a:ln/>
        </p:spPr>
        <p:txBody>
          <a:bodyPr wrap="square" lIns="0" tIns="0" rIns="0" bIns="0" rtlCol="0" anchor="ctr">
            <a:noAutofit/>
          </a:bodyPr>
          <a:lstStyle/>
          <a:p>
            <a:pPr marL="0" indent="0">
              <a:buNone/>
            </a:pPr>
            <a:r>
              <a:rPr lang="en-US" sz="1200" b="1" dirty="0">
                <a:solidFill>
                  <a:srgbClr val="A3E635"/>
                </a:solidFill>
              </a:rPr>
              <a:t>Benefit</a:t>
            </a:r>
            <a:endParaRPr lang="en-US" sz="1200" dirty="0"/>
          </a:p>
        </p:txBody>
      </p:sp>
      <p:sp>
        <p:nvSpPr>
          <p:cNvPr id="34" name="Text 32"/>
          <p:cNvSpPr/>
          <p:nvPr/>
        </p:nvSpPr>
        <p:spPr>
          <a:xfrm>
            <a:off x="1572768" y="5461000"/>
            <a:ext cx="2331720" cy="201168"/>
          </a:xfrm>
          <a:prstGeom prst="rect">
            <a:avLst/>
          </a:prstGeom>
          <a:noFill/>
          <a:ln/>
        </p:spPr>
        <p:txBody>
          <a:bodyPr wrap="square" lIns="0" tIns="0" rIns="0" bIns="0" rtlCol="0" anchor="ctr">
            <a:noAutofit/>
          </a:bodyPr>
          <a:lstStyle/>
          <a:p>
            <a:pPr marL="0" indent="0">
              <a:buNone/>
            </a:pPr>
            <a:r>
              <a:rPr lang="en-US" sz="1150" dirty="0">
                <a:solidFill>
                  <a:srgbClr val="C7D0D9"/>
                </a:solidFill>
              </a:rPr>
              <a:t>more batch work at the same time</a:t>
            </a:r>
            <a:endParaRPr lang="en-US" sz="1150" dirty="0"/>
          </a:p>
        </p:txBody>
      </p:sp>
      <p:sp>
        <p:nvSpPr>
          <p:cNvPr id="35" name="Text 33"/>
          <p:cNvSpPr/>
          <p:nvPr/>
        </p:nvSpPr>
        <p:spPr>
          <a:xfrm>
            <a:off x="4160520" y="5461000"/>
            <a:ext cx="457200" cy="201168"/>
          </a:xfrm>
          <a:prstGeom prst="rect">
            <a:avLst/>
          </a:prstGeom>
          <a:noFill/>
          <a:ln/>
        </p:spPr>
        <p:txBody>
          <a:bodyPr wrap="square" lIns="0" tIns="0" rIns="0" bIns="0" rtlCol="0" anchor="ctr">
            <a:noAutofit/>
          </a:bodyPr>
          <a:lstStyle/>
          <a:p>
            <a:pPr marL="0" indent="0">
              <a:buNone/>
            </a:pPr>
            <a:r>
              <a:rPr lang="en-US" sz="1200" b="1" dirty="0">
                <a:solidFill>
                  <a:srgbClr val="FFB454"/>
                </a:solidFill>
              </a:rPr>
              <a:t>Cost</a:t>
            </a:r>
            <a:endParaRPr lang="en-US" sz="1200" dirty="0"/>
          </a:p>
        </p:txBody>
      </p:sp>
      <p:sp>
        <p:nvSpPr>
          <p:cNvPr id="36" name="Text 34"/>
          <p:cNvSpPr/>
          <p:nvPr/>
        </p:nvSpPr>
        <p:spPr>
          <a:xfrm>
            <a:off x="4590288" y="5461000"/>
            <a:ext cx="2880360" cy="201168"/>
          </a:xfrm>
          <a:prstGeom prst="rect">
            <a:avLst/>
          </a:prstGeom>
          <a:noFill/>
          <a:ln/>
        </p:spPr>
        <p:txBody>
          <a:bodyPr wrap="square" lIns="0" tIns="0" rIns="0" bIns="0" rtlCol="0" anchor="ctr">
            <a:noAutofit/>
          </a:bodyPr>
          <a:lstStyle/>
          <a:p>
            <a:pPr marL="0" indent="0">
              <a:buNone/>
            </a:pPr>
            <a:r>
              <a:rPr lang="en-US" sz="1150" dirty="0">
                <a:solidFill>
                  <a:srgbClr val="C7D0D9"/>
                </a:solidFill>
              </a:rPr>
              <a:t>scatter + gather + synchronization overhead</a:t>
            </a:r>
            <a:endParaRPr lang="en-US" sz="1150" dirty="0"/>
          </a:p>
        </p:txBody>
      </p:sp>
      <p:sp>
        <p:nvSpPr>
          <p:cNvPr id="37" name="Text 35"/>
          <p:cNvSpPr/>
          <p:nvPr/>
        </p:nvSpPr>
        <p:spPr>
          <a:xfrm>
            <a:off x="969264" y="5715000"/>
            <a:ext cx="7863840" cy="444500"/>
          </a:xfrm>
          <a:prstGeom prst="rect">
            <a:avLst/>
          </a:prstGeom>
          <a:noFill/>
          <a:ln/>
        </p:spPr>
        <p:txBody>
          <a:bodyPr wrap="square" lIns="0" tIns="0" rIns="0" bIns="0" rtlCol="0" anchor="ctr">
            <a:noAutofit/>
          </a:bodyPr>
          <a:lstStyle/>
          <a:p>
            <a:pPr marL="0" indent="0">
              <a:buNone/>
            </a:pPr>
            <a:r>
              <a:rPr lang="en-US" sz="1430" b="1">
                <a:solidFill>
                  <a:srgbClr val="F4F7FA"/>
                </a:solidFill>
              </a:rPr>
              <a:t>Extra GPUs help only when saved computation exceeds replication and communication costs.</a:t>
            </a:r>
            <a:endParaRPr lang="en-US" sz="1430" dirty="0"/>
          </a:p>
        </p:txBody>
      </p:sp>
      <p:sp>
        <p:nvSpPr>
          <p:cNvPr id="38"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Results 1/4 — Measured CNN performance</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50 epochs · 4,800 train / 1,200 validation / 1,000 test · identical model, weights and batch 64.</a:t>
            </a:r>
            <a:endParaRPr lang="en-US" sz="1150" dirty="0"/>
          </a:p>
        </p:txBody>
      </p:sp>
      <p:sp>
        <p:nvSpPr>
          <p:cNvPr id="4" name="Shape 2"/>
          <p:cNvSpPr/>
          <p:nvPr/>
        </p:nvSpPr>
        <p:spPr>
          <a:xfrm>
            <a:off x="9966960" y="347472"/>
            <a:ext cx="1600200" cy="384048"/>
          </a:xfrm>
          <a:prstGeom prst="roundRect">
            <a:avLst>
              <a:gd name="adj" fmla="val 19048"/>
            </a:avLst>
          </a:prstGeom>
          <a:solidFill>
            <a:srgbClr val="FFB454">
              <a:alpha val="16000"/>
            </a:srgbClr>
          </a:solidFill>
          <a:ln w="12700">
            <a:solidFill>
              <a:srgbClr val="FFB454">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FFB454"/>
                </a:solidFill>
              </a:rPr>
              <a:t>ROYDON · PERSON 3</a:t>
            </a:r>
            <a:endParaRPr lang="en-US" sz="950" dirty="0"/>
          </a:p>
        </p:txBody>
      </p:sp>
      <p:sp>
        <p:nvSpPr>
          <p:cNvPr id="6" name="Shape 4"/>
          <p:cNvSpPr/>
          <p:nvPr/>
        </p:nvSpPr>
        <p:spPr>
          <a:xfrm>
            <a:off x="603504" y="1225296"/>
            <a:ext cx="10972800" cy="4983480"/>
          </a:xfrm>
          <a:prstGeom prst="roundRect">
            <a:avLst>
              <a:gd name="adj" fmla="val 1468"/>
            </a:avLst>
          </a:prstGeom>
          <a:solidFill>
            <a:srgbClr val="121923"/>
          </a:solidFill>
          <a:ln w="12700">
            <a:solidFill>
              <a:srgbClr val="25303D"/>
            </a:solidFill>
            <a:prstDash val="solid"/>
          </a:ln>
        </p:spPr>
      </p:sp>
      <p:sp>
        <p:nvSpPr>
          <p:cNvPr id="34" name="Shape 32"/>
          <p:cNvSpPr/>
          <p:nvPr/>
        </p:nvSpPr>
        <p:spPr>
          <a:xfrm>
            <a:off x="8641080" y="1828800"/>
            <a:ext cx="2468880" cy="1847088"/>
          </a:xfrm>
          <a:prstGeom prst="roundRect">
            <a:avLst>
              <a:gd name="adj" fmla="val 3960"/>
            </a:avLst>
          </a:prstGeom>
          <a:solidFill>
            <a:srgbClr val="18212D"/>
          </a:solidFill>
          <a:ln w="12700">
            <a:solidFill>
              <a:srgbClr val="3D4B5C"/>
            </a:solidFill>
            <a:prstDash val="solid"/>
          </a:ln>
        </p:spPr>
      </p:sp>
      <p:sp>
        <p:nvSpPr>
          <p:cNvPr id="35" name="Text 33"/>
          <p:cNvSpPr/>
          <p:nvPr/>
        </p:nvSpPr>
        <p:spPr>
          <a:xfrm>
            <a:off x="8869680" y="2075688"/>
            <a:ext cx="2032000" cy="228600"/>
          </a:xfrm>
          <a:prstGeom prst="rect">
            <a:avLst/>
          </a:prstGeom>
          <a:noFill/>
          <a:ln/>
        </p:spPr>
        <p:txBody>
          <a:bodyPr wrap="square" lIns="0" tIns="0" rIns="0" bIns="0" rtlCol="0" anchor="ctr">
            <a:noAutofit/>
          </a:bodyPr>
          <a:lstStyle/>
          <a:p>
            <a:pPr marL="0" indent="0">
              <a:buNone/>
            </a:pPr>
            <a:r>
              <a:rPr lang="en-US" sz="1200" b="1">
                <a:solidFill>
                  <a:srgbClr val="A3E635"/>
                </a:solidFill>
              </a:rPr>
              <a:t>FASTEST TRAINING</a:t>
            </a:r>
            <a:endParaRPr lang="en-US" sz="1200" dirty="0"/>
          </a:p>
        </p:txBody>
      </p:sp>
      <p:sp>
        <p:nvSpPr>
          <p:cNvPr id="36" name="Text 34"/>
          <p:cNvSpPr/>
          <p:nvPr/>
        </p:nvSpPr>
        <p:spPr>
          <a:xfrm>
            <a:off x="8890000" y="2438400"/>
            <a:ext cx="2032000" cy="609600"/>
          </a:xfrm>
          <a:prstGeom prst="rect">
            <a:avLst/>
          </a:prstGeom>
          <a:noFill/>
          <a:ln/>
        </p:spPr>
        <p:txBody>
          <a:bodyPr wrap="square" lIns="0" tIns="0" rIns="0" bIns="0" rtlCol="0" anchor="ctr">
            <a:noAutofit/>
          </a:bodyPr>
          <a:lstStyle/>
          <a:p>
            <a:pPr marL="0" indent="0" algn="ctr">
              <a:buNone/>
            </a:pPr>
            <a:r>
              <a:rPr lang="en-US" sz="3600" b="1">
                <a:solidFill>
                  <a:srgbClr val="F4F7FA"/>
                </a:solidFill>
              </a:rPr>
              <a:t>5.42 s</a:t>
            </a:r>
            <a:endParaRPr lang="en-US" sz="3600" dirty="0"/>
          </a:p>
        </p:txBody>
      </p:sp>
      <p:sp>
        <p:nvSpPr>
          <p:cNvPr id="38" name="Text 36"/>
          <p:cNvSpPr/>
          <p:nvPr/>
        </p:nvSpPr>
        <p:spPr>
          <a:xfrm>
            <a:off x="8890000" y="3149600"/>
            <a:ext cx="2032000" cy="431800"/>
          </a:xfrm>
          <a:prstGeom prst="rect">
            <a:avLst/>
          </a:prstGeom>
          <a:noFill/>
          <a:ln/>
        </p:spPr>
        <p:txBody>
          <a:bodyPr wrap="square" lIns="0" tIns="0" rIns="0" bIns="0" rtlCol="0" anchor="ctr">
            <a:noAutofit/>
          </a:bodyPr>
          <a:lstStyle/>
          <a:p>
            <a:pPr marL="0" indent="0" algn="ctr">
              <a:buNone/>
            </a:pPr>
            <a:r>
              <a:rPr lang="en-US" sz="1100">
                <a:solidFill>
                  <a:srgbClr val="7E8A97"/>
                </a:solidFill>
              </a:rPr>
              <a:t>PyTorch · one T4</a:t>
            </a:r>
          </a:p>
          <a:p>
            <a:pPr marL="0" indent="0" algn="ctr">
              <a:buNone/>
            </a:pPr>
            <a:r>
              <a:rPr lang="en-US" sz="1100">
                <a:solidFill>
                  <a:srgbClr val="7E8A97"/>
                </a:solidFill>
              </a:rPr>
              <a:t>1.88× faster than CPU</a:t>
            </a:r>
            <a:endParaRPr lang="en-US" sz="1100" dirty="0"/>
          </a:p>
        </p:txBody>
      </p:sp>
      <p:sp>
        <p:nvSpPr>
          <p:cNvPr id="39" name="Text 37"/>
          <p:cNvSpPr/>
          <p:nvPr/>
        </p:nvSpPr>
        <p:spPr>
          <a:xfrm>
            <a:off x="8668512" y="4114800"/>
            <a:ext cx="2011680" cy="228600"/>
          </a:xfrm>
          <a:prstGeom prst="rect">
            <a:avLst/>
          </a:prstGeom>
          <a:noFill/>
          <a:ln/>
        </p:spPr>
        <p:txBody>
          <a:bodyPr wrap="square" lIns="0" tIns="0" rIns="0" bIns="0" rtlCol="0" anchor="ctr">
            <a:noAutofit/>
          </a:bodyPr>
          <a:lstStyle/>
          <a:p>
            <a:pPr marL="0" indent="0">
              <a:buNone/>
            </a:pPr>
            <a:r>
              <a:rPr lang="en-US" sz="1300" b="1">
                <a:solidFill>
                  <a:srgbClr val="FFB454"/>
                </a:solidFill>
              </a:rPr>
              <a:t>Latency vs throughput</a:t>
            </a:r>
            <a:endParaRPr lang="en-US" sz="1300" dirty="0"/>
          </a:p>
        </p:txBody>
      </p:sp>
      <p:sp>
        <p:nvSpPr>
          <p:cNvPr id="40" name="Text 38"/>
          <p:cNvSpPr/>
          <p:nvPr/>
        </p:nvSpPr>
        <p:spPr>
          <a:xfrm>
            <a:off x="8668512" y="4462272"/>
            <a:ext cx="2084832" cy="1005840"/>
          </a:xfrm>
          <a:prstGeom prst="rect">
            <a:avLst/>
          </a:prstGeom>
          <a:noFill/>
          <a:ln/>
        </p:spPr>
        <p:txBody>
          <a:bodyPr wrap="square" lIns="0" tIns="0" rIns="0" bIns="0" rtlCol="0" anchor="ctr">
            <a:noAutofit/>
          </a:bodyPr>
          <a:lstStyle/>
          <a:p>
            <a:pPr marL="0" indent="0">
              <a:buNone/>
            </a:pPr>
            <a:r>
              <a:rPr lang="en-US" sz="1170">
                <a:solidFill>
                  <a:srgbClr val="C7D0D9"/>
                </a:solidFill>
              </a:rPr>
              <a:t>CPU: 83.45 µs per digit.</a:t>
            </a:r>
          </a:p>
          <a:p>
            <a:pPr marL="0" indent="0">
              <a:buNone/>
            </a:pPr>
            <a:r>
              <a:rPr lang="en-US" sz="1170">
                <a:solidFill>
                  <a:srgbClr val="C7D0D9"/>
                </a:solidFill>
              </a:rPr>
              <a:t>CUDA: 178,698 batch img/s.</a:t>
            </a:r>
          </a:p>
          <a:p>
            <a:pPr marL="0" indent="0">
              <a:buNone/>
            </a:pPr>
            <a:r>
              <a:rPr lang="en-US" sz="1170">
                <a:solidFill>
                  <a:srgbClr val="C7D0D9"/>
                </a:solidFill>
              </a:rPr>
              <a:t>The best path depends on how much work is submitted.</a:t>
            </a:r>
            <a:endParaRPr lang="en-US" sz="1170" dirty="0"/>
          </a:p>
        </p:txBody>
      </p:sp>
      <p:sp>
        <p:nvSpPr>
          <p:cNvPr id="41" name="Text 39"/>
          <p:cNvSpPr/>
          <p:nvPr/>
        </p:nvSpPr>
        <p:spPr>
          <a:xfrm>
            <a:off x="914400" y="5486400"/>
            <a:ext cx="7223760" cy="571500"/>
          </a:xfrm>
          <a:prstGeom prst="rect">
            <a:avLst/>
          </a:prstGeom>
          <a:noFill/>
          <a:ln/>
        </p:spPr>
        <p:txBody>
          <a:bodyPr wrap="square" lIns="0" tIns="0" rIns="0" bIns="0" rtlCol="0" anchor="ctr">
            <a:noAutofit/>
          </a:bodyPr>
          <a:lstStyle/>
          <a:p>
            <a:pPr marL="0" indent="0">
              <a:buNone/>
            </a:pPr>
            <a:r>
              <a:rPr lang="en-US" sz="1150" b="1">
                <a:solidFill>
                  <a:srgbClr val="F4F7FA"/>
                </a:solidFill>
              </a:rPr>
              <a:t>Conv/Infer: one-digit µs, resident input. Batch/s: batch-64 inference.</a:t>
            </a:r>
          </a:p>
          <a:p>
            <a:pPr marL="0" indent="0">
              <a:buNone/>
            </a:pPr>
            <a:r>
              <a:rPr lang="en-US" sz="1150" b="1">
                <a:solidFill>
                  <a:srgbClr val="F4F7FA"/>
                </a:solidFill>
              </a:rPr>
              <a:t>Training excludes warmup/validation/I/O; batch-one DP uses one replica.</a:t>
            </a:r>
            <a:endParaRPr lang="en-US" sz="1150" dirty="0"/>
          </a:p>
        </p:txBody>
      </p:sp>
      <p:sp>
        <p:nvSpPr>
          <p:cNvPr id="42"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9</a:t>
            </a:fld>
            <a:endParaRPr lang="en-US"/>
          </a:p>
        </p:txBody>
      </p:sp>
      <p:graphicFrame>
        <p:nvGraphicFramePr>
          <p:cNvPr id="43" name="Table 42">
            <a:extLst>
              <a:ext uri="{FF2B5EF4-FFF2-40B4-BE49-F238E27FC236}">
                <a16:creationId xmlns:a16="http://schemas.microsoft.com/office/drawing/2014/main" id="{A866BF4B-8C4A-9E28-866F-8959B997A68E}"/>
              </a:ext>
            </a:extLst>
          </p:cNvPr>
          <p:cNvGraphicFramePr>
            <a:graphicFrameLocks noGrp="1"/>
          </p:cNvGraphicFramePr>
          <p:nvPr>
            <p:extLst>
              <p:ext uri="{D42A27DB-BD31-4B8C-83A1-F6EECF244321}">
                <p14:modId xmlns:p14="http://schemas.microsoft.com/office/powerpoint/2010/main" val="3130483589"/>
              </p:ext>
            </p:extLst>
          </p:nvPr>
        </p:nvGraphicFramePr>
        <p:xfrm>
          <a:off x="863600" y="1676400"/>
          <a:ext cx="7340600" cy="3556000"/>
        </p:xfrm>
        <a:graphic>
          <a:graphicData uri="http://schemas.openxmlformats.org/drawingml/2006/table">
            <a:tbl>
              <a:tblPr firstRow="1" bandRow="1">
                <a:tableStyleId>{5C22544A-7EE6-4342-B048-85BDC9FD1C3A}</a:tableStyleId>
              </a:tblPr>
              <a:tblGrid>
                <a:gridCol w="2870200">
                  <a:extLst>
                    <a:ext uri="{9D8B030D-6E8A-4147-A177-3AD203B41FA5}">
                      <a16:colId xmlns:a16="http://schemas.microsoft.com/office/drawing/2014/main" val="436632136"/>
                    </a:ext>
                  </a:extLst>
                </a:gridCol>
                <a:gridCol w="990600">
                  <a:extLst>
                    <a:ext uri="{9D8B030D-6E8A-4147-A177-3AD203B41FA5}">
                      <a16:colId xmlns:a16="http://schemas.microsoft.com/office/drawing/2014/main" val="277174764"/>
                    </a:ext>
                  </a:extLst>
                </a:gridCol>
                <a:gridCol w="990600">
                  <a:extLst>
                    <a:ext uri="{9D8B030D-6E8A-4147-A177-3AD203B41FA5}">
                      <a16:colId xmlns:a16="http://schemas.microsoft.com/office/drawing/2014/main" val="1581319356"/>
                    </a:ext>
                  </a:extLst>
                </a:gridCol>
                <a:gridCol w="990600">
                  <a:extLst>
                    <a:ext uri="{9D8B030D-6E8A-4147-A177-3AD203B41FA5}">
                      <a16:colId xmlns:a16="http://schemas.microsoft.com/office/drawing/2014/main" val="4177114884"/>
                    </a:ext>
                  </a:extLst>
                </a:gridCol>
                <a:gridCol w="1498600">
                  <a:extLst>
                    <a:ext uri="{9D8B030D-6E8A-4147-A177-3AD203B41FA5}">
                      <a16:colId xmlns:a16="http://schemas.microsoft.com/office/drawing/2014/main" val="1796826327"/>
                    </a:ext>
                  </a:extLst>
                </a:gridCol>
              </a:tblGrid>
              <a:tr h="444500">
                <a:tc>
                  <a:txBody>
                    <a:bodyPr/>
                    <a:lstStyle/>
                    <a:p>
                      <a:pPr>
                        <a:spcAft>
                          <a:spcPts val="0"/>
                        </a:spcAft>
                        <a:buFontTx/>
                        <a:buNone/>
                      </a:pPr>
                      <a:r>
                        <a:rPr lang="en-US" sz="1150" b="1">
                          <a:solidFill>
                            <a:srgbClr val="C7D0D9"/>
                          </a:solidFill>
                          <a:latin typeface="Aptos" panose="020B0004020202020204" pitchFamily="34" charset="0"/>
                        </a:rPr>
                        <a:t>Implementation</a:t>
                      </a:r>
                    </a:p>
                  </a:txBody>
                  <a:tcPr marL="88900" marR="63500" marT="50800" marB="50800">
                    <a:lnL w="12700" cmpd="sng">
                      <a:solidFill>
                        <a:schemeClr val="lt1"/>
                      </a:solidFill>
                    </a:lnL>
                    <a:lnR w="12700" cmpd="sng">
                      <a:solidFill>
                        <a:schemeClr val="lt1"/>
                      </a:solidFill>
                    </a:lnR>
                    <a:lnT w="12700" cmpd="sng">
                      <a:solidFill>
                        <a:schemeClr val="lt1"/>
                      </a:solidFill>
                    </a:lnT>
                    <a:lnB w="9525" cmpd="sng">
                      <a:solidFill>
                        <a:srgbClr val="24303C"/>
                      </a:solidFill>
                    </a:lnB>
                    <a:solidFill>
                      <a:srgbClr val="121923"/>
                    </a:solidFill>
                  </a:tcPr>
                </a:tc>
                <a:tc>
                  <a:txBody>
                    <a:bodyPr/>
                    <a:lstStyle/>
                    <a:p>
                      <a:pPr>
                        <a:spcAft>
                          <a:spcPts val="0"/>
                        </a:spcAft>
                        <a:buFontTx/>
                        <a:buNone/>
                      </a:pPr>
                      <a:r>
                        <a:rPr lang="en-US" sz="1150" b="1">
                          <a:solidFill>
                            <a:srgbClr val="C7D0D9"/>
                          </a:solidFill>
                          <a:latin typeface="Aptos" panose="020B0004020202020204" pitchFamily="34" charset="0"/>
                        </a:rPr>
                        <a:t>Train (s)</a:t>
                      </a:r>
                    </a:p>
                  </a:txBody>
                  <a:tcPr marL="88900" marR="63500" marT="50800" marB="50800">
                    <a:lnL w="12700" cmpd="sng">
                      <a:solidFill>
                        <a:schemeClr val="lt1"/>
                      </a:solidFill>
                    </a:lnL>
                    <a:lnR w="12700" cmpd="sng">
                      <a:solidFill>
                        <a:schemeClr val="lt1"/>
                      </a:solidFill>
                    </a:lnR>
                    <a:lnT w="12700" cmpd="sng">
                      <a:solidFill>
                        <a:schemeClr val="lt1"/>
                      </a:solidFill>
                    </a:lnT>
                    <a:lnB w="9525" cmpd="sng">
                      <a:solidFill>
                        <a:srgbClr val="24303C"/>
                      </a:solidFill>
                    </a:lnB>
                    <a:solidFill>
                      <a:srgbClr val="121923"/>
                    </a:solidFill>
                  </a:tcPr>
                </a:tc>
                <a:tc>
                  <a:txBody>
                    <a:bodyPr/>
                    <a:lstStyle/>
                    <a:p>
                      <a:pPr>
                        <a:spcAft>
                          <a:spcPts val="0"/>
                        </a:spcAft>
                        <a:buFontTx/>
                        <a:buNone/>
                      </a:pPr>
                      <a:r>
                        <a:rPr lang="en-US" sz="1150" b="1">
                          <a:solidFill>
                            <a:srgbClr val="C7D0D9"/>
                          </a:solidFill>
                          <a:latin typeface="Aptos" panose="020B0004020202020204" pitchFamily="34" charset="0"/>
                        </a:rPr>
                        <a:t>Conv (µs)</a:t>
                      </a:r>
                    </a:p>
                  </a:txBody>
                  <a:tcPr marL="88900" marR="63500" marT="50800" marB="50800">
                    <a:lnL w="12700" cmpd="sng">
                      <a:solidFill>
                        <a:schemeClr val="lt1"/>
                      </a:solidFill>
                    </a:lnL>
                    <a:lnR w="12700" cmpd="sng">
                      <a:solidFill>
                        <a:schemeClr val="lt1"/>
                      </a:solidFill>
                    </a:lnR>
                    <a:lnT w="12700" cmpd="sng">
                      <a:solidFill>
                        <a:schemeClr val="lt1"/>
                      </a:solidFill>
                    </a:lnT>
                    <a:lnB w="9525" cmpd="sng">
                      <a:solidFill>
                        <a:srgbClr val="24303C"/>
                      </a:solidFill>
                    </a:lnB>
                    <a:solidFill>
                      <a:srgbClr val="121923"/>
                    </a:solidFill>
                  </a:tcPr>
                </a:tc>
                <a:tc>
                  <a:txBody>
                    <a:bodyPr/>
                    <a:lstStyle/>
                    <a:p>
                      <a:pPr>
                        <a:spcAft>
                          <a:spcPts val="0"/>
                        </a:spcAft>
                        <a:buFontTx/>
                        <a:buNone/>
                      </a:pPr>
                      <a:r>
                        <a:rPr lang="en-US" sz="1150" b="1">
                          <a:solidFill>
                            <a:srgbClr val="C7D0D9"/>
                          </a:solidFill>
                          <a:latin typeface="Aptos" panose="020B0004020202020204" pitchFamily="34" charset="0"/>
                        </a:rPr>
                        <a:t>Infer (µs)</a:t>
                      </a:r>
                    </a:p>
                  </a:txBody>
                  <a:tcPr marL="88900" marR="63500" marT="50800" marB="50800">
                    <a:lnL w="12700" cmpd="sng">
                      <a:solidFill>
                        <a:schemeClr val="lt1"/>
                      </a:solidFill>
                    </a:lnL>
                    <a:lnR w="12700" cmpd="sng">
                      <a:solidFill>
                        <a:schemeClr val="lt1"/>
                      </a:solidFill>
                    </a:lnR>
                    <a:lnT w="12700" cmpd="sng">
                      <a:solidFill>
                        <a:schemeClr val="lt1"/>
                      </a:solidFill>
                    </a:lnT>
                    <a:lnB w="9525" cmpd="sng">
                      <a:solidFill>
                        <a:srgbClr val="24303C"/>
                      </a:solidFill>
                    </a:lnB>
                    <a:solidFill>
                      <a:srgbClr val="121923"/>
                    </a:solidFill>
                  </a:tcPr>
                </a:tc>
                <a:tc>
                  <a:txBody>
                    <a:bodyPr/>
                    <a:lstStyle/>
                    <a:p>
                      <a:pPr>
                        <a:spcAft>
                          <a:spcPts val="0"/>
                        </a:spcAft>
                        <a:buFontTx/>
                        <a:buNone/>
                      </a:pPr>
                      <a:r>
                        <a:rPr lang="en-US" sz="1150" b="1">
                          <a:solidFill>
                            <a:srgbClr val="C7D0D9"/>
                          </a:solidFill>
                          <a:latin typeface="Aptos" panose="020B0004020202020204" pitchFamily="34" charset="0"/>
                        </a:rPr>
                        <a:t>Batch/s</a:t>
                      </a:r>
                    </a:p>
                  </a:txBody>
                  <a:tcPr marL="88900" marR="63500" marT="50800" marB="50800">
                    <a:lnL w="12700" cmpd="sng">
                      <a:solidFill>
                        <a:schemeClr val="lt1"/>
                      </a:solidFill>
                    </a:lnL>
                    <a:lnR w="12700" cmpd="sng">
                      <a:solidFill>
                        <a:schemeClr val="lt1"/>
                      </a:solidFill>
                    </a:lnR>
                    <a:lnT w="12700" cmpd="sng">
                      <a:solidFill>
                        <a:schemeClr val="lt1"/>
                      </a:solidFill>
                    </a:lnT>
                    <a:lnB w="9525" cmpd="sng">
                      <a:solidFill>
                        <a:srgbClr val="24303C"/>
                      </a:solidFill>
                    </a:lnB>
                    <a:solidFill>
                      <a:srgbClr val="121923"/>
                    </a:solidFill>
                  </a:tcPr>
                </a:tc>
                <a:extLst>
                  <a:ext uri="{0D108BD9-81ED-4DB2-BD59-A6C34878D82A}">
                    <a16:rowId xmlns:a16="http://schemas.microsoft.com/office/drawing/2014/main" val="745903867"/>
                  </a:ext>
                </a:extLst>
              </a:tr>
              <a:tr h="444500">
                <a:tc>
                  <a:txBody>
                    <a:bodyPr/>
                    <a:lstStyle/>
                    <a:p>
                      <a:pPr>
                        <a:spcAft>
                          <a:spcPts val="0"/>
                        </a:spcAft>
                        <a:buFontTx/>
                        <a:buNone/>
                      </a:pPr>
                      <a:r>
                        <a:rPr lang="en-US" sz="1300" b="0">
                          <a:solidFill>
                            <a:srgbClr val="41D9FF"/>
                          </a:solidFill>
                          <a:latin typeface="Aptos" panose="020B0004020202020204" pitchFamily="34" charset="0"/>
                        </a:rPr>
                        <a:t>PyTorch CPU</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10.17</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23.80</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83.45</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59,454</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1194304263"/>
                  </a:ext>
                </a:extLst>
              </a:tr>
              <a:tr h="444500">
                <a:tc>
                  <a:txBody>
                    <a:bodyPr/>
                    <a:lstStyle/>
                    <a:p>
                      <a:pPr>
                        <a:spcAft>
                          <a:spcPts val="0"/>
                        </a:spcAft>
                        <a:buFontTx/>
                        <a:buNone/>
                      </a:pPr>
                      <a:r>
                        <a:rPr lang="en-US" sz="1300" b="0">
                          <a:solidFill>
                            <a:srgbClr val="76B900"/>
                          </a:solidFill>
                          <a:latin typeface="Aptos" panose="020B0004020202020204" pitchFamily="34" charset="0"/>
                        </a:rPr>
                        <a:t>CUDA · 1 GPU</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6.06</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62.41</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351.39</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178,698</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3851602889"/>
                  </a:ext>
                </a:extLst>
              </a:tr>
              <a:tr h="444500">
                <a:tc>
                  <a:txBody>
                    <a:bodyPr/>
                    <a:lstStyle/>
                    <a:p>
                      <a:pPr>
                        <a:spcAft>
                          <a:spcPts val="0"/>
                        </a:spcAft>
                        <a:buFontTx/>
                        <a:buNone/>
                      </a:pPr>
                      <a:r>
                        <a:rPr lang="en-US" sz="1300" b="0">
                          <a:solidFill>
                            <a:srgbClr val="FFB454"/>
                          </a:solidFill>
                          <a:latin typeface="Aptos" panose="020B0004020202020204" pitchFamily="34" charset="0"/>
                        </a:rPr>
                        <a:t>CUDA · 2 GPUs (DP)</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15.99</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548.40</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913.92</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29,441</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1035485956"/>
                  </a:ext>
                </a:extLst>
              </a:tr>
              <a:tr h="444500">
                <a:tc>
                  <a:txBody>
                    <a:bodyPr/>
                    <a:lstStyle/>
                    <a:p>
                      <a:pPr>
                        <a:spcAft>
                          <a:spcPts val="0"/>
                        </a:spcAft>
                        <a:buFontTx/>
                        <a:buNone/>
                      </a:pPr>
                      <a:r>
                        <a:rPr lang="en-US" sz="1300" b="0">
                          <a:solidFill>
                            <a:srgbClr val="A7B8FA"/>
                          </a:solidFill>
                          <a:latin typeface="Aptos" panose="020B0004020202020204" pitchFamily="34" charset="0"/>
                        </a:rPr>
                        <a:t>cuDNN · 1 GPU</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6.34</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141.80</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444.74</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142,844</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1257725834"/>
                  </a:ext>
                </a:extLst>
              </a:tr>
              <a:tr h="444500">
                <a:tc>
                  <a:txBody>
                    <a:bodyPr/>
                    <a:lstStyle/>
                    <a:p>
                      <a:pPr>
                        <a:spcAft>
                          <a:spcPts val="0"/>
                        </a:spcAft>
                        <a:buFontTx/>
                        <a:buNone/>
                      </a:pPr>
                      <a:r>
                        <a:rPr lang="en-US" sz="1300" b="0">
                          <a:solidFill>
                            <a:srgbClr val="FFB454"/>
                          </a:solidFill>
                          <a:latin typeface="Aptos" panose="020B0004020202020204" pitchFamily="34" charset="0"/>
                        </a:rPr>
                        <a:t>cuDNN · 2 GPUs (DP)</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17.32</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633.95</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959.52</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27,024</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3854377527"/>
                  </a:ext>
                </a:extLst>
              </a:tr>
              <a:tr h="444500">
                <a:tc>
                  <a:txBody>
                    <a:bodyPr/>
                    <a:lstStyle/>
                    <a:p>
                      <a:pPr>
                        <a:spcAft>
                          <a:spcPts val="0"/>
                        </a:spcAft>
                        <a:buFontTx/>
                        <a:buNone/>
                      </a:pPr>
                      <a:r>
                        <a:rPr lang="en-US" sz="1300" b="0">
                          <a:solidFill>
                            <a:srgbClr val="76B900"/>
                          </a:solidFill>
                          <a:latin typeface="Aptos" panose="020B0004020202020204" pitchFamily="34" charset="0"/>
                        </a:rPr>
                        <a:t>PyTorch · 1 GPU</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5.42</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41.68</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379.61</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169,365</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11042615"/>
                  </a:ext>
                </a:extLst>
              </a:tr>
              <a:tr h="444500">
                <a:tc>
                  <a:txBody>
                    <a:bodyPr/>
                    <a:lstStyle/>
                    <a:p>
                      <a:pPr>
                        <a:spcAft>
                          <a:spcPts val="0"/>
                        </a:spcAft>
                        <a:buFontTx/>
                        <a:buNone/>
                      </a:pPr>
                      <a:r>
                        <a:rPr lang="en-US" sz="1300" b="0">
                          <a:solidFill>
                            <a:srgbClr val="FFB454"/>
                          </a:solidFill>
                          <a:latin typeface="Aptos" panose="020B0004020202020204" pitchFamily="34" charset="0"/>
                        </a:rPr>
                        <a:t>PyTorch · 2 GPUs (DP)</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18.39</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524.17</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867.08</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tc>
                  <a:txBody>
                    <a:bodyPr/>
                    <a:lstStyle/>
                    <a:p>
                      <a:pPr>
                        <a:spcAft>
                          <a:spcPts val="0"/>
                        </a:spcAft>
                        <a:buFontTx/>
                        <a:buNone/>
                      </a:pPr>
                      <a:r>
                        <a:rPr lang="en-US" sz="1300" b="0">
                          <a:solidFill>
                            <a:srgbClr val="F4F7FA"/>
                          </a:solidFill>
                          <a:latin typeface="Aptos" panose="020B0004020202020204" pitchFamily="34" charset="0"/>
                        </a:rPr>
                        <a:t>20,903</a:t>
                      </a:r>
                    </a:p>
                  </a:txBody>
                  <a:tcPr marL="88900" marR="63500" marT="50800" marB="50800">
                    <a:lnL w="12700" cmpd="sng">
                      <a:solidFill>
                        <a:schemeClr val="lt1"/>
                      </a:solidFill>
                    </a:lnL>
                    <a:lnR w="12700" cmpd="sng">
                      <a:solidFill>
                        <a:schemeClr val="lt1"/>
                      </a:solidFill>
                    </a:lnR>
                    <a:lnT w="9525" cmpd="sng">
                      <a:solidFill>
                        <a:srgbClr val="24303C"/>
                      </a:solidFill>
                    </a:lnT>
                    <a:lnB w="9525" cmpd="sng">
                      <a:solidFill>
                        <a:srgbClr val="24303C"/>
                      </a:solidFill>
                    </a:lnB>
                    <a:solidFill>
                      <a:srgbClr val="121923"/>
                    </a:solidFill>
                  </a:tcPr>
                </a:tc>
                <a:extLst>
                  <a:ext uri="{0D108BD9-81ED-4DB2-BD59-A6C34878D82A}">
                    <a16:rowId xmlns:a16="http://schemas.microsoft.com/office/drawing/2014/main" val="370854725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Results 2/4 — Two-GPU scaling and overhead</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Matching engines, same global batch 64. Extra GPUs increased training time for this small CNN.</a:t>
            </a:r>
            <a:endParaRPr lang="en-US" sz="1150" dirty="0"/>
          </a:p>
        </p:txBody>
      </p:sp>
      <p:sp>
        <p:nvSpPr>
          <p:cNvPr id="4" name="Shape 2"/>
          <p:cNvSpPr/>
          <p:nvPr/>
        </p:nvSpPr>
        <p:spPr>
          <a:xfrm>
            <a:off x="9966960" y="347472"/>
            <a:ext cx="1600200" cy="384048"/>
          </a:xfrm>
          <a:prstGeom prst="roundRect">
            <a:avLst>
              <a:gd name="adj" fmla="val 19048"/>
            </a:avLst>
          </a:prstGeom>
          <a:solidFill>
            <a:srgbClr val="FFB454">
              <a:alpha val="16000"/>
            </a:srgbClr>
          </a:solidFill>
          <a:ln w="12700">
            <a:solidFill>
              <a:srgbClr val="FFB454">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FFB454"/>
                </a:solidFill>
              </a:rPr>
              <a:t>ROYDON · PERSON 3</a:t>
            </a:r>
            <a:endParaRPr lang="en-US" sz="950" dirty="0"/>
          </a:p>
        </p:txBody>
      </p:sp>
      <p:sp>
        <p:nvSpPr>
          <p:cNvPr id="6" name="Shape 4"/>
          <p:cNvSpPr/>
          <p:nvPr/>
        </p:nvSpPr>
        <p:spPr>
          <a:xfrm>
            <a:off x="603504" y="1225296"/>
            <a:ext cx="6537960" cy="4992624"/>
          </a:xfrm>
          <a:prstGeom prst="roundRect">
            <a:avLst>
              <a:gd name="adj" fmla="val 1465"/>
            </a:avLst>
          </a:prstGeom>
          <a:solidFill>
            <a:srgbClr val="121923"/>
          </a:solidFill>
          <a:ln w="12700">
            <a:solidFill>
              <a:srgbClr val="25303D"/>
            </a:solidFill>
            <a:prstDash val="solid"/>
          </a:ln>
        </p:spPr>
      </p:sp>
      <p:sp>
        <p:nvSpPr>
          <p:cNvPr id="7" name="Shape 5"/>
          <p:cNvSpPr/>
          <p:nvPr/>
        </p:nvSpPr>
        <p:spPr>
          <a:xfrm>
            <a:off x="868680" y="1499616"/>
            <a:ext cx="1600200" cy="310896"/>
          </a:xfrm>
          <a:prstGeom prst="roundRect">
            <a:avLst>
              <a:gd name="adj" fmla="val 17647"/>
            </a:avLst>
          </a:prstGeom>
          <a:solidFill>
            <a:srgbClr val="FFB454">
              <a:alpha val="14000"/>
            </a:srgbClr>
          </a:solidFill>
          <a:ln w="12700">
            <a:solidFill>
              <a:srgbClr val="FFB454">
                <a:alpha val="45000"/>
              </a:srgbClr>
            </a:solidFill>
            <a:prstDash val="solid"/>
          </a:ln>
        </p:spPr>
      </p:sp>
      <p:sp>
        <p:nvSpPr>
          <p:cNvPr id="8" name="Text 6"/>
          <p:cNvSpPr/>
          <p:nvPr/>
        </p:nvSpPr>
        <p:spPr>
          <a:xfrm>
            <a:off x="868680" y="1577340"/>
            <a:ext cx="1600200" cy="128016"/>
          </a:xfrm>
          <a:prstGeom prst="rect">
            <a:avLst/>
          </a:prstGeom>
          <a:noFill/>
          <a:ln/>
        </p:spPr>
        <p:txBody>
          <a:bodyPr wrap="square" lIns="0" tIns="0" rIns="0" bIns="0" rtlCol="0" anchor="ctr">
            <a:noAutofit/>
          </a:bodyPr>
          <a:lstStyle/>
          <a:p>
            <a:pPr marL="0" indent="0" algn="ctr">
              <a:buNone/>
            </a:pPr>
            <a:r>
              <a:rPr lang="en-US" sz="850" b="1" kern="0" spc="100">
                <a:solidFill>
                  <a:srgbClr val="FFB454"/>
                </a:solidFill>
              </a:rPr>
              <a:t>TRAINING TIME</a:t>
            </a:r>
            <a:endParaRPr lang="en-US" sz="850" dirty="0"/>
          </a:p>
        </p:txBody>
      </p:sp>
      <p:sp>
        <p:nvSpPr>
          <p:cNvPr id="9" name="Shape 7"/>
          <p:cNvSpPr/>
          <p:nvPr/>
        </p:nvSpPr>
        <p:spPr>
          <a:xfrm>
            <a:off x="1143000" y="5303520"/>
            <a:ext cx="5257800" cy="0"/>
          </a:xfrm>
          <a:prstGeom prst="line">
            <a:avLst/>
          </a:prstGeom>
          <a:noFill/>
          <a:ln w="15240">
            <a:solidFill>
              <a:srgbClr val="556271"/>
            </a:solidFill>
            <a:prstDash val="solid"/>
          </a:ln>
        </p:spPr>
      </p:sp>
      <p:sp>
        <p:nvSpPr>
          <p:cNvPr id="10" name="Shape 8"/>
          <p:cNvSpPr/>
          <p:nvPr/>
        </p:nvSpPr>
        <p:spPr>
          <a:xfrm>
            <a:off x="1143000" y="2057400"/>
            <a:ext cx="0" cy="3246120"/>
          </a:xfrm>
          <a:prstGeom prst="line">
            <a:avLst/>
          </a:prstGeom>
          <a:noFill/>
          <a:ln w="15240">
            <a:solidFill>
              <a:srgbClr val="556271"/>
            </a:solidFill>
            <a:prstDash val="solid"/>
          </a:ln>
        </p:spPr>
      </p:sp>
      <p:sp>
        <p:nvSpPr>
          <p:cNvPr id="11" name="Shape 9"/>
          <p:cNvSpPr/>
          <p:nvPr/>
        </p:nvSpPr>
        <p:spPr>
          <a:xfrm>
            <a:off x="1828800" y="4461672"/>
            <a:ext cx="411480" cy="846928"/>
          </a:xfrm>
          <a:prstGeom prst="rect">
            <a:avLst/>
          </a:prstGeom>
          <a:solidFill>
            <a:srgbClr val="76B900">
              <a:alpha val="30000"/>
            </a:srgbClr>
          </a:solidFill>
          <a:ln w="16510">
            <a:solidFill>
              <a:srgbClr val="76B900"/>
            </a:solidFill>
            <a:prstDash val="solid"/>
          </a:ln>
        </p:spPr>
      </p:sp>
      <p:sp>
        <p:nvSpPr>
          <p:cNvPr id="12" name="Shape 10"/>
          <p:cNvSpPr/>
          <p:nvPr/>
        </p:nvSpPr>
        <p:spPr>
          <a:xfrm>
            <a:off x="2331720" y="3075040"/>
            <a:ext cx="411480" cy="2233560"/>
          </a:xfrm>
          <a:prstGeom prst="rect">
            <a:avLst/>
          </a:prstGeom>
          <a:solidFill>
            <a:srgbClr val="FFB454">
              <a:alpha val="30000"/>
            </a:srgbClr>
          </a:solidFill>
          <a:ln w="16510">
            <a:solidFill>
              <a:srgbClr val="FFB454"/>
            </a:solidFill>
            <a:prstDash val="solid"/>
          </a:ln>
        </p:spPr>
      </p:sp>
      <p:sp>
        <p:nvSpPr>
          <p:cNvPr id="13" name="Text 11"/>
          <p:cNvSpPr/>
          <p:nvPr/>
        </p:nvSpPr>
        <p:spPr>
          <a:xfrm>
            <a:off x="1783080" y="5431536"/>
            <a:ext cx="1005840" cy="182880"/>
          </a:xfrm>
          <a:prstGeom prst="rect">
            <a:avLst/>
          </a:prstGeom>
          <a:noFill/>
          <a:ln/>
        </p:spPr>
        <p:txBody>
          <a:bodyPr wrap="square" lIns="0" tIns="0" rIns="0" bIns="0" rtlCol="0" anchor="ctr">
            <a:noAutofit/>
          </a:bodyPr>
          <a:lstStyle/>
          <a:p>
            <a:pPr marL="0" indent="0" algn="ctr">
              <a:buNone/>
            </a:pPr>
            <a:r>
              <a:rPr lang="en-US" sz="1050">
                <a:solidFill>
                  <a:srgbClr val="C7D0D9"/>
                </a:solidFill>
              </a:rPr>
              <a:t>CUDA</a:t>
            </a:r>
            <a:endParaRPr lang="en-US" sz="1050" dirty="0"/>
          </a:p>
        </p:txBody>
      </p:sp>
      <p:sp>
        <p:nvSpPr>
          <p:cNvPr id="14" name="Shape 12"/>
          <p:cNvSpPr/>
          <p:nvPr/>
        </p:nvSpPr>
        <p:spPr>
          <a:xfrm>
            <a:off x="3337560" y="4423114"/>
            <a:ext cx="411480" cy="885486"/>
          </a:xfrm>
          <a:prstGeom prst="rect">
            <a:avLst/>
          </a:prstGeom>
          <a:solidFill>
            <a:srgbClr val="76B900">
              <a:alpha val="30000"/>
            </a:srgbClr>
          </a:solidFill>
          <a:ln w="16510">
            <a:solidFill>
              <a:srgbClr val="76B900"/>
            </a:solidFill>
            <a:prstDash val="solid"/>
          </a:ln>
        </p:spPr>
      </p:sp>
      <p:sp>
        <p:nvSpPr>
          <p:cNvPr id="15" name="Shape 13"/>
          <p:cNvSpPr/>
          <p:nvPr/>
        </p:nvSpPr>
        <p:spPr>
          <a:xfrm>
            <a:off x="3840480" y="2888607"/>
            <a:ext cx="411480" cy="2419993"/>
          </a:xfrm>
          <a:prstGeom prst="rect">
            <a:avLst/>
          </a:prstGeom>
          <a:solidFill>
            <a:srgbClr val="FFB454">
              <a:alpha val="30000"/>
            </a:srgbClr>
          </a:solidFill>
          <a:ln w="16510">
            <a:solidFill>
              <a:srgbClr val="FFB454"/>
            </a:solidFill>
            <a:prstDash val="solid"/>
          </a:ln>
        </p:spPr>
      </p:sp>
      <p:sp>
        <p:nvSpPr>
          <p:cNvPr id="16" name="Text 14"/>
          <p:cNvSpPr/>
          <p:nvPr/>
        </p:nvSpPr>
        <p:spPr>
          <a:xfrm>
            <a:off x="3291840" y="5431536"/>
            <a:ext cx="1005840" cy="182880"/>
          </a:xfrm>
          <a:prstGeom prst="rect">
            <a:avLst/>
          </a:prstGeom>
          <a:noFill/>
          <a:ln/>
        </p:spPr>
        <p:txBody>
          <a:bodyPr wrap="square" lIns="0" tIns="0" rIns="0" bIns="0" rtlCol="0" anchor="ctr">
            <a:noAutofit/>
          </a:bodyPr>
          <a:lstStyle/>
          <a:p>
            <a:pPr marL="0" indent="0" algn="ctr">
              <a:buNone/>
            </a:pPr>
            <a:r>
              <a:rPr lang="en-US" sz="1050">
                <a:solidFill>
                  <a:srgbClr val="C7D0D9"/>
                </a:solidFill>
              </a:rPr>
              <a:t>cuDNN</a:t>
            </a:r>
            <a:endParaRPr lang="en-US" sz="1050" dirty="0"/>
          </a:p>
        </p:txBody>
      </p:sp>
      <p:sp>
        <p:nvSpPr>
          <p:cNvPr id="17" name="Shape 15"/>
          <p:cNvSpPr/>
          <p:nvPr/>
        </p:nvSpPr>
        <p:spPr>
          <a:xfrm>
            <a:off x="4846320" y="4551106"/>
            <a:ext cx="411480" cy="757494"/>
          </a:xfrm>
          <a:prstGeom prst="rect">
            <a:avLst/>
          </a:prstGeom>
          <a:solidFill>
            <a:srgbClr val="76B900">
              <a:alpha val="30000"/>
            </a:srgbClr>
          </a:solidFill>
          <a:ln w="16510">
            <a:solidFill>
              <a:srgbClr val="76B900"/>
            </a:solidFill>
            <a:prstDash val="solid"/>
          </a:ln>
        </p:spPr>
      </p:sp>
      <p:sp>
        <p:nvSpPr>
          <p:cNvPr id="18" name="Shape 16"/>
          <p:cNvSpPr/>
          <p:nvPr/>
        </p:nvSpPr>
        <p:spPr>
          <a:xfrm>
            <a:off x="5349240" y="2739938"/>
            <a:ext cx="411480" cy="2568662"/>
          </a:xfrm>
          <a:prstGeom prst="rect">
            <a:avLst/>
          </a:prstGeom>
          <a:solidFill>
            <a:srgbClr val="FFB454">
              <a:alpha val="30000"/>
            </a:srgbClr>
          </a:solidFill>
          <a:ln w="16510">
            <a:solidFill>
              <a:srgbClr val="FFB454"/>
            </a:solidFill>
            <a:prstDash val="solid"/>
          </a:ln>
        </p:spPr>
      </p:sp>
      <p:sp>
        <p:nvSpPr>
          <p:cNvPr id="19" name="Text 17"/>
          <p:cNvSpPr/>
          <p:nvPr/>
        </p:nvSpPr>
        <p:spPr>
          <a:xfrm>
            <a:off x="4800600" y="5431536"/>
            <a:ext cx="1005840" cy="182880"/>
          </a:xfrm>
          <a:prstGeom prst="rect">
            <a:avLst/>
          </a:prstGeom>
          <a:noFill/>
          <a:ln/>
        </p:spPr>
        <p:txBody>
          <a:bodyPr wrap="square" lIns="0" tIns="0" rIns="0" bIns="0" rtlCol="0" anchor="ctr">
            <a:noAutofit/>
          </a:bodyPr>
          <a:lstStyle/>
          <a:p>
            <a:pPr marL="0" indent="0" algn="ctr">
              <a:buNone/>
            </a:pPr>
            <a:r>
              <a:rPr lang="en-US" sz="1050">
                <a:solidFill>
                  <a:srgbClr val="C7D0D9"/>
                </a:solidFill>
              </a:rPr>
              <a:t>PyTorch</a:t>
            </a:r>
            <a:endParaRPr lang="en-US" sz="1050" dirty="0"/>
          </a:p>
        </p:txBody>
      </p:sp>
      <p:sp>
        <p:nvSpPr>
          <p:cNvPr id="20" name="Text 18"/>
          <p:cNvSpPr/>
          <p:nvPr/>
        </p:nvSpPr>
        <p:spPr>
          <a:xfrm rot="16200000">
            <a:off x="749808" y="1938528"/>
            <a:ext cx="1417320" cy="182880"/>
          </a:xfrm>
          <a:prstGeom prst="rect">
            <a:avLst/>
          </a:prstGeom>
          <a:noFill/>
          <a:ln/>
        </p:spPr>
        <p:txBody>
          <a:bodyPr wrap="square" lIns="0" tIns="0" rIns="0" bIns="0" rtlCol="0" anchor="ctr">
            <a:noAutofit/>
          </a:bodyPr>
          <a:lstStyle/>
          <a:p>
            <a:pPr marL="0" indent="0">
              <a:buNone/>
            </a:pPr>
            <a:r>
              <a:rPr lang="en-US" sz="950">
                <a:solidFill>
                  <a:srgbClr val="7E8A97"/>
                </a:solidFill>
              </a:rPr>
              <a:t>Training time (s)</a:t>
            </a:r>
            <a:endParaRPr lang="en-US" sz="950" dirty="0"/>
          </a:p>
        </p:txBody>
      </p:sp>
      <p:sp>
        <p:nvSpPr>
          <p:cNvPr id="21" name="Text 19"/>
          <p:cNvSpPr/>
          <p:nvPr/>
        </p:nvSpPr>
        <p:spPr>
          <a:xfrm>
            <a:off x="2476500" y="5742432"/>
            <a:ext cx="3302000" cy="182880"/>
          </a:xfrm>
          <a:prstGeom prst="rect">
            <a:avLst/>
          </a:prstGeom>
          <a:noFill/>
          <a:ln/>
        </p:spPr>
        <p:txBody>
          <a:bodyPr wrap="square" lIns="0" tIns="0" rIns="0" bIns="0" rtlCol="0" anchor="ctr">
            <a:noAutofit/>
          </a:bodyPr>
          <a:lstStyle/>
          <a:p>
            <a:pPr marL="0" indent="0" algn="ctr">
              <a:buNone/>
            </a:pPr>
            <a:r>
              <a:rPr lang="en-US" sz="1020">
                <a:solidFill>
                  <a:srgbClr val="7E8A97"/>
                </a:solidFill>
              </a:rPr>
              <a:t>Same batch 64; lower is better</a:t>
            </a:r>
            <a:endParaRPr lang="en-US" sz="1020" dirty="0"/>
          </a:p>
        </p:txBody>
      </p:sp>
      <p:sp>
        <p:nvSpPr>
          <p:cNvPr id="22" name="Shape 20"/>
          <p:cNvSpPr/>
          <p:nvPr/>
        </p:nvSpPr>
        <p:spPr>
          <a:xfrm>
            <a:off x="4251960" y="1572768"/>
            <a:ext cx="960120" cy="347472"/>
          </a:xfrm>
          <a:prstGeom prst="roundRect">
            <a:avLst>
              <a:gd name="adj" fmla="val 13158"/>
            </a:avLst>
          </a:prstGeom>
          <a:solidFill>
            <a:srgbClr val="76B900">
              <a:alpha val="18000"/>
            </a:srgbClr>
          </a:solidFill>
          <a:ln w="12700">
            <a:solidFill>
              <a:srgbClr val="76B900">
                <a:alpha val="50000"/>
              </a:srgbClr>
            </a:solidFill>
            <a:prstDash val="solid"/>
          </a:ln>
        </p:spPr>
      </p:sp>
      <p:sp>
        <p:nvSpPr>
          <p:cNvPr id="23" name="Text 21"/>
          <p:cNvSpPr/>
          <p:nvPr/>
        </p:nvSpPr>
        <p:spPr>
          <a:xfrm>
            <a:off x="4251960" y="1659636"/>
            <a:ext cx="960120" cy="137160"/>
          </a:xfrm>
          <a:prstGeom prst="rect">
            <a:avLst/>
          </a:prstGeom>
          <a:noFill/>
          <a:ln/>
        </p:spPr>
        <p:txBody>
          <a:bodyPr wrap="square" lIns="0" tIns="0" rIns="0" bIns="0" rtlCol="0" anchor="ctr">
            <a:noAutofit/>
          </a:bodyPr>
          <a:lstStyle/>
          <a:p>
            <a:pPr marL="0" indent="0" algn="ctr">
              <a:buNone/>
            </a:pPr>
            <a:r>
              <a:rPr lang="en-US" sz="900" b="1" dirty="0">
                <a:solidFill>
                  <a:srgbClr val="76B900"/>
                </a:solidFill>
              </a:rPr>
              <a:t>1 GPU</a:t>
            </a:r>
            <a:endParaRPr lang="en-US" sz="900" dirty="0"/>
          </a:p>
        </p:txBody>
      </p:sp>
      <p:sp>
        <p:nvSpPr>
          <p:cNvPr id="24" name="Shape 22"/>
          <p:cNvSpPr/>
          <p:nvPr/>
        </p:nvSpPr>
        <p:spPr>
          <a:xfrm>
            <a:off x="5349240" y="1572768"/>
            <a:ext cx="1234440" cy="347472"/>
          </a:xfrm>
          <a:prstGeom prst="roundRect">
            <a:avLst>
              <a:gd name="adj" fmla="val 13158"/>
            </a:avLst>
          </a:prstGeom>
          <a:solidFill>
            <a:srgbClr val="FFB454">
              <a:alpha val="18000"/>
            </a:srgbClr>
          </a:solidFill>
          <a:ln w="12700">
            <a:solidFill>
              <a:srgbClr val="FFB454">
                <a:alpha val="50000"/>
              </a:srgbClr>
            </a:solidFill>
            <a:prstDash val="solid"/>
          </a:ln>
        </p:spPr>
      </p:sp>
      <p:sp>
        <p:nvSpPr>
          <p:cNvPr id="25" name="Text 23"/>
          <p:cNvSpPr/>
          <p:nvPr/>
        </p:nvSpPr>
        <p:spPr>
          <a:xfrm>
            <a:off x="5349240" y="1659636"/>
            <a:ext cx="1234440" cy="137160"/>
          </a:xfrm>
          <a:prstGeom prst="rect">
            <a:avLst/>
          </a:prstGeom>
          <a:noFill/>
          <a:ln/>
        </p:spPr>
        <p:txBody>
          <a:bodyPr wrap="square" lIns="0" tIns="0" rIns="0" bIns="0" rtlCol="0" anchor="ctr">
            <a:noAutofit/>
          </a:bodyPr>
          <a:lstStyle/>
          <a:p>
            <a:pPr marL="0" indent="0" algn="ctr">
              <a:buNone/>
            </a:pPr>
            <a:r>
              <a:rPr lang="en-US" sz="900" b="1" dirty="0">
                <a:solidFill>
                  <a:srgbClr val="FFB454"/>
                </a:solidFill>
              </a:rPr>
              <a:t>2 GPU DP</a:t>
            </a:r>
            <a:endParaRPr lang="en-US" sz="900" dirty="0"/>
          </a:p>
        </p:txBody>
      </p:sp>
      <p:sp>
        <p:nvSpPr>
          <p:cNvPr id="26" name="Text 24"/>
          <p:cNvSpPr/>
          <p:nvPr/>
        </p:nvSpPr>
        <p:spPr>
          <a:xfrm>
            <a:off x="1417320" y="2148840"/>
            <a:ext cx="4389120" cy="256032"/>
          </a:xfrm>
          <a:prstGeom prst="rect">
            <a:avLst/>
          </a:prstGeom>
          <a:noFill/>
          <a:ln/>
        </p:spPr>
        <p:txBody>
          <a:bodyPr wrap="square" lIns="0" tIns="0" rIns="0" bIns="0" rtlCol="0" anchor="ctr">
            <a:noAutofit/>
          </a:bodyPr>
          <a:lstStyle/>
          <a:p>
            <a:pPr marL="0" indent="0" algn="ctr">
              <a:buNone/>
            </a:pPr>
            <a:r>
              <a:rPr lang="en-US" sz="1250" b="1">
                <a:solidFill>
                  <a:srgbClr val="F4F7FA"/>
                </a:solidFill>
              </a:rPr>
              <a:t>Two GPUs took 2.64–3.39× longer</a:t>
            </a:r>
            <a:endParaRPr lang="en-US" sz="1250" dirty="0"/>
          </a:p>
        </p:txBody>
      </p:sp>
      <p:sp>
        <p:nvSpPr>
          <p:cNvPr id="27" name="Shape 25"/>
          <p:cNvSpPr/>
          <p:nvPr/>
        </p:nvSpPr>
        <p:spPr>
          <a:xfrm>
            <a:off x="7370064" y="1225296"/>
            <a:ext cx="4206240" cy="2240280"/>
          </a:xfrm>
          <a:prstGeom prst="roundRect">
            <a:avLst>
              <a:gd name="adj" fmla="val 3265"/>
            </a:avLst>
          </a:prstGeom>
          <a:solidFill>
            <a:srgbClr val="121923"/>
          </a:solidFill>
          <a:ln w="12700">
            <a:solidFill>
              <a:srgbClr val="25303D"/>
            </a:solidFill>
            <a:prstDash val="solid"/>
          </a:ln>
        </p:spPr>
      </p:sp>
      <p:sp>
        <p:nvSpPr>
          <p:cNvPr id="28" name="Shape 26"/>
          <p:cNvSpPr/>
          <p:nvPr/>
        </p:nvSpPr>
        <p:spPr>
          <a:xfrm>
            <a:off x="7644384" y="1499616"/>
            <a:ext cx="2540000"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29" name="Text 27"/>
          <p:cNvSpPr/>
          <p:nvPr/>
        </p:nvSpPr>
        <p:spPr>
          <a:xfrm>
            <a:off x="7644384" y="1577340"/>
            <a:ext cx="2540000" cy="128016"/>
          </a:xfrm>
          <a:prstGeom prst="rect">
            <a:avLst/>
          </a:prstGeom>
          <a:noFill/>
          <a:ln/>
        </p:spPr>
        <p:txBody>
          <a:bodyPr wrap="square" lIns="0" tIns="0" rIns="0" bIns="0" rtlCol="0" anchor="ctr">
            <a:noAutofit/>
          </a:bodyPr>
          <a:lstStyle/>
          <a:p>
            <a:pPr marL="0" indent="0" algn="ctr">
              <a:buNone/>
            </a:pPr>
            <a:r>
              <a:rPr lang="en-US" sz="850" b="1" kern="0" spc="100">
                <a:solidFill>
                  <a:srgbClr val="76B900"/>
                </a:solidFill>
              </a:rPr>
              <a:t>EFFICIENCY &amp; COST</a:t>
            </a:r>
            <a:endParaRPr lang="en-US" sz="850" dirty="0"/>
          </a:p>
        </p:txBody>
      </p:sp>
      <p:sp>
        <p:nvSpPr>
          <p:cNvPr id="30" name="Text 28"/>
          <p:cNvSpPr/>
          <p:nvPr/>
        </p:nvSpPr>
        <p:spPr>
          <a:xfrm>
            <a:off x="7680960" y="2112264"/>
            <a:ext cx="2921000" cy="182880"/>
          </a:xfrm>
          <a:prstGeom prst="rect">
            <a:avLst/>
          </a:prstGeom>
          <a:noFill/>
          <a:ln/>
        </p:spPr>
        <p:txBody>
          <a:bodyPr wrap="square" lIns="0" tIns="0" rIns="0" bIns="0" rtlCol="0" anchor="ctr">
            <a:noAutofit/>
          </a:bodyPr>
          <a:lstStyle/>
          <a:p>
            <a:pPr marL="0" indent="0">
              <a:buNone/>
            </a:pPr>
            <a:r>
              <a:rPr lang="en-US" sz="1150" b="1">
                <a:solidFill>
                  <a:srgbClr val="F4F7FA"/>
                </a:solidFill>
              </a:rPr>
              <a:t>Two-GPU efficiency</a:t>
            </a:r>
            <a:endParaRPr lang="en-US" sz="1150" dirty="0"/>
          </a:p>
        </p:txBody>
      </p:sp>
      <p:sp>
        <p:nvSpPr>
          <p:cNvPr id="33" name="Text 31"/>
          <p:cNvSpPr/>
          <p:nvPr/>
        </p:nvSpPr>
        <p:spPr>
          <a:xfrm>
            <a:off x="7683500" y="2336800"/>
            <a:ext cx="3251200" cy="381000"/>
          </a:xfrm>
          <a:prstGeom prst="rect">
            <a:avLst/>
          </a:prstGeom>
          <a:noFill/>
          <a:ln/>
        </p:spPr>
        <p:txBody>
          <a:bodyPr wrap="square" lIns="0" tIns="0" rIns="0" bIns="0" rtlCol="0" anchor="ctr">
            <a:noAutofit/>
          </a:bodyPr>
          <a:lstStyle/>
          <a:p>
            <a:pPr marL="0" indent="0" algn="ctr">
              <a:buNone/>
            </a:pPr>
            <a:r>
              <a:rPr lang="en-US" sz="2400" b="1">
                <a:solidFill>
                  <a:srgbClr val="76B900"/>
                </a:solidFill>
              </a:rPr>
              <a:t>14.7–19.0%</a:t>
            </a:r>
            <a:endParaRPr lang="en-US" sz="2400" dirty="0">
              <a:solidFill>
                <a:srgbClr val="76B900"/>
              </a:solidFill>
            </a:endParaRPr>
          </a:p>
        </p:txBody>
      </p:sp>
      <p:sp>
        <p:nvSpPr>
          <p:cNvPr id="34" name="Text 32"/>
          <p:cNvSpPr/>
          <p:nvPr/>
        </p:nvSpPr>
        <p:spPr>
          <a:xfrm>
            <a:off x="7680960" y="2819400"/>
            <a:ext cx="2921000" cy="182880"/>
          </a:xfrm>
          <a:prstGeom prst="rect">
            <a:avLst/>
          </a:prstGeom>
          <a:noFill/>
          <a:ln/>
        </p:spPr>
        <p:txBody>
          <a:bodyPr wrap="square" lIns="0" tIns="0" rIns="0" bIns="0" rtlCol="0" anchor="ctr">
            <a:noAutofit/>
          </a:bodyPr>
          <a:lstStyle/>
          <a:p>
            <a:pPr marL="0" indent="0">
              <a:buNone/>
            </a:pPr>
            <a:r>
              <a:rPr lang="en-US" sz="1150" b="1">
                <a:solidFill>
                  <a:srgbClr val="F4F7FA"/>
                </a:solidFill>
              </a:rPr>
              <a:t>GPU-time cost ratio</a:t>
            </a:r>
            <a:endParaRPr lang="en-US" sz="1150" dirty="0"/>
          </a:p>
        </p:txBody>
      </p:sp>
      <p:sp>
        <p:nvSpPr>
          <p:cNvPr id="37" name="Text 35"/>
          <p:cNvSpPr/>
          <p:nvPr/>
        </p:nvSpPr>
        <p:spPr>
          <a:xfrm>
            <a:off x="7683500" y="3073400"/>
            <a:ext cx="3251200" cy="330200"/>
          </a:xfrm>
          <a:prstGeom prst="rect">
            <a:avLst/>
          </a:prstGeom>
          <a:noFill/>
          <a:ln/>
        </p:spPr>
        <p:txBody>
          <a:bodyPr wrap="square" lIns="0" tIns="0" rIns="0" bIns="0" rtlCol="0" anchor="ctr">
            <a:noAutofit/>
          </a:bodyPr>
          <a:lstStyle/>
          <a:p>
            <a:pPr marL="0" indent="0" algn="ctr">
              <a:buNone/>
            </a:pPr>
            <a:r>
              <a:rPr lang="en-US" sz="2000" b="1">
                <a:solidFill>
                  <a:srgbClr val="FFB454"/>
                </a:solidFill>
              </a:rPr>
              <a:t>5.27–6.78×</a:t>
            </a:r>
            <a:endParaRPr lang="en-US" sz="2000" dirty="0">
              <a:solidFill>
                <a:srgbClr val="FFB454"/>
              </a:solidFill>
            </a:endParaRPr>
          </a:p>
        </p:txBody>
      </p:sp>
      <p:sp>
        <p:nvSpPr>
          <p:cNvPr id="39" name="Shape 37"/>
          <p:cNvSpPr/>
          <p:nvPr/>
        </p:nvSpPr>
        <p:spPr>
          <a:xfrm>
            <a:off x="7370064" y="3703320"/>
            <a:ext cx="4206240" cy="2514600"/>
          </a:xfrm>
          <a:prstGeom prst="roundRect">
            <a:avLst>
              <a:gd name="adj" fmla="val 2909"/>
            </a:avLst>
          </a:prstGeom>
          <a:solidFill>
            <a:srgbClr val="121923"/>
          </a:solidFill>
          <a:ln w="12700">
            <a:solidFill>
              <a:srgbClr val="25303D"/>
            </a:solidFill>
            <a:prstDash val="solid"/>
          </a:ln>
        </p:spPr>
      </p:sp>
      <p:sp>
        <p:nvSpPr>
          <p:cNvPr id="40" name="Shape 38"/>
          <p:cNvSpPr/>
          <p:nvPr/>
        </p:nvSpPr>
        <p:spPr>
          <a:xfrm>
            <a:off x="7644384" y="3968496"/>
            <a:ext cx="1905000" cy="310896"/>
          </a:xfrm>
          <a:prstGeom prst="roundRect">
            <a:avLst>
              <a:gd name="adj" fmla="val 17647"/>
            </a:avLst>
          </a:prstGeom>
          <a:solidFill>
            <a:srgbClr val="FFB454">
              <a:alpha val="14000"/>
            </a:srgbClr>
          </a:solidFill>
          <a:ln w="12700">
            <a:solidFill>
              <a:srgbClr val="FFB454">
                <a:alpha val="45000"/>
              </a:srgbClr>
            </a:solidFill>
            <a:prstDash val="solid"/>
          </a:ln>
        </p:spPr>
      </p:sp>
      <p:sp>
        <p:nvSpPr>
          <p:cNvPr id="41" name="Text 39"/>
          <p:cNvSpPr/>
          <p:nvPr/>
        </p:nvSpPr>
        <p:spPr>
          <a:xfrm>
            <a:off x="7644384" y="4046220"/>
            <a:ext cx="1905000" cy="128016"/>
          </a:xfrm>
          <a:prstGeom prst="rect">
            <a:avLst/>
          </a:prstGeom>
          <a:noFill/>
          <a:ln/>
        </p:spPr>
        <p:txBody>
          <a:bodyPr wrap="square" lIns="0" tIns="0" rIns="0" bIns="0" rtlCol="0" anchor="ctr">
            <a:noAutofit/>
          </a:bodyPr>
          <a:lstStyle/>
          <a:p>
            <a:pPr marL="0" indent="0" algn="ctr">
              <a:buNone/>
            </a:pPr>
            <a:r>
              <a:rPr lang="en-US" sz="850" b="1" kern="0" spc="100">
                <a:solidFill>
                  <a:srgbClr val="FFB454"/>
                </a:solidFill>
              </a:rPr>
              <a:t>WHY TWO GPUs LOST</a:t>
            </a:r>
            <a:endParaRPr lang="en-US" sz="850" dirty="0"/>
          </a:p>
        </p:txBody>
      </p:sp>
      <p:sp>
        <p:nvSpPr>
          <p:cNvPr id="42" name="Text 40"/>
          <p:cNvSpPr/>
          <p:nvPr/>
        </p:nvSpPr>
        <p:spPr>
          <a:xfrm>
            <a:off x="7644384" y="4462272"/>
            <a:ext cx="3429000" cy="1417320"/>
          </a:xfrm>
          <a:prstGeom prst="rect">
            <a:avLst/>
          </a:prstGeom>
          <a:noFill/>
          <a:ln/>
        </p:spPr>
        <p:txBody>
          <a:bodyPr wrap="square" lIns="381" tIns="381" rIns="381" bIns="381" rtlCol="0" anchor="ctr">
            <a:noAutofit/>
          </a:bodyPr>
          <a:lstStyle/>
          <a:p>
            <a:pPr marL="177800" indent="-177800">
              <a:buSzPct val="100000"/>
              <a:buChar char="•"/>
            </a:pPr>
            <a:r>
              <a:rPr lang="en-US" sz="1320">
                <a:solidFill>
                  <a:srgbClr val="C7D0D9"/>
                </a:solidFill>
              </a:rPr>
              <a:t>DP adds replication, scatter/gather and gradient reduction</a:t>
            </a:r>
          </a:p>
          <a:p>
            <a:pPr marL="177800" indent="-177800">
              <a:buSzPct val="100000"/>
              <a:buChar char="•"/>
            </a:pPr>
            <a:r>
              <a:rPr lang="en-US" sz="1320">
                <a:solidFill>
                  <a:srgbClr val="C7D0D9"/>
                </a:solidFill>
              </a:rPr>
              <a:t>This CNN is too small to offset those costs</a:t>
            </a:r>
          </a:p>
          <a:p>
            <a:pPr marL="177800" indent="-177800">
              <a:buSzPct val="100000"/>
              <a:buChar char="•"/>
            </a:pPr>
            <a:r>
              <a:rPr lang="en-US" sz="1320">
                <a:solidFill>
                  <a:srgbClr val="C7D0D9"/>
                </a:solidFill>
              </a:rPr>
              <a:t>GPU-time is a proxy; energy/currency were not measured</a:t>
            </a:r>
            <a:endParaRPr lang="en-US" sz="1320" dirty="0"/>
          </a:p>
        </p:txBody>
      </p:sp>
      <p:sp>
        <p:nvSpPr>
          <p:cNvPr id="43"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10</a:t>
            </a:fld>
            <a:endParaRPr lang="en-US"/>
          </a:p>
        </p:txBody>
      </p:sp>
      <p:sp>
        <p:nvSpPr>
          <p:cNvPr id="44" name="TextBox 43">
            <a:extLst>
              <a:ext uri="{FF2B5EF4-FFF2-40B4-BE49-F238E27FC236}">
                <a16:creationId xmlns:a16="http://schemas.microsoft.com/office/drawing/2014/main" id="{6F880FAC-C191-B548-78C6-C5191CD2C359}"/>
              </a:ext>
            </a:extLst>
          </p:cNvPr>
          <p:cNvSpPr txBox="1"/>
          <p:nvPr/>
        </p:nvSpPr>
        <p:spPr>
          <a:xfrm>
            <a:off x="1701800" y="4207672"/>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6.06</a:t>
            </a:r>
          </a:p>
        </p:txBody>
      </p:sp>
      <p:sp>
        <p:nvSpPr>
          <p:cNvPr id="45" name="TextBox 44">
            <a:extLst>
              <a:ext uri="{FF2B5EF4-FFF2-40B4-BE49-F238E27FC236}">
                <a16:creationId xmlns:a16="http://schemas.microsoft.com/office/drawing/2014/main" id="{7813ACE8-125A-E031-3954-923CA1EE816A}"/>
              </a:ext>
            </a:extLst>
          </p:cNvPr>
          <p:cNvSpPr txBox="1"/>
          <p:nvPr/>
        </p:nvSpPr>
        <p:spPr>
          <a:xfrm>
            <a:off x="2204720" y="2821040"/>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15.99</a:t>
            </a:r>
          </a:p>
        </p:txBody>
      </p:sp>
      <p:sp>
        <p:nvSpPr>
          <p:cNvPr id="46" name="TextBox 45">
            <a:extLst>
              <a:ext uri="{FF2B5EF4-FFF2-40B4-BE49-F238E27FC236}">
                <a16:creationId xmlns:a16="http://schemas.microsoft.com/office/drawing/2014/main" id="{F6768962-106E-E389-718E-566B885225E7}"/>
              </a:ext>
            </a:extLst>
          </p:cNvPr>
          <p:cNvSpPr txBox="1"/>
          <p:nvPr/>
        </p:nvSpPr>
        <p:spPr>
          <a:xfrm>
            <a:off x="3210560" y="4169114"/>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6.34</a:t>
            </a:r>
          </a:p>
        </p:txBody>
      </p:sp>
      <p:sp>
        <p:nvSpPr>
          <p:cNvPr id="47" name="TextBox 46">
            <a:extLst>
              <a:ext uri="{FF2B5EF4-FFF2-40B4-BE49-F238E27FC236}">
                <a16:creationId xmlns:a16="http://schemas.microsoft.com/office/drawing/2014/main" id="{9ABA9FE2-ADDE-220E-B71A-0302F7D19067}"/>
              </a:ext>
            </a:extLst>
          </p:cNvPr>
          <p:cNvSpPr txBox="1"/>
          <p:nvPr/>
        </p:nvSpPr>
        <p:spPr>
          <a:xfrm>
            <a:off x="3713480" y="2634607"/>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17.32</a:t>
            </a:r>
          </a:p>
        </p:txBody>
      </p:sp>
      <p:sp>
        <p:nvSpPr>
          <p:cNvPr id="48" name="TextBox 47">
            <a:extLst>
              <a:ext uri="{FF2B5EF4-FFF2-40B4-BE49-F238E27FC236}">
                <a16:creationId xmlns:a16="http://schemas.microsoft.com/office/drawing/2014/main" id="{258B79D9-BCF7-B8C7-A344-225683BBB233}"/>
              </a:ext>
            </a:extLst>
          </p:cNvPr>
          <p:cNvSpPr txBox="1"/>
          <p:nvPr/>
        </p:nvSpPr>
        <p:spPr>
          <a:xfrm>
            <a:off x="4719320" y="4297106"/>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5.42</a:t>
            </a:r>
          </a:p>
        </p:txBody>
      </p:sp>
      <p:sp>
        <p:nvSpPr>
          <p:cNvPr id="49" name="TextBox 48">
            <a:extLst>
              <a:ext uri="{FF2B5EF4-FFF2-40B4-BE49-F238E27FC236}">
                <a16:creationId xmlns:a16="http://schemas.microsoft.com/office/drawing/2014/main" id="{0FB20FB0-B9A9-EFA7-A016-BF87FBE2F1A5}"/>
              </a:ext>
            </a:extLst>
          </p:cNvPr>
          <p:cNvSpPr txBox="1"/>
          <p:nvPr/>
        </p:nvSpPr>
        <p:spPr>
          <a:xfrm>
            <a:off x="5222240" y="2485938"/>
            <a:ext cx="660400" cy="276999"/>
          </a:xfrm>
          <a:prstGeom prst="rect">
            <a:avLst/>
          </a:prstGeom>
          <a:noFill/>
        </p:spPr>
        <p:txBody>
          <a:bodyPr vert="horz" lIns="0" tIns="0" rIns="0" bIns="0" rtlCol="0">
            <a:noAutofit/>
          </a:bodyPr>
          <a:lstStyle/>
          <a:p>
            <a:pPr algn="ctr"/>
            <a:r>
              <a:rPr lang="en-US" sz="1100">
                <a:solidFill>
                  <a:srgbClr val="F4F7FA"/>
                </a:solidFill>
                <a:latin typeface="Aptos" panose="020B0004020202020204" pitchFamily="34" charset="0"/>
              </a:rPr>
              <a:t>18.39</a:t>
            </a:r>
          </a:p>
        </p:txBody>
      </p:sp>
      <p:sp>
        <p:nvSpPr>
          <p:cNvPr id="50" name="TextBox 49">
            <a:extLst>
              <a:ext uri="{FF2B5EF4-FFF2-40B4-BE49-F238E27FC236}">
                <a16:creationId xmlns:a16="http://schemas.microsoft.com/office/drawing/2014/main" id="{A3C400A0-3A34-5770-BBF6-A89581371484}"/>
              </a:ext>
            </a:extLst>
          </p:cNvPr>
          <p:cNvSpPr txBox="1"/>
          <p:nvPr/>
        </p:nvSpPr>
        <p:spPr>
          <a:xfrm>
            <a:off x="850900" y="5219700"/>
            <a:ext cx="228600" cy="276999"/>
          </a:xfrm>
          <a:prstGeom prst="rect">
            <a:avLst/>
          </a:prstGeom>
          <a:noFill/>
        </p:spPr>
        <p:txBody>
          <a:bodyPr vert="horz" lIns="0" tIns="0" rIns="0" bIns="0" rtlCol="0">
            <a:noAutofit/>
          </a:bodyPr>
          <a:lstStyle/>
          <a:p>
            <a:r>
              <a:rPr lang="en-US" sz="950">
                <a:solidFill>
                  <a:srgbClr val="C7D0D9"/>
                </a:solidFill>
                <a:latin typeface="Aptos" panose="020B0004020202020204" pitchFamily="34" charset="0"/>
              </a:rPr>
              <a:t>0</a:t>
            </a:r>
          </a:p>
        </p:txBody>
      </p:sp>
      <p:sp>
        <p:nvSpPr>
          <p:cNvPr id="51" name="TextBox 50">
            <a:extLst>
              <a:ext uri="{FF2B5EF4-FFF2-40B4-BE49-F238E27FC236}">
                <a16:creationId xmlns:a16="http://schemas.microsoft.com/office/drawing/2014/main" id="{51A85870-1E1D-2173-5681-54F9F3268171}"/>
              </a:ext>
            </a:extLst>
          </p:cNvPr>
          <p:cNvSpPr txBox="1"/>
          <p:nvPr/>
        </p:nvSpPr>
        <p:spPr>
          <a:xfrm>
            <a:off x="850900" y="4521200"/>
            <a:ext cx="228600" cy="276999"/>
          </a:xfrm>
          <a:prstGeom prst="rect">
            <a:avLst/>
          </a:prstGeom>
          <a:noFill/>
        </p:spPr>
        <p:txBody>
          <a:bodyPr vert="horz" lIns="0" tIns="0" rIns="0" bIns="0" rtlCol="0">
            <a:noAutofit/>
          </a:bodyPr>
          <a:lstStyle/>
          <a:p>
            <a:r>
              <a:rPr lang="en-US" sz="950">
                <a:solidFill>
                  <a:srgbClr val="C7D0D9"/>
                </a:solidFill>
                <a:latin typeface="Aptos" panose="020B0004020202020204" pitchFamily="34" charset="0"/>
              </a:rPr>
              <a:t>5</a:t>
            </a:r>
          </a:p>
        </p:txBody>
      </p:sp>
      <p:sp>
        <p:nvSpPr>
          <p:cNvPr id="52" name="TextBox 51">
            <a:extLst>
              <a:ext uri="{FF2B5EF4-FFF2-40B4-BE49-F238E27FC236}">
                <a16:creationId xmlns:a16="http://schemas.microsoft.com/office/drawing/2014/main" id="{85186F6E-629F-ADD6-4484-1FF5856EF962}"/>
              </a:ext>
            </a:extLst>
          </p:cNvPr>
          <p:cNvSpPr txBox="1"/>
          <p:nvPr/>
        </p:nvSpPr>
        <p:spPr>
          <a:xfrm>
            <a:off x="850900" y="3822700"/>
            <a:ext cx="228600" cy="276999"/>
          </a:xfrm>
          <a:prstGeom prst="rect">
            <a:avLst/>
          </a:prstGeom>
          <a:noFill/>
        </p:spPr>
        <p:txBody>
          <a:bodyPr vert="horz" lIns="0" tIns="0" rIns="0" bIns="0" rtlCol="0">
            <a:noAutofit/>
          </a:bodyPr>
          <a:lstStyle/>
          <a:p>
            <a:r>
              <a:rPr lang="en-US" sz="950">
                <a:solidFill>
                  <a:srgbClr val="C7D0D9"/>
                </a:solidFill>
                <a:latin typeface="Aptos" panose="020B0004020202020204" pitchFamily="34" charset="0"/>
              </a:rPr>
              <a:t>10</a:t>
            </a:r>
          </a:p>
        </p:txBody>
      </p:sp>
      <p:sp>
        <p:nvSpPr>
          <p:cNvPr id="53" name="TextBox 52">
            <a:extLst>
              <a:ext uri="{FF2B5EF4-FFF2-40B4-BE49-F238E27FC236}">
                <a16:creationId xmlns:a16="http://schemas.microsoft.com/office/drawing/2014/main" id="{1DA7878D-77EA-6800-861F-238DDFF7F6AD}"/>
              </a:ext>
            </a:extLst>
          </p:cNvPr>
          <p:cNvSpPr txBox="1"/>
          <p:nvPr/>
        </p:nvSpPr>
        <p:spPr>
          <a:xfrm>
            <a:off x="850900" y="3124200"/>
            <a:ext cx="228600" cy="276999"/>
          </a:xfrm>
          <a:prstGeom prst="rect">
            <a:avLst/>
          </a:prstGeom>
          <a:noFill/>
        </p:spPr>
        <p:txBody>
          <a:bodyPr vert="horz" lIns="0" tIns="0" rIns="0" bIns="0" rtlCol="0">
            <a:noAutofit/>
          </a:bodyPr>
          <a:lstStyle/>
          <a:p>
            <a:r>
              <a:rPr lang="en-US" sz="950">
                <a:solidFill>
                  <a:srgbClr val="C7D0D9"/>
                </a:solidFill>
                <a:latin typeface="Aptos" panose="020B0004020202020204" pitchFamily="34" charset="0"/>
              </a:rPr>
              <a:t>15</a:t>
            </a:r>
          </a:p>
        </p:txBody>
      </p:sp>
      <p:sp>
        <p:nvSpPr>
          <p:cNvPr id="54" name="TextBox 53">
            <a:extLst>
              <a:ext uri="{FF2B5EF4-FFF2-40B4-BE49-F238E27FC236}">
                <a16:creationId xmlns:a16="http://schemas.microsoft.com/office/drawing/2014/main" id="{1366CA91-B7D0-F4C2-B88F-798FF0FB5680}"/>
              </a:ext>
            </a:extLst>
          </p:cNvPr>
          <p:cNvSpPr txBox="1"/>
          <p:nvPr/>
        </p:nvSpPr>
        <p:spPr>
          <a:xfrm>
            <a:off x="850900" y="2425700"/>
            <a:ext cx="228600" cy="276999"/>
          </a:xfrm>
          <a:prstGeom prst="rect">
            <a:avLst/>
          </a:prstGeom>
          <a:noFill/>
        </p:spPr>
        <p:txBody>
          <a:bodyPr vert="horz" lIns="0" tIns="0" rIns="0" bIns="0" rtlCol="0">
            <a:noAutofit/>
          </a:bodyPr>
          <a:lstStyle/>
          <a:p>
            <a:r>
              <a:rPr lang="en-US" sz="950">
                <a:solidFill>
                  <a:srgbClr val="C7D0D9"/>
                </a:solidFill>
                <a:latin typeface="Aptos" panose="020B0004020202020204" pitchFamily="34" charset="0"/>
              </a:rPr>
              <a:t>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Results 3/4 — Accuracy and numerical checks</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All seven final models classified 956 of 1,000 test digits correctly. All 170 correctness checks passed.</a:t>
            </a:r>
            <a:endParaRPr lang="en-US" sz="1150" dirty="0"/>
          </a:p>
        </p:txBody>
      </p:sp>
      <p:sp>
        <p:nvSpPr>
          <p:cNvPr id="4" name="Shape 2"/>
          <p:cNvSpPr/>
          <p:nvPr/>
        </p:nvSpPr>
        <p:spPr>
          <a:xfrm>
            <a:off x="9966960" y="347472"/>
            <a:ext cx="1600200" cy="384048"/>
          </a:xfrm>
          <a:prstGeom prst="roundRect">
            <a:avLst>
              <a:gd name="adj" fmla="val 19048"/>
            </a:avLst>
          </a:prstGeom>
          <a:solidFill>
            <a:srgbClr val="FFB454">
              <a:alpha val="16000"/>
            </a:srgbClr>
          </a:solidFill>
          <a:ln w="12700">
            <a:solidFill>
              <a:srgbClr val="FFB454">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FFB454"/>
                </a:solidFill>
              </a:rPr>
              <a:t>ROYDON · PERSON 3</a:t>
            </a:r>
            <a:endParaRPr lang="en-US" sz="950" dirty="0"/>
          </a:p>
        </p:txBody>
      </p:sp>
      <p:sp>
        <p:nvSpPr>
          <p:cNvPr id="6" name="Shape 4"/>
          <p:cNvSpPr/>
          <p:nvPr/>
        </p:nvSpPr>
        <p:spPr>
          <a:xfrm>
            <a:off x="603504" y="1225296"/>
            <a:ext cx="10972800" cy="4992624"/>
          </a:xfrm>
          <a:prstGeom prst="roundRect">
            <a:avLst>
              <a:gd name="adj" fmla="val 1465"/>
            </a:avLst>
          </a:prstGeom>
          <a:solidFill>
            <a:srgbClr val="121923"/>
          </a:solidFill>
          <a:ln w="12700">
            <a:solidFill>
              <a:srgbClr val="25303D"/>
            </a:solidFill>
            <a:prstDash val="solid"/>
          </a:ln>
        </p:spPr>
      </p:sp>
      <p:sp>
        <p:nvSpPr>
          <p:cNvPr id="7" name="Shape 5"/>
          <p:cNvSpPr/>
          <p:nvPr/>
        </p:nvSpPr>
        <p:spPr>
          <a:xfrm>
            <a:off x="896112" y="1737360"/>
            <a:ext cx="2331720" cy="1143000"/>
          </a:xfrm>
          <a:prstGeom prst="roundRect">
            <a:avLst>
              <a:gd name="adj" fmla="val 5600"/>
            </a:avLst>
          </a:prstGeom>
          <a:solidFill>
            <a:srgbClr val="41D9FF">
              <a:alpha val="18000"/>
            </a:srgbClr>
          </a:solidFill>
          <a:ln w="12700">
            <a:solidFill>
              <a:srgbClr val="41D9FF">
                <a:alpha val="65000"/>
              </a:srgbClr>
            </a:solidFill>
            <a:prstDash val="solid"/>
          </a:ln>
        </p:spPr>
      </p:sp>
      <p:sp>
        <p:nvSpPr>
          <p:cNvPr id="8" name="Text 6"/>
          <p:cNvSpPr/>
          <p:nvPr/>
        </p:nvSpPr>
        <p:spPr>
          <a:xfrm>
            <a:off x="1060704" y="1965960"/>
            <a:ext cx="1965960" cy="201168"/>
          </a:xfrm>
          <a:prstGeom prst="rect">
            <a:avLst/>
          </a:prstGeom>
          <a:noFill/>
          <a:ln/>
        </p:spPr>
        <p:txBody>
          <a:bodyPr wrap="square" lIns="0" tIns="0" rIns="0" bIns="0" rtlCol="0" anchor="ctr">
            <a:noAutofit/>
          </a:bodyPr>
          <a:lstStyle/>
          <a:p>
            <a:pPr marL="0" indent="0">
              <a:buNone/>
            </a:pPr>
            <a:r>
              <a:rPr lang="en-US" sz="1200" b="1" dirty="0">
                <a:solidFill>
                  <a:srgbClr val="41D9FF"/>
                </a:solidFill>
              </a:rPr>
              <a:t>CPU accuracy</a:t>
            </a:r>
            <a:endParaRPr lang="en-US" sz="1200" dirty="0"/>
          </a:p>
        </p:txBody>
      </p:sp>
      <p:sp>
        <p:nvSpPr>
          <p:cNvPr id="9" name="Text 7"/>
          <p:cNvSpPr/>
          <p:nvPr/>
        </p:nvSpPr>
        <p:spPr>
          <a:xfrm>
            <a:off x="1060704" y="2331720"/>
            <a:ext cx="1965960" cy="310896"/>
          </a:xfrm>
          <a:prstGeom prst="rect">
            <a:avLst/>
          </a:prstGeom>
          <a:noFill/>
          <a:ln/>
        </p:spPr>
        <p:txBody>
          <a:bodyPr wrap="square" lIns="0" tIns="0" rIns="0" bIns="0" rtlCol="0" anchor="ctr">
            <a:noAutofit/>
          </a:bodyPr>
          <a:lstStyle/>
          <a:p>
            <a:pPr marL="0" indent="0">
              <a:buNone/>
            </a:pPr>
            <a:r>
              <a:rPr lang="en-US" sz="2000" b="1">
                <a:solidFill>
                  <a:srgbClr val="F4F7FA"/>
                </a:solidFill>
              </a:rPr>
              <a:t>95.6%</a:t>
            </a:r>
            <a:endParaRPr lang="en-US" sz="2000" dirty="0"/>
          </a:p>
        </p:txBody>
      </p:sp>
      <p:sp>
        <p:nvSpPr>
          <p:cNvPr id="10" name="Shape 8"/>
          <p:cNvSpPr/>
          <p:nvPr/>
        </p:nvSpPr>
        <p:spPr>
          <a:xfrm>
            <a:off x="3547872" y="1737360"/>
            <a:ext cx="2331720" cy="1143000"/>
          </a:xfrm>
          <a:prstGeom prst="roundRect">
            <a:avLst>
              <a:gd name="adj" fmla="val 5600"/>
            </a:avLst>
          </a:prstGeom>
          <a:solidFill>
            <a:srgbClr val="76B900">
              <a:alpha val="18000"/>
            </a:srgbClr>
          </a:solidFill>
          <a:ln w="12700">
            <a:solidFill>
              <a:srgbClr val="76B900">
                <a:alpha val="65000"/>
              </a:srgbClr>
            </a:solidFill>
            <a:prstDash val="solid"/>
          </a:ln>
        </p:spPr>
      </p:sp>
      <p:sp>
        <p:nvSpPr>
          <p:cNvPr id="11" name="Text 9"/>
          <p:cNvSpPr/>
          <p:nvPr/>
        </p:nvSpPr>
        <p:spPr>
          <a:xfrm>
            <a:off x="3712464" y="1965960"/>
            <a:ext cx="1965960" cy="201168"/>
          </a:xfrm>
          <a:prstGeom prst="rect">
            <a:avLst/>
          </a:prstGeom>
          <a:noFill/>
          <a:ln/>
        </p:spPr>
        <p:txBody>
          <a:bodyPr wrap="square" lIns="0" tIns="0" rIns="0" bIns="0" rtlCol="0" anchor="ctr">
            <a:noAutofit/>
          </a:bodyPr>
          <a:lstStyle/>
          <a:p>
            <a:pPr marL="0" indent="0">
              <a:buNone/>
            </a:pPr>
            <a:r>
              <a:rPr lang="en-US" sz="1200" b="1">
                <a:solidFill>
                  <a:srgbClr val="76B900"/>
                </a:solidFill>
              </a:rPr>
              <a:t>1-GPU accuracy</a:t>
            </a:r>
            <a:endParaRPr lang="en-US" sz="1200" dirty="0"/>
          </a:p>
        </p:txBody>
      </p:sp>
      <p:sp>
        <p:nvSpPr>
          <p:cNvPr id="12" name="Text 10"/>
          <p:cNvSpPr/>
          <p:nvPr/>
        </p:nvSpPr>
        <p:spPr>
          <a:xfrm>
            <a:off x="3712464" y="2331720"/>
            <a:ext cx="1965960" cy="310896"/>
          </a:xfrm>
          <a:prstGeom prst="rect">
            <a:avLst/>
          </a:prstGeom>
          <a:noFill/>
          <a:ln/>
        </p:spPr>
        <p:txBody>
          <a:bodyPr wrap="square" lIns="0" tIns="0" rIns="0" bIns="0" rtlCol="0" anchor="ctr">
            <a:noAutofit/>
          </a:bodyPr>
          <a:lstStyle/>
          <a:p>
            <a:pPr marL="0" indent="0">
              <a:buNone/>
            </a:pPr>
            <a:r>
              <a:rPr lang="en-US" sz="2000" b="1">
                <a:solidFill>
                  <a:srgbClr val="F4F7FA"/>
                </a:solidFill>
              </a:rPr>
              <a:t>95.6%</a:t>
            </a:r>
            <a:endParaRPr lang="en-US" sz="2000" dirty="0"/>
          </a:p>
        </p:txBody>
      </p:sp>
      <p:sp>
        <p:nvSpPr>
          <p:cNvPr id="13" name="Shape 11"/>
          <p:cNvSpPr/>
          <p:nvPr/>
        </p:nvSpPr>
        <p:spPr>
          <a:xfrm>
            <a:off x="6199632" y="1737360"/>
            <a:ext cx="2331720" cy="1143000"/>
          </a:xfrm>
          <a:prstGeom prst="roundRect">
            <a:avLst>
              <a:gd name="adj" fmla="val 5600"/>
            </a:avLst>
          </a:prstGeom>
          <a:solidFill>
            <a:srgbClr val="FFB454">
              <a:alpha val="18000"/>
            </a:srgbClr>
          </a:solidFill>
          <a:ln w="12700">
            <a:solidFill>
              <a:srgbClr val="FFB454">
                <a:alpha val="65000"/>
              </a:srgbClr>
            </a:solidFill>
            <a:prstDash val="solid"/>
          </a:ln>
        </p:spPr>
      </p:sp>
      <p:sp>
        <p:nvSpPr>
          <p:cNvPr id="14" name="Text 12"/>
          <p:cNvSpPr/>
          <p:nvPr/>
        </p:nvSpPr>
        <p:spPr>
          <a:xfrm>
            <a:off x="6364224" y="1965960"/>
            <a:ext cx="1965960" cy="201168"/>
          </a:xfrm>
          <a:prstGeom prst="rect">
            <a:avLst/>
          </a:prstGeom>
          <a:noFill/>
          <a:ln/>
        </p:spPr>
        <p:txBody>
          <a:bodyPr wrap="square" lIns="0" tIns="0" rIns="0" bIns="0" rtlCol="0" anchor="ctr">
            <a:noAutofit/>
          </a:bodyPr>
          <a:lstStyle/>
          <a:p>
            <a:pPr marL="0" indent="0">
              <a:buNone/>
            </a:pPr>
            <a:r>
              <a:rPr lang="en-US" sz="1200" b="1">
                <a:solidFill>
                  <a:srgbClr val="FFB454"/>
                </a:solidFill>
              </a:rPr>
              <a:t>2-GPU accuracy</a:t>
            </a:r>
            <a:endParaRPr lang="en-US" sz="1200" dirty="0"/>
          </a:p>
        </p:txBody>
      </p:sp>
      <p:sp>
        <p:nvSpPr>
          <p:cNvPr id="15" name="Text 13"/>
          <p:cNvSpPr/>
          <p:nvPr/>
        </p:nvSpPr>
        <p:spPr>
          <a:xfrm>
            <a:off x="6364224" y="2331720"/>
            <a:ext cx="1965960" cy="310896"/>
          </a:xfrm>
          <a:prstGeom prst="rect">
            <a:avLst/>
          </a:prstGeom>
          <a:noFill/>
          <a:ln/>
        </p:spPr>
        <p:txBody>
          <a:bodyPr wrap="square" lIns="0" tIns="0" rIns="0" bIns="0" rtlCol="0" anchor="ctr">
            <a:noAutofit/>
          </a:bodyPr>
          <a:lstStyle/>
          <a:p>
            <a:pPr marL="0" indent="0">
              <a:buNone/>
            </a:pPr>
            <a:r>
              <a:rPr lang="en-US" sz="2000" b="1">
                <a:solidFill>
                  <a:srgbClr val="F4F7FA"/>
                </a:solidFill>
              </a:rPr>
              <a:t>95.6%</a:t>
            </a:r>
            <a:endParaRPr lang="en-US" sz="2000" dirty="0"/>
          </a:p>
        </p:txBody>
      </p:sp>
      <p:sp>
        <p:nvSpPr>
          <p:cNvPr id="16" name="Shape 14"/>
          <p:cNvSpPr/>
          <p:nvPr/>
        </p:nvSpPr>
        <p:spPr>
          <a:xfrm>
            <a:off x="8851392" y="1737360"/>
            <a:ext cx="2331720" cy="1143000"/>
          </a:xfrm>
          <a:prstGeom prst="roundRect">
            <a:avLst>
              <a:gd name="adj" fmla="val 5600"/>
            </a:avLst>
          </a:prstGeom>
          <a:solidFill>
            <a:srgbClr val="A78BFA">
              <a:alpha val="18000"/>
            </a:srgbClr>
          </a:solidFill>
          <a:ln w="12700">
            <a:solidFill>
              <a:srgbClr val="A78BFA">
                <a:alpha val="65000"/>
              </a:srgbClr>
            </a:solidFill>
            <a:prstDash val="solid"/>
          </a:ln>
        </p:spPr>
      </p:sp>
      <p:sp>
        <p:nvSpPr>
          <p:cNvPr id="17" name="Text 15"/>
          <p:cNvSpPr/>
          <p:nvPr/>
        </p:nvSpPr>
        <p:spPr>
          <a:xfrm>
            <a:off x="9015984" y="1965960"/>
            <a:ext cx="1965960" cy="201168"/>
          </a:xfrm>
          <a:prstGeom prst="rect">
            <a:avLst/>
          </a:prstGeom>
          <a:noFill/>
          <a:ln/>
        </p:spPr>
        <p:txBody>
          <a:bodyPr wrap="square" lIns="0" tIns="0" rIns="0" bIns="0" rtlCol="0" anchor="ctr">
            <a:noAutofit/>
          </a:bodyPr>
          <a:lstStyle/>
          <a:p>
            <a:pPr marL="0" indent="0">
              <a:buNone/>
            </a:pPr>
            <a:r>
              <a:rPr lang="en-US" sz="1200" b="1">
                <a:solidFill>
                  <a:srgbClr val="A78BFA"/>
                </a:solidFill>
              </a:rPr>
              <a:t>Max forward |</a:t>
            </a:r>
            <a:r>
              <a:rPr lang="el-GR" sz="1200" b="1">
                <a:solidFill>
                  <a:srgbClr val="A78BFA"/>
                </a:solidFill>
              </a:rPr>
              <a:t>Δ|</a:t>
            </a:r>
            <a:endParaRPr lang="en-US" sz="1200" dirty="0"/>
          </a:p>
        </p:txBody>
      </p:sp>
      <p:sp>
        <p:nvSpPr>
          <p:cNvPr id="18" name="Text 16"/>
          <p:cNvSpPr/>
          <p:nvPr/>
        </p:nvSpPr>
        <p:spPr>
          <a:xfrm>
            <a:off x="9015984" y="2331720"/>
            <a:ext cx="1965960" cy="310896"/>
          </a:xfrm>
          <a:prstGeom prst="rect">
            <a:avLst/>
          </a:prstGeom>
          <a:noFill/>
          <a:ln/>
        </p:spPr>
        <p:txBody>
          <a:bodyPr wrap="square" lIns="0" tIns="0" rIns="0" bIns="0" rtlCol="0" anchor="ctr">
            <a:noAutofit/>
          </a:bodyPr>
          <a:lstStyle/>
          <a:p>
            <a:pPr marL="0" indent="0">
              <a:buNone/>
            </a:pPr>
            <a:r>
              <a:rPr lang="en-US" sz="2000" b="1">
                <a:solidFill>
                  <a:srgbClr val="F4F7FA"/>
                </a:solidFill>
              </a:rPr>
              <a:t>3.58e-07</a:t>
            </a:r>
            <a:endParaRPr lang="en-US" sz="2000" dirty="0"/>
          </a:p>
        </p:txBody>
      </p:sp>
      <p:sp>
        <p:nvSpPr>
          <p:cNvPr id="19" name="Shape 17"/>
          <p:cNvSpPr/>
          <p:nvPr/>
        </p:nvSpPr>
        <p:spPr>
          <a:xfrm>
            <a:off x="896112" y="3246120"/>
            <a:ext cx="5760720" cy="2331720"/>
          </a:xfrm>
          <a:prstGeom prst="roundRect">
            <a:avLst>
              <a:gd name="adj" fmla="val 3137"/>
            </a:avLst>
          </a:prstGeom>
          <a:solidFill>
            <a:srgbClr val="18212D"/>
          </a:solidFill>
          <a:ln w="12700">
            <a:solidFill>
              <a:srgbClr val="344252"/>
            </a:solidFill>
            <a:prstDash val="solid"/>
          </a:ln>
        </p:spPr>
      </p:sp>
      <p:sp>
        <p:nvSpPr>
          <p:cNvPr id="20" name="Shape 18"/>
          <p:cNvSpPr/>
          <p:nvPr/>
        </p:nvSpPr>
        <p:spPr>
          <a:xfrm>
            <a:off x="1143000" y="3520440"/>
            <a:ext cx="749808" cy="310896"/>
          </a:xfrm>
          <a:prstGeom prst="roundRect">
            <a:avLst>
              <a:gd name="adj" fmla="val 17647"/>
            </a:avLst>
          </a:prstGeom>
          <a:solidFill>
            <a:srgbClr val="76B900">
              <a:alpha val="14000"/>
            </a:srgbClr>
          </a:solidFill>
          <a:ln w="12700">
            <a:solidFill>
              <a:srgbClr val="76B900">
                <a:alpha val="45000"/>
              </a:srgbClr>
            </a:solidFill>
            <a:prstDash val="solid"/>
          </a:ln>
        </p:spPr>
      </p:sp>
      <p:sp>
        <p:nvSpPr>
          <p:cNvPr id="21" name="Text 19"/>
          <p:cNvSpPr/>
          <p:nvPr/>
        </p:nvSpPr>
        <p:spPr>
          <a:xfrm>
            <a:off x="1143000" y="3598164"/>
            <a:ext cx="749808"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76B900"/>
                </a:solidFill>
              </a:rPr>
              <a:t>CHECK</a:t>
            </a:r>
            <a:endParaRPr lang="en-US" sz="850" dirty="0"/>
          </a:p>
        </p:txBody>
      </p:sp>
      <p:sp>
        <p:nvSpPr>
          <p:cNvPr id="22" name="Text 20"/>
          <p:cNvSpPr/>
          <p:nvPr/>
        </p:nvSpPr>
        <p:spPr>
          <a:xfrm>
            <a:off x="1143000" y="3911600"/>
            <a:ext cx="2651760" cy="571500"/>
          </a:xfrm>
          <a:prstGeom prst="rect">
            <a:avLst/>
          </a:prstGeom>
          <a:noFill/>
          <a:ln/>
        </p:spPr>
        <p:txBody>
          <a:bodyPr wrap="square" lIns="0" tIns="0" rIns="0" bIns="0" rtlCol="0" anchor="ctr">
            <a:noAutofit/>
          </a:bodyPr>
          <a:lstStyle/>
          <a:p>
            <a:pPr marL="0" indent="0">
              <a:buNone/>
            </a:pPr>
            <a:r>
              <a:rPr lang="en-US" sz="1500" b="1">
                <a:solidFill>
                  <a:srgbClr val="F4F7FA"/>
                </a:solidFill>
              </a:rPr>
              <a:t>Same input, same weights, same FP32 precision</a:t>
            </a:r>
            <a:endParaRPr lang="en-US" sz="1500" dirty="0"/>
          </a:p>
        </p:txBody>
      </p:sp>
      <p:sp>
        <p:nvSpPr>
          <p:cNvPr id="23" name="Text 21"/>
          <p:cNvSpPr/>
          <p:nvPr/>
        </p:nvSpPr>
        <p:spPr>
          <a:xfrm>
            <a:off x="1152144" y="4608576"/>
            <a:ext cx="914400" cy="201168"/>
          </a:xfrm>
          <a:prstGeom prst="rect">
            <a:avLst/>
          </a:prstGeom>
          <a:noFill/>
          <a:ln/>
        </p:spPr>
        <p:txBody>
          <a:bodyPr wrap="square" lIns="0" tIns="0" rIns="0" bIns="0" rtlCol="0" anchor="ctr">
            <a:noAutofit/>
          </a:bodyPr>
          <a:lstStyle/>
          <a:p>
            <a:pPr marL="0" indent="0">
              <a:buNone/>
            </a:pPr>
            <a:r>
              <a:rPr lang="en-US" sz="1100" dirty="0">
                <a:solidFill>
                  <a:srgbClr val="41D9FF"/>
                </a:solidFill>
              </a:rPr>
              <a:t>CPU output</a:t>
            </a:r>
            <a:endParaRPr lang="en-US" sz="1100" dirty="0"/>
          </a:p>
        </p:txBody>
      </p:sp>
      <p:sp>
        <p:nvSpPr>
          <p:cNvPr id="24" name="Text 22"/>
          <p:cNvSpPr/>
          <p:nvPr/>
        </p:nvSpPr>
        <p:spPr>
          <a:xfrm>
            <a:off x="2121408" y="4544568"/>
            <a:ext cx="320040" cy="274320"/>
          </a:xfrm>
          <a:prstGeom prst="rect">
            <a:avLst/>
          </a:prstGeom>
          <a:noFill/>
          <a:ln/>
        </p:spPr>
        <p:txBody>
          <a:bodyPr wrap="square" lIns="0" tIns="0" rIns="0" bIns="0" rtlCol="0" anchor="ctr">
            <a:noAutofit/>
          </a:bodyPr>
          <a:lstStyle/>
          <a:p>
            <a:pPr marL="0" indent="0" algn="ctr">
              <a:buNone/>
            </a:pPr>
            <a:r>
              <a:rPr lang="en-US" sz="2400" b="1" dirty="0">
                <a:solidFill>
                  <a:srgbClr val="7E8A97"/>
                </a:solidFill>
              </a:rPr>
              <a:t>≈</a:t>
            </a:r>
            <a:endParaRPr lang="en-US" sz="2400" dirty="0"/>
          </a:p>
        </p:txBody>
      </p:sp>
      <p:sp>
        <p:nvSpPr>
          <p:cNvPr id="25" name="Text 23"/>
          <p:cNvSpPr/>
          <p:nvPr/>
        </p:nvSpPr>
        <p:spPr>
          <a:xfrm>
            <a:off x="2542032" y="4608576"/>
            <a:ext cx="914400" cy="201168"/>
          </a:xfrm>
          <a:prstGeom prst="rect">
            <a:avLst/>
          </a:prstGeom>
          <a:noFill/>
          <a:ln/>
        </p:spPr>
        <p:txBody>
          <a:bodyPr wrap="square" lIns="0" tIns="0" rIns="0" bIns="0" rtlCol="0" anchor="ctr">
            <a:noAutofit/>
          </a:bodyPr>
          <a:lstStyle/>
          <a:p>
            <a:pPr marL="0" indent="0">
              <a:buNone/>
            </a:pPr>
            <a:r>
              <a:rPr lang="en-US" sz="1100" dirty="0">
                <a:solidFill>
                  <a:srgbClr val="76B900"/>
                </a:solidFill>
              </a:rPr>
              <a:t>GPU output</a:t>
            </a:r>
            <a:endParaRPr lang="en-US" sz="1100" dirty="0"/>
          </a:p>
        </p:txBody>
      </p:sp>
      <p:sp>
        <p:nvSpPr>
          <p:cNvPr id="26" name="Text 24"/>
          <p:cNvSpPr/>
          <p:nvPr/>
        </p:nvSpPr>
        <p:spPr>
          <a:xfrm>
            <a:off x="3520440" y="4544568"/>
            <a:ext cx="320040" cy="274320"/>
          </a:xfrm>
          <a:prstGeom prst="rect">
            <a:avLst/>
          </a:prstGeom>
          <a:noFill/>
          <a:ln/>
        </p:spPr>
        <p:txBody>
          <a:bodyPr wrap="square" lIns="0" tIns="0" rIns="0" bIns="0" rtlCol="0" anchor="ctr">
            <a:noAutofit/>
          </a:bodyPr>
          <a:lstStyle/>
          <a:p>
            <a:pPr marL="0" indent="0" algn="ctr">
              <a:buNone/>
            </a:pPr>
            <a:r>
              <a:rPr lang="en-US" sz="2400" b="1" dirty="0">
                <a:solidFill>
                  <a:srgbClr val="7E8A97"/>
                </a:solidFill>
              </a:rPr>
              <a:t>≈</a:t>
            </a:r>
            <a:endParaRPr lang="en-US" sz="2400" dirty="0"/>
          </a:p>
        </p:txBody>
      </p:sp>
      <p:sp>
        <p:nvSpPr>
          <p:cNvPr id="27" name="Text 25"/>
          <p:cNvSpPr/>
          <p:nvPr/>
        </p:nvSpPr>
        <p:spPr>
          <a:xfrm>
            <a:off x="3931920" y="4608576"/>
            <a:ext cx="1143000" cy="201168"/>
          </a:xfrm>
          <a:prstGeom prst="rect">
            <a:avLst/>
          </a:prstGeom>
          <a:noFill/>
          <a:ln/>
        </p:spPr>
        <p:txBody>
          <a:bodyPr wrap="square" lIns="0" tIns="0" rIns="0" bIns="0" rtlCol="0" anchor="ctr">
            <a:noAutofit/>
          </a:bodyPr>
          <a:lstStyle/>
          <a:p>
            <a:pPr marL="0" indent="0">
              <a:buNone/>
            </a:pPr>
            <a:r>
              <a:rPr lang="en-US" sz="1100" dirty="0">
                <a:solidFill>
                  <a:srgbClr val="FFB454"/>
                </a:solidFill>
              </a:rPr>
              <a:t>2-GPU output</a:t>
            </a:r>
            <a:endParaRPr lang="en-US" sz="1100" dirty="0"/>
          </a:p>
        </p:txBody>
      </p:sp>
      <p:sp>
        <p:nvSpPr>
          <p:cNvPr id="28" name="Text 26"/>
          <p:cNvSpPr/>
          <p:nvPr/>
        </p:nvSpPr>
        <p:spPr>
          <a:xfrm>
            <a:off x="1143000" y="5084064"/>
            <a:ext cx="4983480" cy="347472"/>
          </a:xfrm>
          <a:prstGeom prst="rect">
            <a:avLst/>
          </a:prstGeom>
          <a:noFill/>
          <a:ln/>
        </p:spPr>
        <p:txBody>
          <a:bodyPr wrap="square" lIns="0" tIns="0" rIns="0" bIns="0" rtlCol="0" anchor="ctr">
            <a:noAutofit/>
          </a:bodyPr>
          <a:lstStyle/>
          <a:p>
            <a:pPr marL="0" indent="0">
              <a:buNone/>
            </a:pPr>
            <a:r>
              <a:rPr lang="en-US" sz="1140">
                <a:solidFill>
                  <a:srgbClr val="C7D0D9"/>
                </a:solidFill>
              </a:rPr>
              <a:t>170 checks passed: forward and input/weight/bias gradients, including non-square inputs and partial tiles.</a:t>
            </a:r>
            <a:endParaRPr lang="en-US" sz="1140" dirty="0"/>
          </a:p>
        </p:txBody>
      </p:sp>
      <p:sp>
        <p:nvSpPr>
          <p:cNvPr id="29" name="Shape 27"/>
          <p:cNvSpPr/>
          <p:nvPr/>
        </p:nvSpPr>
        <p:spPr>
          <a:xfrm>
            <a:off x="6967728" y="3246120"/>
            <a:ext cx="4151376" cy="2717800"/>
          </a:xfrm>
          <a:prstGeom prst="roundRect">
            <a:avLst>
              <a:gd name="adj" fmla="val 3137"/>
            </a:avLst>
          </a:prstGeom>
          <a:solidFill>
            <a:srgbClr val="18212D"/>
          </a:solidFill>
          <a:ln w="12700">
            <a:solidFill>
              <a:srgbClr val="344252"/>
            </a:solidFill>
            <a:prstDash val="solid"/>
          </a:ln>
        </p:spPr>
      </p:sp>
      <p:sp>
        <p:nvSpPr>
          <p:cNvPr id="30" name="Shape 28"/>
          <p:cNvSpPr/>
          <p:nvPr/>
        </p:nvSpPr>
        <p:spPr>
          <a:xfrm>
            <a:off x="7242048" y="3520440"/>
            <a:ext cx="1051560" cy="310896"/>
          </a:xfrm>
          <a:prstGeom prst="roundRect">
            <a:avLst>
              <a:gd name="adj" fmla="val 17647"/>
            </a:avLst>
          </a:prstGeom>
          <a:solidFill>
            <a:srgbClr val="FFB454">
              <a:alpha val="14000"/>
            </a:srgbClr>
          </a:solidFill>
          <a:ln w="12700">
            <a:solidFill>
              <a:srgbClr val="FFB454">
                <a:alpha val="45000"/>
              </a:srgbClr>
            </a:solidFill>
            <a:prstDash val="solid"/>
          </a:ln>
        </p:spPr>
      </p:sp>
      <p:sp>
        <p:nvSpPr>
          <p:cNvPr id="31" name="Text 29"/>
          <p:cNvSpPr/>
          <p:nvPr/>
        </p:nvSpPr>
        <p:spPr>
          <a:xfrm>
            <a:off x="7242048" y="3598164"/>
            <a:ext cx="1051560" cy="128016"/>
          </a:xfrm>
          <a:prstGeom prst="rect">
            <a:avLst/>
          </a:prstGeom>
          <a:noFill/>
          <a:ln/>
        </p:spPr>
        <p:txBody>
          <a:bodyPr wrap="square" lIns="0" tIns="0" rIns="0" bIns="0" rtlCol="0" anchor="ctr">
            <a:noAutofit/>
          </a:bodyPr>
          <a:lstStyle/>
          <a:p>
            <a:pPr marL="0" indent="0" algn="ctr">
              <a:buNone/>
            </a:pPr>
            <a:r>
              <a:rPr lang="en-US" sz="850" b="1" kern="0" spc="100" dirty="0">
                <a:solidFill>
                  <a:srgbClr val="FFB454"/>
                </a:solidFill>
              </a:rPr>
              <a:t>INFERENCE</a:t>
            </a:r>
            <a:endParaRPr lang="en-US" sz="850" dirty="0"/>
          </a:p>
        </p:txBody>
      </p:sp>
      <p:sp>
        <p:nvSpPr>
          <p:cNvPr id="32" name="Text 30"/>
          <p:cNvSpPr/>
          <p:nvPr/>
        </p:nvSpPr>
        <p:spPr>
          <a:xfrm>
            <a:off x="7242048" y="3937000"/>
            <a:ext cx="3383280" cy="1409700"/>
          </a:xfrm>
          <a:prstGeom prst="rect">
            <a:avLst/>
          </a:prstGeom>
          <a:noFill/>
          <a:ln/>
        </p:spPr>
        <p:txBody>
          <a:bodyPr wrap="square" lIns="381" tIns="381" rIns="381" bIns="381" rtlCol="0" anchor="ctr">
            <a:noAutofit/>
          </a:bodyPr>
          <a:lstStyle/>
          <a:p>
            <a:pPr marL="177800" indent="-177800">
              <a:buSzPct val="100000"/>
              <a:buChar char="•"/>
            </a:pPr>
            <a:r>
              <a:rPr lang="en-US" sz="1320">
                <a:solidFill>
                  <a:srgbClr val="C7D0D9"/>
                </a:solidFill>
              </a:rPr>
              <a:t>Every final model: 956/1,000 correct</a:t>
            </a:r>
          </a:p>
          <a:p>
            <a:pPr marL="177800" indent="-177800">
              <a:buSzPct val="100000"/>
              <a:buChar char="•"/>
            </a:pPr>
            <a:r>
              <a:rPr lang="en-US" sz="1320">
                <a:solidFill>
                  <a:srgbClr val="C7D0D9"/>
                </a:solidFill>
              </a:rPr>
              <a:t>Same data, initialization and precision</a:t>
            </a:r>
          </a:p>
          <a:p>
            <a:pPr marL="177800" indent="-177800">
              <a:buSzPct val="100000"/>
              <a:buChar char="•"/>
            </a:pPr>
            <a:r>
              <a:rPr lang="en-US" sz="1320">
                <a:solidFill>
                  <a:srgbClr val="C7D0D9"/>
                </a:solidFill>
              </a:rPr>
              <a:t>Forward and all gradients passed</a:t>
            </a:r>
          </a:p>
          <a:p>
            <a:pPr marL="177800" indent="-177800">
              <a:buSzPct val="100000"/>
              <a:buChar char="•"/>
            </a:pPr>
            <a:r>
              <a:rPr lang="en-US" sz="1320">
                <a:solidFill>
                  <a:srgbClr val="C7D0D9"/>
                </a:solidFill>
              </a:rPr>
              <a:t>50 epochs completed in every path</a:t>
            </a:r>
            <a:endParaRPr lang="en-US" sz="1320" dirty="0"/>
          </a:p>
        </p:txBody>
      </p:sp>
      <p:sp>
        <p:nvSpPr>
          <p:cNvPr id="33" name="Text 31"/>
          <p:cNvSpPr/>
          <p:nvPr/>
        </p:nvSpPr>
        <p:spPr>
          <a:xfrm>
            <a:off x="7242048" y="5410200"/>
            <a:ext cx="3429000" cy="444500"/>
          </a:xfrm>
          <a:prstGeom prst="rect">
            <a:avLst/>
          </a:prstGeom>
          <a:noFill/>
          <a:ln/>
        </p:spPr>
        <p:txBody>
          <a:bodyPr wrap="square" lIns="0" tIns="0" rIns="0" bIns="0" rtlCol="0" anchor="ctr">
            <a:noAutofit/>
          </a:bodyPr>
          <a:lstStyle/>
          <a:p>
            <a:pPr marL="0" indent="0">
              <a:buNone/>
            </a:pPr>
            <a:r>
              <a:rPr lang="en-US" sz="1220" b="1">
                <a:solidFill>
                  <a:srgbClr val="A3E635"/>
                </a:solidFill>
              </a:rPr>
              <a:t>Same accuracy; lower wall time on one GPU.</a:t>
            </a:r>
            <a:endParaRPr lang="en-US" sz="1220" dirty="0"/>
          </a:p>
        </p:txBody>
      </p:sp>
      <p:sp>
        <p:nvSpPr>
          <p:cNvPr id="34"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29184"/>
            <a:ext cx="8686800" cy="384048"/>
          </a:xfrm>
          <a:prstGeom prst="rect">
            <a:avLst/>
          </a:prstGeom>
          <a:noFill/>
          <a:ln/>
        </p:spPr>
        <p:txBody>
          <a:bodyPr wrap="square" lIns="0" tIns="0" rIns="0" bIns="0" rtlCol="0" anchor="ctr">
            <a:noAutofit/>
          </a:bodyPr>
          <a:lstStyle/>
          <a:p>
            <a:pPr marL="0" indent="0">
              <a:buNone/>
            </a:pPr>
            <a:r>
              <a:rPr lang="en-US" sz="2600" b="1">
                <a:solidFill>
                  <a:srgbClr val="F4F7FA"/>
                </a:solidFill>
              </a:rPr>
              <a:t>Results 4/4 — Inferences and live demo</a:t>
            </a:r>
            <a:endParaRPr lang="en-US" sz="2600" dirty="0"/>
          </a:p>
        </p:txBody>
      </p:sp>
      <p:sp>
        <p:nvSpPr>
          <p:cNvPr id="3" name="Text 1"/>
          <p:cNvSpPr/>
          <p:nvPr/>
        </p:nvSpPr>
        <p:spPr>
          <a:xfrm>
            <a:off x="585216" y="786384"/>
            <a:ext cx="8961120" cy="256032"/>
          </a:xfrm>
          <a:prstGeom prst="rect">
            <a:avLst/>
          </a:prstGeom>
          <a:noFill/>
          <a:ln/>
        </p:spPr>
        <p:txBody>
          <a:bodyPr wrap="square" lIns="0" tIns="0" rIns="0" bIns="0" rtlCol="0" anchor="ctr">
            <a:noAutofit/>
          </a:bodyPr>
          <a:lstStyle/>
          <a:p>
            <a:pPr marL="0" indent="0">
              <a:buNone/>
            </a:pPr>
            <a:r>
              <a:rPr lang="en-US" sz="1150">
                <a:solidFill>
                  <a:srgbClr val="7E8A97"/>
                </a:solidFill>
              </a:rPr>
              <a:t>Choose hardware by workload: CPU for small requests, one GPU for batches, more GPUs only when scaling pays.</a:t>
            </a:r>
            <a:endParaRPr lang="en-US" sz="1150" dirty="0"/>
          </a:p>
        </p:txBody>
      </p:sp>
      <p:sp>
        <p:nvSpPr>
          <p:cNvPr id="4" name="Shape 2"/>
          <p:cNvSpPr/>
          <p:nvPr/>
        </p:nvSpPr>
        <p:spPr>
          <a:xfrm>
            <a:off x="9966960" y="347472"/>
            <a:ext cx="1600200" cy="384048"/>
          </a:xfrm>
          <a:prstGeom prst="roundRect">
            <a:avLst>
              <a:gd name="adj" fmla="val 19048"/>
            </a:avLst>
          </a:prstGeom>
          <a:solidFill>
            <a:srgbClr val="FFB454">
              <a:alpha val="16000"/>
            </a:srgbClr>
          </a:solidFill>
          <a:ln w="12700">
            <a:solidFill>
              <a:srgbClr val="FFB454">
                <a:alpha val="55000"/>
              </a:srgbClr>
            </a:solidFill>
            <a:prstDash val="solid"/>
          </a:ln>
        </p:spPr>
      </p:sp>
      <p:sp>
        <p:nvSpPr>
          <p:cNvPr id="5" name="Text 3"/>
          <p:cNvSpPr/>
          <p:nvPr/>
        </p:nvSpPr>
        <p:spPr>
          <a:xfrm>
            <a:off x="9966960" y="448056"/>
            <a:ext cx="1600200" cy="146304"/>
          </a:xfrm>
          <a:prstGeom prst="rect">
            <a:avLst/>
          </a:prstGeom>
          <a:noFill/>
          <a:ln/>
        </p:spPr>
        <p:txBody>
          <a:bodyPr wrap="square" lIns="0" tIns="0" rIns="0" bIns="0" rtlCol="0" anchor="ctr">
            <a:noAutofit/>
          </a:bodyPr>
          <a:lstStyle/>
          <a:p>
            <a:pPr marL="0" indent="0" algn="ctr">
              <a:buNone/>
            </a:pPr>
            <a:r>
              <a:rPr lang="en-US" sz="950" b="1" kern="0" spc="140">
                <a:solidFill>
                  <a:srgbClr val="FFB454"/>
                </a:solidFill>
              </a:rPr>
              <a:t>ROYDON · PERSON 3</a:t>
            </a:r>
            <a:endParaRPr lang="en-US" sz="950" dirty="0"/>
          </a:p>
        </p:txBody>
      </p:sp>
      <p:sp>
        <p:nvSpPr>
          <p:cNvPr id="6" name="Shape 4"/>
          <p:cNvSpPr/>
          <p:nvPr/>
        </p:nvSpPr>
        <p:spPr>
          <a:xfrm>
            <a:off x="658368" y="1399032"/>
            <a:ext cx="5230368" cy="1572768"/>
          </a:xfrm>
          <a:prstGeom prst="roundRect">
            <a:avLst>
              <a:gd name="adj" fmla="val 4651"/>
            </a:avLst>
          </a:prstGeom>
          <a:solidFill>
            <a:srgbClr val="121923"/>
          </a:solidFill>
          <a:ln w="12700">
            <a:solidFill>
              <a:srgbClr val="25303D"/>
            </a:solidFill>
            <a:prstDash val="solid"/>
          </a:ln>
        </p:spPr>
      </p:sp>
      <p:sp>
        <p:nvSpPr>
          <p:cNvPr id="7" name="Shape 5"/>
          <p:cNvSpPr/>
          <p:nvPr/>
        </p:nvSpPr>
        <p:spPr>
          <a:xfrm>
            <a:off x="886968" y="1719072"/>
            <a:ext cx="548640" cy="548640"/>
          </a:xfrm>
          <a:prstGeom prst="ellipse">
            <a:avLst/>
          </a:prstGeom>
          <a:solidFill>
            <a:srgbClr val="41D9FF"/>
          </a:solidFill>
          <a:ln w="12700">
            <a:solidFill>
              <a:srgbClr val="41D9FF"/>
            </a:solidFill>
            <a:prstDash val="solid"/>
          </a:ln>
        </p:spPr>
      </p:sp>
      <p:sp>
        <p:nvSpPr>
          <p:cNvPr id="8" name="Text 6"/>
          <p:cNvSpPr/>
          <p:nvPr/>
        </p:nvSpPr>
        <p:spPr>
          <a:xfrm>
            <a:off x="886968" y="1874520"/>
            <a:ext cx="548640" cy="164592"/>
          </a:xfrm>
          <a:prstGeom prst="rect">
            <a:avLst/>
          </a:prstGeom>
          <a:noFill/>
          <a:ln/>
        </p:spPr>
        <p:txBody>
          <a:bodyPr wrap="square" lIns="0" tIns="0" rIns="0" bIns="0" rtlCol="0" anchor="ctr">
            <a:noAutofit/>
          </a:bodyPr>
          <a:lstStyle/>
          <a:p>
            <a:pPr marL="0" indent="0" algn="ctr">
              <a:buNone/>
            </a:pPr>
            <a:r>
              <a:rPr lang="en-US" sz="1200" b="1" dirty="0">
                <a:solidFill>
                  <a:srgbClr val="0B0F14"/>
                </a:solidFill>
              </a:rPr>
              <a:t>1</a:t>
            </a:r>
            <a:endParaRPr lang="en-US" sz="1200" dirty="0"/>
          </a:p>
        </p:txBody>
      </p:sp>
      <p:sp>
        <p:nvSpPr>
          <p:cNvPr id="9" name="Text 7"/>
          <p:cNvSpPr/>
          <p:nvPr/>
        </p:nvSpPr>
        <p:spPr>
          <a:xfrm>
            <a:off x="1618488" y="1655064"/>
            <a:ext cx="3886200" cy="320040"/>
          </a:xfrm>
          <a:prstGeom prst="rect">
            <a:avLst/>
          </a:prstGeom>
          <a:noFill/>
          <a:ln/>
        </p:spPr>
        <p:txBody>
          <a:bodyPr wrap="square" lIns="0" tIns="0" rIns="0" bIns="0" rtlCol="0" anchor="ctr">
            <a:noAutofit/>
          </a:bodyPr>
          <a:lstStyle/>
          <a:p>
            <a:pPr marL="0" indent="0">
              <a:buNone/>
            </a:pPr>
            <a:r>
              <a:rPr lang="en-US" sz="1550" b="1">
                <a:solidFill>
                  <a:srgbClr val="41D9FF"/>
                </a:solidFill>
              </a:rPr>
              <a:t>Convolution exposes parallel work</a:t>
            </a:r>
            <a:endParaRPr lang="en-US" sz="1550" dirty="0"/>
          </a:p>
        </p:txBody>
      </p:sp>
      <p:sp>
        <p:nvSpPr>
          <p:cNvPr id="10" name="Text 8"/>
          <p:cNvSpPr/>
          <p:nvPr/>
        </p:nvSpPr>
        <p:spPr>
          <a:xfrm>
            <a:off x="1618488" y="2112264"/>
            <a:ext cx="3886200" cy="530352"/>
          </a:xfrm>
          <a:prstGeom prst="rect">
            <a:avLst/>
          </a:prstGeom>
          <a:noFill/>
          <a:ln/>
        </p:spPr>
        <p:txBody>
          <a:bodyPr wrap="square" lIns="0" tIns="0" rIns="0" bIns="0" rtlCol="0" anchor="ctr">
            <a:noAutofit/>
          </a:bodyPr>
          <a:lstStyle/>
          <a:p>
            <a:pPr marL="0" indent="0">
              <a:buNone/>
            </a:pPr>
            <a:r>
              <a:rPr lang="en-US" sz="1250">
                <a:solidFill>
                  <a:srgbClr val="C7D0D9"/>
                </a:solidFill>
              </a:rPr>
              <a:t>Different outputs execute independently; shared weight gradients require reductions.</a:t>
            </a:r>
            <a:endParaRPr lang="en-US" sz="1250" dirty="0"/>
          </a:p>
        </p:txBody>
      </p:sp>
      <p:sp>
        <p:nvSpPr>
          <p:cNvPr id="11" name="Shape 9"/>
          <p:cNvSpPr/>
          <p:nvPr/>
        </p:nvSpPr>
        <p:spPr>
          <a:xfrm>
            <a:off x="6254496" y="1399032"/>
            <a:ext cx="5230368" cy="1572768"/>
          </a:xfrm>
          <a:prstGeom prst="roundRect">
            <a:avLst>
              <a:gd name="adj" fmla="val 4651"/>
            </a:avLst>
          </a:prstGeom>
          <a:solidFill>
            <a:srgbClr val="121923"/>
          </a:solidFill>
          <a:ln w="12700">
            <a:solidFill>
              <a:srgbClr val="25303D"/>
            </a:solidFill>
            <a:prstDash val="solid"/>
          </a:ln>
        </p:spPr>
      </p:sp>
      <p:sp>
        <p:nvSpPr>
          <p:cNvPr id="12" name="Shape 10"/>
          <p:cNvSpPr/>
          <p:nvPr/>
        </p:nvSpPr>
        <p:spPr>
          <a:xfrm>
            <a:off x="6483096" y="1719072"/>
            <a:ext cx="548640" cy="548640"/>
          </a:xfrm>
          <a:prstGeom prst="ellipse">
            <a:avLst/>
          </a:prstGeom>
          <a:solidFill>
            <a:srgbClr val="76B900"/>
          </a:solidFill>
          <a:ln w="12700">
            <a:solidFill>
              <a:srgbClr val="76B900"/>
            </a:solidFill>
            <a:prstDash val="solid"/>
          </a:ln>
        </p:spPr>
      </p:sp>
      <p:sp>
        <p:nvSpPr>
          <p:cNvPr id="13" name="Text 11"/>
          <p:cNvSpPr/>
          <p:nvPr/>
        </p:nvSpPr>
        <p:spPr>
          <a:xfrm>
            <a:off x="6483096" y="1874520"/>
            <a:ext cx="548640" cy="164592"/>
          </a:xfrm>
          <a:prstGeom prst="rect">
            <a:avLst/>
          </a:prstGeom>
          <a:noFill/>
          <a:ln/>
        </p:spPr>
        <p:txBody>
          <a:bodyPr wrap="square" lIns="0" tIns="0" rIns="0" bIns="0" rtlCol="0" anchor="ctr">
            <a:noAutofit/>
          </a:bodyPr>
          <a:lstStyle/>
          <a:p>
            <a:pPr marL="0" indent="0" algn="ctr">
              <a:buNone/>
            </a:pPr>
            <a:r>
              <a:rPr lang="en-US" sz="1200" b="1" dirty="0">
                <a:solidFill>
                  <a:srgbClr val="0B0F14"/>
                </a:solidFill>
              </a:rPr>
              <a:t>2</a:t>
            </a:r>
            <a:endParaRPr lang="en-US" sz="1200" dirty="0"/>
          </a:p>
        </p:txBody>
      </p:sp>
      <p:sp>
        <p:nvSpPr>
          <p:cNvPr id="14" name="Text 12"/>
          <p:cNvSpPr/>
          <p:nvPr/>
        </p:nvSpPr>
        <p:spPr>
          <a:xfrm>
            <a:off x="7214616" y="1655064"/>
            <a:ext cx="3886200" cy="320040"/>
          </a:xfrm>
          <a:prstGeom prst="rect">
            <a:avLst/>
          </a:prstGeom>
          <a:noFill/>
          <a:ln/>
        </p:spPr>
        <p:txBody>
          <a:bodyPr wrap="square" lIns="0" tIns="0" rIns="0" bIns="0" rtlCol="0" anchor="ctr">
            <a:noAutofit/>
          </a:bodyPr>
          <a:lstStyle/>
          <a:p>
            <a:pPr marL="0" indent="0">
              <a:buNone/>
            </a:pPr>
            <a:r>
              <a:rPr lang="en-US" sz="1550" b="1">
                <a:solidFill>
                  <a:srgbClr val="76B900"/>
                </a:solidFill>
              </a:rPr>
              <a:t>CPU wins tiny-request latency</a:t>
            </a:r>
            <a:endParaRPr lang="en-US" sz="1550" dirty="0"/>
          </a:p>
        </p:txBody>
      </p:sp>
      <p:sp>
        <p:nvSpPr>
          <p:cNvPr id="15" name="Text 13"/>
          <p:cNvSpPr/>
          <p:nvPr/>
        </p:nvSpPr>
        <p:spPr>
          <a:xfrm>
            <a:off x="7214616" y="2112264"/>
            <a:ext cx="3886200" cy="530352"/>
          </a:xfrm>
          <a:prstGeom prst="rect">
            <a:avLst/>
          </a:prstGeom>
          <a:noFill/>
          <a:ln/>
        </p:spPr>
        <p:txBody>
          <a:bodyPr wrap="square" lIns="0" tIns="0" rIns="0" bIns="0" rtlCol="0" anchor="ctr">
            <a:noAutofit/>
          </a:bodyPr>
          <a:lstStyle/>
          <a:p>
            <a:pPr marL="0" indent="0">
              <a:buNone/>
            </a:pPr>
            <a:r>
              <a:rPr lang="en-US" sz="1250">
                <a:solidFill>
                  <a:srgbClr val="C7D0D9"/>
                </a:solidFill>
              </a:rPr>
              <a:t>83.45 µs per digit in this run. Framework and launch overhead matter.</a:t>
            </a:r>
            <a:endParaRPr lang="en-US" sz="1250" dirty="0"/>
          </a:p>
        </p:txBody>
      </p:sp>
      <p:sp>
        <p:nvSpPr>
          <p:cNvPr id="16" name="Shape 14"/>
          <p:cNvSpPr/>
          <p:nvPr/>
        </p:nvSpPr>
        <p:spPr>
          <a:xfrm>
            <a:off x="658368" y="3319272"/>
            <a:ext cx="5230368" cy="1572768"/>
          </a:xfrm>
          <a:prstGeom prst="roundRect">
            <a:avLst>
              <a:gd name="adj" fmla="val 4651"/>
            </a:avLst>
          </a:prstGeom>
          <a:solidFill>
            <a:srgbClr val="121923"/>
          </a:solidFill>
          <a:ln w="12700">
            <a:solidFill>
              <a:srgbClr val="25303D"/>
            </a:solidFill>
            <a:prstDash val="solid"/>
          </a:ln>
        </p:spPr>
      </p:sp>
      <p:sp>
        <p:nvSpPr>
          <p:cNvPr id="17" name="Shape 15"/>
          <p:cNvSpPr/>
          <p:nvPr/>
        </p:nvSpPr>
        <p:spPr>
          <a:xfrm>
            <a:off x="886968" y="3639312"/>
            <a:ext cx="548640" cy="548640"/>
          </a:xfrm>
          <a:prstGeom prst="ellipse">
            <a:avLst/>
          </a:prstGeom>
          <a:solidFill>
            <a:srgbClr val="A78BFA"/>
          </a:solidFill>
          <a:ln w="12700">
            <a:solidFill>
              <a:srgbClr val="A78BFA"/>
            </a:solidFill>
            <a:prstDash val="solid"/>
          </a:ln>
        </p:spPr>
      </p:sp>
      <p:sp>
        <p:nvSpPr>
          <p:cNvPr id="18" name="Text 16"/>
          <p:cNvSpPr/>
          <p:nvPr/>
        </p:nvSpPr>
        <p:spPr>
          <a:xfrm>
            <a:off x="886968" y="3794760"/>
            <a:ext cx="548640" cy="164592"/>
          </a:xfrm>
          <a:prstGeom prst="rect">
            <a:avLst/>
          </a:prstGeom>
          <a:noFill/>
          <a:ln/>
        </p:spPr>
        <p:txBody>
          <a:bodyPr wrap="square" lIns="0" tIns="0" rIns="0" bIns="0" rtlCol="0" anchor="ctr">
            <a:noAutofit/>
          </a:bodyPr>
          <a:lstStyle/>
          <a:p>
            <a:pPr marL="0" indent="0" algn="ctr">
              <a:buNone/>
            </a:pPr>
            <a:r>
              <a:rPr lang="en-US" sz="1200" b="1" dirty="0">
                <a:solidFill>
                  <a:srgbClr val="0B0F14"/>
                </a:solidFill>
              </a:rPr>
              <a:t>3</a:t>
            </a:r>
            <a:endParaRPr lang="en-US" sz="1200" dirty="0"/>
          </a:p>
        </p:txBody>
      </p:sp>
      <p:sp>
        <p:nvSpPr>
          <p:cNvPr id="19" name="Text 17"/>
          <p:cNvSpPr/>
          <p:nvPr/>
        </p:nvSpPr>
        <p:spPr>
          <a:xfrm>
            <a:off x="1618488" y="3575304"/>
            <a:ext cx="3886200" cy="320040"/>
          </a:xfrm>
          <a:prstGeom prst="rect">
            <a:avLst/>
          </a:prstGeom>
          <a:noFill/>
          <a:ln/>
        </p:spPr>
        <p:txBody>
          <a:bodyPr wrap="square" lIns="0" tIns="0" rIns="0" bIns="0" rtlCol="0" anchor="ctr">
            <a:noAutofit/>
          </a:bodyPr>
          <a:lstStyle/>
          <a:p>
            <a:pPr marL="0" indent="0">
              <a:buNone/>
            </a:pPr>
            <a:r>
              <a:rPr lang="en-US" sz="1550" b="1">
                <a:solidFill>
                  <a:srgbClr val="A78BFA"/>
                </a:solidFill>
              </a:rPr>
              <a:t>One GPU wins this training run</a:t>
            </a:r>
            <a:endParaRPr lang="en-US" sz="1550" dirty="0"/>
          </a:p>
        </p:txBody>
      </p:sp>
      <p:sp>
        <p:nvSpPr>
          <p:cNvPr id="20" name="Text 18"/>
          <p:cNvSpPr/>
          <p:nvPr/>
        </p:nvSpPr>
        <p:spPr>
          <a:xfrm>
            <a:off x="1618488" y="4032504"/>
            <a:ext cx="3886200" cy="530352"/>
          </a:xfrm>
          <a:prstGeom prst="rect">
            <a:avLst/>
          </a:prstGeom>
          <a:noFill/>
          <a:ln/>
        </p:spPr>
        <p:txBody>
          <a:bodyPr wrap="square" lIns="0" tIns="0" rIns="0" bIns="0" rtlCol="0" anchor="ctr">
            <a:noAutofit/>
          </a:bodyPr>
          <a:lstStyle/>
          <a:p>
            <a:pPr marL="0" indent="0">
              <a:buNone/>
            </a:pPr>
            <a:r>
              <a:rPr lang="en-US" sz="1250">
                <a:solidFill>
                  <a:srgbClr val="C7D0D9"/>
                </a:solidFill>
              </a:rPr>
              <a:t>PyTorch/T4: 5.42 s for 50 epochs vs CPU 10.17 s. All models: 95.6% test accuracy.</a:t>
            </a:r>
            <a:endParaRPr lang="en-US" sz="1250" dirty="0"/>
          </a:p>
        </p:txBody>
      </p:sp>
      <p:sp>
        <p:nvSpPr>
          <p:cNvPr id="21" name="Shape 19"/>
          <p:cNvSpPr/>
          <p:nvPr/>
        </p:nvSpPr>
        <p:spPr>
          <a:xfrm>
            <a:off x="6254496" y="3319272"/>
            <a:ext cx="5230368" cy="1572768"/>
          </a:xfrm>
          <a:prstGeom prst="roundRect">
            <a:avLst>
              <a:gd name="adj" fmla="val 4651"/>
            </a:avLst>
          </a:prstGeom>
          <a:solidFill>
            <a:srgbClr val="121923"/>
          </a:solidFill>
          <a:ln w="12700">
            <a:solidFill>
              <a:srgbClr val="25303D"/>
            </a:solidFill>
            <a:prstDash val="solid"/>
          </a:ln>
        </p:spPr>
      </p:sp>
      <p:sp>
        <p:nvSpPr>
          <p:cNvPr id="22" name="Shape 20"/>
          <p:cNvSpPr/>
          <p:nvPr/>
        </p:nvSpPr>
        <p:spPr>
          <a:xfrm>
            <a:off x="6483096" y="3639312"/>
            <a:ext cx="548640" cy="548640"/>
          </a:xfrm>
          <a:prstGeom prst="ellipse">
            <a:avLst/>
          </a:prstGeom>
          <a:solidFill>
            <a:srgbClr val="FFB454"/>
          </a:solidFill>
          <a:ln w="12700">
            <a:solidFill>
              <a:srgbClr val="FFB454"/>
            </a:solidFill>
            <a:prstDash val="solid"/>
          </a:ln>
        </p:spPr>
      </p:sp>
      <p:sp>
        <p:nvSpPr>
          <p:cNvPr id="23" name="Text 21"/>
          <p:cNvSpPr/>
          <p:nvPr/>
        </p:nvSpPr>
        <p:spPr>
          <a:xfrm>
            <a:off x="6483096" y="3794760"/>
            <a:ext cx="548640" cy="164592"/>
          </a:xfrm>
          <a:prstGeom prst="rect">
            <a:avLst/>
          </a:prstGeom>
          <a:noFill/>
          <a:ln/>
        </p:spPr>
        <p:txBody>
          <a:bodyPr wrap="square" lIns="0" tIns="0" rIns="0" bIns="0" rtlCol="0" anchor="ctr">
            <a:noAutofit/>
          </a:bodyPr>
          <a:lstStyle/>
          <a:p>
            <a:pPr marL="0" indent="0" algn="ctr">
              <a:buNone/>
            </a:pPr>
            <a:r>
              <a:rPr lang="en-US" sz="1200" b="1" dirty="0">
                <a:solidFill>
                  <a:srgbClr val="0B0F14"/>
                </a:solidFill>
              </a:rPr>
              <a:t>4</a:t>
            </a:r>
            <a:endParaRPr lang="en-US" sz="1200" dirty="0"/>
          </a:p>
        </p:txBody>
      </p:sp>
      <p:sp>
        <p:nvSpPr>
          <p:cNvPr id="24" name="Text 22"/>
          <p:cNvSpPr/>
          <p:nvPr/>
        </p:nvSpPr>
        <p:spPr>
          <a:xfrm>
            <a:off x="7214616" y="3575304"/>
            <a:ext cx="3886200" cy="320040"/>
          </a:xfrm>
          <a:prstGeom prst="rect">
            <a:avLst/>
          </a:prstGeom>
          <a:noFill/>
          <a:ln/>
        </p:spPr>
        <p:txBody>
          <a:bodyPr wrap="square" lIns="0" tIns="0" rIns="0" bIns="0" rtlCol="0" anchor="ctr">
            <a:noAutofit/>
          </a:bodyPr>
          <a:lstStyle/>
          <a:p>
            <a:pPr marL="0" indent="0">
              <a:buNone/>
            </a:pPr>
            <a:r>
              <a:rPr lang="en-US" sz="1550" b="1">
                <a:solidFill>
                  <a:srgbClr val="FFB454"/>
                </a:solidFill>
              </a:rPr>
              <a:t>Two GPUs need enough work</a:t>
            </a:r>
            <a:endParaRPr lang="en-US" sz="1550" dirty="0"/>
          </a:p>
        </p:txBody>
      </p:sp>
      <p:sp>
        <p:nvSpPr>
          <p:cNvPr id="25" name="Text 23"/>
          <p:cNvSpPr/>
          <p:nvPr/>
        </p:nvSpPr>
        <p:spPr>
          <a:xfrm>
            <a:off x="7214616" y="4032504"/>
            <a:ext cx="3886200" cy="685800"/>
          </a:xfrm>
          <a:prstGeom prst="rect">
            <a:avLst/>
          </a:prstGeom>
          <a:noFill/>
          <a:ln/>
        </p:spPr>
        <p:txBody>
          <a:bodyPr wrap="square" lIns="0" tIns="0" rIns="0" bIns="0" rtlCol="0" anchor="ctr">
            <a:noAutofit/>
          </a:bodyPr>
          <a:lstStyle/>
          <a:p>
            <a:pPr marL="0" indent="0">
              <a:buNone/>
            </a:pPr>
            <a:r>
              <a:rPr lang="en-US" sz="1250">
                <a:solidFill>
                  <a:srgbClr val="C7D0D9"/>
                </a:solidFill>
              </a:rPr>
              <a:t>DataParallel: 15.99–18.39 s. Communication outweighed the saved compute time.</a:t>
            </a:r>
            <a:endParaRPr lang="en-US" sz="1250" dirty="0"/>
          </a:p>
        </p:txBody>
      </p:sp>
      <p:sp>
        <p:nvSpPr>
          <p:cNvPr id="26" name="Shape 24"/>
          <p:cNvSpPr/>
          <p:nvPr/>
        </p:nvSpPr>
        <p:spPr>
          <a:xfrm>
            <a:off x="658368" y="5285232"/>
            <a:ext cx="10826496" cy="658368"/>
          </a:xfrm>
          <a:prstGeom prst="roundRect">
            <a:avLst>
              <a:gd name="adj" fmla="val 11111"/>
            </a:avLst>
          </a:prstGeom>
          <a:solidFill>
            <a:srgbClr val="101B12"/>
          </a:solidFill>
          <a:ln w="12700">
            <a:solidFill>
              <a:srgbClr val="29432A"/>
            </a:solidFill>
            <a:prstDash val="solid"/>
          </a:ln>
        </p:spPr>
      </p:sp>
      <p:sp>
        <p:nvSpPr>
          <p:cNvPr id="27" name="Text 25"/>
          <p:cNvSpPr/>
          <p:nvPr/>
        </p:nvSpPr>
        <p:spPr>
          <a:xfrm>
            <a:off x="932688" y="5477256"/>
            <a:ext cx="1874520" cy="201168"/>
          </a:xfrm>
          <a:prstGeom prst="rect">
            <a:avLst/>
          </a:prstGeom>
          <a:noFill/>
          <a:ln/>
        </p:spPr>
        <p:txBody>
          <a:bodyPr wrap="square" lIns="0" tIns="0" rIns="0" bIns="0" rtlCol="0" anchor="ctr">
            <a:noAutofit/>
          </a:bodyPr>
          <a:lstStyle/>
          <a:p>
            <a:pPr marL="0" indent="0">
              <a:buNone/>
            </a:pPr>
            <a:r>
              <a:rPr lang="en-US" sz="1300" b="1" dirty="0">
                <a:solidFill>
                  <a:srgbClr val="A3E635"/>
                </a:solidFill>
              </a:rPr>
              <a:t>Final design takeaway</a:t>
            </a:r>
            <a:endParaRPr lang="en-US" sz="1300" dirty="0"/>
          </a:p>
        </p:txBody>
      </p:sp>
      <p:sp>
        <p:nvSpPr>
          <p:cNvPr id="28" name="Text 26"/>
          <p:cNvSpPr/>
          <p:nvPr/>
        </p:nvSpPr>
        <p:spPr>
          <a:xfrm>
            <a:off x="2743200" y="5440680"/>
            <a:ext cx="8183880" cy="444500"/>
          </a:xfrm>
          <a:prstGeom prst="rect">
            <a:avLst/>
          </a:prstGeom>
          <a:noFill/>
          <a:ln/>
        </p:spPr>
        <p:txBody>
          <a:bodyPr wrap="square" lIns="0" tIns="0" rIns="0" bIns="0" rtlCol="0" anchor="ctr">
            <a:noAutofit/>
          </a:bodyPr>
          <a:lstStyle/>
          <a:p>
            <a:pPr marL="0" indent="0">
              <a:buNone/>
            </a:pPr>
            <a:r>
              <a:rPr lang="en-US" sz="1320" b="1">
                <a:solidFill>
                  <a:srgbClr val="F4F7FA"/>
                </a:solidFill>
              </a:rPr>
              <a:t>CPU for tiny requests → one GPU for batched work → two GPUs only when synchronization pays.</a:t>
            </a:r>
            <a:endParaRPr lang="en-US" sz="1320" dirty="0"/>
          </a:p>
        </p:txBody>
      </p:sp>
      <p:sp>
        <p:nvSpPr>
          <p:cNvPr id="29" name="Text 27"/>
          <p:cNvSpPr/>
          <p:nvPr/>
        </p:nvSpPr>
        <p:spPr>
          <a:xfrm>
            <a:off x="685800" y="6126480"/>
            <a:ext cx="6217920" cy="219456"/>
          </a:xfrm>
          <a:prstGeom prst="rect">
            <a:avLst/>
          </a:prstGeom>
          <a:noFill/>
          <a:ln/>
        </p:spPr>
        <p:txBody>
          <a:bodyPr wrap="square" lIns="0" tIns="0" rIns="0" bIns="0" rtlCol="0" anchor="ctr">
            <a:noAutofit/>
          </a:bodyPr>
          <a:lstStyle/>
          <a:p>
            <a:pPr marL="0" indent="0">
              <a:buNone/>
            </a:pPr>
            <a:r>
              <a:rPr lang="en-US" sz="1050">
                <a:solidFill>
                  <a:srgbClr val="7E8A97"/>
                </a:solidFill>
              </a:rPr>
              <a:t>Demo: seven checkpoints → the same held-out digits → predictions and true labels.</a:t>
            </a:r>
            <a:endParaRPr lang="en-US" sz="1050" dirty="0"/>
          </a:p>
        </p:txBody>
      </p:sp>
      <p:sp>
        <p:nvSpPr>
          <p:cNvPr id="30" name="Slide Number Placeholder 0"/>
          <p:cNvSpPr>
            <a:spLocks noGrp="1"/>
          </p:cNvSpPr>
          <p:nvPr>
            <p:ph type="sldNum" sz="quarter" idx="4294967295"/>
          </p:nvPr>
        </p:nvSpPr>
        <p:spPr>
          <a:xfrm>
            <a:off x="11277600" y="6419088"/>
            <a:ext cx="355600" cy="201168"/>
          </a:xfrm>
          <a:prstGeom prst="rect">
            <a:avLst/>
          </a:prstGeom>
          <a:extLst>
            <a:ext uri="{C572A759-6A51-4108-AA02-DFA0A04FC94B}">
              <ma14:wrappingTextBoxFlag xmlns:ma14="http://schemas.microsoft.com/office/mac/drawingml/2011/main" xmlns="" val="0"/>
            </a:ext>
          </a:extLst>
        </p:spPr>
        <p:txBody>
          <a:bodyPr lIns="0" rIns="0">
            <a:noAutofit/>
          </a:bodyPr>
          <a:lstStyle>
            <a:lvl1pPr>
              <a:defRPr sz="900">
                <a:solidFill>
                  <a:srgbClr val="66717D"/>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3494</Words>
  <Application>Microsoft Office PowerPoint</Application>
  <PresentationFormat>Widescreen</PresentationFormat>
  <Paragraphs>360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Amrita Vishwa Vidyapeetham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Parallelizing CNNs: CPU, CUDA &amp; Multi-GPU</dc:title>
  <dc:subject>CNN Parallelism, CUDA and DataParallel</dc:subject>
  <dc:creator>OpenAI</dc:creator>
  <cp:lastModifiedBy>Satya Paladugu</cp:lastModifiedBy>
  <cp:revision>2</cp:revision>
  <dcterms:created xsi:type="dcterms:W3CDTF">2026-10-14T13:41:15Z</dcterms:created>
  <dcterms:modified xsi:type="dcterms:W3CDTF">2026-10-14T14:14:41Z</dcterms:modified>
</cp:coreProperties>
</file>