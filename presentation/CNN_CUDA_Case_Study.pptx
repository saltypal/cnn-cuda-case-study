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autoCompressPictures="0">
  <p:sldMasterIdLst>
    <p:sldMasterId id="2147483648" r:id="rId1"/>
  </p:sldMasterIdLst>
  <p:notesMasterIdLst>
    <p:notesMasterId r:id="rId14"/>
  </p:notesMasterIdLst>
  <p:sldIdLst>
    <p:sldId id="396" r:id="rId2"/>
    <p:sldId id="397" r:id="rId3"/>
    <p:sldId id="398" r:id="rId4"/>
    <p:sldId id="399" r:id="rId5"/>
    <p:sldId id="400" r:id="rId6"/>
    <p:sldId id="401" r:id="rId7"/>
    <p:sldId id="402" r:id="rId8"/>
    <p:sldId id="403" r:id="rId9"/>
    <p:sldId id="404" r:id="rId10"/>
    <p:sldId id="405" r:id="rId11"/>
    <p:sldId id="406" r:id="rId12"/>
    <p:sldId id="407" r:id="rId13"/>
  </p:sldIdLst>
  <p:sldSz cx="12192000" cy="6858000"/>
  <p:notesSz cx="6858000" cy="9144000"/>
  <p:embeddedFontLst>
    <p:embeddedFont>
      <p:font typeface="Consolas" panose="020B0609020204030204" pitchFamily="49" charset="0"/>
      <p:regular r:id="rId15"/>
      <p:bold r:id="rId16"/>
      <p:italic r:id="rId17"/>
      <p:boldItalic r:id="rId18"/>
    </p:embeddedFont>
    <p:embeddedFont>
      <p:font typeface="OpenAI Sans" panose="020B0604020202020204" charset="0"/>
      <p:regular r:id="rId19"/>
      <p:bold r:id="rId20"/>
      <p:italic r:id="rId21"/>
      <p:boldItalic r:id="rId2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224"/>
    <p:restoredTop sz="92742"/>
  </p:normalViewPr>
  <p:slideViewPr>
    <p:cSldViewPr snapToGrid="0">
      <p:cViewPr varScale="1">
        <p:scale>
          <a:sx n="52" d="100"/>
          <a:sy n="52" d="100"/>
        </p:scale>
        <p:origin x="208" y="264"/>
      </p:cViewPr>
      <p:guideLst/>
    </p:cSldViewPr>
  </p:slideViewPr>
  <p:outlineViewPr>
    <p:cViewPr>
      <p:scale>
        <a:sx n="33" d="100"/>
        <a:sy n="33" d="100"/>
      </p:scale>
      <p:origin x="0" y="-29912"/>
    </p:cViewPr>
  </p:outlineViewPr>
  <p:notesTextViewPr>
    <p:cViewPr>
      <p:scale>
        <a:sx n="1" d="1"/>
        <a:sy n="1" d="1"/>
      </p:scale>
      <p:origin x="0" y="0"/>
    </p:cViewPr>
  </p:notesTextViewPr>
  <p:sorterViewPr>
    <p:cViewPr>
      <p:scale>
        <a:sx n="1" d="1"/>
        <a:sy n="1" d="1"/>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4.fntdata"/><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font" Target="fonts/font7.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3.fntdata"/><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font" Target="fonts/font2.fntdata"/><Relationship Id="rId20" Type="http://schemas.openxmlformats.org/officeDocument/2006/relationships/font" Target="fonts/font6.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font" Target="fonts/font1.fntdata"/><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font" Target="fonts/font5.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 Id="rId22" Type="http://schemas.openxmlformats.org/officeDocument/2006/relationships/font" Target="fonts/font8.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9EC29E5-F646-1C4E-9C79-40608B34D03C}" type="datetimeFigureOut">
              <a:rPr lang="en-US" smtClean="0"/>
              <a:t>10/14/2026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9AAA0A2-FFE2-354C-9768-C35E42B6251D}" type="slidenum">
              <a:rPr lang="en-US" smtClean="0"/>
              <a:t>‹#›</a:t>
            </a:fld>
            <a:endParaRPr lang="en-US"/>
          </a:p>
        </p:txBody>
      </p:sp>
    </p:spTree>
    <p:extLst>
      <p:ext uri="{BB962C8B-B14F-4D97-AF65-F5344CB8AC3E}">
        <p14:creationId xmlns:p14="http://schemas.microsoft.com/office/powerpoint/2010/main" val="199117696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E614D2-2802-9381-3FF9-B1BDC227FF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8838E4-A3D7-443C-4771-74618E3C9B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C27993-9BBE-6B01-9733-AB1FA9039A9B}"/>
              </a:ext>
            </a:extLst>
          </p:cNvPr>
          <p:cNvSpPr>
            <a:spLocks noGrp="1"/>
          </p:cNvSpPr>
          <p:nvPr>
            <p:ph type="body" idx="1"/>
          </p:nvPr>
        </p:nvSpPr>
        <p:spPr/>
        <p:txBody>
          <a:bodyPr/>
          <a:lstStyle/>
          <a:p>
            <a:r>
              <a:rPr lang="en-US"/>
              <a:t>Presenter 1
This case study examines the same small classifier with different convolution engines. We implemented it, checked its numerical behavior, and trained every engine for 50 epochs on a fixed 10% MNIST subset. The final part shows a live checkpoint demo.
Presenter 1 explains the CNN, the convolution equation and the CPU implementation. Presenter 2 explains GPU execution, index mapping, memory movement and shared-memory reuse. Presenter 3 presents measured results, the timing boundaries, overhead and the demo.
The implementation boundary is deliberate: custom C++/CUDA and direct cuDNN provide convolution. PyTorch supplies tensor storage, the remaining classifier layers, loss and SGD for every path. The PyTorch baselines also use its convolution. We compare serial/OpenMP CPU, direct/tiled CUDA, direct cuDNN, and PyTorch on CPU/CUDA. This is a hybrid CNN case study, not a claim that every neural-network operation was handwritten.
The cover imagery is retained from the user's Simple Dark Mode template. It is decorative and makes no hardware claim.
Sources:
</a:t>
            </a:r>
          </a:p>
        </p:txBody>
      </p:sp>
      <p:sp>
        <p:nvSpPr>
          <p:cNvPr id="4" name="Slide Number Placeholder 3">
            <a:extLst>
              <a:ext uri="{FF2B5EF4-FFF2-40B4-BE49-F238E27FC236}">
                <a16:creationId xmlns:a16="http://schemas.microsoft.com/office/drawing/2014/main" id="{AF2EA6BD-8166-9F1E-E1F9-3EC85E4DC22E}"/>
              </a:ext>
            </a:extLst>
          </p:cNvPr>
          <p:cNvSpPr>
            <a:spLocks noGrp="1"/>
          </p:cNvSpPr>
          <p:nvPr>
            <p:ph type="sldNum" sz="quarter" idx="5"/>
          </p:nvPr>
        </p:nvSpPr>
        <p:spPr/>
        <p:txBody>
          <a:bodyPr/>
          <a:lstStyle/>
          <a:p>
            <a:fld id="{F9AAA0A2-FFE2-354C-9768-C35E42B6251D}" type="slidenum">
              <a:rPr lang="en-US" smtClean="0"/>
              <a:t>1</a:t>
            </a:fld>
            <a:endParaRPr lang="en-US"/>
          </a:p>
        </p:txBody>
      </p:sp>
    </p:spTree>
    <p:extLst>
      <p:ext uri="{BB962C8B-B14F-4D97-AF65-F5344CB8AC3E}">
        <p14:creationId xmlns:p14="http://schemas.microsoft.com/office/powerpoint/2010/main" val="18941136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8">
          <a:extLst>
            <a:ext uri="{FF2B5EF4-FFF2-40B4-BE49-F238E27FC236}">
              <a16:creationId xmlns:a16="http://schemas.microsoft.com/office/drawing/2014/main" id="{A2160B53-C94F-F324-57D4-92A3DDB7F5A4}"/>
            </a:ext>
          </a:extLst>
        </p:cNvPr>
        <p:cNvGrpSpPr/>
        <p:nvPr/>
      </p:nvGrpSpPr>
      <p:grpSpPr>
        <a:xfrm>
          <a:off x="0" y="0"/>
          <a:ext cx="0" cy="0"/>
          <a:chOff x="0" y="0"/>
          <a:chExt cx="0" cy="0"/>
        </a:xfrm>
      </p:grpSpPr>
      <p:sp>
        <p:nvSpPr>
          <p:cNvPr id="529" name="Google Shape;529;g31f2634f057_2_64:notes">
            <a:extLst>
              <a:ext uri="{FF2B5EF4-FFF2-40B4-BE49-F238E27FC236}">
                <a16:creationId xmlns:a16="http://schemas.microsoft.com/office/drawing/2014/main" id="{9A8C3294-CEB6-98B4-66A8-33CF6430BB97}"/>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0" name="Google Shape;530;g31f2634f057_2_64:notes">
            <a:extLst>
              <a:ext uri="{FF2B5EF4-FFF2-40B4-BE49-F238E27FC236}">
                <a16:creationId xmlns:a16="http://schemas.microsoft.com/office/drawing/2014/main" id="{C211CB72-9E4F-9726-D62D-FFD7A145B1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t>Presenter 1
A convolutional neural network uses local connections and shared filter weights. The spatial dimensions describe where a feature occurs. The channel dimension describes which feature response we are looking at. A feature map is a learned filter's response over the image.
Our batch input has shape N x 1 x 28 x 28 in NCHW order. One grayscale channel enters four 3x3 filters. Valid stride-one convolution produces N x 4 x 26 x 26. ReLU clamps negative responses to zero. A 2x2 maximum pool with stride two produces N x 4 x 13 x 13. Flattening produces 676 features per digit. A linear layer converts those features to ten logits. Cross entropy compares the logits with the integer label during training. Softmax is unnecessary before PyTorch cross_entropy, because the loss handles the required normalization internally.
The convolution has 4*1*3*3 = 36 weights and four biases. The classifier has 676*10 = 6,760 weights and ten biases. Total parameters: 6,810. A convolution is the local weighted sum. ReLU, pooling and the dense classifier are separate operations.
We scale pixels to [0,1] using x/255. The training collection contributes exactly 6,000 selected examples: 4,800 training and 1,200 validation. The separate official test collection contributes 1,000 examples. Equal numbers from each digit keep these small subsets balanced.
Sources:
https://docs.pytorch.org/docs/2.9/generated/torch.nn.Conv2d.html
https://github.com/pytorch/vision/blob/main/torchvision/datasets/mnist.py</a:t>
            </a:r>
            <a:endParaRPr/>
          </a:p>
        </p:txBody>
      </p:sp>
    </p:spTree>
    <p:extLst>
      <p:ext uri="{BB962C8B-B14F-4D97-AF65-F5344CB8AC3E}">
        <p14:creationId xmlns:p14="http://schemas.microsoft.com/office/powerpoint/2010/main" val="238730998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8">
          <a:extLst>
            <a:ext uri="{FF2B5EF4-FFF2-40B4-BE49-F238E27FC236}">
              <a16:creationId xmlns:a16="http://schemas.microsoft.com/office/drawing/2014/main" id="{A2160B53-C94F-F324-57D4-92A3DDB7F5A4}"/>
            </a:ext>
          </a:extLst>
        </p:cNvPr>
        <p:cNvGrpSpPr/>
        <p:nvPr/>
      </p:nvGrpSpPr>
      <p:grpSpPr>
        <a:xfrm>
          <a:off x="0" y="0"/>
          <a:ext cx="0" cy="0"/>
          <a:chOff x="0" y="0"/>
          <a:chExt cx="0" cy="0"/>
        </a:xfrm>
      </p:grpSpPr>
      <p:sp>
        <p:nvSpPr>
          <p:cNvPr id="529" name="Google Shape;529;g31f2634f057_2_64:notes">
            <a:extLst>
              <a:ext uri="{FF2B5EF4-FFF2-40B4-BE49-F238E27FC236}">
                <a16:creationId xmlns:a16="http://schemas.microsoft.com/office/drawing/2014/main" id="{9A8C3294-CEB6-98B4-66A8-33CF6430BB97}"/>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0" name="Google Shape;530;g31f2634f057_2_64:notes">
            <a:extLst>
              <a:ext uri="{FF2B5EF4-FFF2-40B4-BE49-F238E27FC236}">
                <a16:creationId xmlns:a16="http://schemas.microsoft.com/office/drawing/2014/main" id="{C211CB72-9E4F-9726-D62D-FFD7A145B1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t>Presenter 1
The tiny example uses a 2x2 filter so every multiplication fits on the slide. It is also an exact correctness test in the implementation. With no filter reversal, each 2x2 patch gives -4. CNN libraries normally call this operation convolution, but the mathematical operation is cross-correlation.
For the implemented valid stride-one layer, y[n,k,p,q] = bias[k] + sum over c,r,s of x[n,c,p+r,q+s] * weight[k,c,r,s]. The filter combines all input channels. One output channel has a separate filter bank and one bias.
With general stride S, padding P and dilation D, output height is floor((H + 2P - D*(R-1) - 1)/S) + 1, and width follows the same rule. Our small kernels intentionally support S=1, P=0 and D=1.
For one MNIST image, N=1, C=1, K=4, H=W=28 and R=S=3. There are 4*26*26 = 2,704 output elements, with nine multiply-accumulates each. This gives 24,336 MACs. Counting one multiply and one addition as two floating-point operations gives 48,672 FLOPs excluding bias addition. These are calculated operation counts, not measured instruction counts or elapsed times.
During training, the gradient of each filter weight sums input values multiplied by the upstream output gradient. Input gradients gather all output contributions whose receptive fields cover that input pixel. Bias gradients sum the upstream gradients of the corresponding output channel.
Sources:
https://docs.pytorch.org/docs/2.9/generated/torch.nn.Conv2d.html</a:t>
            </a:r>
            <a:endParaRPr/>
          </a:p>
        </p:txBody>
      </p:sp>
    </p:spTree>
    <p:extLst>
      <p:ext uri="{BB962C8B-B14F-4D97-AF65-F5344CB8AC3E}">
        <p14:creationId xmlns:p14="http://schemas.microsoft.com/office/powerpoint/2010/main" val="238730998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8">
          <a:extLst>
            <a:ext uri="{FF2B5EF4-FFF2-40B4-BE49-F238E27FC236}">
              <a16:creationId xmlns:a16="http://schemas.microsoft.com/office/drawing/2014/main" id="{A2160B53-C94F-F324-57D4-92A3DDB7F5A4}"/>
            </a:ext>
          </a:extLst>
        </p:cNvPr>
        <p:cNvGrpSpPr/>
        <p:nvPr/>
      </p:nvGrpSpPr>
      <p:grpSpPr>
        <a:xfrm>
          <a:off x="0" y="0"/>
          <a:ext cx="0" cy="0"/>
          <a:chOff x="0" y="0"/>
          <a:chExt cx="0" cy="0"/>
        </a:xfrm>
      </p:grpSpPr>
      <p:sp>
        <p:nvSpPr>
          <p:cNvPr id="529" name="Google Shape;529;g31f2634f057_2_64:notes">
            <a:extLst>
              <a:ext uri="{FF2B5EF4-FFF2-40B4-BE49-F238E27FC236}">
                <a16:creationId xmlns:a16="http://schemas.microsoft.com/office/drawing/2014/main" id="{9A8C3294-CEB6-98B4-66A8-33CF6430BB97}"/>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0" name="Google Shape;530;g31f2634f057_2_64:notes">
            <a:extLst>
              <a:ext uri="{FF2B5EF4-FFF2-40B4-BE49-F238E27FC236}">
                <a16:creationId xmlns:a16="http://schemas.microsoft.com/office/drawing/2014/main" id="{C211CB72-9E4F-9726-D62D-FFD7A145B1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t>Presenter 1
The C++ implementation stores contiguous tensors in NCHW order, with width changing fastest. Each flattened output index decodes to sample, output filter, output row and output column. An output worker starts with its bias and accumulates products across input channels and the spatial filter.
The forward arithmetic grows as N*K*P*Q*C*R*S. There is no sequential dependency between different output elements, which makes them safe OpenMP work items. With four workers, the compiler's OpenMP runtime partitions the outer output loop. Every output has one writer. There is no need for an atomic addition in this forward mapping.
Backward weight computation is a reduction over the batch and output positions. Our CPU implementation assigns one worker per weight reduction, which avoids shared writes. Input-gradient workers gather contributions to one input pixel. Bias-gradient workers sum one output channel. This design favors understandable correctness over a highly tuned CPU convolution.
The C++ library uses -O3 and OpenMP, so the baseline is compiled code rather than Python loops. We compare one convolution worker with four convolution workers. The surrounding PyTorch CPU classifier operations use four CPU threads in both runs. Therefore the serial label refers to convolution, not every operation in the whole training process.
The CPU implementation remains useful for validating GPU output and for small workloads whose GPU overhead exceeds the available parallel work. Compiler optimization and caching still matter. A basic OpenMP implementation does not represent the fastest possible CPU convolution library.
Sources:
</a:t>
            </a:r>
            <a:endParaRPr/>
          </a:p>
        </p:txBody>
      </p:sp>
    </p:spTree>
    <p:extLst>
      <p:ext uri="{BB962C8B-B14F-4D97-AF65-F5344CB8AC3E}">
        <p14:creationId xmlns:p14="http://schemas.microsoft.com/office/powerpoint/2010/main" val="238730998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8">
          <a:extLst>
            <a:ext uri="{FF2B5EF4-FFF2-40B4-BE49-F238E27FC236}">
              <a16:creationId xmlns:a16="http://schemas.microsoft.com/office/drawing/2014/main" id="{4833CCCF-3F9D-A618-80AB-3D4A5A75AF71}"/>
            </a:ext>
          </a:extLst>
        </p:cNvPr>
        <p:cNvGrpSpPr/>
        <p:nvPr/>
      </p:nvGrpSpPr>
      <p:grpSpPr>
        <a:xfrm>
          <a:off x="0" y="0"/>
          <a:ext cx="0" cy="0"/>
          <a:chOff x="0" y="0"/>
          <a:chExt cx="0" cy="0"/>
        </a:xfrm>
      </p:grpSpPr>
      <p:sp>
        <p:nvSpPr>
          <p:cNvPr id="529" name="Google Shape;529;g31f2634f057_2_64:notes">
            <a:extLst>
              <a:ext uri="{FF2B5EF4-FFF2-40B4-BE49-F238E27FC236}">
                <a16:creationId xmlns:a16="http://schemas.microsoft.com/office/drawing/2014/main" id="{30FEAD63-73E6-6865-0563-39C87E4A2C1B}"/>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0" name="Google Shape;530;g31f2634f057_2_64:notes">
            <a:extLst>
              <a:ext uri="{FF2B5EF4-FFF2-40B4-BE49-F238E27FC236}">
                <a16:creationId xmlns:a16="http://schemas.microsoft.com/office/drawing/2014/main" id="{6AD55573-DB52-73E0-765A-E60EFC90240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t>Presenter 2
GPGPU means using a GPU for general computation. CUDA lets host code launch a C++ kernel across many device threads. A kernel is a GPU function that many threads execute with different identities.
The direct forward kernel assigns one output to one thread. blockIdx.x chooses the block and threadIdx.x chooses a thread within that block. blockDim.x describes the number of threads in a block. The flattened global identity is blockIdx.x*blockDim.x + threadIdx.x. It maps directly to one output location.
Threads execute in warps of 32. Blocks organize cooperative work and shared memory. A streaming multiprocessor schedules blocks and their warps. CUDA exposes this hierarchy without requiring the programmer to start thousands of operating-system threads. This makes expression of convolution's independent work straightforward.
The direct kernel uses 256-thread blocks. One image produces 2,704 outputs, so ceil(2704/256) = 11 blocks cover it. The last block includes threads whose indices lie past the valid output count. Those direct-kernel threads return before accessing memory. This early return is safe because the direct kernel has no block barrier.
The shared-memory kernel uses a 16x16 block and maps blocks over output rows, columns and sample/filter pairs. Its threads must remain present for barriers even when their individual output coordinates lie past the output edge. The two mappings are different implementations of the same convolution contract.
Sources:
https://docs.nvidia.com/cuda/cuda-programming-guide/01-introduction/programming-model.html</a:t>
            </a:r>
            <a:endParaRPr/>
          </a:p>
        </p:txBody>
      </p:sp>
    </p:spTree>
    <p:extLst>
      <p:ext uri="{BB962C8B-B14F-4D97-AF65-F5344CB8AC3E}">
        <p14:creationId xmlns:p14="http://schemas.microsoft.com/office/powerpoint/2010/main" val="23493552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8">
          <a:extLst>
            <a:ext uri="{FF2B5EF4-FFF2-40B4-BE49-F238E27FC236}">
              <a16:creationId xmlns:a16="http://schemas.microsoft.com/office/drawing/2014/main" id="{A2160B53-C94F-F324-57D4-92A3DDB7F5A4}"/>
            </a:ext>
          </a:extLst>
        </p:cNvPr>
        <p:cNvGrpSpPr/>
        <p:nvPr/>
      </p:nvGrpSpPr>
      <p:grpSpPr>
        <a:xfrm>
          <a:off x="0" y="0"/>
          <a:ext cx="0" cy="0"/>
          <a:chOff x="0" y="0"/>
          <a:chExt cx="0" cy="0"/>
        </a:xfrm>
      </p:grpSpPr>
      <p:sp>
        <p:nvSpPr>
          <p:cNvPr id="529" name="Google Shape;529;g31f2634f057_2_64:notes">
            <a:extLst>
              <a:ext uri="{FF2B5EF4-FFF2-40B4-BE49-F238E27FC236}">
                <a16:creationId xmlns:a16="http://schemas.microsoft.com/office/drawing/2014/main" id="{9A8C3294-CEB6-98B4-66A8-33CF6430BB97}"/>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0" name="Google Shape;530;g31f2634f057_2_64:notes">
            <a:extLst>
              <a:ext uri="{FF2B5EF4-FFF2-40B4-BE49-F238E27FC236}">
                <a16:creationId xmlns:a16="http://schemas.microsoft.com/office/drawing/2014/main" id="{C211CB72-9E4F-9726-D62D-FFD7A145B1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t>Presenter 2
The slide shows a simplified kernel sketch. The actual implementation in conv_cuda.cu explicitly decodes the flattened index using division and remainder. Output column is i modulo Q. Divide by Q to obtain the row, then the output filter, then the sample. Weight and input addresses use the same NCHW/KCRS layout as the CPU implementation.
The host passes pointers to PyTorch-owned tensors through a small C ABI. The CUDA wrapper launches the kernel on PyTorch's current stream. It returns cudaGetLastError status so launch failures become visible Python exceptions. The owner retains each tensor for the required lifetime. The native library never allocates or frees tensor storage.
Forward outputs have one writer, so no atomics are necessary. Backward is different. A weight gradient sums many output contributions. Each weight gets one CUDA block. Threads compute partial sums over different batch/position indices, then use a shared-memory tree reduction. A bias gradient uses a similar block reduction. Input gradients gather contributions to each input element, with one thread per input element.
The first layer's input images do not require gradients during classifier training. The implementation therefore skips the input-gradient kernel for that path. Validation still requests and checks input gradients to ensure the implementation supports its full contract.
CUDA simplifies parallel execution and provides explicit memory/control primitives. It does not remove the need to design indexing, reductions, bounds and tensor lifetime correctly. The library and framework baselines remain valuable because mature implementations optimize many details beyond this teaching kernel.
Sources:
https://docs.nvidia.com/cuda/cuda-programming-guide/01-introduction/programming-model.html</a:t>
            </a:r>
            <a:endParaRPr/>
          </a:p>
        </p:txBody>
      </p:sp>
    </p:spTree>
    <p:extLst>
      <p:ext uri="{BB962C8B-B14F-4D97-AF65-F5344CB8AC3E}">
        <p14:creationId xmlns:p14="http://schemas.microsoft.com/office/powerpoint/2010/main" val="238730998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Presenter 2
DataParallel uses one Python process and multiple GPU worker threads. It replicates the model, scatters the input batch across devices, executes the replicas, and gathers their outputs on the primary GPU. We use exactly two T4 GPUs when Kaggle provides the requested accelerator.
The global batch stays 64. Each GPU computes 32 examples. Changing it to 64 per GPU would change the workload and optimizer behavior, making the comparison unfair. We compute cross entropy after gathering all 64 logits, so the mean uses the global batch. Backward propagates the gradient to each replica and adds their parameter gradients into the primary model. One optimizer updates that primary model. The next forward replicates its updated weights.
The direct cuDNN adapter caches one handle and workspace per CUDA device. It protects stream changes and submission with a per-handle lock. Caching by device is important because DataParallel recreates worker threads on each forward. A cache that creates a new persistent handle for every new thread would grow unnecessarily. Native CUDA functions explicitly guard the input tensor's device and use its current stream.
Single-image inference has only one item to scatter. PyTorch uses one replica, so two configured GPUs do not imply two GPUs contribute useful work. Report one-versus-two efficiency only for workloads that actually use both devices.
DataParallel adds replication, host-thread dispatch, communication, gathering and gradient reduction. A tiny CNN can run slower on two GPUs. The measured overhead is part of the finding. DistributedDataParallel is a different execution model, and this experiment follows the user's request for DataParallel.
Sources:
https://docs.pytorch.org/docs/2.9/generated/torch.nn.DataParallel.html</a:t>
            </a:r>
          </a:p>
        </p:txBody>
      </p:sp>
      <p:sp>
        <p:nvSpPr>
          <p:cNvPr id="4" name="Slide Number Placeholder 3"/>
          <p:cNvSpPr>
            <a:spLocks noGrp="1"/>
          </p:cNvSpPr>
          <p:nvPr>
            <p:ph type="sldNum" sz="quarter" idx="5"/>
          </p:nvPr>
        </p:nvSpPr>
        <p:spPr/>
        <p:txBody>
          <a:bodyPr/>
          <a:lstStyle/>
          <a:p>
            <a:fld id="{F9AAA0A2-FFE2-354C-9768-C35E42B6251D}" type="slidenum">
              <a:rPr lang="en-US" smtClean="0"/>
              <a:t>7</a:t>
            </a:fld>
            <a:endParaRPr lang="en-US"/>
          </a:p>
        </p:txBody>
      </p:sp>
    </p:spTree>
    <p:extLst>
      <p:ext uri="{BB962C8B-B14F-4D97-AF65-F5344CB8AC3E}">
        <p14:creationId xmlns:p14="http://schemas.microsoft.com/office/powerpoint/2010/main" val="130490827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8">
          <a:extLst>
            <a:ext uri="{FF2B5EF4-FFF2-40B4-BE49-F238E27FC236}">
              <a16:creationId xmlns:a16="http://schemas.microsoft.com/office/drawing/2014/main" id="{A2160B53-C94F-F324-57D4-92A3DDB7F5A4}"/>
            </a:ext>
          </a:extLst>
        </p:cNvPr>
        <p:cNvGrpSpPr/>
        <p:nvPr/>
      </p:nvGrpSpPr>
      <p:grpSpPr>
        <a:xfrm>
          <a:off x="0" y="0"/>
          <a:ext cx="0" cy="0"/>
          <a:chOff x="0" y="0"/>
          <a:chExt cx="0" cy="0"/>
        </a:xfrm>
      </p:grpSpPr>
      <p:sp>
        <p:nvSpPr>
          <p:cNvPr id="529" name="Google Shape;529;g31f2634f057_2_64:notes">
            <a:extLst>
              <a:ext uri="{FF2B5EF4-FFF2-40B4-BE49-F238E27FC236}">
                <a16:creationId xmlns:a16="http://schemas.microsoft.com/office/drawing/2014/main" id="{9A8C3294-CEB6-98B4-66A8-33CF6430BB97}"/>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0" name="Google Shape;530;g31f2634f057_2_64:notes">
            <a:extLst>
              <a:ext uri="{FF2B5EF4-FFF2-40B4-BE49-F238E27FC236}">
                <a16:creationId xmlns:a16="http://schemas.microsoft.com/office/drawing/2014/main" id="{C211CB72-9E4F-9726-D62D-FFD7A145B1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t>Presenter 2
Nearby convolution windows overlap. The direct kernel requests input values for each output independently. Caches can already service some repeated requests. Explicit shared memory lets a block cooperatively load an input tile and reuse it.
A 16x16 output tile with a 3x3 filter needs an 18x18 input tile. The extra two rows and columns form the halo required by neighboring output windows. This tile contains 324 floats, or 1,296 bytes for one channel. A simple direct request count would be 256*9 = 2,304 input requests for those outputs. The nominal request reduction is about 7.11x, but this is an idealized source-code load count. It is not a measured reduction in physical DRAM transactions because caching and memory access patterns change actual traffic.
For each input channel, threads cooperatively load tile elements. A barrier ensures loading completes before any thread reads the tile. Each valid output thread accumulates nine products. A second barrier ensures nobody overwrites the tile while another thread still reads the previous channel's data.
Bounds handling is critical. Threads past the valid output area still participate in loading and synchronization. Returning before a required __syncthreads() can deadlock or violate the barrier contract. The direct kernel may return early because it has no barriers.
The tile repeats for each sample/filter pair. It does not reuse data across output filters and does not implement Tensor Core computation. More advanced designs use optimized matrix-multiply formulations or library kernels. This version demonstrates one clear optimization whose result must be measured rather than assumed.
Sources:
https://docs.nvidia.com/cuda/cuda-c-best-practices-guide/index.html</a:t>
            </a:r>
            <a:endParaRPr/>
          </a:p>
        </p:txBody>
      </p:sp>
    </p:spTree>
    <p:extLst>
      <p:ext uri="{BB962C8B-B14F-4D97-AF65-F5344CB8AC3E}">
        <p14:creationId xmlns:p14="http://schemas.microsoft.com/office/powerpoint/2010/main" val="238730998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8">
          <a:extLst>
            <a:ext uri="{FF2B5EF4-FFF2-40B4-BE49-F238E27FC236}">
              <a16:creationId xmlns:a16="http://schemas.microsoft.com/office/drawing/2014/main" id="{C208160C-C64F-0B16-06EA-468AC5EC841D}"/>
            </a:ext>
          </a:extLst>
        </p:cNvPr>
        <p:cNvGrpSpPr/>
        <p:nvPr/>
      </p:nvGrpSpPr>
      <p:grpSpPr>
        <a:xfrm>
          <a:off x="0" y="0"/>
          <a:ext cx="0" cy="0"/>
          <a:chOff x="0" y="0"/>
          <a:chExt cx="0" cy="0"/>
        </a:xfrm>
      </p:grpSpPr>
      <p:sp>
        <p:nvSpPr>
          <p:cNvPr id="529" name="Google Shape;529;g31f2634f057_2_64:notes">
            <a:extLst>
              <a:ext uri="{FF2B5EF4-FFF2-40B4-BE49-F238E27FC236}">
                <a16:creationId xmlns:a16="http://schemas.microsoft.com/office/drawing/2014/main" id="{9B8C58D5-3BDF-F3EB-48E0-9F412C0B7C83}"/>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0" name="Google Shape;530;g31f2634f057_2_64:notes">
            <a:extLst>
              <a:ext uri="{FF2B5EF4-FFF2-40B4-BE49-F238E27FC236}">
                <a16:creationId xmlns:a16="http://schemas.microsoft.com/office/drawing/2014/main" id="{CECB880F-7645-9A75-8354-B92C6D600B0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t>Presenter 3
This table contains measured Kaggle results, not illustrative estimates. The hardware and package versions appear in the saved Kaggle environment record. The requested accelerator is two NVIDIA T4 GPUs. Every backend completes 50 epochs with the same model, seed, initial weights, split and optimizer settings.
The convolution column is one image, one input channel and four 3x3 filters. It includes bias and output allocation. The inference column measures the whole CNN forward pass to ten logits. Both use input already on the execution device. GPU wall latency waits for completion. Separate CUDA-event intervals remain in the detailed report.
The training column sums synchronized training epoch intervals and excludes validation, checkpoint I/O, compilation/warmup and initial transfer. The test column evaluates the final 50-epoch model on the disjoint 1,000-example subset. A validation-selected checkpoint also exists, but the displayed test result belongs to the final checkpoint so every row represents the same epoch count.
The direct cuDNN path explicitly calls the cuDNN C API for forward, weight gradient, bias gradient and input gradient where required. Its fixed algorithm choices are part of the implementation. PyTorch CUDA delegates convolution through framework dispatch and may choose a different cuDNN algorithm. The saved dispatch trace verifies whether this run actually enters a cuDNN operation. They are related software layers, not unrelated GPUs.
Small single-image workloads emphasize framework and launch overhead. Training and batched inference may rank differently. Slight accuracy differences can arise because floating-point reductions use different orders. This one run does not establish a general speed ranking for every CNN or GPU.
Sources:
https://docs.nvidia.com/deeplearning/cudnn/backend/v9.10.2/api/cudnn-cnn-library.html
https://docs.pytorch.org/docs/2.9/generated/torch.nn.Conv2d.html</a:t>
            </a:r>
            <a:endParaRPr/>
          </a:p>
        </p:txBody>
      </p:sp>
    </p:spTree>
    <p:extLst>
      <p:ext uri="{BB962C8B-B14F-4D97-AF65-F5344CB8AC3E}">
        <p14:creationId xmlns:p14="http://schemas.microsoft.com/office/powerpoint/2010/main" val="204474409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8">
          <a:extLst>
            <a:ext uri="{FF2B5EF4-FFF2-40B4-BE49-F238E27FC236}">
              <a16:creationId xmlns:a16="http://schemas.microsoft.com/office/drawing/2014/main" id="{A2160B53-C94F-F324-57D4-92A3DDB7F5A4}"/>
            </a:ext>
          </a:extLst>
        </p:cNvPr>
        <p:cNvGrpSpPr/>
        <p:nvPr/>
      </p:nvGrpSpPr>
      <p:grpSpPr>
        <a:xfrm>
          <a:off x="0" y="0"/>
          <a:ext cx="0" cy="0"/>
          <a:chOff x="0" y="0"/>
          <a:chExt cx="0" cy="0"/>
        </a:xfrm>
      </p:grpSpPr>
      <p:sp>
        <p:nvSpPr>
          <p:cNvPr id="529" name="Google Shape;529;g31f2634f057_2_64:notes">
            <a:extLst>
              <a:ext uri="{FF2B5EF4-FFF2-40B4-BE49-F238E27FC236}">
                <a16:creationId xmlns:a16="http://schemas.microsoft.com/office/drawing/2014/main" id="{9A8C3294-CEB6-98B4-66A8-33CF6430BB97}"/>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0" name="Google Shape;530;g31f2634f057_2_64:notes">
            <a:extLst>
              <a:ext uri="{FF2B5EF4-FFF2-40B4-BE49-F238E27FC236}">
                <a16:creationId xmlns:a16="http://schemas.microsoft.com/office/drawing/2014/main" id="{C211CB72-9E4F-9726-D62D-FFD7A145B1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t>Presenter 3
Performance is meaningful only after correctness. The validation suite compares forward results and the gradients with respect to input, filters and biases against PyTorch CPU. It uses multiple tensor shapes, including non-square inputs and edges that do not divide into a 16x16 tile. A hand-computed example independently checks the operator interpretation. A central-difference derivative checks one scalar weight gradient.
Every implementation uses contiguous FP32 tensors. We disable TF32 and automatic mixed precision. All runs start from the same weights and use seed 42, batch size 64, SGD learning rate 0.05 and momentum 0.9. Epoch shuffle indices derive from the same seed plus epoch number. Data preparation saves the exact indices so train, validation and test membership can be inspected.
Latency measurements discard warmup calls. Warmup covers just-in-time initialization, cuDNN descriptor/workspace setup and allocator effects. The ordinary completed-call wall samples are separate from the instrumented CUDA-event samples. This keeps the displayed CPU/GPU wall comparison free of extra event-recording calls. Event timing still provides a second execution interval view.
We retain the median and the 10th/90th percentile sample spread. These repetitions describe local timing variation. They do not substitute for multiple independent training trials. The small MNIST workload and a larger synthetic workload must remain labeled separately. The synthetic tensors test scaling and have no classification-accuracy interpretation.
CPU OpenMP efficiency compares the same compiled convolution at one and four workers. We do not divide CPU/GPU speedup by a CUDA core count, because those workers and cores have different capabilities and execution models.
Sources:
https://docs.pytorch.org/docs/2.9/notes/cuda.html</a:t>
            </a:r>
            <a:endParaRPr/>
          </a:p>
        </p:txBody>
      </p:sp>
    </p:spTree>
    <p:extLst>
      <p:ext uri="{BB962C8B-B14F-4D97-AF65-F5344CB8AC3E}">
        <p14:creationId xmlns:p14="http://schemas.microsoft.com/office/powerpoint/2010/main" val="238730998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8">
          <a:extLst>
            <a:ext uri="{FF2B5EF4-FFF2-40B4-BE49-F238E27FC236}">
              <a16:creationId xmlns:a16="http://schemas.microsoft.com/office/drawing/2014/main" id="{C208160C-C64F-0B16-06EA-468AC5EC841D}"/>
            </a:ext>
          </a:extLst>
        </p:cNvPr>
        <p:cNvGrpSpPr/>
        <p:nvPr/>
      </p:nvGrpSpPr>
      <p:grpSpPr>
        <a:xfrm>
          <a:off x="0" y="0"/>
          <a:ext cx="0" cy="0"/>
          <a:chOff x="0" y="0"/>
          <a:chExt cx="0" cy="0"/>
        </a:xfrm>
      </p:grpSpPr>
      <p:sp>
        <p:nvSpPr>
          <p:cNvPr id="529" name="Google Shape;529;g31f2634f057_2_64:notes">
            <a:extLst>
              <a:ext uri="{FF2B5EF4-FFF2-40B4-BE49-F238E27FC236}">
                <a16:creationId xmlns:a16="http://schemas.microsoft.com/office/drawing/2014/main" id="{9B8C58D5-3BDF-F3EB-48E0-9F412C0B7C83}"/>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0" name="Google Shape;530;g31f2634f057_2_64:notes">
            <a:extLst>
              <a:ext uri="{FF2B5EF4-FFF2-40B4-BE49-F238E27FC236}">
                <a16:creationId xmlns:a16="http://schemas.microsoft.com/office/drawing/2014/main" id="{CECB880F-7645-9A75-8354-B92C6D600B0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t>Presenter 3
This table compares each two-GPU implementation with its matching one-GPU path. T1 is one-GPU synchronized training time. T2 is two-GPU time for the same number of epochs, images and global batches. Speedup is T1/T2, and parallel efficiency is T1/(2*T2). A speedup below one means two GPUs take longer on this workload.
The GPU-time cost ratio is 2*T2/T1. It describes an active-device-time proxy rather than a currency charge, power measurement or a claim about Kaggle quota accounting. With equal GPUs, doubling device count is useful only if the time reduction compensates for it. Monetary cost requires a configured per-GPU-hour rate. Energy is not measured by these timing experiments.
The inference gain uses batch 64, which actually uses both replicas. Batch-one results are on the main table and use only one replica. The report also retains single-convolution and batch-convolution speedups, host enqueue time, instrumented wall minus device interval, transfers and a DataParallel identity diagnostic.
The identity diagnostic measures scatter, worker dispatch and gather without CNN parameters. Its input and output are images, so it is a communication/orchestration diagnostic, not an exact subtraction of CNN overhead. A primary-GPU event interval in a DataParallel call includes the critical path through gathering, and is not the sum of kernel durations on both devices.
Peak GPU memory is the sum of per-device tensor allocation peaks, not a simultaneous board-wide peak or total VRAM usage. Process RSS includes the framework and native libraries. Calculated FLOPs and logical bytes remain distinct from measured memory and elapsed time.
The small CNN may not have enough computation per replica to offset communication and replication. The larger synthetic convolution tests that scaling question separately from MNIST accuracy. One seed and one runtime do not establish a universal speed ranking.
Sources:
</a:t>
            </a:r>
            <a:endParaRPr/>
          </a:p>
        </p:txBody>
      </p:sp>
    </p:spTree>
    <p:extLst>
      <p:ext uri="{BB962C8B-B14F-4D97-AF65-F5344CB8AC3E}">
        <p14:creationId xmlns:p14="http://schemas.microsoft.com/office/powerpoint/2010/main" val="20447440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Presenter 3
The live demo runs in the saved Kaggle notebook after training. The equivalent command in that GPU runtime is:
cd /kaggle/working/cnn-cuda-case-study-source
PYTHONPATH=src python -m hpc_cnn.demo --run-root /kaggle/working/cnn-cuda-case-study-results
The completed Kaggle run already executed this demo successfully. A live rerun of all paths requires two GPUs. For an offline presentation, keep the saved result table, plots and test predictions ready.
The script prints the true labels of ten held-out test digits, predictions from each final checkpoint, the saved test accuracy and the measured 50-epoch training time. It does not retrain. Keep the experiment report and performance figure ready in case the live environment is unavailable.
First show that every path is a classifier using the same test examples. Then show the measured results and explain timing boundaries. The demo's cold initialization, native library loading and checkpoint reading are not steady-state performance measurements.
When discussing a fast result, identify the workload and scope. When discussing a slow result, identify the source of cost: small parallel work, dispatch, synchronization, transfer, or additional tile loading. Shared memory is an optimization to test, not a guaranteed win. cuDNN packages years of kernel and algorithm tuning. PyTorch provides a high-level model interface and can invoke cuDNN internally.
The case study demonstrates the mechanism of convolution and how CUDA expresses its parallelism. The experiment is one seed and one Kaggle runtime. It does not establish a universal GPU speedup or an energy-efficiency conclusion.
Sources:
</a:t>
            </a:r>
          </a:p>
        </p:txBody>
      </p:sp>
      <p:sp>
        <p:nvSpPr>
          <p:cNvPr id="4" name="Slide Number Placeholder 3"/>
          <p:cNvSpPr>
            <a:spLocks noGrp="1"/>
          </p:cNvSpPr>
          <p:nvPr>
            <p:ph type="sldNum" sz="quarter" idx="5"/>
          </p:nvPr>
        </p:nvSpPr>
        <p:spPr/>
        <p:txBody>
          <a:bodyPr/>
          <a:lstStyle/>
          <a:p>
            <a:fld id="{F9AAA0A2-FFE2-354C-9768-C35E42B6251D}" type="slidenum">
              <a:rPr lang="en-US" smtClean="0"/>
              <a:t>12</a:t>
            </a:fld>
            <a:endParaRPr lang="en-US"/>
          </a:p>
        </p:txBody>
      </p:sp>
    </p:spTree>
    <p:extLst>
      <p:ext uri="{BB962C8B-B14F-4D97-AF65-F5344CB8AC3E}">
        <p14:creationId xmlns:p14="http://schemas.microsoft.com/office/powerpoint/2010/main" val="10161062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3004A5-B645-655E-5362-4217D55892E1}"/>
              </a:ext>
            </a:extLst>
          </p:cNvPr>
          <p:cNvSpPr>
            <a:spLocks noGrp="1"/>
          </p:cNvSpPr>
          <p:nvPr>
            <p:ph type="ctrTitle"/>
          </p:nvPr>
        </p:nvSpPr>
        <p:spPr>
          <a:xfrm>
            <a:off x="393700" y="1041400"/>
            <a:ext cx="7493000" cy="2491490"/>
          </a:xfrm>
        </p:spPr>
        <p:txBody>
          <a:bodyPr anchor="b"/>
          <a:lstStyle>
            <a:lvl1pPr algn="l">
              <a:defRPr sz="6000"/>
            </a:lvl1pPr>
          </a:lstStyle>
          <a:p>
            <a:r>
              <a:rPr lang="en-US" dirty="0"/>
              <a:t>Click to edit Master title style</a:t>
            </a:r>
          </a:p>
        </p:txBody>
      </p:sp>
      <p:sp>
        <p:nvSpPr>
          <p:cNvPr id="3" name="Subtitle 2">
            <a:extLst>
              <a:ext uri="{FF2B5EF4-FFF2-40B4-BE49-F238E27FC236}">
                <a16:creationId xmlns:a16="http://schemas.microsoft.com/office/drawing/2014/main" id="{C57031B1-59B2-C235-9FDD-8050418A5FD8}"/>
              </a:ext>
            </a:extLst>
          </p:cNvPr>
          <p:cNvSpPr>
            <a:spLocks noGrp="1"/>
          </p:cNvSpPr>
          <p:nvPr>
            <p:ph type="subTitle" idx="1"/>
          </p:nvPr>
        </p:nvSpPr>
        <p:spPr>
          <a:xfrm>
            <a:off x="393700" y="4356100"/>
            <a:ext cx="5537200" cy="1638300"/>
          </a:xfrm>
        </p:spPr>
        <p:txBody>
          <a:bodyPr/>
          <a:lstStyle>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Tree>
    <p:extLst>
      <p:ext uri="{BB962C8B-B14F-4D97-AF65-F5344CB8AC3E}">
        <p14:creationId xmlns:p14="http://schemas.microsoft.com/office/powerpoint/2010/main" val="18814859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5E851FDE-9E0B-568C-1CBA-E72B86CC06ED}"/>
              </a:ext>
            </a:extLst>
          </p:cNvPr>
          <p:cNvSpPr>
            <a:spLocks noGrp="1"/>
          </p:cNvSpPr>
          <p:nvPr>
            <p:ph idx="1"/>
          </p:nvPr>
        </p:nvSpPr>
        <p:spPr>
          <a:xfrm>
            <a:off x="393700" y="2032000"/>
            <a:ext cx="11404600" cy="3962400"/>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Footer Placeholder 4">
            <a:extLst>
              <a:ext uri="{FF2B5EF4-FFF2-40B4-BE49-F238E27FC236}">
                <a16:creationId xmlns:a16="http://schemas.microsoft.com/office/drawing/2014/main" id="{29CCD18F-3BF6-A3EE-DAAE-66BD406D7E8D}"/>
              </a:ext>
            </a:extLst>
          </p:cNvPr>
          <p:cNvSpPr>
            <a:spLocks noGrp="1"/>
          </p:cNvSpPr>
          <p:nvPr>
            <p:ph type="ftr" sz="quarter" idx="3"/>
          </p:nvPr>
        </p:nvSpPr>
        <p:spPr>
          <a:xfrm>
            <a:off x="393700" y="6279952"/>
            <a:ext cx="3568700" cy="241240"/>
          </a:xfrm>
          <a:prstGeom prst="rect">
            <a:avLst/>
          </a:prstGeom>
        </p:spPr>
        <p:txBody>
          <a:bodyPr vert="horz" lIns="0" tIns="0" rIns="0" bIns="0" rtlCol="0" anchor="b"/>
          <a:lstStyle>
            <a:lvl1pPr algn="l">
              <a:defRPr sz="1000">
                <a:solidFill>
                  <a:schemeClr val="tx1"/>
                </a:solidFill>
              </a:defRPr>
            </a:lvl1pPr>
          </a:lstStyle>
          <a:p>
            <a:endParaRPr lang="en-US" sz="1000" dirty="0"/>
          </a:p>
        </p:txBody>
      </p:sp>
      <p:sp>
        <p:nvSpPr>
          <p:cNvPr id="10" name="Slide Number Placeholder 5">
            <a:extLst>
              <a:ext uri="{FF2B5EF4-FFF2-40B4-BE49-F238E27FC236}">
                <a16:creationId xmlns:a16="http://schemas.microsoft.com/office/drawing/2014/main" id="{5186992D-ADA6-5A23-EBD5-6BEF0A2E61BA}"/>
              </a:ext>
            </a:extLst>
          </p:cNvPr>
          <p:cNvSpPr>
            <a:spLocks noGrp="1"/>
          </p:cNvSpPr>
          <p:nvPr>
            <p:ph type="sldNum" sz="quarter" idx="4"/>
          </p:nvPr>
        </p:nvSpPr>
        <p:spPr>
          <a:xfrm>
            <a:off x="11279332" y="6279294"/>
            <a:ext cx="518968" cy="241240"/>
          </a:xfrm>
          <a:prstGeom prst="rect">
            <a:avLst/>
          </a:prstGeom>
        </p:spPr>
        <p:txBody>
          <a:bodyPr vert="horz" lIns="0" tIns="0" rIns="0" bIns="0" rtlCol="0" anchor="b"/>
          <a:lstStyle>
            <a:lvl1pPr algn="r">
              <a:defRPr lang="en-US" sz="1000" kern="1200" smtClean="0">
                <a:solidFill>
                  <a:schemeClr val="tx1"/>
                </a:solidFill>
                <a:latin typeface="+mn-lt"/>
                <a:ea typeface="+mn-ea"/>
                <a:cs typeface="+mn-cs"/>
              </a:defRPr>
            </a:lvl1pPr>
          </a:lstStyle>
          <a:p>
            <a:fld id="{8574A810-7A8E-054F-9F6B-09E9C694ECF9}" type="slidenum">
              <a:rPr lang="en-US" smtClean="0"/>
              <a:pPr/>
              <a:t>‹#›</a:t>
            </a:fld>
            <a:endParaRPr lang="en-US" sz="1000" dirty="0"/>
          </a:p>
        </p:txBody>
      </p:sp>
      <p:sp>
        <p:nvSpPr>
          <p:cNvPr id="2" name="Title Placeholder 1">
            <a:extLst>
              <a:ext uri="{FF2B5EF4-FFF2-40B4-BE49-F238E27FC236}">
                <a16:creationId xmlns:a16="http://schemas.microsoft.com/office/drawing/2014/main" id="{CDBB333F-FFCF-AA9E-7AC0-64DB02353FBC}"/>
              </a:ext>
            </a:extLst>
          </p:cNvPr>
          <p:cNvSpPr>
            <a:spLocks noGrp="1"/>
          </p:cNvSpPr>
          <p:nvPr>
            <p:ph type="title"/>
          </p:nvPr>
        </p:nvSpPr>
        <p:spPr>
          <a:xfrm>
            <a:off x="393700" y="344008"/>
            <a:ext cx="11404600" cy="1047491"/>
          </a:xfrm>
          <a:prstGeom prst="rect">
            <a:avLst/>
          </a:prstGeom>
        </p:spPr>
        <p:txBody>
          <a:bodyPr vert="horz" lIns="0" tIns="0" rIns="0" bIns="0" rtlCol="0" anchor="t">
            <a:normAutofit/>
          </a:bodyPr>
          <a:lstStyle/>
          <a:p>
            <a:r>
              <a:rPr lang="en-US" dirty="0"/>
              <a:t>Click to edit Master title style</a:t>
            </a:r>
          </a:p>
        </p:txBody>
      </p:sp>
    </p:spTree>
    <p:extLst>
      <p:ext uri="{BB962C8B-B14F-4D97-AF65-F5344CB8AC3E}">
        <p14:creationId xmlns:p14="http://schemas.microsoft.com/office/powerpoint/2010/main" val="26533535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9" name="Text Placeholder 2">
            <a:extLst>
              <a:ext uri="{FF2B5EF4-FFF2-40B4-BE49-F238E27FC236}">
                <a16:creationId xmlns:a16="http://schemas.microsoft.com/office/drawing/2014/main" id="{4DCC3060-FADA-4310-30F9-24EC34B5AA87}"/>
              </a:ext>
            </a:extLst>
          </p:cNvPr>
          <p:cNvSpPr>
            <a:spLocks noGrp="1"/>
          </p:cNvSpPr>
          <p:nvPr>
            <p:ph idx="1"/>
          </p:nvPr>
        </p:nvSpPr>
        <p:spPr>
          <a:xfrm>
            <a:off x="393700" y="2032000"/>
            <a:ext cx="5537200" cy="3962400"/>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Footer Placeholder 4">
            <a:extLst>
              <a:ext uri="{FF2B5EF4-FFF2-40B4-BE49-F238E27FC236}">
                <a16:creationId xmlns:a16="http://schemas.microsoft.com/office/drawing/2014/main" id="{19E7B047-08E6-29C1-F101-C084D555AACC}"/>
              </a:ext>
            </a:extLst>
          </p:cNvPr>
          <p:cNvSpPr>
            <a:spLocks noGrp="1"/>
          </p:cNvSpPr>
          <p:nvPr>
            <p:ph type="ftr" sz="quarter" idx="3"/>
          </p:nvPr>
        </p:nvSpPr>
        <p:spPr>
          <a:xfrm>
            <a:off x="393700" y="6279952"/>
            <a:ext cx="3568700" cy="241240"/>
          </a:xfrm>
          <a:prstGeom prst="rect">
            <a:avLst/>
          </a:prstGeom>
        </p:spPr>
        <p:txBody>
          <a:bodyPr vert="horz" lIns="0" tIns="0" rIns="0" bIns="0" rtlCol="0" anchor="b"/>
          <a:lstStyle>
            <a:lvl1pPr algn="l">
              <a:defRPr sz="1000">
                <a:solidFill>
                  <a:schemeClr val="tx1"/>
                </a:solidFill>
              </a:defRPr>
            </a:lvl1pPr>
          </a:lstStyle>
          <a:p>
            <a:endParaRPr lang="en-US" sz="1000" dirty="0"/>
          </a:p>
        </p:txBody>
      </p:sp>
      <p:sp>
        <p:nvSpPr>
          <p:cNvPr id="11" name="Slide Number Placeholder 5">
            <a:extLst>
              <a:ext uri="{FF2B5EF4-FFF2-40B4-BE49-F238E27FC236}">
                <a16:creationId xmlns:a16="http://schemas.microsoft.com/office/drawing/2014/main" id="{3DE564C6-8AA0-935D-A919-07AFA15B335B}"/>
              </a:ext>
            </a:extLst>
          </p:cNvPr>
          <p:cNvSpPr>
            <a:spLocks noGrp="1"/>
          </p:cNvSpPr>
          <p:nvPr>
            <p:ph type="sldNum" sz="quarter" idx="4"/>
          </p:nvPr>
        </p:nvSpPr>
        <p:spPr>
          <a:xfrm>
            <a:off x="11279332" y="6279294"/>
            <a:ext cx="518968" cy="241240"/>
          </a:xfrm>
          <a:prstGeom prst="rect">
            <a:avLst/>
          </a:prstGeom>
        </p:spPr>
        <p:txBody>
          <a:bodyPr vert="horz" lIns="0" tIns="0" rIns="0" bIns="0" rtlCol="0" anchor="b"/>
          <a:lstStyle>
            <a:lvl1pPr algn="r">
              <a:defRPr lang="en-US" sz="1000" kern="1200" smtClean="0">
                <a:solidFill>
                  <a:schemeClr val="tx1"/>
                </a:solidFill>
                <a:latin typeface="+mn-lt"/>
                <a:ea typeface="+mn-ea"/>
                <a:cs typeface="+mn-cs"/>
              </a:defRPr>
            </a:lvl1pPr>
          </a:lstStyle>
          <a:p>
            <a:fld id="{8574A810-7A8E-054F-9F6B-09E9C694ECF9}" type="slidenum">
              <a:rPr lang="en-US" smtClean="0"/>
              <a:pPr/>
              <a:t>‹#›</a:t>
            </a:fld>
            <a:endParaRPr lang="en-US" sz="1000" dirty="0"/>
          </a:p>
        </p:txBody>
      </p:sp>
      <p:sp>
        <p:nvSpPr>
          <p:cNvPr id="12" name="Text Placeholder 2">
            <a:extLst>
              <a:ext uri="{FF2B5EF4-FFF2-40B4-BE49-F238E27FC236}">
                <a16:creationId xmlns:a16="http://schemas.microsoft.com/office/drawing/2014/main" id="{4ABE46D3-8F05-1C7F-3EC7-20BFCC76C251}"/>
              </a:ext>
            </a:extLst>
          </p:cNvPr>
          <p:cNvSpPr>
            <a:spLocks noGrp="1"/>
          </p:cNvSpPr>
          <p:nvPr>
            <p:ph idx="10"/>
          </p:nvPr>
        </p:nvSpPr>
        <p:spPr>
          <a:xfrm>
            <a:off x="6256618" y="2032000"/>
            <a:ext cx="5537200" cy="3962400"/>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Placeholder 1">
            <a:extLst>
              <a:ext uri="{FF2B5EF4-FFF2-40B4-BE49-F238E27FC236}">
                <a16:creationId xmlns:a16="http://schemas.microsoft.com/office/drawing/2014/main" id="{739D2C21-36BF-25E7-8E97-1D17F313F7AF}"/>
              </a:ext>
            </a:extLst>
          </p:cNvPr>
          <p:cNvSpPr>
            <a:spLocks noGrp="1"/>
          </p:cNvSpPr>
          <p:nvPr>
            <p:ph type="title"/>
          </p:nvPr>
        </p:nvSpPr>
        <p:spPr>
          <a:xfrm>
            <a:off x="393700" y="344008"/>
            <a:ext cx="11404600" cy="1047491"/>
          </a:xfrm>
          <a:prstGeom prst="rect">
            <a:avLst/>
          </a:prstGeom>
        </p:spPr>
        <p:txBody>
          <a:bodyPr vert="horz" lIns="0" tIns="0" rIns="0" bIns="0" rtlCol="0" anchor="t">
            <a:normAutofit/>
          </a:bodyPr>
          <a:lstStyle/>
          <a:p>
            <a:r>
              <a:rPr lang="en-US" dirty="0"/>
              <a:t>Click to edit Master title style</a:t>
            </a:r>
          </a:p>
        </p:txBody>
      </p:sp>
    </p:spTree>
    <p:extLst>
      <p:ext uri="{BB962C8B-B14F-4D97-AF65-F5344CB8AC3E}">
        <p14:creationId xmlns:p14="http://schemas.microsoft.com/office/powerpoint/2010/main" val="9807323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11" name="Text Placeholder 2">
            <a:extLst>
              <a:ext uri="{FF2B5EF4-FFF2-40B4-BE49-F238E27FC236}">
                <a16:creationId xmlns:a16="http://schemas.microsoft.com/office/drawing/2014/main" id="{6F7D12C6-B3BC-2F80-A661-00CC228193B5}"/>
              </a:ext>
            </a:extLst>
          </p:cNvPr>
          <p:cNvSpPr>
            <a:spLocks noGrp="1"/>
          </p:cNvSpPr>
          <p:nvPr>
            <p:ph idx="1"/>
          </p:nvPr>
        </p:nvSpPr>
        <p:spPr>
          <a:xfrm>
            <a:off x="393700" y="2032000"/>
            <a:ext cx="3568700" cy="3962400"/>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Footer Placeholder 4">
            <a:extLst>
              <a:ext uri="{FF2B5EF4-FFF2-40B4-BE49-F238E27FC236}">
                <a16:creationId xmlns:a16="http://schemas.microsoft.com/office/drawing/2014/main" id="{0682803B-B799-370F-B1B9-EB49CCB10A11}"/>
              </a:ext>
            </a:extLst>
          </p:cNvPr>
          <p:cNvSpPr>
            <a:spLocks noGrp="1"/>
          </p:cNvSpPr>
          <p:nvPr>
            <p:ph type="ftr" sz="quarter" idx="3"/>
          </p:nvPr>
        </p:nvSpPr>
        <p:spPr>
          <a:xfrm>
            <a:off x="393700" y="6279952"/>
            <a:ext cx="3568700" cy="241240"/>
          </a:xfrm>
          <a:prstGeom prst="rect">
            <a:avLst/>
          </a:prstGeom>
        </p:spPr>
        <p:txBody>
          <a:bodyPr vert="horz" lIns="0" tIns="0" rIns="0" bIns="0" rtlCol="0" anchor="b"/>
          <a:lstStyle>
            <a:lvl1pPr algn="l">
              <a:defRPr sz="1000">
                <a:solidFill>
                  <a:schemeClr val="tx1"/>
                </a:solidFill>
              </a:defRPr>
            </a:lvl1pPr>
          </a:lstStyle>
          <a:p>
            <a:endParaRPr lang="en-US" sz="1000" dirty="0"/>
          </a:p>
        </p:txBody>
      </p:sp>
      <p:sp>
        <p:nvSpPr>
          <p:cNvPr id="13" name="Slide Number Placeholder 5">
            <a:extLst>
              <a:ext uri="{FF2B5EF4-FFF2-40B4-BE49-F238E27FC236}">
                <a16:creationId xmlns:a16="http://schemas.microsoft.com/office/drawing/2014/main" id="{AFE26095-B1FD-5C7C-C8D6-78ABF739DCBA}"/>
              </a:ext>
            </a:extLst>
          </p:cNvPr>
          <p:cNvSpPr>
            <a:spLocks noGrp="1"/>
          </p:cNvSpPr>
          <p:nvPr>
            <p:ph type="sldNum" sz="quarter" idx="4"/>
          </p:nvPr>
        </p:nvSpPr>
        <p:spPr>
          <a:xfrm>
            <a:off x="11279332" y="6279294"/>
            <a:ext cx="518968" cy="241240"/>
          </a:xfrm>
          <a:prstGeom prst="rect">
            <a:avLst/>
          </a:prstGeom>
        </p:spPr>
        <p:txBody>
          <a:bodyPr vert="horz" lIns="0" tIns="0" rIns="0" bIns="0" rtlCol="0" anchor="b"/>
          <a:lstStyle>
            <a:lvl1pPr algn="r">
              <a:defRPr lang="en-US" sz="1000" kern="1200" smtClean="0">
                <a:solidFill>
                  <a:schemeClr val="tx1"/>
                </a:solidFill>
                <a:latin typeface="+mn-lt"/>
                <a:ea typeface="+mn-ea"/>
                <a:cs typeface="+mn-cs"/>
              </a:defRPr>
            </a:lvl1pPr>
          </a:lstStyle>
          <a:p>
            <a:fld id="{8574A810-7A8E-054F-9F6B-09E9C694ECF9}" type="slidenum">
              <a:rPr lang="en-US" smtClean="0"/>
              <a:pPr/>
              <a:t>‹#›</a:t>
            </a:fld>
            <a:endParaRPr lang="en-US" sz="1000" dirty="0"/>
          </a:p>
        </p:txBody>
      </p:sp>
      <p:sp>
        <p:nvSpPr>
          <p:cNvPr id="14" name="Text Placeholder 2">
            <a:extLst>
              <a:ext uri="{FF2B5EF4-FFF2-40B4-BE49-F238E27FC236}">
                <a16:creationId xmlns:a16="http://schemas.microsoft.com/office/drawing/2014/main" id="{80E090C5-E6C8-92F2-E8C2-A840B8F1807D}"/>
              </a:ext>
            </a:extLst>
          </p:cNvPr>
          <p:cNvSpPr>
            <a:spLocks noGrp="1"/>
          </p:cNvSpPr>
          <p:nvPr>
            <p:ph idx="10"/>
          </p:nvPr>
        </p:nvSpPr>
        <p:spPr>
          <a:xfrm>
            <a:off x="4318000" y="2032000"/>
            <a:ext cx="3568700" cy="3962400"/>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5" name="Text Placeholder 2">
            <a:extLst>
              <a:ext uri="{FF2B5EF4-FFF2-40B4-BE49-F238E27FC236}">
                <a16:creationId xmlns:a16="http://schemas.microsoft.com/office/drawing/2014/main" id="{0C6D2D15-AEC2-9F99-316F-C37AF863965D}"/>
              </a:ext>
            </a:extLst>
          </p:cNvPr>
          <p:cNvSpPr>
            <a:spLocks noGrp="1"/>
          </p:cNvSpPr>
          <p:nvPr>
            <p:ph idx="11"/>
          </p:nvPr>
        </p:nvSpPr>
        <p:spPr>
          <a:xfrm>
            <a:off x="8232273" y="2032000"/>
            <a:ext cx="3568700" cy="3962400"/>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Placeholder 1">
            <a:extLst>
              <a:ext uri="{FF2B5EF4-FFF2-40B4-BE49-F238E27FC236}">
                <a16:creationId xmlns:a16="http://schemas.microsoft.com/office/drawing/2014/main" id="{EC59174D-4FF5-0FD8-FE78-F71A39E187AE}"/>
              </a:ext>
            </a:extLst>
          </p:cNvPr>
          <p:cNvSpPr>
            <a:spLocks noGrp="1"/>
          </p:cNvSpPr>
          <p:nvPr>
            <p:ph type="title"/>
          </p:nvPr>
        </p:nvSpPr>
        <p:spPr>
          <a:xfrm>
            <a:off x="393700" y="344008"/>
            <a:ext cx="11404600" cy="1047491"/>
          </a:xfrm>
          <a:prstGeom prst="rect">
            <a:avLst/>
          </a:prstGeom>
        </p:spPr>
        <p:txBody>
          <a:bodyPr vert="horz" lIns="0" tIns="0" rIns="0" bIns="0" rtlCol="0" anchor="t">
            <a:normAutofit/>
          </a:bodyPr>
          <a:lstStyle/>
          <a:p>
            <a:r>
              <a:rPr lang="en-US" dirty="0"/>
              <a:t>Click to edit Master title style</a:t>
            </a:r>
          </a:p>
        </p:txBody>
      </p:sp>
    </p:spTree>
    <p:extLst>
      <p:ext uri="{BB962C8B-B14F-4D97-AF65-F5344CB8AC3E}">
        <p14:creationId xmlns:p14="http://schemas.microsoft.com/office/powerpoint/2010/main" val="384001121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Four Content">
    <p:spTree>
      <p:nvGrpSpPr>
        <p:cNvPr id="1" name=""/>
        <p:cNvGrpSpPr/>
        <p:nvPr/>
      </p:nvGrpSpPr>
      <p:grpSpPr>
        <a:xfrm>
          <a:off x="0" y="0"/>
          <a:ext cx="0" cy="0"/>
          <a:chOff x="0" y="0"/>
          <a:chExt cx="0" cy="0"/>
        </a:xfrm>
      </p:grpSpPr>
      <p:sp>
        <p:nvSpPr>
          <p:cNvPr id="11" name="Text Placeholder 2">
            <a:extLst>
              <a:ext uri="{FF2B5EF4-FFF2-40B4-BE49-F238E27FC236}">
                <a16:creationId xmlns:a16="http://schemas.microsoft.com/office/drawing/2014/main" id="{6F7D12C6-B3BC-2F80-A661-00CC228193B5}"/>
              </a:ext>
            </a:extLst>
          </p:cNvPr>
          <p:cNvSpPr>
            <a:spLocks noGrp="1"/>
          </p:cNvSpPr>
          <p:nvPr>
            <p:ph idx="1"/>
          </p:nvPr>
        </p:nvSpPr>
        <p:spPr>
          <a:xfrm>
            <a:off x="393700" y="2213811"/>
            <a:ext cx="2595934" cy="3780589"/>
          </a:xfrm>
          <a:prstGeom prst="rect">
            <a:avLst/>
          </a:prstGeom>
        </p:spPr>
        <p:txBody>
          <a:bodyPr vert="horz" lIns="0" tIns="0" rIns="0" bIns="0" rtlCol="0">
            <a:normAutofit/>
          </a:bodyPr>
          <a:lstStyle>
            <a:lvl1pPr>
              <a:buNone/>
              <a:defRPr sz="1600"/>
            </a:lvl1pPr>
            <a:lvl2pPr>
              <a:buNone/>
              <a:defRPr sz="1600"/>
            </a:lvl2pPr>
            <a:lvl3pPr>
              <a:buNone/>
              <a:defRPr sz="1600"/>
            </a:lvl3pPr>
            <a:lvl4pPr>
              <a:buNone/>
              <a:defRPr sz="1600"/>
            </a:lvl4pPr>
            <a:lvl5pPr>
              <a:buNone/>
              <a:defRPr sz="1600"/>
            </a:lvl5pPr>
          </a:lstStyle>
          <a:p>
            <a:pPr lvl="0"/>
            <a:r>
              <a:rPr lang="en-US" dirty="0"/>
              <a:t>Click to edit Master</a:t>
            </a:r>
          </a:p>
        </p:txBody>
      </p:sp>
      <p:sp>
        <p:nvSpPr>
          <p:cNvPr id="12" name="Footer Placeholder 4">
            <a:extLst>
              <a:ext uri="{FF2B5EF4-FFF2-40B4-BE49-F238E27FC236}">
                <a16:creationId xmlns:a16="http://schemas.microsoft.com/office/drawing/2014/main" id="{0682803B-B799-370F-B1B9-EB49CCB10A11}"/>
              </a:ext>
            </a:extLst>
          </p:cNvPr>
          <p:cNvSpPr>
            <a:spLocks noGrp="1"/>
          </p:cNvSpPr>
          <p:nvPr>
            <p:ph type="ftr" sz="quarter" idx="3"/>
          </p:nvPr>
        </p:nvSpPr>
        <p:spPr>
          <a:xfrm>
            <a:off x="393700" y="6279952"/>
            <a:ext cx="3568700" cy="241240"/>
          </a:xfrm>
          <a:prstGeom prst="rect">
            <a:avLst/>
          </a:prstGeom>
        </p:spPr>
        <p:txBody>
          <a:bodyPr vert="horz" lIns="0" tIns="0" rIns="0" bIns="0" rtlCol="0" anchor="b"/>
          <a:lstStyle>
            <a:lvl1pPr algn="l">
              <a:defRPr sz="1000">
                <a:solidFill>
                  <a:schemeClr val="tx1"/>
                </a:solidFill>
              </a:defRPr>
            </a:lvl1pPr>
          </a:lstStyle>
          <a:p>
            <a:endParaRPr lang="en-US" sz="1000" dirty="0"/>
          </a:p>
        </p:txBody>
      </p:sp>
      <p:sp>
        <p:nvSpPr>
          <p:cNvPr id="13" name="Slide Number Placeholder 5">
            <a:extLst>
              <a:ext uri="{FF2B5EF4-FFF2-40B4-BE49-F238E27FC236}">
                <a16:creationId xmlns:a16="http://schemas.microsoft.com/office/drawing/2014/main" id="{AFE26095-B1FD-5C7C-C8D6-78ABF739DCBA}"/>
              </a:ext>
            </a:extLst>
          </p:cNvPr>
          <p:cNvSpPr>
            <a:spLocks noGrp="1"/>
          </p:cNvSpPr>
          <p:nvPr>
            <p:ph type="sldNum" sz="quarter" idx="4"/>
          </p:nvPr>
        </p:nvSpPr>
        <p:spPr>
          <a:xfrm>
            <a:off x="11279332" y="6279294"/>
            <a:ext cx="518968" cy="241240"/>
          </a:xfrm>
          <a:prstGeom prst="rect">
            <a:avLst/>
          </a:prstGeom>
        </p:spPr>
        <p:txBody>
          <a:bodyPr vert="horz" lIns="0" tIns="0" rIns="0" bIns="0" rtlCol="0" anchor="b"/>
          <a:lstStyle>
            <a:lvl1pPr algn="r">
              <a:defRPr lang="en-US" sz="1000" kern="1200" smtClean="0">
                <a:solidFill>
                  <a:schemeClr val="tx1"/>
                </a:solidFill>
                <a:latin typeface="+mn-lt"/>
                <a:ea typeface="+mn-ea"/>
                <a:cs typeface="+mn-cs"/>
              </a:defRPr>
            </a:lvl1pPr>
          </a:lstStyle>
          <a:p>
            <a:fld id="{8574A810-7A8E-054F-9F6B-09E9C694ECF9}" type="slidenum">
              <a:rPr lang="en-US" smtClean="0"/>
              <a:pPr/>
              <a:t>‹#›</a:t>
            </a:fld>
            <a:endParaRPr lang="en-US" sz="1000" dirty="0"/>
          </a:p>
        </p:txBody>
      </p:sp>
      <p:sp>
        <p:nvSpPr>
          <p:cNvPr id="2" name="Title Placeholder 1">
            <a:extLst>
              <a:ext uri="{FF2B5EF4-FFF2-40B4-BE49-F238E27FC236}">
                <a16:creationId xmlns:a16="http://schemas.microsoft.com/office/drawing/2014/main" id="{EC59174D-4FF5-0FD8-FE78-F71A39E187AE}"/>
              </a:ext>
            </a:extLst>
          </p:cNvPr>
          <p:cNvSpPr>
            <a:spLocks noGrp="1"/>
          </p:cNvSpPr>
          <p:nvPr>
            <p:ph type="title"/>
          </p:nvPr>
        </p:nvSpPr>
        <p:spPr>
          <a:xfrm>
            <a:off x="393700" y="344008"/>
            <a:ext cx="11404600" cy="1047491"/>
          </a:xfrm>
          <a:prstGeom prst="rect">
            <a:avLst/>
          </a:prstGeom>
        </p:spPr>
        <p:txBody>
          <a:bodyPr vert="horz" lIns="0" tIns="0" rIns="0" bIns="0" rtlCol="0" anchor="t">
            <a:normAutofit/>
          </a:bodyPr>
          <a:lstStyle/>
          <a:p>
            <a:r>
              <a:rPr lang="en-US" dirty="0"/>
              <a:t>Click to edit Master title style</a:t>
            </a:r>
          </a:p>
        </p:txBody>
      </p:sp>
      <p:sp>
        <p:nvSpPr>
          <p:cNvPr id="8" name="Text Placeholder 7">
            <a:extLst>
              <a:ext uri="{FF2B5EF4-FFF2-40B4-BE49-F238E27FC236}">
                <a16:creationId xmlns:a16="http://schemas.microsoft.com/office/drawing/2014/main" id="{4F70A9DA-D783-0627-3166-E13B68C2ADAC}"/>
              </a:ext>
            </a:extLst>
          </p:cNvPr>
          <p:cNvSpPr>
            <a:spLocks noGrp="1"/>
          </p:cNvSpPr>
          <p:nvPr>
            <p:ph type="body" sz="quarter" idx="12"/>
          </p:nvPr>
        </p:nvSpPr>
        <p:spPr>
          <a:xfrm>
            <a:off x="3334966" y="2213811"/>
            <a:ext cx="2595934" cy="3780589"/>
          </a:xfrm>
        </p:spPr>
        <p:txBody>
          <a:bodyPr/>
          <a:lstStyle>
            <a:lvl1pPr>
              <a:buNone/>
              <a:defRPr sz="1800"/>
            </a:lvl1pPr>
            <a:lvl2pPr>
              <a:buNone/>
              <a:defRPr sz="1800"/>
            </a:lvl2pPr>
            <a:lvl3pPr>
              <a:buNone/>
              <a:defRPr sz="1800"/>
            </a:lvl3pPr>
            <a:lvl4pPr>
              <a:buNone/>
              <a:defRPr sz="1800"/>
            </a:lvl4pPr>
            <a:lvl5pPr>
              <a:buNone/>
              <a:defRPr sz="1800"/>
            </a:lvl5pPr>
          </a:lstStyle>
          <a:p>
            <a:pPr lvl="0"/>
            <a:r>
              <a:rPr lang="en-US" dirty="0"/>
              <a:t>Click to edit Master</a:t>
            </a:r>
          </a:p>
        </p:txBody>
      </p:sp>
      <p:sp>
        <p:nvSpPr>
          <p:cNvPr id="9" name="Text Placeholder 2">
            <a:extLst>
              <a:ext uri="{FF2B5EF4-FFF2-40B4-BE49-F238E27FC236}">
                <a16:creationId xmlns:a16="http://schemas.microsoft.com/office/drawing/2014/main" id="{75BF2647-8E8C-CAEE-896D-0E1567AF7E99}"/>
              </a:ext>
            </a:extLst>
          </p:cNvPr>
          <p:cNvSpPr>
            <a:spLocks noGrp="1"/>
          </p:cNvSpPr>
          <p:nvPr>
            <p:ph idx="13"/>
          </p:nvPr>
        </p:nvSpPr>
        <p:spPr>
          <a:xfrm>
            <a:off x="6264413" y="2213811"/>
            <a:ext cx="2595934" cy="3780589"/>
          </a:xfrm>
          <a:prstGeom prst="rect">
            <a:avLst/>
          </a:prstGeom>
        </p:spPr>
        <p:txBody>
          <a:bodyPr vert="horz" lIns="0" tIns="0" rIns="0" bIns="0" rtlCol="0">
            <a:normAutofit/>
          </a:bodyPr>
          <a:lstStyle>
            <a:lvl1pPr>
              <a:buNone/>
              <a:defRPr sz="1600"/>
            </a:lvl1pPr>
            <a:lvl2pPr>
              <a:buNone/>
              <a:defRPr sz="1600"/>
            </a:lvl2pPr>
            <a:lvl3pPr>
              <a:buNone/>
              <a:defRPr sz="1600"/>
            </a:lvl3pPr>
            <a:lvl4pPr>
              <a:buNone/>
              <a:defRPr sz="1600"/>
            </a:lvl4pPr>
            <a:lvl5pPr>
              <a:buNone/>
              <a:defRPr sz="1600"/>
            </a:lvl5pPr>
          </a:lstStyle>
          <a:p>
            <a:pPr lvl="0"/>
            <a:r>
              <a:rPr lang="en-US" dirty="0"/>
              <a:t>Click to edit Master</a:t>
            </a:r>
          </a:p>
        </p:txBody>
      </p:sp>
      <p:sp>
        <p:nvSpPr>
          <p:cNvPr id="10" name="Text Placeholder 7">
            <a:extLst>
              <a:ext uri="{FF2B5EF4-FFF2-40B4-BE49-F238E27FC236}">
                <a16:creationId xmlns:a16="http://schemas.microsoft.com/office/drawing/2014/main" id="{37C6F143-221A-9959-8FBA-B9B1DB6602D0}"/>
              </a:ext>
            </a:extLst>
          </p:cNvPr>
          <p:cNvSpPr>
            <a:spLocks noGrp="1"/>
          </p:cNvSpPr>
          <p:nvPr>
            <p:ph type="body" sz="quarter" idx="14"/>
          </p:nvPr>
        </p:nvSpPr>
        <p:spPr>
          <a:xfrm>
            <a:off x="9205679" y="2213811"/>
            <a:ext cx="2595934" cy="3780589"/>
          </a:xfrm>
        </p:spPr>
        <p:txBody>
          <a:bodyPr/>
          <a:lstStyle>
            <a:lvl1pPr>
              <a:buNone/>
              <a:defRPr sz="1800"/>
            </a:lvl1pPr>
            <a:lvl2pPr>
              <a:buNone/>
              <a:defRPr sz="1800"/>
            </a:lvl2pPr>
            <a:lvl3pPr>
              <a:buNone/>
              <a:defRPr sz="1800"/>
            </a:lvl3pPr>
            <a:lvl4pPr>
              <a:buNone/>
              <a:defRPr sz="1800"/>
            </a:lvl4pPr>
            <a:lvl5pPr>
              <a:buNone/>
              <a:defRPr sz="1800"/>
            </a:lvl5pPr>
          </a:lstStyle>
          <a:p>
            <a:pPr lvl="0"/>
            <a:r>
              <a:rPr lang="en-US" dirty="0"/>
              <a:t>Click to edit Master</a:t>
            </a:r>
          </a:p>
        </p:txBody>
      </p:sp>
    </p:spTree>
    <p:extLst>
      <p:ext uri="{BB962C8B-B14F-4D97-AF65-F5344CB8AC3E}">
        <p14:creationId xmlns:p14="http://schemas.microsoft.com/office/powerpoint/2010/main" val="9712414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8" name="Footer Placeholder 4">
            <a:extLst>
              <a:ext uri="{FF2B5EF4-FFF2-40B4-BE49-F238E27FC236}">
                <a16:creationId xmlns:a16="http://schemas.microsoft.com/office/drawing/2014/main" id="{DB1182C5-F22B-2641-06DE-4EDACA3C1DDD}"/>
              </a:ext>
            </a:extLst>
          </p:cNvPr>
          <p:cNvSpPr>
            <a:spLocks noGrp="1"/>
          </p:cNvSpPr>
          <p:nvPr>
            <p:ph type="ftr" sz="quarter" idx="3"/>
          </p:nvPr>
        </p:nvSpPr>
        <p:spPr>
          <a:xfrm>
            <a:off x="393700" y="6279952"/>
            <a:ext cx="3568700" cy="241240"/>
          </a:xfrm>
          <a:prstGeom prst="rect">
            <a:avLst/>
          </a:prstGeom>
        </p:spPr>
        <p:txBody>
          <a:bodyPr vert="horz" lIns="0" tIns="0" rIns="0" bIns="0" rtlCol="0" anchor="b"/>
          <a:lstStyle>
            <a:lvl1pPr algn="l">
              <a:defRPr sz="1000">
                <a:solidFill>
                  <a:schemeClr val="tx1"/>
                </a:solidFill>
              </a:defRPr>
            </a:lvl1pPr>
          </a:lstStyle>
          <a:p>
            <a:endParaRPr lang="en-US" sz="1000" dirty="0"/>
          </a:p>
        </p:txBody>
      </p:sp>
      <p:sp>
        <p:nvSpPr>
          <p:cNvPr id="9" name="Slide Number Placeholder 5">
            <a:extLst>
              <a:ext uri="{FF2B5EF4-FFF2-40B4-BE49-F238E27FC236}">
                <a16:creationId xmlns:a16="http://schemas.microsoft.com/office/drawing/2014/main" id="{F97A4AD5-204B-38FD-4F33-270C2F9F5CC6}"/>
              </a:ext>
            </a:extLst>
          </p:cNvPr>
          <p:cNvSpPr>
            <a:spLocks noGrp="1"/>
          </p:cNvSpPr>
          <p:nvPr>
            <p:ph type="sldNum" sz="quarter" idx="4"/>
          </p:nvPr>
        </p:nvSpPr>
        <p:spPr>
          <a:xfrm>
            <a:off x="11279332" y="6279294"/>
            <a:ext cx="518968" cy="241240"/>
          </a:xfrm>
          <a:prstGeom prst="rect">
            <a:avLst/>
          </a:prstGeom>
        </p:spPr>
        <p:txBody>
          <a:bodyPr vert="horz" lIns="0" tIns="0" rIns="0" bIns="0" rtlCol="0" anchor="b"/>
          <a:lstStyle>
            <a:lvl1pPr algn="r">
              <a:defRPr lang="en-US" sz="1000" kern="1200" smtClean="0">
                <a:solidFill>
                  <a:schemeClr val="tx1"/>
                </a:solidFill>
                <a:latin typeface="+mn-lt"/>
                <a:ea typeface="+mn-ea"/>
                <a:cs typeface="+mn-cs"/>
              </a:defRPr>
            </a:lvl1pPr>
          </a:lstStyle>
          <a:p>
            <a:fld id="{8574A810-7A8E-054F-9F6B-09E9C694ECF9}" type="slidenum">
              <a:rPr lang="en-US" smtClean="0"/>
              <a:pPr/>
              <a:t>‹#›</a:t>
            </a:fld>
            <a:endParaRPr lang="en-US" sz="1000" dirty="0"/>
          </a:p>
        </p:txBody>
      </p:sp>
      <p:sp>
        <p:nvSpPr>
          <p:cNvPr id="2" name="Title Placeholder 1">
            <a:extLst>
              <a:ext uri="{FF2B5EF4-FFF2-40B4-BE49-F238E27FC236}">
                <a16:creationId xmlns:a16="http://schemas.microsoft.com/office/drawing/2014/main" id="{75CF9983-3FD7-FAE4-9F0B-B2CE806D891D}"/>
              </a:ext>
            </a:extLst>
          </p:cNvPr>
          <p:cNvSpPr>
            <a:spLocks noGrp="1"/>
          </p:cNvSpPr>
          <p:nvPr>
            <p:ph type="title"/>
          </p:nvPr>
        </p:nvSpPr>
        <p:spPr>
          <a:xfrm>
            <a:off x="393700" y="344008"/>
            <a:ext cx="11404600" cy="1047491"/>
          </a:xfrm>
          <a:prstGeom prst="rect">
            <a:avLst/>
          </a:prstGeom>
        </p:spPr>
        <p:txBody>
          <a:bodyPr vert="horz" lIns="0" tIns="0" rIns="0" bIns="0" rtlCol="0" anchor="t">
            <a:normAutofit/>
          </a:bodyPr>
          <a:lstStyle/>
          <a:p>
            <a:r>
              <a:rPr lang="en-US" dirty="0"/>
              <a:t>Click to edit Master title style</a:t>
            </a:r>
          </a:p>
        </p:txBody>
      </p:sp>
    </p:spTree>
    <p:extLst>
      <p:ext uri="{BB962C8B-B14F-4D97-AF65-F5344CB8AC3E}">
        <p14:creationId xmlns:p14="http://schemas.microsoft.com/office/powerpoint/2010/main" val="169410553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Footer Only">
    <p:spTree>
      <p:nvGrpSpPr>
        <p:cNvPr id="1" name=""/>
        <p:cNvGrpSpPr/>
        <p:nvPr/>
      </p:nvGrpSpPr>
      <p:grpSpPr>
        <a:xfrm>
          <a:off x="0" y="0"/>
          <a:ext cx="0" cy="0"/>
          <a:chOff x="0" y="0"/>
          <a:chExt cx="0" cy="0"/>
        </a:xfrm>
      </p:grpSpPr>
      <p:sp>
        <p:nvSpPr>
          <p:cNvPr id="7" name="Footer Placeholder 4">
            <a:extLst>
              <a:ext uri="{FF2B5EF4-FFF2-40B4-BE49-F238E27FC236}">
                <a16:creationId xmlns:a16="http://schemas.microsoft.com/office/drawing/2014/main" id="{1012CBCC-C555-8C11-443D-86D6F7A45CF8}"/>
              </a:ext>
            </a:extLst>
          </p:cNvPr>
          <p:cNvSpPr>
            <a:spLocks noGrp="1"/>
          </p:cNvSpPr>
          <p:nvPr>
            <p:ph type="ftr" sz="quarter" idx="3"/>
          </p:nvPr>
        </p:nvSpPr>
        <p:spPr>
          <a:xfrm>
            <a:off x="393700" y="6279952"/>
            <a:ext cx="3568700" cy="241240"/>
          </a:xfrm>
          <a:prstGeom prst="rect">
            <a:avLst/>
          </a:prstGeom>
        </p:spPr>
        <p:txBody>
          <a:bodyPr vert="horz" lIns="0" tIns="0" rIns="0" bIns="0" rtlCol="0" anchor="b"/>
          <a:lstStyle>
            <a:lvl1pPr algn="l">
              <a:defRPr sz="1000">
                <a:solidFill>
                  <a:schemeClr val="tx1"/>
                </a:solidFill>
              </a:defRPr>
            </a:lvl1pPr>
          </a:lstStyle>
          <a:p>
            <a:endParaRPr lang="en-US" sz="1000" dirty="0"/>
          </a:p>
        </p:txBody>
      </p:sp>
      <p:sp>
        <p:nvSpPr>
          <p:cNvPr id="8" name="Slide Number Placeholder 5">
            <a:extLst>
              <a:ext uri="{FF2B5EF4-FFF2-40B4-BE49-F238E27FC236}">
                <a16:creationId xmlns:a16="http://schemas.microsoft.com/office/drawing/2014/main" id="{B69B260B-B882-BF7F-1BB1-28B9578A25A2}"/>
              </a:ext>
            </a:extLst>
          </p:cNvPr>
          <p:cNvSpPr>
            <a:spLocks noGrp="1"/>
          </p:cNvSpPr>
          <p:nvPr>
            <p:ph type="sldNum" sz="quarter" idx="4"/>
          </p:nvPr>
        </p:nvSpPr>
        <p:spPr>
          <a:xfrm>
            <a:off x="11279332" y="6279294"/>
            <a:ext cx="518968" cy="241240"/>
          </a:xfrm>
          <a:prstGeom prst="rect">
            <a:avLst/>
          </a:prstGeom>
        </p:spPr>
        <p:txBody>
          <a:bodyPr vert="horz" lIns="0" tIns="0" rIns="0" bIns="0" rtlCol="0" anchor="b"/>
          <a:lstStyle>
            <a:lvl1pPr algn="r">
              <a:defRPr lang="en-US" sz="1000" kern="1200" smtClean="0">
                <a:solidFill>
                  <a:schemeClr val="tx1"/>
                </a:solidFill>
                <a:latin typeface="+mn-lt"/>
                <a:ea typeface="+mn-ea"/>
                <a:cs typeface="+mn-cs"/>
              </a:defRPr>
            </a:lvl1pPr>
          </a:lstStyle>
          <a:p>
            <a:fld id="{8574A810-7A8E-054F-9F6B-09E9C694ECF9}" type="slidenum">
              <a:rPr lang="en-US" smtClean="0"/>
              <a:pPr/>
              <a:t>‹#›</a:t>
            </a:fld>
            <a:endParaRPr lang="en-US" sz="1000" dirty="0"/>
          </a:p>
        </p:txBody>
      </p:sp>
    </p:spTree>
    <p:extLst>
      <p:ext uri="{BB962C8B-B14F-4D97-AF65-F5344CB8AC3E}">
        <p14:creationId xmlns:p14="http://schemas.microsoft.com/office/powerpoint/2010/main" val="1856794158"/>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7225483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B87ED2E-D8FF-5C8C-ED50-59BA3091C3E1}"/>
              </a:ext>
            </a:extLst>
          </p:cNvPr>
          <p:cNvSpPr>
            <a:spLocks noGrp="1"/>
          </p:cNvSpPr>
          <p:nvPr>
            <p:ph type="title"/>
          </p:nvPr>
        </p:nvSpPr>
        <p:spPr>
          <a:xfrm>
            <a:off x="393700" y="344008"/>
            <a:ext cx="11404600" cy="1047491"/>
          </a:xfrm>
          <a:prstGeom prst="rect">
            <a:avLst/>
          </a:prstGeom>
        </p:spPr>
        <p:txBody>
          <a:bodyPr vert="horz" lIns="0" tIns="0" rIns="0" bIns="0" rtlCol="0" anchor="t">
            <a:normAutofit/>
          </a:bodyPr>
          <a:lstStyle/>
          <a:p>
            <a:r>
              <a:rPr lang="en-US" dirty="0"/>
              <a:t>Click to edit Master title style</a:t>
            </a:r>
          </a:p>
        </p:txBody>
      </p:sp>
      <p:sp>
        <p:nvSpPr>
          <p:cNvPr id="3" name="Text Placeholder 2">
            <a:extLst>
              <a:ext uri="{FF2B5EF4-FFF2-40B4-BE49-F238E27FC236}">
                <a16:creationId xmlns:a16="http://schemas.microsoft.com/office/drawing/2014/main" id="{05B0E1CB-6DCA-2E9F-2B74-4309B4084C09}"/>
              </a:ext>
            </a:extLst>
          </p:cNvPr>
          <p:cNvSpPr>
            <a:spLocks noGrp="1"/>
          </p:cNvSpPr>
          <p:nvPr>
            <p:ph type="body" idx="1"/>
          </p:nvPr>
        </p:nvSpPr>
        <p:spPr>
          <a:xfrm>
            <a:off x="393700" y="2032000"/>
            <a:ext cx="11404600" cy="3962400"/>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a:extLst>
              <a:ext uri="{FF2B5EF4-FFF2-40B4-BE49-F238E27FC236}">
                <a16:creationId xmlns:a16="http://schemas.microsoft.com/office/drawing/2014/main" id="{3C75650C-2983-5B02-8421-FF1818435433}"/>
              </a:ext>
            </a:extLst>
          </p:cNvPr>
          <p:cNvSpPr>
            <a:spLocks noGrp="1"/>
          </p:cNvSpPr>
          <p:nvPr>
            <p:ph type="ftr" sz="quarter" idx="3"/>
          </p:nvPr>
        </p:nvSpPr>
        <p:spPr>
          <a:xfrm>
            <a:off x="393700" y="6279952"/>
            <a:ext cx="3568700" cy="241240"/>
          </a:xfrm>
          <a:prstGeom prst="rect">
            <a:avLst/>
          </a:prstGeom>
        </p:spPr>
        <p:txBody>
          <a:bodyPr vert="horz" lIns="0" tIns="0" rIns="0" bIns="0" rtlCol="0" anchor="b"/>
          <a:lstStyle>
            <a:lvl1pPr algn="l">
              <a:defRPr sz="1000">
                <a:solidFill>
                  <a:schemeClr val="tx1"/>
                </a:solidFill>
              </a:defRPr>
            </a:lvl1pPr>
          </a:lstStyle>
          <a:p>
            <a:endParaRPr lang="en-US" sz="1000" dirty="0"/>
          </a:p>
        </p:txBody>
      </p:sp>
      <p:sp>
        <p:nvSpPr>
          <p:cNvPr id="6" name="Slide Number Placeholder 5">
            <a:extLst>
              <a:ext uri="{FF2B5EF4-FFF2-40B4-BE49-F238E27FC236}">
                <a16:creationId xmlns:a16="http://schemas.microsoft.com/office/drawing/2014/main" id="{D872C88C-1AB3-96BA-C9E5-3435A4BD59BB}"/>
              </a:ext>
            </a:extLst>
          </p:cNvPr>
          <p:cNvSpPr>
            <a:spLocks noGrp="1"/>
          </p:cNvSpPr>
          <p:nvPr>
            <p:ph type="sldNum" sz="quarter" idx="4"/>
          </p:nvPr>
        </p:nvSpPr>
        <p:spPr>
          <a:xfrm>
            <a:off x="11279332" y="6279294"/>
            <a:ext cx="518968" cy="241240"/>
          </a:xfrm>
          <a:prstGeom prst="rect">
            <a:avLst/>
          </a:prstGeom>
        </p:spPr>
        <p:txBody>
          <a:bodyPr vert="horz" lIns="0" tIns="0" rIns="0" bIns="0" rtlCol="0" anchor="b"/>
          <a:lstStyle>
            <a:lvl1pPr algn="r">
              <a:defRPr lang="en-US" sz="1000" kern="1200" smtClean="0">
                <a:solidFill>
                  <a:schemeClr val="tx1"/>
                </a:solidFill>
                <a:latin typeface="+mn-lt"/>
                <a:ea typeface="+mn-ea"/>
                <a:cs typeface="+mn-cs"/>
              </a:defRPr>
            </a:lvl1pPr>
          </a:lstStyle>
          <a:p>
            <a:fld id="{8574A810-7A8E-054F-9F6B-09E9C694ECF9}" type="slidenum">
              <a:rPr lang="en-US" smtClean="0"/>
              <a:pPr/>
              <a:t>‹#›</a:t>
            </a:fld>
            <a:endParaRPr lang="en-US" sz="1000" dirty="0"/>
          </a:p>
        </p:txBody>
      </p:sp>
    </p:spTree>
    <p:extLst>
      <p:ext uri="{BB962C8B-B14F-4D97-AF65-F5344CB8AC3E}">
        <p14:creationId xmlns:p14="http://schemas.microsoft.com/office/powerpoint/2010/main" val="2081855943"/>
      </p:ext>
    </p:extLst>
  </p:cSld>
  <p:clrMap bg1="dk1" tx1="lt1" bg2="dk2" tx2="lt2" accent1="accent1" accent2="accent2" accent3="accent3" accent4="accent4" accent5="accent5" accent6="accent6" hlink="hlink" folHlink="folHlink"/>
  <p:sldLayoutIdLst>
    <p:sldLayoutId id="2147483649" r:id="rId1"/>
    <p:sldLayoutId id="2147483650" r:id="rId2"/>
    <p:sldLayoutId id="2147483652" r:id="rId3"/>
    <p:sldLayoutId id="2147483653" r:id="rId4"/>
    <p:sldLayoutId id="2147483659" r:id="rId5"/>
    <p:sldLayoutId id="2147483654" r:id="rId6"/>
    <p:sldLayoutId id="2147483655" r:id="rId7"/>
    <p:sldLayoutId id="2147483656" r:id="rId8"/>
  </p:sldLayoutIdLst>
  <p:hf hdr="0" dt="0"/>
  <p:txStyles>
    <p:titleStyle>
      <a:lvl1pPr algn="l" defTabSz="914400" rtl="0" eaLnBrk="1" latinLnBrk="0" hangingPunct="1">
        <a:lnSpc>
          <a:spcPct val="90000"/>
        </a:lnSpc>
        <a:spcBef>
          <a:spcPct val="0"/>
        </a:spcBef>
        <a:buNone/>
        <a:defRPr sz="29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userDrawn="1">
          <p15:clr>
            <a:srgbClr val="F26B43"/>
          </p15:clr>
        </p15:guide>
        <p15:guide id="2" pos="7680" userDrawn="1">
          <p15:clr>
            <a:srgbClr val="F26B43"/>
          </p15:clr>
        </p15:guide>
        <p15:guide id="3" pos="248" userDrawn="1">
          <p15:clr>
            <a:srgbClr val="F26B43"/>
          </p15:clr>
        </p15:guide>
        <p15:guide id="4" pos="1264" userDrawn="1">
          <p15:clr>
            <a:srgbClr val="F26B43"/>
          </p15:clr>
        </p15:guide>
        <p15:guide id="5" pos="1480" userDrawn="1">
          <p15:clr>
            <a:srgbClr val="F26B43"/>
          </p15:clr>
        </p15:guide>
        <p15:guide id="6" pos="2496" userDrawn="1">
          <p15:clr>
            <a:srgbClr val="F26B43"/>
          </p15:clr>
        </p15:guide>
        <p15:guide id="7" pos="2712" userDrawn="1">
          <p15:clr>
            <a:srgbClr val="F26B43"/>
          </p15:clr>
        </p15:guide>
        <p15:guide id="8" pos="3736" userDrawn="1">
          <p15:clr>
            <a:srgbClr val="F26B43"/>
          </p15:clr>
        </p15:guide>
        <p15:guide id="9" pos="3944" userDrawn="1">
          <p15:clr>
            <a:srgbClr val="F26B43"/>
          </p15:clr>
        </p15:guide>
        <p15:guide id="10" pos="4968" userDrawn="1">
          <p15:clr>
            <a:srgbClr val="F26B43"/>
          </p15:clr>
        </p15:guide>
        <p15:guide id="11" pos="5184" userDrawn="1">
          <p15:clr>
            <a:srgbClr val="F26B43"/>
          </p15:clr>
        </p15:guide>
        <p15:guide id="12" pos="6200" userDrawn="1">
          <p15:clr>
            <a:srgbClr val="F26B43"/>
          </p15:clr>
        </p15:guide>
        <p15:guide id="13" pos="6416" userDrawn="1">
          <p15:clr>
            <a:srgbClr val="F26B43"/>
          </p15:clr>
        </p15:guide>
        <p15:guide id="14" pos="7432" userDrawn="1">
          <p15:clr>
            <a:srgbClr val="F26B43"/>
          </p15:clr>
        </p15:guide>
        <p15:guide id="15" orient="horz" userDrawn="1">
          <p15:clr>
            <a:srgbClr val="F26B43"/>
          </p15:clr>
        </p15:guide>
        <p15:guide id="17" orient="horz" pos="248" userDrawn="1">
          <p15:clr>
            <a:srgbClr val="F26B43"/>
          </p15:clr>
        </p15:guide>
        <p15:guide id="18" orient="horz" pos="656" userDrawn="1">
          <p15:clr>
            <a:srgbClr val="F26B43"/>
          </p15:clr>
        </p15:guide>
        <p15:guide id="19" orient="horz" pos="872" userDrawn="1">
          <p15:clr>
            <a:srgbClr val="F26B43"/>
          </p15:clr>
        </p15:guide>
        <p15:guide id="20" orient="horz" pos="1280" userDrawn="1">
          <p15:clr>
            <a:srgbClr val="F26B43"/>
          </p15:clr>
        </p15:guide>
        <p15:guide id="21" orient="horz" pos="1496" userDrawn="1">
          <p15:clr>
            <a:srgbClr val="F26B43"/>
          </p15:clr>
        </p15:guide>
        <p15:guide id="22" orient="horz" pos="1904" userDrawn="1">
          <p15:clr>
            <a:srgbClr val="F26B43"/>
          </p15:clr>
        </p15:guide>
        <p15:guide id="23" orient="horz" pos="2120" userDrawn="1">
          <p15:clr>
            <a:srgbClr val="F26B43"/>
          </p15:clr>
        </p15:guide>
        <p15:guide id="24" orient="horz" pos="2528" userDrawn="1">
          <p15:clr>
            <a:srgbClr val="F26B43"/>
          </p15:clr>
        </p15:guide>
        <p15:guide id="25" orient="horz" pos="2744" userDrawn="1">
          <p15:clr>
            <a:srgbClr val="F26B43"/>
          </p15:clr>
        </p15:guide>
        <p15:guide id="26" orient="horz" pos="3152" userDrawn="1">
          <p15:clr>
            <a:srgbClr val="F26B43"/>
          </p15:clr>
        </p15:guide>
        <p15:guide id="27" orient="horz" pos="3368" userDrawn="1">
          <p15:clr>
            <a:srgbClr val="F26B43"/>
          </p15:clr>
        </p15:guide>
        <p15:guide id="28" orient="horz" pos="3776" userDrawn="1">
          <p15:clr>
            <a:srgbClr val="F26B43"/>
          </p15:clr>
        </p15:guide>
        <p15:guide id="29" orient="horz" pos="4088"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65F939-D34A-71EB-689B-60A3AE9D20B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47CD47D-0812-5F5E-8AA0-B4316F994F47}"/>
              </a:ext>
            </a:extLst>
          </p:cNvPr>
          <p:cNvSpPr>
            <a:spLocks noGrp="1"/>
          </p:cNvSpPr>
          <p:nvPr>
            <p:ph type="ctrTitle"/>
          </p:nvPr>
        </p:nvSpPr>
        <p:spPr>
          <a:xfrm>
            <a:off x="415733" y="1907316"/>
            <a:ext cx="7174888" cy="2491490"/>
          </a:xfrm>
        </p:spPr>
        <p:txBody>
          <a:bodyPr anchor="ctr">
            <a:noAutofit/>
          </a:bodyPr>
          <a:lstStyle/>
          <a:p>
            <a:r>
              <a:rPr lang="en-US" sz="6200"/>
              <a:t>CNN CUDA
Case Study</a:t>
            </a:r>
            <a:endParaRPr lang="en-US" sz="6200" dirty="0"/>
          </a:p>
        </p:txBody>
      </p:sp>
      <p:sp>
        <p:nvSpPr>
          <p:cNvPr id="5" name="Subtitle 4">
            <a:extLst>
              <a:ext uri="{FF2B5EF4-FFF2-40B4-BE49-F238E27FC236}">
                <a16:creationId xmlns:a16="http://schemas.microsoft.com/office/drawing/2014/main" id="{283B85AD-626B-46B7-0C36-31F5BABDE10D}"/>
              </a:ext>
            </a:extLst>
          </p:cNvPr>
          <p:cNvSpPr>
            <a:spLocks noGrp="1"/>
          </p:cNvSpPr>
          <p:nvPr>
            <p:ph type="subTitle" idx="1"/>
          </p:nvPr>
        </p:nvSpPr>
        <p:spPr>
          <a:xfrm>
            <a:off x="415733" y="5264722"/>
            <a:ext cx="6910483" cy="1080246"/>
          </a:xfrm>
        </p:spPr>
        <p:txBody>
          <a:bodyPr anchor="b">
            <a:noAutofit/>
          </a:bodyPr>
          <a:lstStyle/>
          <a:p>
            <a:r>
              <a:rPr lang="en-US" sz="1800"/>
              <a:t>Presenter 1: CNN and CPU
Presenter 2: CUDA
Presenter 3: Results and demo</a:t>
            </a:r>
            <a:endParaRPr lang="en-US" sz="1800" dirty="0"/>
          </a:p>
        </p:txBody>
      </p:sp>
      <p:sp>
        <p:nvSpPr>
          <p:cNvPr id="6" name="Subtitle 4">
            <a:extLst>
              <a:ext uri="{FF2B5EF4-FFF2-40B4-BE49-F238E27FC236}">
                <a16:creationId xmlns:a16="http://schemas.microsoft.com/office/drawing/2014/main" id="{543BAB87-2ABE-9D84-8400-3B5ABA08B3C2}"/>
              </a:ext>
            </a:extLst>
          </p:cNvPr>
          <p:cNvSpPr txBox="1">
            <a:spLocks/>
          </p:cNvSpPr>
          <p:nvPr/>
        </p:nvSpPr>
        <p:spPr>
          <a:xfrm>
            <a:off x="415734" y="392241"/>
            <a:ext cx="5702300" cy="649159"/>
          </a:xfrm>
          <a:prstGeom prst="rect">
            <a:avLst/>
          </a:prstGeom>
        </p:spPr>
        <p:txBody>
          <a:bodyPr vert="horz" lIns="0" tIns="0" rIns="0" bIns="0" rtlCol="0">
            <a:noAutofit/>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1800"/>
              <a:t>Inside a CNN: 2D convolution</a:t>
            </a:r>
            <a:endParaRPr lang="en-US" sz="1800" dirty="0"/>
          </a:p>
        </p:txBody>
      </p:sp>
      <p:pic>
        <p:nvPicPr>
          <p:cNvPr id="7" name="Picture 6">
            <a:extLst>
              <a:ext uri="{FF2B5EF4-FFF2-40B4-BE49-F238E27FC236}">
                <a16:creationId xmlns:a16="http://schemas.microsoft.com/office/drawing/2014/main" id="{99FE5203-6E11-8B2A-DE75-1E0C51409317}"/>
              </a:ext>
            </a:extLst>
          </p:cNvPr>
          <p:cNvPicPr>
            <a:picLocks noChangeAspect="1"/>
          </p:cNvPicPr>
          <p:nvPr/>
        </p:nvPicPr>
        <p:blipFill>
          <a:blip r:embed="rId3"/>
          <a:srcRect l="8269" r="8269"/>
          <a:stretch/>
        </p:blipFill>
        <p:spPr>
          <a:xfrm>
            <a:off x="7899094" y="0"/>
            <a:ext cx="4292906" cy="6858000"/>
          </a:xfrm>
          <a:prstGeom prst="rect">
            <a:avLst/>
          </a:prstGeom>
        </p:spPr>
      </p:pic>
    </p:spTree>
    <p:extLst>
      <p:ext uri="{BB962C8B-B14F-4D97-AF65-F5344CB8AC3E}">
        <p14:creationId xmlns:p14="http://schemas.microsoft.com/office/powerpoint/2010/main" val="27602136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31">
          <a:extLst>
            <a:ext uri="{FF2B5EF4-FFF2-40B4-BE49-F238E27FC236}">
              <a16:creationId xmlns:a16="http://schemas.microsoft.com/office/drawing/2014/main" id="{20E7F48D-6160-4C7B-F1E4-6DA13560757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39EA4C82-C623-0196-4A95-876ADF5DEE92}"/>
              </a:ext>
            </a:extLst>
          </p:cNvPr>
          <p:cNvSpPr>
            <a:spLocks noGrp="1"/>
          </p:cNvSpPr>
          <p:nvPr>
            <p:ph type="ftr" sz="quarter" idx="3"/>
          </p:nvPr>
        </p:nvSpPr>
        <p:spPr>
          <a:xfrm>
            <a:off x="393700" y="6279952"/>
            <a:ext cx="3568700" cy="241240"/>
          </a:xfrm>
        </p:spPr>
        <p:txBody>
          <a:bodyPr/>
          <a:lstStyle/>
          <a:p>
            <a:endParaRPr lang="en-US" dirty="0"/>
          </a:p>
        </p:txBody>
      </p:sp>
      <p:sp>
        <p:nvSpPr>
          <p:cNvPr id="532" name="Google Shape;532;p58">
            <a:extLst>
              <a:ext uri="{FF2B5EF4-FFF2-40B4-BE49-F238E27FC236}">
                <a16:creationId xmlns:a16="http://schemas.microsoft.com/office/drawing/2014/main" id="{1BCBE750-7048-686D-1472-52C53362D6CD}"/>
              </a:ext>
            </a:extLst>
          </p:cNvPr>
          <p:cNvSpPr txBox="1">
            <a:spLocks noGrp="1"/>
          </p:cNvSpPr>
          <p:nvPr>
            <p:ph type="sldNum" sz="quarter" idx="4"/>
          </p:nvPr>
        </p:nvSpPr>
        <p:spPr>
          <a:xfrm>
            <a:off x="11279332" y="6279294"/>
            <a:ext cx="518968" cy="241240"/>
          </a:xfrm>
        </p:spPr>
        <p:txBody>
          <a:bodyPr spcFirstLastPara="1" vert="horz" wrap="square" lIns="0" tIns="0" rIns="0" bIns="0" rtlCol="0" anchor="b" anchorCtr="0">
            <a:noAutofit/>
          </a:bodyPr>
          <a:lstStyle/>
          <a:p>
            <a:r>
              <a:rPr lang="en">
                <a:sym typeface="OpenAI Sans"/>
              </a:rPr>
              <a:t>2</a:t>
            </a:r>
            <a:endParaRPr lang="en" dirty="0">
              <a:sym typeface="OpenAI Sans"/>
            </a:endParaRPr>
          </a:p>
        </p:txBody>
      </p:sp>
      <p:sp>
        <p:nvSpPr>
          <p:cNvPr id="533" name="Google Shape;533;p58">
            <a:extLst>
              <a:ext uri="{FF2B5EF4-FFF2-40B4-BE49-F238E27FC236}">
                <a16:creationId xmlns:a16="http://schemas.microsoft.com/office/drawing/2014/main" id="{1B5D55CD-1C17-7CD8-F26A-2DD65B067687}"/>
              </a:ext>
            </a:extLst>
          </p:cNvPr>
          <p:cNvSpPr txBox="1">
            <a:spLocks noGrp="1"/>
          </p:cNvSpPr>
          <p:nvPr>
            <p:ph type="title"/>
          </p:nvPr>
        </p:nvSpPr>
        <p:spPr>
          <a:xfrm>
            <a:off x="393700" y="344008"/>
            <a:ext cx="11404600" cy="1047491"/>
          </a:xfrm>
        </p:spPr>
        <p:txBody>
          <a:bodyPr spcFirstLastPara="1" vert="horz" wrap="square" lIns="0" tIns="0" rIns="0" bIns="0" rtlCol="0" anchor="t" anchorCtr="0">
            <a:noAutofit/>
          </a:bodyPr>
          <a:lstStyle/>
          <a:p>
            <a:r>
              <a:rPr lang="en-US"/>
              <a:t>The small CNN classifier</a:t>
            </a:r>
            <a:endParaRPr lang="en-US" dirty="0"/>
          </a:p>
        </p:txBody>
      </p:sp>
      <p:sp>
        <p:nvSpPr>
          <p:cNvPr id="7" name="Google Shape;534;p58">
            <a:extLst>
              <a:ext uri="{FF2B5EF4-FFF2-40B4-BE49-F238E27FC236}">
                <a16:creationId xmlns:a16="http://schemas.microsoft.com/office/drawing/2014/main" id="{3A923FEE-B8D2-CD3A-ABBD-21770B40AA24}"/>
              </a:ext>
            </a:extLst>
          </p:cNvPr>
          <p:cNvSpPr txBox="1">
            <a:spLocks/>
          </p:cNvSpPr>
          <p:nvPr/>
        </p:nvSpPr>
        <p:spPr>
          <a:xfrm>
            <a:off x="393700" y="2031999"/>
            <a:ext cx="5537200" cy="3534787"/>
          </a:xfrm>
          <a:prstGeom prst="rect">
            <a:avLst/>
          </a:prstGeom>
        </p:spPr>
        <p:txBody>
          <a:bodyPr spcFirstLastPara="1" vert="horz" wrap="square" lIns="0" tIns="0" rIns="0" bIns="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4000"/>
              </a:lnSpc>
              <a:spcBef>
                <a:spcPts val="0"/>
              </a:spcBef>
              <a:spcAft>
                <a:spcPts val="1200"/>
              </a:spcAft>
              <a:buNone/>
            </a:pPr>
            <a:r>
              <a:rPr lang="en-US">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What the network learns</a:t>
            </a:r>
          </a:p>
          <a:p>
            <a:pPr marL="0" indent="0">
              <a:lnSpc>
                <a:spcPct val="114000"/>
              </a:lnSpc>
              <a:spcBef>
                <a:spcPts val="0"/>
              </a:spcBef>
              <a:spcAft>
                <a:spcPts val="600"/>
              </a:spcAft>
              <a:buNone/>
            </a:pPr>
            <a:r>
              <a:rPr lang="en-US" sz="1600">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A small filter combines nearby pixels.</a:t>
            </a:r>
          </a:p>
          <a:p>
            <a:pPr marL="0" indent="0">
              <a:lnSpc>
                <a:spcPct val="114000"/>
              </a:lnSpc>
              <a:spcBef>
                <a:spcPts val="0"/>
              </a:spcBef>
              <a:spcAft>
                <a:spcPts val="600"/>
              </a:spcAft>
              <a:buNone/>
            </a:pPr>
            <a:r>
              <a:rPr lang="en-US" sz="1600">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The same weights scan every position.</a:t>
            </a:r>
          </a:p>
          <a:p>
            <a:pPr marL="0" indent="0">
              <a:lnSpc>
                <a:spcPct val="114000"/>
              </a:lnSpc>
              <a:spcBef>
                <a:spcPts val="0"/>
              </a:spcBef>
              <a:spcAft>
                <a:spcPts val="600"/>
              </a:spcAft>
              <a:buNone/>
            </a:pPr>
            <a:r>
              <a:rPr lang="en-US" sz="1600">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Multiple filters learn different features.</a:t>
            </a:r>
          </a:p>
          <a:p>
            <a:pPr marL="0" indent="0">
              <a:lnSpc>
                <a:spcPct val="114000"/>
              </a:lnSpc>
              <a:spcBef>
                <a:spcPts val="0"/>
              </a:spcBef>
              <a:spcAft>
                <a:spcPts val="600"/>
              </a:spcAft>
              <a:buNone/>
            </a:pPr>
            <a:r>
              <a:rPr lang="en-US" sz="1600">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The classifier combines those features</a:t>
            </a:r>
          </a:p>
          <a:p>
            <a:pPr marL="0" indent="0">
              <a:lnSpc>
                <a:spcPct val="114000"/>
              </a:lnSpc>
              <a:spcBef>
                <a:spcPts val="0"/>
              </a:spcBef>
              <a:spcAft>
                <a:spcPts val="600"/>
              </a:spcAft>
              <a:buNone/>
            </a:pPr>
            <a:r>
              <a:rPr lang="en-US" sz="1600">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to predict one of ten digits.</a:t>
            </a:r>
            <a:endParaRPr lang="en-US" sz="1600" dirty="0">
              <a:solidFill>
                <a:srgbClr val="FFFFFF"/>
              </a:solidFill>
              <a:latin typeface="Helvetica Neue" panose="02000503000000020004"/>
              <a:ea typeface="Helvetica Neue" panose="02000503000000020004" pitchFamily="2" charset="0"/>
              <a:cs typeface="Helvetica Neue" panose="02000503000000020004" pitchFamily="2" charset="0"/>
              <a:sym typeface="OpenAI Sans"/>
            </a:endParaRPr>
          </a:p>
        </p:txBody>
      </p:sp>
      <p:sp>
        <p:nvSpPr>
          <p:cNvPr id="8" name="Content Placeholder 3">
            <a:extLst>
              <a:ext uri="{FF2B5EF4-FFF2-40B4-BE49-F238E27FC236}">
                <a16:creationId xmlns:a16="http://schemas.microsoft.com/office/drawing/2014/main" id="{2EE8F343-A95F-2AAA-FE9E-A6C31E298DF7}"/>
              </a:ext>
            </a:extLst>
          </p:cNvPr>
          <p:cNvSpPr txBox="1">
            <a:spLocks/>
          </p:cNvSpPr>
          <p:nvPr/>
        </p:nvSpPr>
        <p:spPr>
          <a:xfrm>
            <a:off x="6256618" y="2031999"/>
            <a:ext cx="5537200" cy="3534787"/>
          </a:xfrm>
          <a:prstGeom prst="rect">
            <a:avLst/>
          </a:prstGeom>
        </p:spPr>
        <p:txBody>
          <a:bodyPr lIns="0" tIns="0" rIns="0" bIns="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4000"/>
              </a:lnSpc>
              <a:spcBef>
                <a:spcPts val="0"/>
              </a:spcBef>
              <a:spcAft>
                <a:spcPts val="1200"/>
              </a:spcAft>
              <a:buNone/>
              <a:defRPr/>
            </a:pPr>
            <a:r>
              <a:rPr lang="en-US">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Tensor shapes</a:t>
            </a:r>
          </a:p>
          <a:p>
            <a:pPr marL="0" indent="0">
              <a:lnSpc>
                <a:spcPct val="114000"/>
              </a:lnSpc>
              <a:spcBef>
                <a:spcPts val="0"/>
              </a:spcBef>
              <a:spcAft>
                <a:spcPts val="100"/>
              </a:spcAft>
              <a:buNone/>
              <a:defRPr/>
            </a:pPr>
            <a:r>
              <a:rPr lang="en-US" sz="1600">
                <a:solidFill>
                  <a:srgbClr val="FFFFFF"/>
                </a:solidFill>
                <a:latin typeface="Consolas" panose="020B0609020204030204" pitchFamily="49" charset="0"/>
                <a:ea typeface="Helvetica Neue" panose="02000503000000020004" pitchFamily="2" charset="0"/>
                <a:cs typeface="Helvetica Neue" panose="02000503000000020004" pitchFamily="2" charset="0"/>
                <a:sym typeface="OpenAI Sans"/>
              </a:rPr>
              <a:t>Input                 1 x 28 x 28</a:t>
            </a:r>
          </a:p>
          <a:p>
            <a:pPr marL="0" indent="0">
              <a:lnSpc>
                <a:spcPct val="114000"/>
              </a:lnSpc>
              <a:spcBef>
                <a:spcPts val="0"/>
              </a:spcBef>
              <a:spcAft>
                <a:spcPts val="100"/>
              </a:spcAft>
              <a:buNone/>
              <a:defRPr/>
            </a:pPr>
            <a:r>
              <a:rPr lang="en-US" sz="1600">
                <a:solidFill>
                  <a:srgbClr val="FFFFFF"/>
                </a:solidFill>
                <a:latin typeface="Consolas" panose="020B0609020204030204" pitchFamily="49" charset="0"/>
                <a:ea typeface="Helvetica Neue" panose="02000503000000020004" pitchFamily="2" charset="0"/>
                <a:cs typeface="Helvetica Neue" panose="02000503000000020004" pitchFamily="2" charset="0"/>
                <a:sym typeface="OpenAI Sans"/>
              </a:rPr>
              <a:t>3x3 convolution       4 x 26 x 26</a:t>
            </a:r>
          </a:p>
          <a:p>
            <a:pPr marL="0" indent="0">
              <a:lnSpc>
                <a:spcPct val="114000"/>
              </a:lnSpc>
              <a:spcBef>
                <a:spcPts val="0"/>
              </a:spcBef>
              <a:spcAft>
                <a:spcPts val="100"/>
              </a:spcAft>
              <a:buNone/>
              <a:defRPr/>
            </a:pPr>
            <a:r>
              <a:rPr lang="en-US" sz="1600">
                <a:solidFill>
                  <a:srgbClr val="FFFFFF"/>
                </a:solidFill>
                <a:latin typeface="Consolas" panose="020B0609020204030204" pitchFamily="49" charset="0"/>
                <a:ea typeface="Helvetica Neue" panose="02000503000000020004" pitchFamily="2" charset="0"/>
                <a:cs typeface="Helvetica Neue" panose="02000503000000020004" pitchFamily="2" charset="0"/>
                <a:sym typeface="OpenAI Sans"/>
              </a:rPr>
              <a:t>ReLU                  4 x 26 x 26</a:t>
            </a:r>
          </a:p>
          <a:p>
            <a:pPr marL="0" indent="0">
              <a:lnSpc>
                <a:spcPct val="114000"/>
              </a:lnSpc>
              <a:spcBef>
                <a:spcPts val="0"/>
              </a:spcBef>
              <a:spcAft>
                <a:spcPts val="100"/>
              </a:spcAft>
              <a:buNone/>
              <a:defRPr/>
            </a:pPr>
            <a:r>
              <a:rPr lang="en-US" sz="1600">
                <a:solidFill>
                  <a:srgbClr val="FFFFFF"/>
                </a:solidFill>
                <a:latin typeface="Consolas" panose="020B0609020204030204" pitchFamily="49" charset="0"/>
                <a:ea typeface="Helvetica Neue" panose="02000503000000020004" pitchFamily="2" charset="0"/>
                <a:cs typeface="Helvetica Neue" panose="02000503000000020004" pitchFamily="2" charset="0"/>
                <a:sym typeface="OpenAI Sans"/>
              </a:rPr>
              <a:t>2x2 max pool          4 x 13 x 13</a:t>
            </a:r>
          </a:p>
          <a:p>
            <a:pPr marL="0" indent="0">
              <a:lnSpc>
                <a:spcPct val="114000"/>
              </a:lnSpc>
              <a:spcBef>
                <a:spcPts val="0"/>
              </a:spcBef>
              <a:spcAft>
                <a:spcPts val="100"/>
              </a:spcAft>
              <a:buNone/>
              <a:defRPr/>
            </a:pPr>
            <a:r>
              <a:rPr lang="en-US" sz="1600">
                <a:solidFill>
                  <a:srgbClr val="FFFFFF"/>
                </a:solidFill>
                <a:latin typeface="Consolas" panose="020B0609020204030204" pitchFamily="49" charset="0"/>
                <a:ea typeface="Helvetica Neue" panose="02000503000000020004" pitchFamily="2" charset="0"/>
                <a:cs typeface="Helvetica Neue" panose="02000503000000020004" pitchFamily="2" charset="0"/>
                <a:sym typeface="OpenAI Sans"/>
              </a:rPr>
              <a:t>Flatten               676</a:t>
            </a:r>
          </a:p>
          <a:p>
            <a:pPr marL="0" indent="0">
              <a:lnSpc>
                <a:spcPct val="114000"/>
              </a:lnSpc>
              <a:spcBef>
                <a:spcPts val="0"/>
              </a:spcBef>
              <a:spcAft>
                <a:spcPts val="100"/>
              </a:spcAft>
              <a:buNone/>
              <a:defRPr/>
            </a:pPr>
            <a:r>
              <a:rPr lang="en-US" sz="1600">
                <a:solidFill>
                  <a:srgbClr val="FFFFFF"/>
                </a:solidFill>
                <a:latin typeface="Consolas" panose="020B0609020204030204" pitchFamily="49" charset="0"/>
                <a:ea typeface="Helvetica Neue" panose="02000503000000020004" pitchFamily="2" charset="0"/>
                <a:cs typeface="Helvetica Neue" panose="02000503000000020004" pitchFamily="2" charset="0"/>
                <a:sym typeface="OpenAI Sans"/>
              </a:rPr>
              <a:t>Linear classifier     10 logits</a:t>
            </a:r>
            <a:endParaRPr lang="en-US" sz="1600" dirty="0">
              <a:solidFill>
                <a:srgbClr val="FFFFFF"/>
              </a:solidFill>
              <a:latin typeface="Consolas" panose="020B0609020204030204" pitchFamily="49" charset="0"/>
              <a:ea typeface="Helvetica Neue" panose="02000503000000020004" pitchFamily="2" charset="0"/>
              <a:cs typeface="Helvetica Neue" panose="02000503000000020004" pitchFamily="2" charset="0"/>
              <a:sym typeface="OpenAI Sans"/>
            </a:endParaRPr>
          </a:p>
        </p:txBody>
      </p:sp>
    </p:spTree>
    <p:extLst>
      <p:ext uri="{BB962C8B-B14F-4D97-AF65-F5344CB8AC3E}">
        <p14:creationId xmlns:p14="http://schemas.microsoft.com/office/powerpoint/2010/main" val="361712727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531">
          <a:extLst>
            <a:ext uri="{FF2B5EF4-FFF2-40B4-BE49-F238E27FC236}">
              <a16:creationId xmlns:a16="http://schemas.microsoft.com/office/drawing/2014/main" id="{20E7F48D-6160-4C7B-F1E4-6DA13560757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39EA4C82-C623-0196-4A95-876ADF5DEE92}"/>
              </a:ext>
            </a:extLst>
          </p:cNvPr>
          <p:cNvSpPr>
            <a:spLocks noGrp="1"/>
          </p:cNvSpPr>
          <p:nvPr>
            <p:ph type="ftr" sz="quarter" idx="3"/>
          </p:nvPr>
        </p:nvSpPr>
        <p:spPr>
          <a:xfrm>
            <a:off x="393700" y="6279952"/>
            <a:ext cx="3568700" cy="241240"/>
          </a:xfrm>
        </p:spPr>
        <p:txBody>
          <a:bodyPr/>
          <a:lstStyle/>
          <a:p>
            <a:endParaRPr lang="en-US" dirty="0"/>
          </a:p>
        </p:txBody>
      </p:sp>
      <p:sp>
        <p:nvSpPr>
          <p:cNvPr id="532" name="Google Shape;532;p58">
            <a:extLst>
              <a:ext uri="{FF2B5EF4-FFF2-40B4-BE49-F238E27FC236}">
                <a16:creationId xmlns:a16="http://schemas.microsoft.com/office/drawing/2014/main" id="{1BCBE750-7048-686D-1472-52C53362D6CD}"/>
              </a:ext>
            </a:extLst>
          </p:cNvPr>
          <p:cNvSpPr txBox="1">
            <a:spLocks noGrp="1"/>
          </p:cNvSpPr>
          <p:nvPr>
            <p:ph type="sldNum" sz="quarter" idx="4"/>
          </p:nvPr>
        </p:nvSpPr>
        <p:spPr>
          <a:xfrm>
            <a:off x="11279332" y="6279294"/>
            <a:ext cx="518968" cy="241240"/>
          </a:xfrm>
        </p:spPr>
        <p:txBody>
          <a:bodyPr spcFirstLastPara="1" vert="horz" wrap="square" lIns="0" tIns="0" rIns="0" bIns="0" rtlCol="0" anchor="b" anchorCtr="0">
            <a:noAutofit/>
          </a:bodyPr>
          <a:lstStyle/>
          <a:p>
            <a:r>
              <a:rPr lang="en">
                <a:sym typeface="OpenAI Sans"/>
              </a:rPr>
              <a:t>3</a:t>
            </a:r>
            <a:endParaRPr lang="en" dirty="0">
              <a:sym typeface="OpenAI Sans"/>
            </a:endParaRPr>
          </a:p>
        </p:txBody>
      </p:sp>
      <p:sp>
        <p:nvSpPr>
          <p:cNvPr id="533" name="Google Shape;533;p58">
            <a:extLst>
              <a:ext uri="{FF2B5EF4-FFF2-40B4-BE49-F238E27FC236}">
                <a16:creationId xmlns:a16="http://schemas.microsoft.com/office/drawing/2014/main" id="{1B5D55CD-1C17-7CD8-F26A-2DD65B067687}"/>
              </a:ext>
            </a:extLst>
          </p:cNvPr>
          <p:cNvSpPr txBox="1">
            <a:spLocks noGrp="1"/>
          </p:cNvSpPr>
          <p:nvPr>
            <p:ph type="title"/>
          </p:nvPr>
        </p:nvSpPr>
        <p:spPr>
          <a:xfrm>
            <a:off x="393700" y="344008"/>
            <a:ext cx="11404600" cy="1047491"/>
          </a:xfrm>
        </p:spPr>
        <p:txBody>
          <a:bodyPr spcFirstLastPara="1" vert="horz" wrap="square" lIns="0" tIns="0" rIns="0" bIns="0" rtlCol="0" anchor="t" anchorCtr="0">
            <a:noAutofit/>
          </a:bodyPr>
          <a:lstStyle/>
          <a:p>
            <a:r>
              <a:rPr lang="en-US"/>
              <a:t>The 2D convolution operation</a:t>
            </a:r>
            <a:endParaRPr lang="en-US" dirty="0"/>
          </a:p>
        </p:txBody>
      </p:sp>
      <p:sp>
        <p:nvSpPr>
          <p:cNvPr id="7" name="Google Shape;534;p58">
            <a:extLst>
              <a:ext uri="{FF2B5EF4-FFF2-40B4-BE49-F238E27FC236}">
                <a16:creationId xmlns:a16="http://schemas.microsoft.com/office/drawing/2014/main" id="{3A923FEE-B8D2-CD3A-ABBD-21770B40AA24}"/>
              </a:ext>
            </a:extLst>
          </p:cNvPr>
          <p:cNvSpPr txBox="1">
            <a:spLocks/>
          </p:cNvSpPr>
          <p:nvPr/>
        </p:nvSpPr>
        <p:spPr>
          <a:xfrm>
            <a:off x="393700" y="2031999"/>
            <a:ext cx="5537200" cy="3534787"/>
          </a:xfrm>
          <a:prstGeom prst="rect">
            <a:avLst/>
          </a:prstGeom>
        </p:spPr>
        <p:txBody>
          <a:bodyPr spcFirstLastPara="1" vert="horz" wrap="square" lIns="0" tIns="0" rIns="0" bIns="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4000"/>
              </a:lnSpc>
              <a:spcBef>
                <a:spcPts val="0"/>
              </a:spcBef>
              <a:spcAft>
                <a:spcPts val="1200"/>
              </a:spcAft>
              <a:buNone/>
            </a:pPr>
            <a:r>
              <a:rPr lang="en-US">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A tiny worked example</a:t>
            </a:r>
          </a:p>
          <a:p>
            <a:pPr marL="0" indent="0">
              <a:lnSpc>
                <a:spcPct val="114000"/>
              </a:lnSpc>
              <a:spcBef>
                <a:spcPts val="0"/>
              </a:spcBef>
              <a:spcAft>
                <a:spcPts val="100"/>
              </a:spcAft>
              <a:buNone/>
            </a:pPr>
            <a:r>
              <a:rPr lang="en-US" sz="1600">
                <a:solidFill>
                  <a:srgbClr val="FFFFFF"/>
                </a:solidFill>
                <a:latin typeface="Consolas" panose="020B0609020204030204" pitchFamily="49" charset="0"/>
                <a:ea typeface="Helvetica Neue" panose="02000503000000020004" pitchFamily="2" charset="0"/>
                <a:cs typeface="Helvetica Neue" panose="02000503000000020004" pitchFamily="2" charset="0"/>
                <a:sym typeface="OpenAI Sans"/>
              </a:rPr>
              <a:t>Input             Filter</a:t>
            </a:r>
          </a:p>
          <a:p>
            <a:pPr marL="0" indent="0">
              <a:lnSpc>
                <a:spcPct val="114000"/>
              </a:lnSpc>
              <a:spcBef>
                <a:spcPts val="0"/>
              </a:spcBef>
              <a:spcAft>
                <a:spcPts val="100"/>
              </a:spcAft>
              <a:buNone/>
            </a:pPr>
            <a:r>
              <a:rPr lang="en-US" sz="1600">
                <a:solidFill>
                  <a:srgbClr val="FFFFFF"/>
                </a:solidFill>
                <a:latin typeface="Consolas" panose="020B0609020204030204" pitchFamily="49" charset="0"/>
                <a:ea typeface="Helvetica Neue" panose="02000503000000020004" pitchFamily="2" charset="0"/>
                <a:cs typeface="Helvetica Neue" panose="02000503000000020004" pitchFamily="2" charset="0"/>
                <a:sym typeface="OpenAI Sans"/>
              </a:rPr>
              <a:t>1  2  3           1   0</a:t>
            </a:r>
          </a:p>
          <a:p>
            <a:pPr marL="0" indent="0">
              <a:lnSpc>
                <a:spcPct val="114000"/>
              </a:lnSpc>
              <a:spcBef>
                <a:spcPts val="0"/>
              </a:spcBef>
              <a:spcAft>
                <a:spcPts val="100"/>
              </a:spcAft>
              <a:buNone/>
            </a:pPr>
            <a:r>
              <a:rPr lang="en-US" sz="1600">
                <a:solidFill>
                  <a:srgbClr val="FFFFFF"/>
                </a:solidFill>
                <a:latin typeface="Consolas" panose="020B0609020204030204" pitchFamily="49" charset="0"/>
                <a:ea typeface="Helvetica Neue" panose="02000503000000020004" pitchFamily="2" charset="0"/>
                <a:cs typeface="Helvetica Neue" panose="02000503000000020004" pitchFamily="2" charset="0"/>
                <a:sym typeface="OpenAI Sans"/>
              </a:rPr>
              <a:t>4  5  6           0  -1</a:t>
            </a:r>
          </a:p>
          <a:p>
            <a:pPr marL="0" indent="0">
              <a:lnSpc>
                <a:spcPct val="114000"/>
              </a:lnSpc>
              <a:spcBef>
                <a:spcPts val="0"/>
              </a:spcBef>
              <a:spcAft>
                <a:spcPts val="100"/>
              </a:spcAft>
              <a:buNone/>
            </a:pPr>
            <a:r>
              <a:rPr lang="en-US" sz="1600">
                <a:solidFill>
                  <a:srgbClr val="FFFFFF"/>
                </a:solidFill>
                <a:latin typeface="Consolas" panose="020B0609020204030204" pitchFamily="49" charset="0"/>
                <a:ea typeface="Helvetica Neue" panose="02000503000000020004" pitchFamily="2" charset="0"/>
                <a:cs typeface="Helvetica Neue" panose="02000503000000020004" pitchFamily="2" charset="0"/>
                <a:sym typeface="OpenAI Sans"/>
              </a:rPr>
              <a:t>7  8  9</a:t>
            </a:r>
          </a:p>
          <a:p>
            <a:pPr marL="0" indent="0">
              <a:lnSpc>
                <a:spcPct val="114000"/>
              </a:lnSpc>
              <a:spcBef>
                <a:spcPts val="0"/>
              </a:spcBef>
              <a:spcAft>
                <a:spcPts val="100"/>
              </a:spcAft>
              <a:buNone/>
            </a:pPr>
            <a:endParaRPr lang="en-US" sz="1600">
              <a:solidFill>
                <a:srgbClr val="FFFFFF"/>
              </a:solidFill>
              <a:latin typeface="Consolas" panose="020B0609020204030204" pitchFamily="49" charset="0"/>
              <a:ea typeface="Helvetica Neue" panose="02000503000000020004" pitchFamily="2" charset="0"/>
              <a:cs typeface="Helvetica Neue" panose="02000503000000020004" pitchFamily="2" charset="0"/>
              <a:sym typeface="OpenAI Sans"/>
            </a:endParaRPr>
          </a:p>
          <a:p>
            <a:pPr marL="0" indent="0">
              <a:lnSpc>
                <a:spcPct val="114000"/>
              </a:lnSpc>
              <a:spcBef>
                <a:spcPts val="0"/>
              </a:spcBef>
              <a:spcAft>
                <a:spcPts val="100"/>
              </a:spcAft>
              <a:buNone/>
            </a:pPr>
            <a:r>
              <a:rPr lang="en-US" sz="1600">
                <a:solidFill>
                  <a:srgbClr val="FFFFFF"/>
                </a:solidFill>
                <a:latin typeface="Consolas" panose="020B0609020204030204" pitchFamily="49" charset="0"/>
                <a:ea typeface="Helvetica Neue" panose="02000503000000020004" pitchFamily="2" charset="0"/>
                <a:cs typeface="Helvetica Neue" panose="02000503000000020004" pitchFamily="2" charset="0"/>
                <a:sym typeface="OpenAI Sans"/>
              </a:rPr>
              <a:t>Output</a:t>
            </a:r>
          </a:p>
          <a:p>
            <a:pPr marL="0" indent="0">
              <a:lnSpc>
                <a:spcPct val="114000"/>
              </a:lnSpc>
              <a:spcBef>
                <a:spcPts val="0"/>
              </a:spcBef>
              <a:spcAft>
                <a:spcPts val="100"/>
              </a:spcAft>
              <a:buNone/>
            </a:pPr>
            <a:r>
              <a:rPr lang="en-US" sz="1600">
                <a:solidFill>
                  <a:srgbClr val="FFFFFF"/>
                </a:solidFill>
                <a:latin typeface="Consolas" panose="020B0609020204030204" pitchFamily="49" charset="0"/>
                <a:ea typeface="Helvetica Neue" panose="02000503000000020004" pitchFamily="2" charset="0"/>
                <a:cs typeface="Helvetica Neue" panose="02000503000000020004" pitchFamily="2" charset="0"/>
                <a:sym typeface="OpenAI Sans"/>
              </a:rPr>
              <a:t>-4  -4</a:t>
            </a:r>
          </a:p>
          <a:p>
            <a:pPr marL="0" indent="0">
              <a:lnSpc>
                <a:spcPct val="114000"/>
              </a:lnSpc>
              <a:spcBef>
                <a:spcPts val="0"/>
              </a:spcBef>
              <a:spcAft>
                <a:spcPts val="100"/>
              </a:spcAft>
              <a:buNone/>
            </a:pPr>
            <a:r>
              <a:rPr lang="en-US" sz="1600">
                <a:solidFill>
                  <a:srgbClr val="FFFFFF"/>
                </a:solidFill>
                <a:latin typeface="Consolas" panose="020B0609020204030204" pitchFamily="49" charset="0"/>
                <a:ea typeface="Helvetica Neue" panose="02000503000000020004" pitchFamily="2" charset="0"/>
                <a:cs typeface="Helvetica Neue" panose="02000503000000020004" pitchFamily="2" charset="0"/>
                <a:sym typeface="OpenAI Sans"/>
              </a:rPr>
              <a:t>-4  -4</a:t>
            </a:r>
            <a:endParaRPr lang="en-US" sz="1600" dirty="0">
              <a:solidFill>
                <a:srgbClr val="FFFFFF"/>
              </a:solidFill>
              <a:latin typeface="Consolas" panose="020B0609020204030204" pitchFamily="49" charset="0"/>
              <a:ea typeface="Helvetica Neue" panose="02000503000000020004" pitchFamily="2" charset="0"/>
              <a:cs typeface="Helvetica Neue" panose="02000503000000020004" pitchFamily="2" charset="0"/>
              <a:sym typeface="OpenAI Sans"/>
            </a:endParaRPr>
          </a:p>
        </p:txBody>
      </p:sp>
      <p:sp>
        <p:nvSpPr>
          <p:cNvPr id="8" name="Content Placeholder 3">
            <a:extLst>
              <a:ext uri="{FF2B5EF4-FFF2-40B4-BE49-F238E27FC236}">
                <a16:creationId xmlns:a16="http://schemas.microsoft.com/office/drawing/2014/main" id="{2EE8F343-A95F-2AAA-FE9E-A6C31E298DF7}"/>
              </a:ext>
            </a:extLst>
          </p:cNvPr>
          <p:cNvSpPr txBox="1">
            <a:spLocks/>
          </p:cNvSpPr>
          <p:nvPr/>
        </p:nvSpPr>
        <p:spPr>
          <a:xfrm>
            <a:off x="6256618" y="2031999"/>
            <a:ext cx="5537200" cy="3534787"/>
          </a:xfrm>
          <a:prstGeom prst="rect">
            <a:avLst/>
          </a:prstGeom>
        </p:spPr>
        <p:txBody>
          <a:bodyPr lIns="0" tIns="0" rIns="0" bIns="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4000"/>
              </a:lnSpc>
              <a:spcBef>
                <a:spcPts val="0"/>
              </a:spcBef>
              <a:spcAft>
                <a:spcPts val="1200"/>
              </a:spcAft>
              <a:buNone/>
              <a:defRPr/>
            </a:pPr>
            <a:r>
              <a:rPr lang="en-US">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Multiply, sum, slide</a:t>
            </a:r>
          </a:p>
          <a:p>
            <a:pPr marL="0" indent="0">
              <a:lnSpc>
                <a:spcPct val="114000"/>
              </a:lnSpc>
              <a:spcBef>
                <a:spcPts val="0"/>
              </a:spcBef>
              <a:spcAft>
                <a:spcPts val="600"/>
              </a:spcAft>
              <a:buNone/>
              <a:defRPr/>
            </a:pPr>
            <a:r>
              <a:rPr lang="en-US" sz="1600">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Top left: 1*1 + 2*0 + 4*0 + 5*(-1)</a:t>
            </a:r>
          </a:p>
          <a:p>
            <a:pPr marL="0" indent="0">
              <a:lnSpc>
                <a:spcPct val="114000"/>
              </a:lnSpc>
              <a:spcBef>
                <a:spcPts val="0"/>
              </a:spcBef>
              <a:spcAft>
                <a:spcPts val="600"/>
              </a:spcAft>
              <a:buNone/>
              <a:defRPr/>
            </a:pPr>
            <a:r>
              <a:rPr lang="en-US" sz="1600">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The result is -4. Repeat at each position.</a:t>
            </a:r>
          </a:p>
          <a:p>
            <a:pPr marL="0" indent="0">
              <a:lnSpc>
                <a:spcPct val="114000"/>
              </a:lnSpc>
              <a:spcBef>
                <a:spcPts val="0"/>
              </a:spcBef>
              <a:spcAft>
                <a:spcPts val="600"/>
              </a:spcAft>
              <a:buNone/>
              <a:defRPr/>
            </a:pPr>
            <a:endParaRPr lang="en-US" sz="1600">
              <a:solidFill>
                <a:srgbClr val="FFFFFF"/>
              </a:solidFill>
              <a:latin typeface="Helvetica Neue" panose="02000503000000020004"/>
              <a:ea typeface="Helvetica Neue" panose="02000503000000020004" pitchFamily="2" charset="0"/>
              <a:cs typeface="Helvetica Neue" panose="02000503000000020004" pitchFamily="2" charset="0"/>
              <a:sym typeface="OpenAI Sans"/>
            </a:endParaRPr>
          </a:p>
          <a:p>
            <a:pPr marL="0" indent="0">
              <a:lnSpc>
                <a:spcPct val="114000"/>
              </a:lnSpc>
              <a:spcBef>
                <a:spcPts val="0"/>
              </a:spcBef>
              <a:spcAft>
                <a:spcPts val="600"/>
              </a:spcAft>
              <a:buNone/>
              <a:defRPr/>
            </a:pPr>
            <a:r>
              <a:rPr lang="en-US" sz="1600">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Our 3x3 CNN layer</a:t>
            </a:r>
          </a:p>
          <a:p>
            <a:pPr marL="0" indent="0">
              <a:lnSpc>
                <a:spcPct val="114000"/>
              </a:lnSpc>
              <a:spcBef>
                <a:spcPts val="0"/>
              </a:spcBef>
              <a:spcAft>
                <a:spcPts val="600"/>
              </a:spcAft>
              <a:buNone/>
              <a:defRPr/>
            </a:pPr>
            <a:r>
              <a:rPr lang="en-US" sz="1600">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28x28 input becomes 26x26 output.</a:t>
            </a:r>
          </a:p>
          <a:p>
            <a:pPr marL="0" indent="0">
              <a:lnSpc>
                <a:spcPct val="114000"/>
              </a:lnSpc>
              <a:spcBef>
                <a:spcPts val="0"/>
              </a:spcBef>
              <a:spcAft>
                <a:spcPts val="600"/>
              </a:spcAft>
              <a:buNone/>
              <a:defRPr/>
            </a:pPr>
            <a:r>
              <a:rPr lang="en-US" sz="1600">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Four filters produce 2,704 values.</a:t>
            </a:r>
          </a:p>
          <a:p>
            <a:pPr marL="0" indent="0">
              <a:lnSpc>
                <a:spcPct val="114000"/>
              </a:lnSpc>
              <a:spcBef>
                <a:spcPts val="0"/>
              </a:spcBef>
              <a:spcAft>
                <a:spcPts val="600"/>
              </a:spcAft>
              <a:buNone/>
              <a:defRPr/>
            </a:pPr>
            <a:r>
              <a:rPr lang="en-US" sz="1600">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Each image requires 24,336 MACs.</a:t>
            </a:r>
            <a:endParaRPr lang="en-US" sz="1600" dirty="0">
              <a:solidFill>
                <a:srgbClr val="FFFFFF"/>
              </a:solidFill>
              <a:latin typeface="Helvetica Neue" panose="02000503000000020004"/>
              <a:ea typeface="Helvetica Neue" panose="02000503000000020004" pitchFamily="2" charset="0"/>
              <a:cs typeface="Helvetica Neue" panose="02000503000000020004" pitchFamily="2" charset="0"/>
              <a:sym typeface="OpenAI Sans"/>
            </a:endParaRPr>
          </a:p>
        </p:txBody>
      </p:sp>
    </p:spTree>
    <p:extLst>
      <p:ext uri="{BB962C8B-B14F-4D97-AF65-F5344CB8AC3E}">
        <p14:creationId xmlns:p14="http://schemas.microsoft.com/office/powerpoint/2010/main" val="100403366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531">
          <a:extLst>
            <a:ext uri="{FF2B5EF4-FFF2-40B4-BE49-F238E27FC236}">
              <a16:creationId xmlns:a16="http://schemas.microsoft.com/office/drawing/2014/main" id="{20E7F48D-6160-4C7B-F1E4-6DA13560757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39EA4C82-C623-0196-4A95-876ADF5DEE92}"/>
              </a:ext>
            </a:extLst>
          </p:cNvPr>
          <p:cNvSpPr>
            <a:spLocks noGrp="1"/>
          </p:cNvSpPr>
          <p:nvPr>
            <p:ph type="ftr" sz="quarter" idx="3"/>
          </p:nvPr>
        </p:nvSpPr>
        <p:spPr>
          <a:xfrm>
            <a:off x="393700" y="6279952"/>
            <a:ext cx="3568700" cy="241240"/>
          </a:xfrm>
        </p:spPr>
        <p:txBody>
          <a:bodyPr/>
          <a:lstStyle/>
          <a:p>
            <a:endParaRPr lang="en-US" dirty="0"/>
          </a:p>
        </p:txBody>
      </p:sp>
      <p:sp>
        <p:nvSpPr>
          <p:cNvPr id="532" name="Google Shape;532;p58">
            <a:extLst>
              <a:ext uri="{FF2B5EF4-FFF2-40B4-BE49-F238E27FC236}">
                <a16:creationId xmlns:a16="http://schemas.microsoft.com/office/drawing/2014/main" id="{1BCBE750-7048-686D-1472-52C53362D6CD}"/>
              </a:ext>
            </a:extLst>
          </p:cNvPr>
          <p:cNvSpPr txBox="1">
            <a:spLocks noGrp="1"/>
          </p:cNvSpPr>
          <p:nvPr>
            <p:ph type="sldNum" sz="quarter" idx="4"/>
          </p:nvPr>
        </p:nvSpPr>
        <p:spPr>
          <a:xfrm>
            <a:off x="11279332" y="6279294"/>
            <a:ext cx="518968" cy="241240"/>
          </a:xfrm>
        </p:spPr>
        <p:txBody>
          <a:bodyPr spcFirstLastPara="1" vert="horz" wrap="square" lIns="0" tIns="0" rIns="0" bIns="0" rtlCol="0" anchor="b" anchorCtr="0">
            <a:noAutofit/>
          </a:bodyPr>
          <a:lstStyle/>
          <a:p>
            <a:r>
              <a:rPr lang="en">
                <a:sym typeface="OpenAI Sans"/>
              </a:rPr>
              <a:t>4</a:t>
            </a:r>
            <a:endParaRPr lang="en" dirty="0">
              <a:sym typeface="OpenAI Sans"/>
            </a:endParaRPr>
          </a:p>
        </p:txBody>
      </p:sp>
      <p:sp>
        <p:nvSpPr>
          <p:cNvPr id="533" name="Google Shape;533;p58">
            <a:extLst>
              <a:ext uri="{FF2B5EF4-FFF2-40B4-BE49-F238E27FC236}">
                <a16:creationId xmlns:a16="http://schemas.microsoft.com/office/drawing/2014/main" id="{1B5D55CD-1C17-7CD8-F26A-2DD65B067687}"/>
              </a:ext>
            </a:extLst>
          </p:cNvPr>
          <p:cNvSpPr txBox="1">
            <a:spLocks noGrp="1"/>
          </p:cNvSpPr>
          <p:nvPr>
            <p:ph type="title"/>
          </p:nvPr>
        </p:nvSpPr>
        <p:spPr>
          <a:xfrm>
            <a:off x="393700" y="344008"/>
            <a:ext cx="11404600" cy="1047491"/>
          </a:xfrm>
        </p:spPr>
        <p:txBody>
          <a:bodyPr spcFirstLastPara="1" vert="horz" wrap="square" lIns="0" tIns="0" rIns="0" bIns="0" rtlCol="0" anchor="t" anchorCtr="0">
            <a:noAutofit/>
          </a:bodyPr>
          <a:lstStyle/>
          <a:p>
            <a:r>
              <a:rPr lang="en-US"/>
              <a:t>The CPU implementation</a:t>
            </a:r>
            <a:endParaRPr lang="en-US" dirty="0"/>
          </a:p>
        </p:txBody>
      </p:sp>
      <p:sp>
        <p:nvSpPr>
          <p:cNvPr id="7" name="Google Shape;534;p58">
            <a:extLst>
              <a:ext uri="{FF2B5EF4-FFF2-40B4-BE49-F238E27FC236}">
                <a16:creationId xmlns:a16="http://schemas.microsoft.com/office/drawing/2014/main" id="{3A923FEE-B8D2-CD3A-ABBD-21770B40AA24}"/>
              </a:ext>
            </a:extLst>
          </p:cNvPr>
          <p:cNvSpPr txBox="1">
            <a:spLocks/>
          </p:cNvSpPr>
          <p:nvPr/>
        </p:nvSpPr>
        <p:spPr>
          <a:xfrm>
            <a:off x="393700" y="2031999"/>
            <a:ext cx="5537200" cy="3534787"/>
          </a:xfrm>
          <a:prstGeom prst="rect">
            <a:avLst/>
          </a:prstGeom>
        </p:spPr>
        <p:txBody>
          <a:bodyPr spcFirstLastPara="1" vert="horz" wrap="square" lIns="0" tIns="0" rIns="0" bIns="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4000"/>
              </a:lnSpc>
              <a:spcBef>
                <a:spcPts val="0"/>
              </a:spcBef>
              <a:spcAft>
                <a:spcPts val="1200"/>
              </a:spcAft>
              <a:buNone/>
            </a:pPr>
            <a:r>
              <a:rPr lang="en-US">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Explicit loop structure</a:t>
            </a:r>
          </a:p>
          <a:p>
            <a:pPr marL="0" indent="0">
              <a:lnSpc>
                <a:spcPct val="114000"/>
              </a:lnSpc>
              <a:spcBef>
                <a:spcPts val="0"/>
              </a:spcBef>
              <a:spcAft>
                <a:spcPts val="100"/>
              </a:spcAft>
              <a:buNone/>
            </a:pPr>
            <a:r>
              <a:rPr lang="en-US" sz="1600">
                <a:solidFill>
                  <a:srgbClr val="FFFFFF"/>
                </a:solidFill>
                <a:latin typeface="Consolas" panose="020B0609020204030204" pitchFamily="49" charset="0"/>
                <a:ea typeface="Helvetica Neue" panose="02000503000000020004" pitchFamily="2" charset="0"/>
                <a:cs typeface="Helvetica Neue" panose="02000503000000020004" pitchFamily="2" charset="0"/>
                <a:sym typeface="OpenAI Sans"/>
              </a:rPr>
              <a:t>for each output position:</a:t>
            </a:r>
          </a:p>
          <a:p>
            <a:pPr marL="0" indent="0">
              <a:lnSpc>
                <a:spcPct val="114000"/>
              </a:lnSpc>
              <a:spcBef>
                <a:spcPts val="0"/>
              </a:spcBef>
              <a:spcAft>
                <a:spcPts val="100"/>
              </a:spcAft>
              <a:buNone/>
            </a:pPr>
            <a:r>
              <a:rPr lang="en-US" sz="1600">
                <a:solidFill>
                  <a:srgbClr val="FFFFFF"/>
                </a:solidFill>
                <a:latin typeface="Consolas" panose="020B0609020204030204" pitchFamily="49" charset="0"/>
                <a:ea typeface="Helvetica Neue" panose="02000503000000020004" pitchFamily="2" charset="0"/>
                <a:cs typeface="Helvetica Neue" panose="02000503000000020004" pitchFamily="2" charset="0"/>
                <a:sym typeface="OpenAI Sans"/>
              </a:rPr>
              <a:t>    sum = bias[filter]</a:t>
            </a:r>
          </a:p>
          <a:p>
            <a:pPr marL="0" indent="0">
              <a:lnSpc>
                <a:spcPct val="114000"/>
              </a:lnSpc>
              <a:spcBef>
                <a:spcPts val="0"/>
              </a:spcBef>
              <a:spcAft>
                <a:spcPts val="100"/>
              </a:spcAft>
              <a:buNone/>
            </a:pPr>
            <a:r>
              <a:rPr lang="en-US" sz="1600">
                <a:solidFill>
                  <a:srgbClr val="FFFFFF"/>
                </a:solidFill>
                <a:latin typeface="Consolas" panose="020B0609020204030204" pitchFamily="49" charset="0"/>
                <a:ea typeface="Helvetica Neue" panose="02000503000000020004" pitchFamily="2" charset="0"/>
                <a:cs typeface="Helvetica Neue" panose="02000503000000020004" pitchFamily="2" charset="0"/>
                <a:sym typeface="OpenAI Sans"/>
              </a:rPr>
              <a:t>    for each input channel:</a:t>
            </a:r>
          </a:p>
          <a:p>
            <a:pPr marL="0" indent="0">
              <a:lnSpc>
                <a:spcPct val="114000"/>
              </a:lnSpc>
              <a:spcBef>
                <a:spcPts val="0"/>
              </a:spcBef>
              <a:spcAft>
                <a:spcPts val="100"/>
              </a:spcAft>
              <a:buNone/>
            </a:pPr>
            <a:r>
              <a:rPr lang="en-US" sz="1600">
                <a:solidFill>
                  <a:srgbClr val="FFFFFF"/>
                </a:solidFill>
                <a:latin typeface="Consolas" panose="020B0609020204030204" pitchFamily="49" charset="0"/>
                <a:ea typeface="Helvetica Neue" panose="02000503000000020004" pitchFamily="2" charset="0"/>
                <a:cs typeface="Helvetica Neue" panose="02000503000000020004" pitchFamily="2" charset="0"/>
                <a:sym typeface="OpenAI Sans"/>
              </a:rPr>
              <a:t>        for each filter row:</a:t>
            </a:r>
          </a:p>
          <a:p>
            <a:pPr marL="0" indent="0">
              <a:lnSpc>
                <a:spcPct val="114000"/>
              </a:lnSpc>
              <a:spcBef>
                <a:spcPts val="0"/>
              </a:spcBef>
              <a:spcAft>
                <a:spcPts val="100"/>
              </a:spcAft>
              <a:buNone/>
            </a:pPr>
            <a:r>
              <a:rPr lang="en-US" sz="1600">
                <a:solidFill>
                  <a:srgbClr val="FFFFFF"/>
                </a:solidFill>
                <a:latin typeface="Consolas" panose="020B0609020204030204" pitchFamily="49" charset="0"/>
                <a:ea typeface="Helvetica Neue" panose="02000503000000020004" pitchFamily="2" charset="0"/>
                <a:cs typeface="Helvetica Neue" panose="02000503000000020004" pitchFamily="2" charset="0"/>
                <a:sym typeface="OpenAI Sans"/>
              </a:rPr>
              <a:t>            for each filter column:</a:t>
            </a:r>
          </a:p>
          <a:p>
            <a:pPr marL="0" indent="0">
              <a:lnSpc>
                <a:spcPct val="114000"/>
              </a:lnSpc>
              <a:spcBef>
                <a:spcPts val="0"/>
              </a:spcBef>
              <a:spcAft>
                <a:spcPts val="100"/>
              </a:spcAft>
              <a:buNone/>
            </a:pPr>
            <a:r>
              <a:rPr lang="en-US" sz="1600">
                <a:solidFill>
                  <a:srgbClr val="FFFFFF"/>
                </a:solidFill>
                <a:latin typeface="Consolas" panose="020B0609020204030204" pitchFamily="49" charset="0"/>
                <a:ea typeface="Helvetica Neue" panose="02000503000000020004" pitchFamily="2" charset="0"/>
                <a:cs typeface="Helvetica Neue" panose="02000503000000020004" pitchFamily="2" charset="0"/>
                <a:sym typeface="OpenAI Sans"/>
              </a:rPr>
              <a:t>                sum += input * weight</a:t>
            </a:r>
          </a:p>
          <a:p>
            <a:pPr marL="0" indent="0">
              <a:lnSpc>
                <a:spcPct val="114000"/>
              </a:lnSpc>
              <a:spcBef>
                <a:spcPts val="0"/>
              </a:spcBef>
              <a:spcAft>
                <a:spcPts val="100"/>
              </a:spcAft>
              <a:buNone/>
            </a:pPr>
            <a:r>
              <a:rPr lang="en-US" sz="1600">
                <a:solidFill>
                  <a:srgbClr val="FFFFFF"/>
                </a:solidFill>
                <a:latin typeface="Consolas" panose="020B0609020204030204" pitchFamily="49" charset="0"/>
                <a:ea typeface="Helvetica Neue" panose="02000503000000020004" pitchFamily="2" charset="0"/>
                <a:cs typeface="Helvetica Neue" panose="02000503000000020004" pitchFamily="2" charset="0"/>
                <a:sym typeface="OpenAI Sans"/>
              </a:rPr>
              <a:t>    output = sum</a:t>
            </a:r>
            <a:endParaRPr lang="en-US" sz="1600" dirty="0">
              <a:solidFill>
                <a:srgbClr val="FFFFFF"/>
              </a:solidFill>
              <a:latin typeface="Consolas" panose="020B0609020204030204" pitchFamily="49" charset="0"/>
              <a:ea typeface="Helvetica Neue" panose="02000503000000020004" pitchFamily="2" charset="0"/>
              <a:cs typeface="Helvetica Neue" panose="02000503000000020004" pitchFamily="2" charset="0"/>
              <a:sym typeface="OpenAI Sans"/>
            </a:endParaRPr>
          </a:p>
        </p:txBody>
      </p:sp>
      <p:sp>
        <p:nvSpPr>
          <p:cNvPr id="8" name="Content Placeholder 3">
            <a:extLst>
              <a:ext uri="{FF2B5EF4-FFF2-40B4-BE49-F238E27FC236}">
                <a16:creationId xmlns:a16="http://schemas.microsoft.com/office/drawing/2014/main" id="{2EE8F343-A95F-2AAA-FE9E-A6C31E298DF7}"/>
              </a:ext>
            </a:extLst>
          </p:cNvPr>
          <p:cNvSpPr txBox="1">
            <a:spLocks/>
          </p:cNvSpPr>
          <p:nvPr/>
        </p:nvSpPr>
        <p:spPr>
          <a:xfrm>
            <a:off x="6256618" y="2031999"/>
            <a:ext cx="5537200" cy="3534787"/>
          </a:xfrm>
          <a:prstGeom prst="rect">
            <a:avLst/>
          </a:prstGeom>
        </p:spPr>
        <p:txBody>
          <a:bodyPr lIns="0" tIns="0" rIns="0" bIns="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4000"/>
              </a:lnSpc>
              <a:spcBef>
                <a:spcPts val="0"/>
              </a:spcBef>
              <a:spcAft>
                <a:spcPts val="1200"/>
              </a:spcAft>
              <a:buNone/>
              <a:defRPr/>
            </a:pPr>
            <a:r>
              <a:rPr lang="en-US">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Serial and OpenMP paths</a:t>
            </a:r>
          </a:p>
          <a:p>
            <a:pPr marL="0" indent="0">
              <a:lnSpc>
                <a:spcPct val="114000"/>
              </a:lnSpc>
              <a:spcBef>
                <a:spcPts val="0"/>
              </a:spcBef>
              <a:spcAft>
                <a:spcPts val="600"/>
              </a:spcAft>
              <a:buNone/>
              <a:defRPr/>
            </a:pPr>
            <a:r>
              <a:rPr lang="en-US" sz="1600">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C++ computes the same weighted sums.</a:t>
            </a:r>
          </a:p>
          <a:p>
            <a:pPr marL="0" indent="0">
              <a:lnSpc>
                <a:spcPct val="114000"/>
              </a:lnSpc>
              <a:spcBef>
                <a:spcPts val="0"/>
              </a:spcBef>
              <a:spcAft>
                <a:spcPts val="600"/>
              </a:spcAft>
              <a:buNone/>
              <a:defRPr/>
            </a:pPr>
            <a:r>
              <a:rPr lang="en-US" sz="1600">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One worker is the reference baseline.</a:t>
            </a:r>
          </a:p>
          <a:p>
            <a:pPr marL="0" indent="0">
              <a:lnSpc>
                <a:spcPct val="114000"/>
              </a:lnSpc>
              <a:spcBef>
                <a:spcPts val="0"/>
              </a:spcBef>
              <a:spcAft>
                <a:spcPts val="600"/>
              </a:spcAft>
              <a:buNone/>
              <a:defRPr/>
            </a:pPr>
            <a:r>
              <a:rPr lang="en-US" sz="1600">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OpenMP distributes independent outputs</a:t>
            </a:r>
          </a:p>
          <a:p>
            <a:pPr marL="0" indent="0">
              <a:lnSpc>
                <a:spcPct val="114000"/>
              </a:lnSpc>
              <a:spcBef>
                <a:spcPts val="0"/>
              </a:spcBef>
              <a:spcAft>
                <a:spcPts val="600"/>
              </a:spcAft>
              <a:buNone/>
              <a:defRPr/>
            </a:pPr>
            <a:r>
              <a:rPr lang="en-US" sz="1600">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across four workers.</a:t>
            </a:r>
          </a:p>
          <a:p>
            <a:pPr marL="0" indent="0">
              <a:lnSpc>
                <a:spcPct val="114000"/>
              </a:lnSpc>
              <a:spcBef>
                <a:spcPts val="0"/>
              </a:spcBef>
              <a:spcAft>
                <a:spcPts val="600"/>
              </a:spcAft>
              <a:buNone/>
              <a:defRPr/>
            </a:pPr>
            <a:endParaRPr lang="en-US" sz="1600">
              <a:solidFill>
                <a:srgbClr val="FFFFFF"/>
              </a:solidFill>
              <a:latin typeface="Helvetica Neue" panose="02000503000000020004"/>
              <a:ea typeface="Helvetica Neue" panose="02000503000000020004" pitchFamily="2" charset="0"/>
              <a:cs typeface="Helvetica Neue" panose="02000503000000020004" pitchFamily="2" charset="0"/>
              <a:sym typeface="OpenAI Sans"/>
            </a:endParaRPr>
          </a:p>
          <a:p>
            <a:pPr marL="0" indent="0">
              <a:lnSpc>
                <a:spcPct val="114000"/>
              </a:lnSpc>
              <a:spcBef>
                <a:spcPts val="0"/>
              </a:spcBef>
              <a:spcAft>
                <a:spcPts val="600"/>
              </a:spcAft>
              <a:buNone/>
              <a:defRPr/>
            </a:pPr>
            <a:r>
              <a:rPr lang="en-US" sz="1600">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Backward computes weight, bias and</a:t>
            </a:r>
          </a:p>
          <a:p>
            <a:pPr marL="0" indent="0">
              <a:lnSpc>
                <a:spcPct val="114000"/>
              </a:lnSpc>
              <a:spcBef>
                <a:spcPts val="0"/>
              </a:spcBef>
              <a:spcAft>
                <a:spcPts val="600"/>
              </a:spcAft>
              <a:buNone/>
              <a:defRPr/>
            </a:pPr>
            <a:r>
              <a:rPr lang="en-US" sz="1600">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input gradients with independent reductions.</a:t>
            </a:r>
            <a:endParaRPr lang="en-US" sz="1600" dirty="0">
              <a:solidFill>
                <a:srgbClr val="FFFFFF"/>
              </a:solidFill>
              <a:latin typeface="Helvetica Neue" panose="02000503000000020004"/>
              <a:ea typeface="Helvetica Neue" panose="02000503000000020004" pitchFamily="2" charset="0"/>
              <a:cs typeface="Helvetica Neue" panose="02000503000000020004" pitchFamily="2" charset="0"/>
              <a:sym typeface="OpenAI Sans"/>
            </a:endParaRPr>
          </a:p>
        </p:txBody>
      </p:sp>
    </p:spTree>
    <p:extLst>
      <p:ext uri="{BB962C8B-B14F-4D97-AF65-F5344CB8AC3E}">
        <p14:creationId xmlns:p14="http://schemas.microsoft.com/office/powerpoint/2010/main" val="31672967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531">
          <a:extLst>
            <a:ext uri="{FF2B5EF4-FFF2-40B4-BE49-F238E27FC236}">
              <a16:creationId xmlns:a16="http://schemas.microsoft.com/office/drawing/2014/main" id="{7BF6385B-F2B3-709D-00BC-0FED7171DE20}"/>
            </a:ext>
          </a:extLst>
        </p:cNvPr>
        <p:cNvGrpSpPr/>
        <p:nvPr/>
      </p:nvGrpSpPr>
      <p:grpSpPr>
        <a:xfrm>
          <a:off x="0" y="0"/>
          <a:ext cx="0" cy="0"/>
          <a:chOff x="0" y="0"/>
          <a:chExt cx="0" cy="0"/>
        </a:xfrm>
      </p:grpSpPr>
      <p:sp>
        <p:nvSpPr>
          <p:cNvPr id="4" name="Footer Placeholder 3">
            <a:extLst>
              <a:ext uri="{FF2B5EF4-FFF2-40B4-BE49-F238E27FC236}">
                <a16:creationId xmlns:a16="http://schemas.microsoft.com/office/drawing/2014/main" id="{ADE525C3-6A65-3281-3715-AE2CF21E370C}"/>
              </a:ext>
            </a:extLst>
          </p:cNvPr>
          <p:cNvSpPr>
            <a:spLocks noGrp="1"/>
          </p:cNvSpPr>
          <p:nvPr>
            <p:ph type="ftr" sz="quarter" idx="3"/>
          </p:nvPr>
        </p:nvSpPr>
        <p:spPr>
          <a:xfrm>
            <a:off x="393700" y="6279952"/>
            <a:ext cx="3568700" cy="241240"/>
          </a:xfrm>
        </p:spPr>
        <p:txBody>
          <a:bodyPr/>
          <a:lstStyle/>
          <a:p>
            <a:endParaRPr lang="en-US" dirty="0"/>
          </a:p>
        </p:txBody>
      </p:sp>
      <p:sp>
        <p:nvSpPr>
          <p:cNvPr id="532" name="Google Shape;532;p58">
            <a:extLst>
              <a:ext uri="{FF2B5EF4-FFF2-40B4-BE49-F238E27FC236}">
                <a16:creationId xmlns:a16="http://schemas.microsoft.com/office/drawing/2014/main" id="{855F9338-C523-361B-6D81-B9AAD76BBB65}"/>
              </a:ext>
            </a:extLst>
          </p:cNvPr>
          <p:cNvSpPr txBox="1">
            <a:spLocks noGrp="1"/>
          </p:cNvSpPr>
          <p:nvPr>
            <p:ph type="sldNum" sz="quarter" idx="4"/>
          </p:nvPr>
        </p:nvSpPr>
        <p:spPr>
          <a:xfrm>
            <a:off x="11279332" y="6279294"/>
            <a:ext cx="518968" cy="241240"/>
          </a:xfrm>
        </p:spPr>
        <p:txBody>
          <a:bodyPr spcFirstLastPara="1" vert="horz" wrap="square" lIns="0" tIns="0" rIns="0" bIns="0" rtlCol="0" anchor="b" anchorCtr="0">
            <a:noAutofit/>
          </a:bodyPr>
          <a:lstStyle/>
          <a:p>
            <a:r>
              <a:rPr lang="en">
                <a:sym typeface="OpenAI Sans"/>
              </a:rPr>
              <a:t>5</a:t>
            </a:r>
            <a:endParaRPr lang="en" dirty="0">
              <a:sym typeface="OpenAI Sans"/>
            </a:endParaRPr>
          </a:p>
        </p:txBody>
      </p:sp>
      <p:sp>
        <p:nvSpPr>
          <p:cNvPr id="533" name="Google Shape;533;p58">
            <a:extLst>
              <a:ext uri="{FF2B5EF4-FFF2-40B4-BE49-F238E27FC236}">
                <a16:creationId xmlns:a16="http://schemas.microsoft.com/office/drawing/2014/main" id="{509200BE-15E5-FE37-6AFE-A51B10E1A9BC}"/>
              </a:ext>
            </a:extLst>
          </p:cNvPr>
          <p:cNvSpPr txBox="1">
            <a:spLocks noGrp="1"/>
          </p:cNvSpPr>
          <p:nvPr>
            <p:ph type="title"/>
          </p:nvPr>
        </p:nvSpPr>
        <p:spPr>
          <a:xfrm>
            <a:off x="393700" y="344008"/>
            <a:ext cx="11404600" cy="1047491"/>
          </a:xfrm>
        </p:spPr>
        <p:txBody>
          <a:bodyPr spcFirstLastPara="1" vert="horz" wrap="square" lIns="0" tIns="0" rIns="0" bIns="0" rtlCol="0" anchor="t" anchorCtr="0">
            <a:noAutofit/>
          </a:bodyPr>
          <a:lstStyle/>
          <a:p>
            <a:r>
              <a:rPr lang="en-US"/>
              <a:t>CUDA execution for convolution</a:t>
            </a:r>
            <a:endParaRPr lang="en-US" dirty="0"/>
          </a:p>
        </p:txBody>
      </p:sp>
      <p:sp>
        <p:nvSpPr>
          <p:cNvPr id="534" name="Google Shape;534;p58">
            <a:extLst>
              <a:ext uri="{FF2B5EF4-FFF2-40B4-BE49-F238E27FC236}">
                <a16:creationId xmlns:a16="http://schemas.microsoft.com/office/drawing/2014/main" id="{94D83715-924E-FD86-6E33-16B595E7DE71}"/>
              </a:ext>
            </a:extLst>
          </p:cNvPr>
          <p:cNvSpPr txBox="1">
            <a:spLocks noGrp="1"/>
          </p:cNvSpPr>
          <p:nvPr>
            <p:ph idx="4294967295"/>
          </p:nvPr>
        </p:nvSpPr>
        <p:spPr>
          <a:xfrm>
            <a:off x="393700" y="3365500"/>
            <a:ext cx="3568700" cy="2628900"/>
          </a:xfrm>
          <a:prstGeom prst="rect">
            <a:avLst/>
          </a:prstGeom>
        </p:spPr>
        <p:txBody>
          <a:bodyPr spcFirstLastPara="1" vert="horz" wrap="square" lIns="0" tIns="0" rIns="0" bIns="0" rtlCol="0" anchor="t" anchorCtr="0">
            <a:noAutofit/>
          </a:bodyPr>
          <a:lstStyle/>
          <a:p>
            <a:pPr marL="0" indent="0">
              <a:lnSpc>
                <a:spcPct val="114000"/>
              </a:lnSpc>
              <a:spcBef>
                <a:spcPts val="0"/>
              </a:spcBef>
              <a:spcAft>
                <a:spcPts val="1200"/>
              </a:spcAft>
              <a:buNone/>
            </a:pPr>
            <a:r>
              <a:rPr lang="en-US" sz="1800">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Thread</a:t>
            </a:r>
          </a:p>
          <a:p>
            <a:pPr marL="0" indent="0">
              <a:lnSpc>
                <a:spcPct val="114000"/>
              </a:lnSpc>
              <a:spcBef>
                <a:spcPts val="0"/>
              </a:spcBef>
              <a:spcAft>
                <a:spcPts val="600"/>
              </a:spcAft>
              <a:buNone/>
            </a:pPr>
            <a:r>
              <a:rPr lang="en-US" sz="1800">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One thread computes one output value.</a:t>
            </a:r>
          </a:p>
          <a:p>
            <a:pPr marL="0" indent="0">
              <a:lnSpc>
                <a:spcPct val="114000"/>
              </a:lnSpc>
              <a:spcBef>
                <a:spcPts val="0"/>
              </a:spcBef>
              <a:spcAft>
                <a:spcPts val="600"/>
              </a:spcAft>
              <a:buNone/>
            </a:pPr>
            <a:r>
              <a:rPr lang="en-US" sz="1800">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A register holds its running sum.</a:t>
            </a:r>
          </a:p>
          <a:p>
            <a:pPr marL="0" indent="0">
              <a:lnSpc>
                <a:spcPct val="114000"/>
              </a:lnSpc>
              <a:spcBef>
                <a:spcPts val="0"/>
              </a:spcBef>
              <a:spcAft>
                <a:spcPts val="600"/>
              </a:spcAft>
              <a:buNone/>
            </a:pPr>
            <a:r>
              <a:rPr lang="en-US" sz="1800">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Threads run in warps of 32.</a:t>
            </a:r>
            <a:endParaRPr sz="1800" dirty="0">
              <a:solidFill>
                <a:srgbClr val="FFFFFF"/>
              </a:solidFill>
              <a:latin typeface="Helvetica Neue" panose="02000503000000020004"/>
              <a:ea typeface="Helvetica Neue" panose="02000503000000020004" pitchFamily="2" charset="0"/>
              <a:cs typeface="Helvetica Neue" panose="02000503000000020004" pitchFamily="2" charset="0"/>
              <a:sym typeface="OpenAI Sans"/>
            </a:endParaRPr>
          </a:p>
        </p:txBody>
      </p:sp>
      <p:sp>
        <p:nvSpPr>
          <p:cNvPr id="2" name="Content Placeholder 1">
            <a:extLst>
              <a:ext uri="{FF2B5EF4-FFF2-40B4-BE49-F238E27FC236}">
                <a16:creationId xmlns:a16="http://schemas.microsoft.com/office/drawing/2014/main" id="{49D4B6C8-289F-F081-BCAE-309463E70BA1}"/>
              </a:ext>
            </a:extLst>
          </p:cNvPr>
          <p:cNvSpPr>
            <a:spLocks noGrp="1"/>
          </p:cNvSpPr>
          <p:nvPr>
            <p:ph idx="4294967295"/>
          </p:nvPr>
        </p:nvSpPr>
        <p:spPr>
          <a:xfrm>
            <a:off x="8229600" y="3365500"/>
            <a:ext cx="3568700" cy="2628900"/>
          </a:xfrm>
        </p:spPr>
        <p:txBody>
          <a:bodyPr>
            <a:noAutofit/>
          </a:bodyPr>
          <a:lstStyle/>
          <a:p>
            <a:pPr marL="0" marR="0" lvl="0" indent="0" algn="l" defTabSz="914400" rtl="0" eaLnBrk="1" fontAlgn="auto" latinLnBrk="0" hangingPunct="1">
              <a:lnSpc>
                <a:spcPct val="114000"/>
              </a:lnSpc>
              <a:spcBef>
                <a:spcPts val="0"/>
              </a:spcBef>
              <a:spcAft>
                <a:spcPts val="1200"/>
              </a:spcAft>
              <a:buClrTx/>
              <a:buSzTx/>
              <a:buNone/>
              <a:tabLst/>
              <a:defRPr/>
            </a:pPr>
            <a:r>
              <a:rPr kumimoji="0" lang="en-US" sz="1800" i="0" u="none" strike="noStrike" kern="1200" cap="none" spc="0" normalizeH="0" baseline="0" noProof="0">
                <a:ln>
                  <a:noFill/>
                </a:ln>
                <a:solidFill>
                  <a:srgbClr val="FFFFFF"/>
                </a:solidFill>
                <a:effectLst/>
                <a:uLnTx/>
                <a:uFillTx/>
                <a:latin typeface="Helvetica Neue" panose="02000503000000020004"/>
                <a:ea typeface="Helvetica Neue" panose="02000503000000020004" pitchFamily="2" charset="0"/>
                <a:cs typeface="Helvetica Neue" panose="02000503000000020004" pitchFamily="2" charset="0"/>
                <a:sym typeface="OpenAI Sans"/>
              </a:rPr>
              <a:t>Grid</a:t>
            </a:r>
          </a:p>
          <a:p>
            <a:pPr marL="0" marR="0" lvl="0" indent="0" algn="l" defTabSz="914400" rtl="0" eaLnBrk="1" fontAlgn="auto" latinLnBrk="0" hangingPunct="1">
              <a:lnSpc>
                <a:spcPct val="114000"/>
              </a:lnSpc>
              <a:spcBef>
                <a:spcPts val="0"/>
              </a:spcBef>
              <a:spcAft>
                <a:spcPts val="600"/>
              </a:spcAft>
              <a:buClrTx/>
              <a:buSzTx/>
              <a:buNone/>
              <a:tabLst/>
              <a:defRPr/>
            </a:pPr>
            <a:r>
              <a:rPr kumimoji="0" lang="en-US" sz="1800" i="0" u="none" strike="noStrike" kern="1200" cap="none" spc="0" normalizeH="0" baseline="0" noProof="0">
                <a:ln>
                  <a:noFill/>
                </a:ln>
                <a:solidFill>
                  <a:srgbClr val="FFFFFF"/>
                </a:solidFill>
                <a:effectLst/>
                <a:uLnTx/>
                <a:uFillTx/>
                <a:latin typeface="Helvetica Neue" panose="02000503000000020004"/>
                <a:ea typeface="Helvetica Neue" panose="02000503000000020004" pitchFamily="2" charset="0"/>
                <a:cs typeface="Helvetica Neue" panose="02000503000000020004" pitchFamily="2" charset="0"/>
                <a:sym typeface="OpenAI Sans"/>
              </a:rPr>
              <a:t>Many blocks cover the output tensor.</a:t>
            </a:r>
          </a:p>
          <a:p>
            <a:pPr marL="0" marR="0" lvl="0" indent="0" algn="l" defTabSz="914400" rtl="0" eaLnBrk="1" fontAlgn="auto" latinLnBrk="0" hangingPunct="1">
              <a:lnSpc>
                <a:spcPct val="114000"/>
              </a:lnSpc>
              <a:spcBef>
                <a:spcPts val="0"/>
              </a:spcBef>
              <a:spcAft>
                <a:spcPts val="600"/>
              </a:spcAft>
              <a:buClrTx/>
              <a:buSzTx/>
              <a:buNone/>
              <a:tabLst/>
              <a:defRPr/>
            </a:pPr>
            <a:r>
              <a:rPr kumimoji="0" lang="en-US" sz="1800" i="0" u="none" strike="noStrike" kern="1200" cap="none" spc="0" normalizeH="0" baseline="0" noProof="0">
                <a:ln>
                  <a:noFill/>
                </a:ln>
                <a:solidFill>
                  <a:srgbClr val="FFFFFF"/>
                </a:solidFill>
                <a:effectLst/>
                <a:uLnTx/>
                <a:uFillTx/>
                <a:latin typeface="Helvetica Neue" panose="02000503000000020004"/>
                <a:ea typeface="Helvetica Neue" panose="02000503000000020004" pitchFamily="2" charset="0"/>
                <a:cs typeface="Helvetica Neue" panose="02000503000000020004" pitchFamily="2" charset="0"/>
                <a:sym typeface="OpenAI Sans"/>
              </a:rPr>
              <a:t>The GPU schedules blocks on its SMs.</a:t>
            </a:r>
          </a:p>
          <a:p>
            <a:pPr marL="0" marR="0" lvl="0" indent="0" algn="l" defTabSz="914400" rtl="0" eaLnBrk="1" fontAlgn="auto" latinLnBrk="0" hangingPunct="1">
              <a:lnSpc>
                <a:spcPct val="114000"/>
              </a:lnSpc>
              <a:spcBef>
                <a:spcPts val="0"/>
              </a:spcBef>
              <a:spcAft>
                <a:spcPts val="600"/>
              </a:spcAft>
              <a:buClrTx/>
              <a:buSzTx/>
              <a:buNone/>
              <a:tabLst/>
              <a:defRPr/>
            </a:pPr>
            <a:r>
              <a:rPr kumimoji="0" lang="en-US" sz="1800" i="0" u="none" strike="noStrike" kern="1200" cap="none" spc="0" normalizeH="0" baseline="0" noProof="0">
                <a:ln>
                  <a:noFill/>
                </a:ln>
                <a:solidFill>
                  <a:srgbClr val="FFFFFF"/>
                </a:solidFill>
                <a:effectLst/>
                <a:uLnTx/>
                <a:uFillTx/>
                <a:latin typeface="Helvetica Neue" panose="02000503000000020004"/>
                <a:ea typeface="Helvetica Neue" panose="02000503000000020004" pitchFamily="2" charset="0"/>
                <a:cs typeface="Helvetica Neue" panose="02000503000000020004" pitchFamily="2" charset="0"/>
                <a:sym typeface="OpenAI Sans"/>
              </a:rPr>
              <a:t>Independent outputs make this mapping simple.</a:t>
            </a:r>
            <a:endParaRPr kumimoji="0" lang="en-US" sz="1800" i="0" u="none" strike="noStrike" kern="1200" cap="none" spc="0" normalizeH="0" baseline="0" noProof="0" dirty="0">
              <a:ln>
                <a:noFill/>
              </a:ln>
              <a:solidFill>
                <a:srgbClr val="FFFFFF"/>
              </a:solidFill>
              <a:effectLst/>
              <a:uLnTx/>
              <a:uFillTx/>
              <a:latin typeface="Helvetica Neue" panose="02000503000000020004"/>
              <a:ea typeface="Helvetica Neue" panose="02000503000000020004" pitchFamily="2" charset="0"/>
              <a:cs typeface="Helvetica Neue" panose="02000503000000020004" pitchFamily="2" charset="0"/>
              <a:sym typeface="OpenAI Sans"/>
            </a:endParaRPr>
          </a:p>
        </p:txBody>
      </p:sp>
      <p:sp>
        <p:nvSpPr>
          <p:cNvPr id="3" name="Content Placeholder 2">
            <a:extLst>
              <a:ext uri="{FF2B5EF4-FFF2-40B4-BE49-F238E27FC236}">
                <a16:creationId xmlns:a16="http://schemas.microsoft.com/office/drawing/2014/main" id="{E4A749CC-0D72-2ABA-CEDC-7DFC7D138B4B}"/>
              </a:ext>
            </a:extLst>
          </p:cNvPr>
          <p:cNvSpPr>
            <a:spLocks noGrp="1"/>
          </p:cNvSpPr>
          <p:nvPr>
            <p:ph idx="4294967295"/>
          </p:nvPr>
        </p:nvSpPr>
        <p:spPr>
          <a:xfrm>
            <a:off x="4311650" y="3365500"/>
            <a:ext cx="3568700" cy="2628900"/>
          </a:xfrm>
        </p:spPr>
        <p:txBody>
          <a:bodyPr>
            <a:noAutofit/>
          </a:bodyPr>
          <a:lstStyle/>
          <a:p>
            <a:pPr marL="0" marR="0" lvl="0" indent="0" algn="l" defTabSz="914400" rtl="0" eaLnBrk="1" fontAlgn="auto" latinLnBrk="0" hangingPunct="1">
              <a:lnSpc>
                <a:spcPct val="114000"/>
              </a:lnSpc>
              <a:spcBef>
                <a:spcPts val="0"/>
              </a:spcBef>
              <a:spcAft>
                <a:spcPts val="1200"/>
              </a:spcAft>
              <a:buClrTx/>
              <a:buSzTx/>
              <a:buNone/>
              <a:tabLst/>
              <a:defRPr/>
            </a:pPr>
            <a:r>
              <a:rPr kumimoji="0" lang="en-US" sz="1800" i="0" u="none" strike="noStrike" kern="1200" cap="none" spc="0" normalizeH="0" baseline="0" noProof="0">
                <a:ln>
                  <a:noFill/>
                </a:ln>
                <a:solidFill>
                  <a:srgbClr val="FFFFFF"/>
                </a:solidFill>
                <a:effectLst/>
                <a:uLnTx/>
                <a:uFillTx/>
                <a:latin typeface="Helvetica Neue" panose="02000503000000020004"/>
                <a:ea typeface="Helvetica Neue" panose="02000503000000020004" pitchFamily="2" charset="0"/>
                <a:cs typeface="Helvetica Neue" panose="02000503000000020004" pitchFamily="2" charset="0"/>
                <a:sym typeface="OpenAI Sans"/>
              </a:rPr>
              <a:t>Block</a:t>
            </a:r>
          </a:p>
          <a:p>
            <a:pPr marL="0" marR="0" lvl="0" indent="0" algn="l" defTabSz="914400" rtl="0" eaLnBrk="1" fontAlgn="auto" latinLnBrk="0" hangingPunct="1">
              <a:lnSpc>
                <a:spcPct val="114000"/>
              </a:lnSpc>
              <a:spcBef>
                <a:spcPts val="0"/>
              </a:spcBef>
              <a:spcAft>
                <a:spcPts val="600"/>
              </a:spcAft>
              <a:buClrTx/>
              <a:buSzTx/>
              <a:buNone/>
              <a:tabLst/>
              <a:defRPr/>
            </a:pPr>
            <a:r>
              <a:rPr kumimoji="0" lang="en-US" sz="1800" i="0" u="none" strike="noStrike" kern="1200" cap="none" spc="0" normalizeH="0" baseline="0" noProof="0">
                <a:ln>
                  <a:noFill/>
                </a:ln>
                <a:solidFill>
                  <a:srgbClr val="FFFFFF"/>
                </a:solidFill>
                <a:effectLst/>
                <a:uLnTx/>
                <a:uFillTx/>
                <a:latin typeface="Helvetica Neue" panose="02000503000000020004"/>
                <a:ea typeface="Helvetica Neue" panose="02000503000000020004" pitchFamily="2" charset="0"/>
                <a:cs typeface="Helvetica Neue" panose="02000503000000020004" pitchFamily="2" charset="0"/>
                <a:sym typeface="OpenAI Sans"/>
              </a:rPr>
              <a:t>256 threads form a direct-kernel block.</a:t>
            </a:r>
          </a:p>
          <a:p>
            <a:pPr marL="0" marR="0" lvl="0" indent="0" algn="l" defTabSz="914400" rtl="0" eaLnBrk="1" fontAlgn="auto" latinLnBrk="0" hangingPunct="1">
              <a:lnSpc>
                <a:spcPct val="114000"/>
              </a:lnSpc>
              <a:spcBef>
                <a:spcPts val="0"/>
              </a:spcBef>
              <a:spcAft>
                <a:spcPts val="600"/>
              </a:spcAft>
              <a:buClrTx/>
              <a:buSzTx/>
              <a:buNone/>
              <a:tabLst/>
              <a:defRPr/>
            </a:pPr>
            <a:r>
              <a:rPr kumimoji="0" lang="en-US" sz="1800" i="0" u="none" strike="noStrike" kern="1200" cap="none" spc="0" normalizeH="0" baseline="0" noProof="0">
                <a:ln>
                  <a:noFill/>
                </a:ln>
                <a:solidFill>
                  <a:srgbClr val="FFFFFF"/>
                </a:solidFill>
                <a:effectLst/>
                <a:uLnTx/>
                <a:uFillTx/>
                <a:latin typeface="Helvetica Neue" panose="02000503000000020004"/>
                <a:ea typeface="Helvetica Neue" panose="02000503000000020004" pitchFamily="2" charset="0"/>
                <a:cs typeface="Helvetica Neue" panose="02000503000000020004" pitchFamily="2" charset="0"/>
                <a:sym typeface="OpenAI Sans"/>
              </a:rPr>
              <a:t>Threads in a tiled block share input data</a:t>
            </a:r>
          </a:p>
          <a:p>
            <a:pPr marL="0" marR="0" lvl="0" indent="0" algn="l" defTabSz="914400" rtl="0" eaLnBrk="1" fontAlgn="auto" latinLnBrk="0" hangingPunct="1">
              <a:lnSpc>
                <a:spcPct val="114000"/>
              </a:lnSpc>
              <a:spcBef>
                <a:spcPts val="0"/>
              </a:spcBef>
              <a:spcAft>
                <a:spcPts val="600"/>
              </a:spcAft>
              <a:buClrTx/>
              <a:buSzTx/>
              <a:buNone/>
              <a:tabLst/>
              <a:defRPr/>
            </a:pPr>
            <a:r>
              <a:rPr kumimoji="0" lang="en-US" sz="1800" i="0" u="none" strike="noStrike" kern="1200" cap="none" spc="0" normalizeH="0" baseline="0" noProof="0">
                <a:ln>
                  <a:noFill/>
                </a:ln>
                <a:solidFill>
                  <a:srgbClr val="FFFFFF"/>
                </a:solidFill>
                <a:effectLst/>
                <a:uLnTx/>
                <a:uFillTx/>
                <a:latin typeface="Helvetica Neue" panose="02000503000000020004"/>
                <a:ea typeface="Helvetica Neue" panose="02000503000000020004" pitchFamily="2" charset="0"/>
                <a:cs typeface="Helvetica Neue" panose="02000503000000020004" pitchFamily="2" charset="0"/>
                <a:sym typeface="OpenAI Sans"/>
              </a:rPr>
              <a:t>and meet at synchronization barriers.</a:t>
            </a:r>
            <a:endParaRPr lang="en-US" sz="1800" dirty="0">
              <a:solidFill>
                <a:srgbClr val="FFFFFF"/>
              </a:solidFill>
              <a:latin typeface="Helvetica Neue" panose="02000503000000020004"/>
            </a:endParaRPr>
          </a:p>
        </p:txBody>
      </p:sp>
    </p:spTree>
    <p:extLst>
      <p:ext uri="{BB962C8B-B14F-4D97-AF65-F5344CB8AC3E}">
        <p14:creationId xmlns:p14="http://schemas.microsoft.com/office/powerpoint/2010/main" val="270807996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531">
          <a:extLst>
            <a:ext uri="{FF2B5EF4-FFF2-40B4-BE49-F238E27FC236}">
              <a16:creationId xmlns:a16="http://schemas.microsoft.com/office/drawing/2014/main" id="{20E7F48D-6160-4C7B-F1E4-6DA13560757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39EA4C82-C623-0196-4A95-876ADF5DEE92}"/>
              </a:ext>
            </a:extLst>
          </p:cNvPr>
          <p:cNvSpPr>
            <a:spLocks noGrp="1"/>
          </p:cNvSpPr>
          <p:nvPr>
            <p:ph type="ftr" sz="quarter" idx="3"/>
          </p:nvPr>
        </p:nvSpPr>
        <p:spPr>
          <a:xfrm>
            <a:off x="393700" y="6279952"/>
            <a:ext cx="3568700" cy="241240"/>
          </a:xfrm>
        </p:spPr>
        <p:txBody>
          <a:bodyPr/>
          <a:lstStyle/>
          <a:p>
            <a:endParaRPr lang="en-US" dirty="0"/>
          </a:p>
        </p:txBody>
      </p:sp>
      <p:sp>
        <p:nvSpPr>
          <p:cNvPr id="532" name="Google Shape;532;p58">
            <a:extLst>
              <a:ext uri="{FF2B5EF4-FFF2-40B4-BE49-F238E27FC236}">
                <a16:creationId xmlns:a16="http://schemas.microsoft.com/office/drawing/2014/main" id="{1BCBE750-7048-686D-1472-52C53362D6CD}"/>
              </a:ext>
            </a:extLst>
          </p:cNvPr>
          <p:cNvSpPr txBox="1">
            <a:spLocks noGrp="1"/>
          </p:cNvSpPr>
          <p:nvPr>
            <p:ph type="sldNum" sz="quarter" idx="4"/>
          </p:nvPr>
        </p:nvSpPr>
        <p:spPr>
          <a:xfrm>
            <a:off x="11279332" y="6279294"/>
            <a:ext cx="518968" cy="241240"/>
          </a:xfrm>
        </p:spPr>
        <p:txBody>
          <a:bodyPr spcFirstLastPara="1" vert="horz" wrap="square" lIns="0" tIns="0" rIns="0" bIns="0" rtlCol="0" anchor="b" anchorCtr="0">
            <a:noAutofit/>
          </a:bodyPr>
          <a:lstStyle/>
          <a:p>
            <a:r>
              <a:rPr lang="en">
                <a:sym typeface="OpenAI Sans"/>
              </a:rPr>
              <a:t>6</a:t>
            </a:r>
            <a:endParaRPr lang="en" dirty="0">
              <a:sym typeface="OpenAI Sans"/>
            </a:endParaRPr>
          </a:p>
        </p:txBody>
      </p:sp>
      <p:sp>
        <p:nvSpPr>
          <p:cNvPr id="533" name="Google Shape;533;p58">
            <a:extLst>
              <a:ext uri="{FF2B5EF4-FFF2-40B4-BE49-F238E27FC236}">
                <a16:creationId xmlns:a16="http://schemas.microsoft.com/office/drawing/2014/main" id="{1B5D55CD-1C17-7CD8-F26A-2DD65B067687}"/>
              </a:ext>
            </a:extLst>
          </p:cNvPr>
          <p:cNvSpPr txBox="1">
            <a:spLocks noGrp="1"/>
          </p:cNvSpPr>
          <p:nvPr>
            <p:ph type="title"/>
          </p:nvPr>
        </p:nvSpPr>
        <p:spPr>
          <a:xfrm>
            <a:off x="393700" y="344008"/>
            <a:ext cx="11404600" cy="1047491"/>
          </a:xfrm>
        </p:spPr>
        <p:txBody>
          <a:bodyPr spcFirstLastPara="1" vert="horz" wrap="square" lIns="0" tIns="0" rIns="0" bIns="0" rtlCol="0" anchor="t" anchorCtr="0">
            <a:noAutofit/>
          </a:bodyPr>
          <a:lstStyle/>
          <a:p>
            <a:r>
              <a:rPr lang="en-US"/>
              <a:t>The custom CUDA kernel</a:t>
            </a:r>
            <a:endParaRPr lang="en-US" dirty="0"/>
          </a:p>
        </p:txBody>
      </p:sp>
      <p:sp>
        <p:nvSpPr>
          <p:cNvPr id="7" name="Google Shape;534;p58">
            <a:extLst>
              <a:ext uri="{FF2B5EF4-FFF2-40B4-BE49-F238E27FC236}">
                <a16:creationId xmlns:a16="http://schemas.microsoft.com/office/drawing/2014/main" id="{3A923FEE-B8D2-CD3A-ABBD-21770B40AA24}"/>
              </a:ext>
            </a:extLst>
          </p:cNvPr>
          <p:cNvSpPr txBox="1">
            <a:spLocks/>
          </p:cNvSpPr>
          <p:nvPr/>
        </p:nvSpPr>
        <p:spPr>
          <a:xfrm>
            <a:off x="393700" y="2031999"/>
            <a:ext cx="5537200" cy="3534787"/>
          </a:xfrm>
          <a:prstGeom prst="rect">
            <a:avLst/>
          </a:prstGeom>
        </p:spPr>
        <p:txBody>
          <a:bodyPr spcFirstLastPara="1" vert="horz" wrap="square" lIns="0" tIns="0" rIns="0" bIns="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4000"/>
              </a:lnSpc>
              <a:spcBef>
                <a:spcPts val="0"/>
              </a:spcBef>
              <a:spcAft>
                <a:spcPts val="1200"/>
              </a:spcAft>
              <a:buNone/>
            </a:pPr>
            <a:r>
              <a:rPr lang="en-US">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Forward kernel sketch</a:t>
            </a:r>
          </a:p>
          <a:p>
            <a:pPr marL="0" indent="0">
              <a:lnSpc>
                <a:spcPct val="114000"/>
              </a:lnSpc>
              <a:spcBef>
                <a:spcPts val="0"/>
              </a:spcBef>
              <a:spcAft>
                <a:spcPts val="100"/>
              </a:spcAft>
              <a:buNone/>
            </a:pPr>
            <a:r>
              <a:rPr lang="en-US" sz="1600">
                <a:solidFill>
                  <a:srgbClr val="FFFFFF"/>
                </a:solidFill>
                <a:latin typeface="Consolas" panose="020B0609020204030204" pitchFamily="49" charset="0"/>
                <a:ea typeface="Helvetica Neue" panose="02000503000000020004" pitchFamily="2" charset="0"/>
                <a:cs typeface="Helvetica Neue" panose="02000503000000020004" pitchFamily="2" charset="0"/>
                <a:sym typeface="OpenAI Sans"/>
              </a:rPr>
              <a:t>int i = blockIdx.x * blockDim.x</a:t>
            </a:r>
          </a:p>
          <a:p>
            <a:pPr marL="0" indent="0">
              <a:lnSpc>
                <a:spcPct val="114000"/>
              </a:lnSpc>
              <a:spcBef>
                <a:spcPts val="0"/>
              </a:spcBef>
              <a:spcAft>
                <a:spcPts val="100"/>
              </a:spcAft>
              <a:buNone/>
            </a:pPr>
            <a:r>
              <a:rPr lang="en-US" sz="1600">
                <a:solidFill>
                  <a:srgbClr val="FFFFFF"/>
                </a:solidFill>
                <a:latin typeface="Consolas" panose="020B0609020204030204" pitchFamily="49" charset="0"/>
                <a:ea typeface="Helvetica Neue" panose="02000503000000020004" pitchFamily="2" charset="0"/>
                <a:cs typeface="Helvetica Neue" panose="02000503000000020004" pitchFamily="2" charset="0"/>
                <a:sym typeface="OpenAI Sans"/>
              </a:rPr>
              <a:t>      + threadIdx.x;</a:t>
            </a:r>
          </a:p>
          <a:p>
            <a:pPr marL="0" indent="0">
              <a:lnSpc>
                <a:spcPct val="114000"/>
              </a:lnSpc>
              <a:spcBef>
                <a:spcPts val="0"/>
              </a:spcBef>
              <a:spcAft>
                <a:spcPts val="100"/>
              </a:spcAft>
              <a:buNone/>
            </a:pPr>
            <a:r>
              <a:rPr lang="en-US" sz="1600">
                <a:solidFill>
                  <a:srgbClr val="FFFFFF"/>
                </a:solidFill>
                <a:latin typeface="Consolas" panose="020B0609020204030204" pitchFamily="49" charset="0"/>
                <a:ea typeface="Helvetica Neue" panose="02000503000000020004" pitchFamily="2" charset="0"/>
                <a:cs typeface="Helvetica Neue" panose="02000503000000020004" pitchFamily="2" charset="0"/>
                <a:sym typeface="OpenAI Sans"/>
              </a:rPr>
              <a:t>if (i &gt;= N*K*P*Q) return;</a:t>
            </a:r>
          </a:p>
          <a:p>
            <a:pPr marL="0" indent="0">
              <a:lnSpc>
                <a:spcPct val="114000"/>
              </a:lnSpc>
              <a:spcBef>
                <a:spcPts val="0"/>
              </a:spcBef>
              <a:spcAft>
                <a:spcPts val="100"/>
              </a:spcAft>
              <a:buNone/>
            </a:pPr>
            <a:endParaRPr lang="en-US" sz="1600">
              <a:solidFill>
                <a:srgbClr val="FFFFFF"/>
              </a:solidFill>
              <a:latin typeface="Consolas" panose="020B0609020204030204" pitchFamily="49" charset="0"/>
              <a:ea typeface="Helvetica Neue" panose="02000503000000020004" pitchFamily="2" charset="0"/>
              <a:cs typeface="Helvetica Neue" panose="02000503000000020004" pitchFamily="2" charset="0"/>
              <a:sym typeface="OpenAI Sans"/>
            </a:endParaRPr>
          </a:p>
          <a:p>
            <a:pPr marL="0" indent="0">
              <a:lnSpc>
                <a:spcPct val="114000"/>
              </a:lnSpc>
              <a:spcBef>
                <a:spcPts val="0"/>
              </a:spcBef>
              <a:spcAft>
                <a:spcPts val="100"/>
              </a:spcAft>
              <a:buNone/>
            </a:pPr>
            <a:r>
              <a:rPr lang="en-US" sz="1600">
                <a:solidFill>
                  <a:srgbClr val="FFFFFF"/>
                </a:solidFill>
                <a:latin typeface="Consolas" panose="020B0609020204030204" pitchFamily="49" charset="0"/>
                <a:ea typeface="Helvetica Neue" panose="02000503000000020004" pitchFamily="2" charset="0"/>
                <a:cs typeface="Helvetica Neue" panose="02000503000000020004" pitchFamily="2" charset="0"/>
                <a:sym typeface="OpenAI Sans"/>
              </a:rPr>
              <a:t>// Decode sample, filter, row, column.</a:t>
            </a:r>
          </a:p>
          <a:p>
            <a:pPr marL="0" indent="0">
              <a:lnSpc>
                <a:spcPct val="114000"/>
              </a:lnSpc>
              <a:spcBef>
                <a:spcPts val="0"/>
              </a:spcBef>
              <a:spcAft>
                <a:spcPts val="100"/>
              </a:spcAft>
              <a:buNone/>
            </a:pPr>
            <a:r>
              <a:rPr lang="en-US" sz="1600">
                <a:solidFill>
                  <a:srgbClr val="FFFFFF"/>
                </a:solidFill>
                <a:latin typeface="Consolas" panose="020B0609020204030204" pitchFamily="49" charset="0"/>
                <a:ea typeface="Helvetica Neue" panose="02000503000000020004" pitchFamily="2" charset="0"/>
                <a:cs typeface="Helvetica Neue" panose="02000503000000020004" pitchFamily="2" charset="0"/>
                <a:sym typeface="OpenAI Sans"/>
              </a:rPr>
              <a:t>float sum = bias[filter];</a:t>
            </a:r>
          </a:p>
          <a:p>
            <a:pPr marL="0" indent="0">
              <a:lnSpc>
                <a:spcPct val="114000"/>
              </a:lnSpc>
              <a:spcBef>
                <a:spcPts val="0"/>
              </a:spcBef>
              <a:spcAft>
                <a:spcPts val="100"/>
              </a:spcAft>
              <a:buNone/>
            </a:pPr>
            <a:r>
              <a:rPr lang="en-US" sz="1600">
                <a:solidFill>
                  <a:srgbClr val="FFFFFF"/>
                </a:solidFill>
                <a:latin typeface="Consolas" panose="020B0609020204030204" pitchFamily="49" charset="0"/>
                <a:ea typeface="Helvetica Neue" panose="02000503000000020004" pitchFamily="2" charset="0"/>
                <a:cs typeface="Helvetica Neue" panose="02000503000000020004" pitchFamily="2" charset="0"/>
                <a:sym typeface="OpenAI Sans"/>
              </a:rPr>
              <a:t>for each c, r, s:</a:t>
            </a:r>
          </a:p>
          <a:p>
            <a:pPr marL="0" indent="0">
              <a:lnSpc>
                <a:spcPct val="114000"/>
              </a:lnSpc>
              <a:spcBef>
                <a:spcPts val="0"/>
              </a:spcBef>
              <a:spcAft>
                <a:spcPts val="100"/>
              </a:spcAft>
              <a:buNone/>
            </a:pPr>
            <a:r>
              <a:rPr lang="en-US" sz="1600">
                <a:solidFill>
                  <a:srgbClr val="FFFFFF"/>
                </a:solidFill>
                <a:latin typeface="Consolas" panose="020B0609020204030204" pitchFamily="49" charset="0"/>
                <a:ea typeface="Helvetica Neue" panose="02000503000000020004" pitchFamily="2" charset="0"/>
                <a:cs typeface="Helvetica Neue" panose="02000503000000020004" pitchFamily="2" charset="0"/>
                <a:sym typeface="OpenAI Sans"/>
              </a:rPr>
              <a:t>    sum += x[...] * weight[...];</a:t>
            </a:r>
          </a:p>
          <a:p>
            <a:pPr marL="0" indent="0">
              <a:lnSpc>
                <a:spcPct val="114000"/>
              </a:lnSpc>
              <a:spcBef>
                <a:spcPts val="0"/>
              </a:spcBef>
              <a:spcAft>
                <a:spcPts val="100"/>
              </a:spcAft>
              <a:buNone/>
            </a:pPr>
            <a:r>
              <a:rPr lang="en-US" sz="1600">
                <a:solidFill>
                  <a:srgbClr val="FFFFFF"/>
                </a:solidFill>
                <a:latin typeface="Consolas" panose="020B0609020204030204" pitchFamily="49" charset="0"/>
                <a:ea typeface="Helvetica Neue" panose="02000503000000020004" pitchFamily="2" charset="0"/>
                <a:cs typeface="Helvetica Neue" panose="02000503000000020004" pitchFamily="2" charset="0"/>
                <a:sym typeface="OpenAI Sans"/>
              </a:rPr>
              <a:t>y[i] = sum;</a:t>
            </a:r>
            <a:endParaRPr lang="en-US" sz="1600" dirty="0">
              <a:solidFill>
                <a:srgbClr val="FFFFFF"/>
              </a:solidFill>
              <a:latin typeface="Consolas" panose="020B0609020204030204" pitchFamily="49" charset="0"/>
              <a:ea typeface="Helvetica Neue" panose="02000503000000020004" pitchFamily="2" charset="0"/>
              <a:cs typeface="Helvetica Neue" panose="02000503000000020004" pitchFamily="2" charset="0"/>
              <a:sym typeface="OpenAI Sans"/>
            </a:endParaRPr>
          </a:p>
        </p:txBody>
      </p:sp>
      <p:sp>
        <p:nvSpPr>
          <p:cNvPr id="8" name="Content Placeholder 3">
            <a:extLst>
              <a:ext uri="{FF2B5EF4-FFF2-40B4-BE49-F238E27FC236}">
                <a16:creationId xmlns:a16="http://schemas.microsoft.com/office/drawing/2014/main" id="{2EE8F343-A95F-2AAA-FE9E-A6C31E298DF7}"/>
              </a:ext>
            </a:extLst>
          </p:cNvPr>
          <p:cNvSpPr txBox="1">
            <a:spLocks/>
          </p:cNvSpPr>
          <p:nvPr/>
        </p:nvSpPr>
        <p:spPr>
          <a:xfrm>
            <a:off x="6256618" y="2031999"/>
            <a:ext cx="5537200" cy="3534787"/>
          </a:xfrm>
          <a:prstGeom prst="rect">
            <a:avLst/>
          </a:prstGeom>
        </p:spPr>
        <p:txBody>
          <a:bodyPr lIns="0" tIns="0" rIns="0" bIns="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4000"/>
              </a:lnSpc>
              <a:spcBef>
                <a:spcPts val="0"/>
              </a:spcBef>
              <a:spcAft>
                <a:spcPts val="1200"/>
              </a:spcAft>
              <a:buNone/>
              <a:defRPr/>
            </a:pPr>
            <a:r>
              <a:rPr lang="en-US">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What changes on the GPU</a:t>
            </a:r>
          </a:p>
          <a:p>
            <a:pPr marL="0" indent="0">
              <a:lnSpc>
                <a:spcPct val="114000"/>
              </a:lnSpc>
              <a:spcBef>
                <a:spcPts val="0"/>
              </a:spcBef>
              <a:spcAft>
                <a:spcPts val="600"/>
              </a:spcAft>
              <a:buNone/>
              <a:defRPr/>
            </a:pPr>
            <a:r>
              <a:rPr lang="en-US" sz="1600">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The weighted-sum equation stays the same.</a:t>
            </a:r>
          </a:p>
          <a:p>
            <a:pPr marL="0" indent="0">
              <a:lnSpc>
                <a:spcPct val="114000"/>
              </a:lnSpc>
              <a:spcBef>
                <a:spcPts val="0"/>
              </a:spcBef>
              <a:spcAft>
                <a:spcPts val="600"/>
              </a:spcAft>
              <a:buNone/>
              <a:defRPr/>
            </a:pPr>
            <a:r>
              <a:rPr lang="en-US" sz="1600">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Many output positions execute concurrently.</a:t>
            </a:r>
          </a:p>
          <a:p>
            <a:pPr marL="0" indent="0">
              <a:lnSpc>
                <a:spcPct val="114000"/>
              </a:lnSpc>
              <a:spcBef>
                <a:spcPts val="0"/>
              </a:spcBef>
              <a:spcAft>
                <a:spcPts val="600"/>
              </a:spcAft>
              <a:buNone/>
              <a:defRPr/>
            </a:pPr>
            <a:r>
              <a:rPr lang="en-US" sz="1600">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Adjacent threads write adjacent outputs.</a:t>
            </a:r>
          </a:p>
          <a:p>
            <a:pPr marL="0" indent="0">
              <a:lnSpc>
                <a:spcPct val="114000"/>
              </a:lnSpc>
              <a:spcBef>
                <a:spcPts val="0"/>
              </a:spcBef>
              <a:spcAft>
                <a:spcPts val="600"/>
              </a:spcAft>
              <a:buNone/>
              <a:defRPr/>
            </a:pPr>
            <a:endParaRPr lang="en-US" sz="1600">
              <a:solidFill>
                <a:srgbClr val="FFFFFF"/>
              </a:solidFill>
              <a:latin typeface="Helvetica Neue" panose="02000503000000020004"/>
              <a:ea typeface="Helvetica Neue" panose="02000503000000020004" pitchFamily="2" charset="0"/>
              <a:cs typeface="Helvetica Neue" panose="02000503000000020004" pitchFamily="2" charset="0"/>
              <a:sym typeface="OpenAI Sans"/>
            </a:endParaRPr>
          </a:p>
          <a:p>
            <a:pPr marL="0" indent="0">
              <a:lnSpc>
                <a:spcPct val="114000"/>
              </a:lnSpc>
              <a:spcBef>
                <a:spcPts val="0"/>
              </a:spcBef>
              <a:spcAft>
                <a:spcPts val="600"/>
              </a:spcAft>
              <a:buNone/>
              <a:defRPr/>
            </a:pPr>
            <a:r>
              <a:rPr lang="en-US" sz="1600">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Training also needs gradients.</a:t>
            </a:r>
          </a:p>
          <a:p>
            <a:pPr marL="0" indent="0">
              <a:lnSpc>
                <a:spcPct val="114000"/>
              </a:lnSpc>
              <a:spcBef>
                <a:spcPts val="0"/>
              </a:spcBef>
              <a:spcAft>
                <a:spcPts val="600"/>
              </a:spcAft>
              <a:buNone/>
              <a:defRPr/>
            </a:pPr>
            <a:r>
              <a:rPr lang="en-US" sz="1600">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CUDA blocks reduce weight and bias gradients.</a:t>
            </a:r>
          </a:p>
          <a:p>
            <a:pPr marL="0" indent="0">
              <a:lnSpc>
                <a:spcPct val="114000"/>
              </a:lnSpc>
              <a:spcBef>
                <a:spcPts val="0"/>
              </a:spcBef>
              <a:spcAft>
                <a:spcPts val="600"/>
              </a:spcAft>
              <a:buNone/>
              <a:defRPr/>
            </a:pPr>
            <a:r>
              <a:rPr lang="en-US" sz="1600">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Input gradients use one writer per input value.</a:t>
            </a:r>
            <a:endParaRPr lang="en-US" sz="1600" dirty="0">
              <a:solidFill>
                <a:srgbClr val="FFFFFF"/>
              </a:solidFill>
              <a:latin typeface="Helvetica Neue" panose="02000503000000020004"/>
              <a:ea typeface="Helvetica Neue" panose="02000503000000020004" pitchFamily="2" charset="0"/>
              <a:cs typeface="Helvetica Neue" panose="02000503000000020004" pitchFamily="2" charset="0"/>
              <a:sym typeface="OpenAI Sans"/>
            </a:endParaRPr>
          </a:p>
        </p:txBody>
      </p:sp>
    </p:spTree>
    <p:extLst>
      <p:ext uri="{BB962C8B-B14F-4D97-AF65-F5344CB8AC3E}">
        <p14:creationId xmlns:p14="http://schemas.microsoft.com/office/powerpoint/2010/main" val="347338946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B9D4E6-CFF8-CAD9-A94E-1228D81EA56C}"/>
            </a:ext>
          </a:extLst>
        </p:cNvPr>
        <p:cNvGrpSpPr/>
        <p:nvPr/>
      </p:nvGrpSpPr>
      <p:grpSpPr>
        <a:xfrm>
          <a:off x="0" y="0"/>
          <a:ext cx="0" cy="0"/>
          <a:chOff x="0" y="0"/>
          <a:chExt cx="0" cy="0"/>
        </a:xfrm>
      </p:grpSpPr>
      <p:sp>
        <p:nvSpPr>
          <p:cNvPr id="7" name="Footer Placeholder 6">
            <a:extLst>
              <a:ext uri="{FF2B5EF4-FFF2-40B4-BE49-F238E27FC236}">
                <a16:creationId xmlns:a16="http://schemas.microsoft.com/office/drawing/2014/main" id="{3AC3A10F-8642-8154-9AEA-7110D289C62E}"/>
              </a:ext>
            </a:extLst>
          </p:cNvPr>
          <p:cNvSpPr>
            <a:spLocks noGrp="1"/>
          </p:cNvSpPr>
          <p:nvPr>
            <p:ph type="ftr" sz="quarter" idx="3"/>
          </p:nvPr>
        </p:nvSpPr>
        <p:spPr>
          <a:xfrm>
            <a:off x="393700" y="6279952"/>
            <a:ext cx="3568700" cy="241240"/>
          </a:xfrm>
        </p:spPr>
        <p:txBody>
          <a:bodyPr/>
          <a:lstStyle/>
          <a:p>
            <a:endParaRPr lang="en-US" dirty="0"/>
          </a:p>
        </p:txBody>
      </p:sp>
      <p:sp>
        <p:nvSpPr>
          <p:cNvPr id="4" name="Slide Number Placeholder 3">
            <a:extLst>
              <a:ext uri="{FF2B5EF4-FFF2-40B4-BE49-F238E27FC236}">
                <a16:creationId xmlns:a16="http://schemas.microsoft.com/office/drawing/2014/main" id="{6BBF0163-E4B1-61D1-776D-45470B16F0F4}"/>
              </a:ext>
            </a:extLst>
          </p:cNvPr>
          <p:cNvSpPr>
            <a:spLocks noGrp="1"/>
          </p:cNvSpPr>
          <p:nvPr>
            <p:ph type="sldNum" sz="quarter" idx="4"/>
          </p:nvPr>
        </p:nvSpPr>
        <p:spPr>
          <a:xfrm>
            <a:off x="11279332" y="6279294"/>
            <a:ext cx="518968" cy="241240"/>
          </a:xfrm>
        </p:spPr>
        <p:txBody>
          <a:bodyPr/>
          <a:lstStyle/>
          <a:p>
            <a:r>
              <a:rPr lang="en-US"/>
              <a:t>7</a:t>
            </a:r>
            <a:endParaRPr lang="en-US" dirty="0"/>
          </a:p>
        </p:txBody>
      </p:sp>
      <p:sp>
        <p:nvSpPr>
          <p:cNvPr id="11" name="Title 10">
            <a:extLst>
              <a:ext uri="{FF2B5EF4-FFF2-40B4-BE49-F238E27FC236}">
                <a16:creationId xmlns:a16="http://schemas.microsoft.com/office/drawing/2014/main" id="{9759E2FE-9F02-E1B4-EBBC-AA8624ACC339}"/>
              </a:ext>
            </a:extLst>
          </p:cNvPr>
          <p:cNvSpPr>
            <a:spLocks noGrp="1"/>
          </p:cNvSpPr>
          <p:nvPr>
            <p:ph type="title"/>
          </p:nvPr>
        </p:nvSpPr>
        <p:spPr>
          <a:xfrm>
            <a:off x="393700" y="344008"/>
            <a:ext cx="11404600" cy="1047491"/>
          </a:xfrm>
        </p:spPr>
        <p:txBody>
          <a:bodyPr/>
          <a:lstStyle/>
          <a:p>
            <a:r>
              <a:rPr lang="en-US"/>
              <a:t>Two GPUs with DataParallel</a:t>
            </a:r>
            <a:endParaRPr lang="en-US" dirty="0"/>
          </a:p>
        </p:txBody>
      </p:sp>
      <p:cxnSp>
        <p:nvCxnSpPr>
          <p:cNvPr id="2" name="Google Shape;2259;p159">
            <a:extLst>
              <a:ext uri="{FF2B5EF4-FFF2-40B4-BE49-F238E27FC236}">
                <a16:creationId xmlns:a16="http://schemas.microsoft.com/office/drawing/2014/main" id="{B445FE4B-78BD-90F9-A6AA-1A4EF03DE791}"/>
              </a:ext>
            </a:extLst>
          </p:cNvPr>
          <p:cNvCxnSpPr>
            <a:stCxn id="3" idx="2"/>
          </p:cNvCxnSpPr>
          <p:nvPr/>
        </p:nvCxnSpPr>
        <p:spPr>
          <a:xfrm>
            <a:off x="337718" y="3373753"/>
            <a:ext cx="11430000" cy="300"/>
          </a:xfrm>
          <a:prstGeom prst="straightConnector1">
            <a:avLst/>
          </a:prstGeom>
          <a:noFill/>
          <a:ln w="9525" cap="flat" cmpd="sng">
            <a:solidFill>
              <a:schemeClr val="tx1"/>
            </a:solidFill>
            <a:prstDash val="solid"/>
            <a:round/>
            <a:headEnd type="none" w="med" len="med"/>
            <a:tailEnd type="none" w="med" len="med"/>
          </a:ln>
        </p:spPr>
      </p:cxnSp>
      <p:sp>
        <p:nvSpPr>
          <p:cNvPr id="3" name="Google Shape;2260;p159">
            <a:extLst>
              <a:ext uri="{FF2B5EF4-FFF2-40B4-BE49-F238E27FC236}">
                <a16:creationId xmlns:a16="http://schemas.microsoft.com/office/drawing/2014/main" id="{39A86B1D-EA5D-3FA6-7D83-8F21D70E330E}"/>
              </a:ext>
            </a:extLst>
          </p:cNvPr>
          <p:cNvSpPr/>
          <p:nvPr/>
        </p:nvSpPr>
        <p:spPr>
          <a:xfrm>
            <a:off x="337718" y="3320203"/>
            <a:ext cx="107100" cy="107100"/>
          </a:xfrm>
          <a:prstGeom prst="ellipse">
            <a:avLst/>
          </a:prstGeom>
          <a:solidFill>
            <a:schemeClr val="tx1"/>
          </a:solidFill>
          <a:ln>
            <a:solidFill>
              <a:schemeClr val="tx1"/>
            </a:solid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None/>
            </a:pPr>
            <a:endParaRPr>
              <a:latin typeface="OpenAI Sans"/>
              <a:ea typeface="OpenAI Sans"/>
              <a:cs typeface="OpenAI Sans"/>
              <a:sym typeface="OpenAI Sans"/>
            </a:endParaRPr>
          </a:p>
        </p:txBody>
      </p:sp>
      <p:sp>
        <p:nvSpPr>
          <p:cNvPr id="5" name="Google Shape;2261;p159">
            <a:extLst>
              <a:ext uri="{FF2B5EF4-FFF2-40B4-BE49-F238E27FC236}">
                <a16:creationId xmlns:a16="http://schemas.microsoft.com/office/drawing/2014/main" id="{A1013DAF-A2C3-BC42-73D5-9D8AB55DCA94}"/>
              </a:ext>
            </a:extLst>
          </p:cNvPr>
          <p:cNvSpPr/>
          <p:nvPr/>
        </p:nvSpPr>
        <p:spPr>
          <a:xfrm>
            <a:off x="4251750" y="3320203"/>
            <a:ext cx="107100" cy="107100"/>
          </a:xfrm>
          <a:prstGeom prst="ellipse">
            <a:avLst/>
          </a:prstGeom>
          <a:solidFill>
            <a:schemeClr val="tx1"/>
          </a:solidFill>
          <a:ln>
            <a:solidFill>
              <a:schemeClr val="tx1"/>
            </a:solid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None/>
            </a:pPr>
            <a:endParaRPr>
              <a:latin typeface="OpenAI Sans"/>
              <a:ea typeface="OpenAI Sans"/>
              <a:cs typeface="OpenAI Sans"/>
              <a:sym typeface="OpenAI Sans"/>
            </a:endParaRPr>
          </a:p>
        </p:txBody>
      </p:sp>
      <p:sp>
        <p:nvSpPr>
          <p:cNvPr id="6" name="Google Shape;2262;p159">
            <a:extLst>
              <a:ext uri="{FF2B5EF4-FFF2-40B4-BE49-F238E27FC236}">
                <a16:creationId xmlns:a16="http://schemas.microsoft.com/office/drawing/2014/main" id="{4654A74A-2C40-A8C6-E9F9-43C58A3ADE20}"/>
              </a:ext>
            </a:extLst>
          </p:cNvPr>
          <p:cNvSpPr/>
          <p:nvPr/>
        </p:nvSpPr>
        <p:spPr>
          <a:xfrm>
            <a:off x="8176050" y="3320203"/>
            <a:ext cx="107100" cy="107100"/>
          </a:xfrm>
          <a:prstGeom prst="ellipse">
            <a:avLst/>
          </a:prstGeom>
          <a:solidFill>
            <a:schemeClr val="tx1"/>
          </a:solidFill>
          <a:ln>
            <a:solidFill>
              <a:schemeClr val="tx1"/>
            </a:solid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None/>
            </a:pPr>
            <a:endParaRPr>
              <a:latin typeface="OpenAI Sans"/>
              <a:ea typeface="OpenAI Sans"/>
              <a:cs typeface="OpenAI Sans"/>
              <a:sym typeface="OpenAI Sans"/>
            </a:endParaRPr>
          </a:p>
        </p:txBody>
      </p:sp>
      <p:sp>
        <p:nvSpPr>
          <p:cNvPr id="9" name="Content Placeholder 15">
            <a:extLst>
              <a:ext uri="{FF2B5EF4-FFF2-40B4-BE49-F238E27FC236}">
                <a16:creationId xmlns:a16="http://schemas.microsoft.com/office/drawing/2014/main" id="{76C75857-E8EA-1B37-0464-3C7048D7FBEB}"/>
              </a:ext>
            </a:extLst>
          </p:cNvPr>
          <p:cNvSpPr txBox="1">
            <a:spLocks/>
          </p:cNvSpPr>
          <p:nvPr/>
        </p:nvSpPr>
        <p:spPr>
          <a:xfrm>
            <a:off x="393700" y="2843266"/>
            <a:ext cx="1612900" cy="262400"/>
          </a:xfrm>
          <a:prstGeom prst="rect">
            <a:avLst/>
          </a:prstGeom>
        </p:spPr>
        <p:txBody>
          <a:bodyPr vert="horz" lIns="0" tIns="0" rIns="0" bIns="0" rtlCol="0">
            <a:noAutofit/>
          </a:bodyPr>
          <a:lstStyle>
            <a:lvl1pPr marL="228600" indent="-228600" algn="l" defTabSz="914400" rtl="0" eaLnBrk="1" latinLnBrk="0" hangingPunct="1">
              <a:lnSpc>
                <a:spcPct val="90000"/>
              </a:lnSpc>
              <a:spcBef>
                <a:spcPts val="1000"/>
              </a:spcBef>
              <a:buFont typeface="Arial" panose="020B0604020202020204" pitchFamily="34" charset="0"/>
              <a:buNone/>
              <a:defRPr sz="1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4000"/>
              </a:lnSpc>
              <a:spcBef>
                <a:spcPts val="0"/>
              </a:spcBef>
              <a:spcAft>
                <a:spcPts val="800"/>
              </a:spcAft>
            </a:pPr>
            <a:r>
              <a:rPr lang="en-US" sz="1400">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1. Scatter</a:t>
            </a:r>
            <a:endParaRPr lang="en-US" sz="1400" dirty="0">
              <a:solidFill>
                <a:srgbClr val="FFFFFF"/>
              </a:solidFill>
              <a:latin typeface="Helvetica Neue" panose="02000503000000020004"/>
              <a:ea typeface="Helvetica Neue" panose="02000503000000020004" pitchFamily="2" charset="0"/>
              <a:cs typeface="Helvetica Neue" panose="02000503000000020004" pitchFamily="2" charset="0"/>
              <a:sym typeface="OpenAI Sans"/>
            </a:endParaRPr>
          </a:p>
        </p:txBody>
      </p:sp>
      <p:sp>
        <p:nvSpPr>
          <p:cNvPr id="13" name="Content Placeholder 15">
            <a:extLst>
              <a:ext uri="{FF2B5EF4-FFF2-40B4-BE49-F238E27FC236}">
                <a16:creationId xmlns:a16="http://schemas.microsoft.com/office/drawing/2014/main" id="{76AEECBA-C292-6302-8A8E-7EB14A54E420}"/>
              </a:ext>
            </a:extLst>
          </p:cNvPr>
          <p:cNvSpPr txBox="1">
            <a:spLocks/>
          </p:cNvSpPr>
          <p:nvPr/>
        </p:nvSpPr>
        <p:spPr>
          <a:xfrm>
            <a:off x="4294187" y="2843266"/>
            <a:ext cx="1612900" cy="262400"/>
          </a:xfrm>
          <a:prstGeom prst="rect">
            <a:avLst/>
          </a:prstGeom>
        </p:spPr>
        <p:txBody>
          <a:bodyPr vert="horz" lIns="0" tIns="0" rIns="0" bIns="0" rtlCol="0">
            <a:noAutofit/>
          </a:bodyPr>
          <a:lstStyle>
            <a:lvl1pPr marL="228600" indent="-228600" algn="l" defTabSz="914400" rtl="0" eaLnBrk="1" latinLnBrk="0" hangingPunct="1">
              <a:lnSpc>
                <a:spcPct val="90000"/>
              </a:lnSpc>
              <a:spcBef>
                <a:spcPts val="1000"/>
              </a:spcBef>
              <a:buFont typeface="Arial" panose="020B0604020202020204" pitchFamily="34" charset="0"/>
              <a:buNone/>
              <a:defRPr sz="1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4000"/>
              </a:lnSpc>
              <a:spcBef>
                <a:spcPts val="0"/>
              </a:spcBef>
              <a:spcAft>
                <a:spcPts val="800"/>
              </a:spcAft>
            </a:pPr>
            <a:r>
              <a:rPr lang="en-US" sz="1400">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2. Compute</a:t>
            </a:r>
            <a:endParaRPr lang="en-US" sz="1400" dirty="0">
              <a:solidFill>
                <a:srgbClr val="FFFFFF"/>
              </a:solidFill>
              <a:latin typeface="Helvetica Neue" panose="02000503000000020004"/>
              <a:ea typeface="Helvetica Neue" panose="02000503000000020004" pitchFamily="2" charset="0"/>
              <a:cs typeface="Helvetica Neue" panose="02000503000000020004" pitchFamily="2" charset="0"/>
              <a:sym typeface="OpenAI Sans"/>
            </a:endParaRPr>
          </a:p>
        </p:txBody>
      </p:sp>
      <p:sp>
        <p:nvSpPr>
          <p:cNvPr id="14" name="Content Placeholder 15">
            <a:extLst>
              <a:ext uri="{FF2B5EF4-FFF2-40B4-BE49-F238E27FC236}">
                <a16:creationId xmlns:a16="http://schemas.microsoft.com/office/drawing/2014/main" id="{95982BB0-2387-9BAA-9F14-F45500C04700}"/>
              </a:ext>
            </a:extLst>
          </p:cNvPr>
          <p:cNvSpPr txBox="1">
            <a:spLocks/>
          </p:cNvSpPr>
          <p:nvPr/>
        </p:nvSpPr>
        <p:spPr>
          <a:xfrm>
            <a:off x="8223249" y="2843266"/>
            <a:ext cx="1612900" cy="262400"/>
          </a:xfrm>
          <a:prstGeom prst="rect">
            <a:avLst/>
          </a:prstGeom>
        </p:spPr>
        <p:txBody>
          <a:bodyPr vert="horz" lIns="0" tIns="0" rIns="0" bIns="0" rtlCol="0">
            <a:noAutofit/>
          </a:bodyPr>
          <a:lstStyle>
            <a:lvl1pPr marL="228600" indent="-228600" algn="l" defTabSz="914400" rtl="0" eaLnBrk="1" latinLnBrk="0" hangingPunct="1">
              <a:lnSpc>
                <a:spcPct val="90000"/>
              </a:lnSpc>
              <a:spcBef>
                <a:spcPts val="1000"/>
              </a:spcBef>
              <a:buFont typeface="Arial" panose="020B0604020202020204" pitchFamily="34" charset="0"/>
              <a:buNone/>
              <a:defRPr sz="1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4000"/>
              </a:lnSpc>
              <a:spcBef>
                <a:spcPts val="0"/>
              </a:spcBef>
              <a:spcAft>
                <a:spcPts val="800"/>
              </a:spcAft>
            </a:pPr>
            <a:r>
              <a:rPr lang="en-US" sz="1400">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3. Gather</a:t>
            </a:r>
            <a:endParaRPr lang="en-US" sz="1400" dirty="0">
              <a:solidFill>
                <a:srgbClr val="FFFFFF"/>
              </a:solidFill>
              <a:latin typeface="Helvetica Neue" panose="02000503000000020004"/>
              <a:ea typeface="Helvetica Neue" panose="02000503000000020004" pitchFamily="2" charset="0"/>
              <a:cs typeface="Helvetica Neue" panose="02000503000000020004" pitchFamily="2" charset="0"/>
              <a:sym typeface="OpenAI Sans"/>
            </a:endParaRPr>
          </a:p>
        </p:txBody>
      </p:sp>
      <p:sp>
        <p:nvSpPr>
          <p:cNvPr id="8" name="Text Placeholder 16">
            <a:extLst>
              <a:ext uri="{FF2B5EF4-FFF2-40B4-BE49-F238E27FC236}">
                <a16:creationId xmlns:a16="http://schemas.microsoft.com/office/drawing/2014/main" id="{D0EE3B6B-F07C-271E-2F97-41D7686F1C33}"/>
              </a:ext>
            </a:extLst>
          </p:cNvPr>
          <p:cNvSpPr txBox="1">
            <a:spLocks/>
          </p:cNvSpPr>
          <p:nvPr/>
        </p:nvSpPr>
        <p:spPr>
          <a:xfrm>
            <a:off x="4317118" y="3822700"/>
            <a:ext cx="3156125" cy="1586256"/>
          </a:xfrm>
          <a:prstGeom prst="rect">
            <a:avLst/>
          </a:prstGeom>
        </p:spPr>
        <p:txBody>
          <a:bodyPr lIns="0" tIns="0" rIns="0" bIns="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4000"/>
              </a:lnSpc>
              <a:spcBef>
                <a:spcPts val="0"/>
              </a:spcBef>
              <a:spcAft>
                <a:spcPts val="1200"/>
              </a:spcAft>
              <a:buNone/>
              <a:defRPr/>
            </a:pPr>
            <a:r>
              <a:rPr lang="en-US" sz="1600">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Compute replicas</a:t>
            </a:r>
          </a:p>
          <a:p>
            <a:pPr marL="0" indent="0">
              <a:lnSpc>
                <a:spcPct val="114000"/>
              </a:lnSpc>
              <a:spcBef>
                <a:spcPts val="0"/>
              </a:spcBef>
              <a:spcAft>
                <a:spcPts val="600"/>
              </a:spcAft>
              <a:buNone/>
              <a:defRPr/>
            </a:pPr>
            <a:r>
              <a:rPr lang="en-US" sz="1600">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Run the same CNN on each GPU.</a:t>
            </a:r>
          </a:p>
          <a:p>
            <a:pPr marL="0" indent="0">
              <a:lnSpc>
                <a:spcPct val="114000"/>
              </a:lnSpc>
              <a:spcBef>
                <a:spcPts val="0"/>
              </a:spcBef>
              <a:spcAft>
                <a:spcPts val="600"/>
              </a:spcAft>
              <a:buNone/>
              <a:defRPr/>
            </a:pPr>
            <a:r>
              <a:rPr lang="en-US" sz="1600">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Use one cuDNN handle per GPU.</a:t>
            </a:r>
          </a:p>
          <a:p>
            <a:pPr marL="0" indent="0">
              <a:lnSpc>
                <a:spcPct val="114000"/>
              </a:lnSpc>
              <a:spcBef>
                <a:spcPts val="0"/>
              </a:spcBef>
              <a:spcAft>
                <a:spcPts val="600"/>
              </a:spcAft>
              <a:buNone/>
              <a:defRPr/>
            </a:pPr>
            <a:r>
              <a:rPr lang="en-US" sz="1600">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Launch on the device stream.</a:t>
            </a:r>
            <a:endParaRPr lang="en-US" sz="1600" dirty="0">
              <a:solidFill>
                <a:srgbClr val="FFFFFF"/>
              </a:solidFill>
              <a:latin typeface="Helvetica Neue" panose="02000503000000020004"/>
              <a:ea typeface="Helvetica Neue" panose="02000503000000020004" pitchFamily="2" charset="0"/>
              <a:cs typeface="Helvetica Neue" panose="02000503000000020004" pitchFamily="2" charset="0"/>
              <a:sym typeface="OpenAI Sans"/>
            </a:endParaRPr>
          </a:p>
        </p:txBody>
      </p:sp>
      <p:sp>
        <p:nvSpPr>
          <p:cNvPr id="15" name="Text Placeholder 16">
            <a:extLst>
              <a:ext uri="{FF2B5EF4-FFF2-40B4-BE49-F238E27FC236}">
                <a16:creationId xmlns:a16="http://schemas.microsoft.com/office/drawing/2014/main" id="{B3EA0E10-C778-6971-AFB5-9B9B52B082D5}"/>
              </a:ext>
            </a:extLst>
          </p:cNvPr>
          <p:cNvSpPr txBox="1">
            <a:spLocks/>
          </p:cNvSpPr>
          <p:nvPr/>
        </p:nvSpPr>
        <p:spPr>
          <a:xfrm>
            <a:off x="399873" y="3822700"/>
            <a:ext cx="3156125" cy="1586256"/>
          </a:xfrm>
          <a:prstGeom prst="rect">
            <a:avLst/>
          </a:prstGeom>
        </p:spPr>
        <p:txBody>
          <a:bodyPr lIns="0" tIns="0" rIns="0" bIns="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4000"/>
              </a:lnSpc>
              <a:spcBef>
                <a:spcPts val="0"/>
              </a:spcBef>
              <a:spcAft>
                <a:spcPts val="1200"/>
              </a:spcAft>
              <a:buNone/>
              <a:defRPr/>
            </a:pPr>
            <a:r>
              <a:rPr lang="en-US" sz="1600">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Scatter the batch</a:t>
            </a:r>
          </a:p>
          <a:p>
            <a:pPr marL="0" indent="0">
              <a:lnSpc>
                <a:spcPct val="114000"/>
              </a:lnSpc>
              <a:spcBef>
                <a:spcPts val="0"/>
              </a:spcBef>
              <a:spcAft>
                <a:spcPts val="600"/>
              </a:spcAft>
              <a:buNone/>
              <a:defRPr/>
            </a:pPr>
            <a:r>
              <a:rPr lang="en-US" sz="1600">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Global batch: 64 images.</a:t>
            </a:r>
          </a:p>
          <a:p>
            <a:pPr marL="0" indent="0">
              <a:lnSpc>
                <a:spcPct val="114000"/>
              </a:lnSpc>
              <a:spcBef>
                <a:spcPts val="0"/>
              </a:spcBef>
              <a:spcAft>
                <a:spcPts val="600"/>
              </a:spcAft>
              <a:buNone/>
              <a:defRPr/>
            </a:pPr>
            <a:r>
              <a:rPr lang="en-US" sz="1600">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Each GPU receives 32.</a:t>
            </a:r>
          </a:p>
          <a:p>
            <a:pPr marL="0" indent="0">
              <a:lnSpc>
                <a:spcPct val="114000"/>
              </a:lnSpc>
              <a:spcBef>
                <a:spcPts val="0"/>
              </a:spcBef>
              <a:spcAft>
                <a:spcPts val="600"/>
              </a:spcAft>
              <a:buNone/>
              <a:defRPr/>
            </a:pPr>
            <a:r>
              <a:rPr lang="en-US" sz="1600">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Each replica has model weights.</a:t>
            </a:r>
            <a:endParaRPr lang="en-US" sz="1600" dirty="0">
              <a:solidFill>
                <a:srgbClr val="FFFFFF"/>
              </a:solidFill>
              <a:latin typeface="Helvetica Neue" panose="02000503000000020004"/>
              <a:ea typeface="Helvetica Neue" panose="02000503000000020004" pitchFamily="2" charset="0"/>
              <a:cs typeface="Helvetica Neue" panose="02000503000000020004" pitchFamily="2" charset="0"/>
              <a:sym typeface="OpenAI Sans"/>
            </a:endParaRPr>
          </a:p>
        </p:txBody>
      </p:sp>
      <p:sp>
        <p:nvSpPr>
          <p:cNvPr id="19" name="Text Placeholder 16">
            <a:extLst>
              <a:ext uri="{FF2B5EF4-FFF2-40B4-BE49-F238E27FC236}">
                <a16:creationId xmlns:a16="http://schemas.microsoft.com/office/drawing/2014/main" id="{5A9F39A9-7A23-0F85-F761-1AB9FA6B8FDE}"/>
              </a:ext>
            </a:extLst>
          </p:cNvPr>
          <p:cNvSpPr txBox="1">
            <a:spLocks/>
          </p:cNvSpPr>
          <p:nvPr/>
        </p:nvSpPr>
        <p:spPr>
          <a:xfrm>
            <a:off x="8177917" y="3822700"/>
            <a:ext cx="3156125" cy="1586256"/>
          </a:xfrm>
          <a:prstGeom prst="rect">
            <a:avLst/>
          </a:prstGeom>
        </p:spPr>
        <p:txBody>
          <a:bodyPr lIns="0" tIns="0" rIns="0" bIns="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4000"/>
              </a:lnSpc>
              <a:spcBef>
                <a:spcPts val="0"/>
              </a:spcBef>
              <a:spcAft>
                <a:spcPts val="1200"/>
              </a:spcAft>
              <a:buNone/>
              <a:defRPr/>
            </a:pPr>
            <a:r>
              <a:rPr lang="en-US" sz="1600">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Gather and update</a:t>
            </a:r>
          </a:p>
          <a:p>
            <a:pPr marL="0" indent="0">
              <a:lnSpc>
                <a:spcPct val="114000"/>
              </a:lnSpc>
              <a:spcBef>
                <a:spcPts val="0"/>
              </a:spcBef>
              <a:spcAft>
                <a:spcPts val="600"/>
              </a:spcAft>
              <a:buNone/>
              <a:defRPr/>
            </a:pPr>
            <a:r>
              <a:rPr lang="en-US" sz="1600">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Gather logits on GPU 0.</a:t>
            </a:r>
          </a:p>
          <a:p>
            <a:pPr marL="0" indent="0">
              <a:lnSpc>
                <a:spcPct val="114000"/>
              </a:lnSpc>
              <a:spcBef>
                <a:spcPts val="0"/>
              </a:spcBef>
              <a:spcAft>
                <a:spcPts val="600"/>
              </a:spcAft>
              <a:buNone/>
              <a:defRPr/>
            </a:pPr>
            <a:r>
              <a:rPr lang="en-US" sz="1600">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Compute one global mean loss.</a:t>
            </a:r>
          </a:p>
          <a:p>
            <a:pPr marL="0" indent="0">
              <a:lnSpc>
                <a:spcPct val="114000"/>
              </a:lnSpc>
              <a:spcBef>
                <a:spcPts val="0"/>
              </a:spcBef>
              <a:spcAft>
                <a:spcPts val="600"/>
              </a:spcAft>
              <a:buNone/>
              <a:defRPr/>
            </a:pPr>
            <a:r>
              <a:rPr lang="en-US" sz="1600">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Sum gradients and update.</a:t>
            </a:r>
            <a:endParaRPr lang="en-US" sz="1600" dirty="0">
              <a:solidFill>
                <a:srgbClr val="FFFFFF"/>
              </a:solidFill>
              <a:latin typeface="Helvetica Neue" panose="02000503000000020004"/>
              <a:ea typeface="Helvetica Neue" panose="02000503000000020004" pitchFamily="2" charset="0"/>
              <a:cs typeface="Helvetica Neue" panose="02000503000000020004" pitchFamily="2" charset="0"/>
              <a:sym typeface="OpenAI Sans"/>
            </a:endParaRPr>
          </a:p>
        </p:txBody>
      </p:sp>
    </p:spTree>
    <p:extLst>
      <p:ext uri="{BB962C8B-B14F-4D97-AF65-F5344CB8AC3E}">
        <p14:creationId xmlns:p14="http://schemas.microsoft.com/office/powerpoint/2010/main" val="29109577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531">
          <a:extLst>
            <a:ext uri="{FF2B5EF4-FFF2-40B4-BE49-F238E27FC236}">
              <a16:creationId xmlns:a16="http://schemas.microsoft.com/office/drawing/2014/main" id="{20E7F48D-6160-4C7B-F1E4-6DA13560757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39EA4C82-C623-0196-4A95-876ADF5DEE92}"/>
              </a:ext>
            </a:extLst>
          </p:cNvPr>
          <p:cNvSpPr>
            <a:spLocks noGrp="1"/>
          </p:cNvSpPr>
          <p:nvPr>
            <p:ph type="ftr" sz="quarter" idx="3"/>
          </p:nvPr>
        </p:nvSpPr>
        <p:spPr>
          <a:xfrm>
            <a:off x="393700" y="6279952"/>
            <a:ext cx="3568700" cy="241240"/>
          </a:xfrm>
        </p:spPr>
        <p:txBody>
          <a:bodyPr/>
          <a:lstStyle/>
          <a:p>
            <a:endParaRPr lang="en-US" dirty="0"/>
          </a:p>
        </p:txBody>
      </p:sp>
      <p:sp>
        <p:nvSpPr>
          <p:cNvPr id="532" name="Google Shape;532;p58">
            <a:extLst>
              <a:ext uri="{FF2B5EF4-FFF2-40B4-BE49-F238E27FC236}">
                <a16:creationId xmlns:a16="http://schemas.microsoft.com/office/drawing/2014/main" id="{1BCBE750-7048-686D-1472-52C53362D6CD}"/>
              </a:ext>
            </a:extLst>
          </p:cNvPr>
          <p:cNvSpPr txBox="1">
            <a:spLocks noGrp="1"/>
          </p:cNvSpPr>
          <p:nvPr>
            <p:ph type="sldNum" sz="quarter" idx="4"/>
          </p:nvPr>
        </p:nvSpPr>
        <p:spPr>
          <a:xfrm>
            <a:off x="11279332" y="6279294"/>
            <a:ext cx="518968" cy="241240"/>
          </a:xfrm>
        </p:spPr>
        <p:txBody>
          <a:bodyPr spcFirstLastPara="1" vert="horz" wrap="square" lIns="0" tIns="0" rIns="0" bIns="0" rtlCol="0" anchor="b" anchorCtr="0">
            <a:noAutofit/>
          </a:bodyPr>
          <a:lstStyle/>
          <a:p>
            <a:r>
              <a:rPr lang="en">
                <a:sym typeface="OpenAI Sans"/>
              </a:rPr>
              <a:t>8</a:t>
            </a:r>
            <a:endParaRPr lang="en" dirty="0">
              <a:sym typeface="OpenAI Sans"/>
            </a:endParaRPr>
          </a:p>
        </p:txBody>
      </p:sp>
      <p:sp>
        <p:nvSpPr>
          <p:cNvPr id="533" name="Google Shape;533;p58">
            <a:extLst>
              <a:ext uri="{FF2B5EF4-FFF2-40B4-BE49-F238E27FC236}">
                <a16:creationId xmlns:a16="http://schemas.microsoft.com/office/drawing/2014/main" id="{1B5D55CD-1C17-7CD8-F26A-2DD65B067687}"/>
              </a:ext>
            </a:extLst>
          </p:cNvPr>
          <p:cNvSpPr txBox="1">
            <a:spLocks noGrp="1"/>
          </p:cNvSpPr>
          <p:nvPr>
            <p:ph type="title"/>
          </p:nvPr>
        </p:nvSpPr>
        <p:spPr>
          <a:xfrm>
            <a:off x="393700" y="344008"/>
            <a:ext cx="11404600" cy="1047491"/>
          </a:xfrm>
        </p:spPr>
        <p:txBody>
          <a:bodyPr spcFirstLastPara="1" vert="horz" wrap="square" lIns="0" tIns="0" rIns="0" bIns="0" rtlCol="0" anchor="t" anchorCtr="0">
            <a:noAutofit/>
          </a:bodyPr>
          <a:lstStyle/>
          <a:p>
            <a:r>
              <a:rPr lang="en-US"/>
              <a:t>Shared memory and input reuse</a:t>
            </a:r>
            <a:endParaRPr lang="en-US" dirty="0"/>
          </a:p>
        </p:txBody>
      </p:sp>
      <p:sp>
        <p:nvSpPr>
          <p:cNvPr id="7" name="Google Shape;534;p58">
            <a:extLst>
              <a:ext uri="{FF2B5EF4-FFF2-40B4-BE49-F238E27FC236}">
                <a16:creationId xmlns:a16="http://schemas.microsoft.com/office/drawing/2014/main" id="{3A923FEE-B8D2-CD3A-ABBD-21770B40AA24}"/>
              </a:ext>
            </a:extLst>
          </p:cNvPr>
          <p:cNvSpPr txBox="1">
            <a:spLocks/>
          </p:cNvSpPr>
          <p:nvPr/>
        </p:nvSpPr>
        <p:spPr>
          <a:xfrm>
            <a:off x="393700" y="2031999"/>
            <a:ext cx="5537200" cy="3534787"/>
          </a:xfrm>
          <a:prstGeom prst="rect">
            <a:avLst/>
          </a:prstGeom>
        </p:spPr>
        <p:txBody>
          <a:bodyPr spcFirstLastPara="1" vert="horz" wrap="square" lIns="0" tIns="0" rIns="0" bIns="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4000"/>
              </a:lnSpc>
              <a:spcBef>
                <a:spcPts val="0"/>
              </a:spcBef>
              <a:spcAft>
                <a:spcPts val="1200"/>
              </a:spcAft>
              <a:buNone/>
            </a:pPr>
            <a:r>
              <a:rPr lang="en-US">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The tiled CUDA version</a:t>
            </a:r>
          </a:p>
          <a:p>
            <a:pPr marL="0" indent="0">
              <a:lnSpc>
                <a:spcPct val="114000"/>
              </a:lnSpc>
              <a:spcBef>
                <a:spcPts val="0"/>
              </a:spcBef>
              <a:spcAft>
                <a:spcPts val="600"/>
              </a:spcAft>
              <a:buNone/>
            </a:pPr>
            <a:r>
              <a:rPr lang="en-US" sz="1600">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A 16x16 block computes 256 outputs.</a:t>
            </a:r>
          </a:p>
          <a:p>
            <a:pPr marL="0" indent="0">
              <a:lnSpc>
                <a:spcPct val="114000"/>
              </a:lnSpc>
              <a:spcBef>
                <a:spcPts val="0"/>
              </a:spcBef>
              <a:spcAft>
                <a:spcPts val="600"/>
              </a:spcAft>
              <a:buNone/>
            </a:pPr>
            <a:r>
              <a:rPr lang="en-US" sz="1600">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A 3x3 filter needs an 18x18 input tile.</a:t>
            </a:r>
          </a:p>
          <a:p>
            <a:pPr marL="0" indent="0">
              <a:lnSpc>
                <a:spcPct val="114000"/>
              </a:lnSpc>
              <a:spcBef>
                <a:spcPts val="0"/>
              </a:spcBef>
              <a:spcAft>
                <a:spcPts val="600"/>
              </a:spcAft>
              <a:buNone/>
            </a:pPr>
            <a:r>
              <a:rPr lang="en-US" sz="1600">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Threads load 324 input values per channel.</a:t>
            </a:r>
          </a:p>
          <a:p>
            <a:pPr marL="0" indent="0">
              <a:lnSpc>
                <a:spcPct val="114000"/>
              </a:lnSpc>
              <a:spcBef>
                <a:spcPts val="0"/>
              </a:spcBef>
              <a:spcAft>
                <a:spcPts val="600"/>
              </a:spcAft>
              <a:buNone/>
            </a:pPr>
            <a:r>
              <a:rPr lang="en-US" sz="1600">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Each thread reuses nearby tile values.</a:t>
            </a:r>
          </a:p>
          <a:p>
            <a:pPr marL="0" indent="0">
              <a:lnSpc>
                <a:spcPct val="114000"/>
              </a:lnSpc>
              <a:spcBef>
                <a:spcPts val="0"/>
              </a:spcBef>
              <a:spcAft>
                <a:spcPts val="600"/>
              </a:spcAft>
              <a:buNone/>
            </a:pPr>
            <a:endParaRPr lang="en-US" sz="1600">
              <a:solidFill>
                <a:srgbClr val="FFFFFF"/>
              </a:solidFill>
              <a:latin typeface="Helvetica Neue" panose="02000503000000020004"/>
              <a:ea typeface="Helvetica Neue" panose="02000503000000020004" pitchFamily="2" charset="0"/>
              <a:cs typeface="Helvetica Neue" panose="02000503000000020004" pitchFamily="2" charset="0"/>
              <a:sym typeface="OpenAI Sans"/>
            </a:endParaRPr>
          </a:p>
          <a:p>
            <a:pPr marL="0" indent="0">
              <a:lnSpc>
                <a:spcPct val="114000"/>
              </a:lnSpc>
              <a:spcBef>
                <a:spcPts val="0"/>
              </a:spcBef>
              <a:spcAft>
                <a:spcPts val="600"/>
              </a:spcAft>
              <a:buNone/>
            </a:pPr>
            <a:r>
              <a:rPr lang="en-US" sz="1600">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All threads meet at the barriers,</a:t>
            </a:r>
          </a:p>
          <a:p>
            <a:pPr marL="0" indent="0">
              <a:lnSpc>
                <a:spcPct val="114000"/>
              </a:lnSpc>
              <a:spcBef>
                <a:spcPts val="0"/>
              </a:spcBef>
              <a:spcAft>
                <a:spcPts val="600"/>
              </a:spcAft>
              <a:buNone/>
            </a:pPr>
            <a:r>
              <a:rPr lang="en-US" sz="1600">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including threads in a partial edge block.</a:t>
            </a:r>
            <a:endParaRPr lang="en-US" sz="1600" dirty="0">
              <a:solidFill>
                <a:srgbClr val="FFFFFF"/>
              </a:solidFill>
              <a:latin typeface="Helvetica Neue" panose="02000503000000020004"/>
              <a:ea typeface="Helvetica Neue" panose="02000503000000020004" pitchFamily="2" charset="0"/>
              <a:cs typeface="Helvetica Neue" panose="02000503000000020004" pitchFamily="2" charset="0"/>
              <a:sym typeface="OpenAI Sans"/>
            </a:endParaRPr>
          </a:p>
        </p:txBody>
      </p:sp>
      <p:sp>
        <p:nvSpPr>
          <p:cNvPr id="8" name="Content Placeholder 3">
            <a:extLst>
              <a:ext uri="{FF2B5EF4-FFF2-40B4-BE49-F238E27FC236}">
                <a16:creationId xmlns:a16="http://schemas.microsoft.com/office/drawing/2014/main" id="{2EE8F343-A95F-2AAA-FE9E-A6C31E298DF7}"/>
              </a:ext>
            </a:extLst>
          </p:cNvPr>
          <p:cNvSpPr txBox="1">
            <a:spLocks/>
          </p:cNvSpPr>
          <p:nvPr/>
        </p:nvSpPr>
        <p:spPr>
          <a:xfrm>
            <a:off x="6256618" y="2031999"/>
            <a:ext cx="5537200" cy="3534787"/>
          </a:xfrm>
          <a:prstGeom prst="rect">
            <a:avLst/>
          </a:prstGeom>
        </p:spPr>
        <p:txBody>
          <a:bodyPr lIns="0" tIns="0" rIns="0" bIns="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4000"/>
              </a:lnSpc>
              <a:spcBef>
                <a:spcPts val="0"/>
              </a:spcBef>
              <a:spcAft>
                <a:spcPts val="1200"/>
              </a:spcAft>
              <a:buNone/>
              <a:defRPr/>
            </a:pPr>
            <a:r>
              <a:rPr lang="en-US">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Why reuse can help</a:t>
            </a:r>
          </a:p>
          <a:p>
            <a:pPr marL="0" indent="0">
              <a:lnSpc>
                <a:spcPct val="114000"/>
              </a:lnSpc>
              <a:spcBef>
                <a:spcPts val="0"/>
              </a:spcBef>
              <a:spcAft>
                <a:spcPts val="600"/>
              </a:spcAft>
              <a:buNone/>
              <a:defRPr/>
            </a:pPr>
            <a:r>
              <a:rPr lang="en-US" sz="1600">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Direct code requests overlapping pixels.</a:t>
            </a:r>
          </a:p>
          <a:p>
            <a:pPr marL="0" indent="0">
              <a:lnSpc>
                <a:spcPct val="114000"/>
              </a:lnSpc>
              <a:spcBef>
                <a:spcPts val="0"/>
              </a:spcBef>
              <a:spcAft>
                <a:spcPts val="600"/>
              </a:spcAft>
              <a:buNone/>
              <a:defRPr/>
            </a:pPr>
            <a:r>
              <a:rPr lang="en-US" sz="1600">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Shared memory keeps a tile on the SM.</a:t>
            </a:r>
          </a:p>
          <a:p>
            <a:pPr marL="0" indent="0">
              <a:lnSpc>
                <a:spcPct val="114000"/>
              </a:lnSpc>
              <a:spcBef>
                <a:spcPts val="0"/>
              </a:spcBef>
              <a:spcAft>
                <a:spcPts val="600"/>
              </a:spcAft>
              <a:buNone/>
              <a:defRPr/>
            </a:pPr>
            <a:r>
              <a:rPr lang="en-US" sz="1600">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Adjacent global accesses also help coalescing.</a:t>
            </a:r>
          </a:p>
          <a:p>
            <a:pPr marL="0" indent="0">
              <a:lnSpc>
                <a:spcPct val="114000"/>
              </a:lnSpc>
              <a:spcBef>
                <a:spcPts val="0"/>
              </a:spcBef>
              <a:spcAft>
                <a:spcPts val="600"/>
              </a:spcAft>
              <a:buNone/>
              <a:defRPr/>
            </a:pPr>
            <a:endParaRPr lang="en-US" sz="1600">
              <a:solidFill>
                <a:srgbClr val="FFFFFF"/>
              </a:solidFill>
              <a:latin typeface="Helvetica Neue" panose="02000503000000020004"/>
              <a:ea typeface="Helvetica Neue" panose="02000503000000020004" pitchFamily="2" charset="0"/>
              <a:cs typeface="Helvetica Neue" panose="02000503000000020004" pitchFamily="2" charset="0"/>
              <a:sym typeface="OpenAI Sans"/>
            </a:endParaRPr>
          </a:p>
          <a:p>
            <a:pPr marL="0" indent="0">
              <a:lnSpc>
                <a:spcPct val="114000"/>
              </a:lnSpc>
              <a:spcBef>
                <a:spcPts val="0"/>
              </a:spcBef>
              <a:spcAft>
                <a:spcPts val="600"/>
              </a:spcAft>
              <a:buNone/>
              <a:defRPr/>
            </a:pPr>
            <a:r>
              <a:rPr lang="en-US" sz="1600">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Tiling adds loading and synchronization.</a:t>
            </a:r>
          </a:p>
          <a:p>
            <a:pPr marL="0" indent="0">
              <a:lnSpc>
                <a:spcPct val="114000"/>
              </a:lnSpc>
              <a:spcBef>
                <a:spcPts val="0"/>
              </a:spcBef>
              <a:spcAft>
                <a:spcPts val="600"/>
              </a:spcAft>
              <a:buNone/>
              <a:defRPr/>
            </a:pPr>
            <a:r>
              <a:rPr lang="en-US" sz="1600">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Small inputs may gain little or run slower.</a:t>
            </a:r>
          </a:p>
          <a:p>
            <a:pPr marL="0" indent="0">
              <a:lnSpc>
                <a:spcPct val="114000"/>
              </a:lnSpc>
              <a:spcBef>
                <a:spcPts val="0"/>
              </a:spcBef>
              <a:spcAft>
                <a:spcPts val="600"/>
              </a:spcAft>
              <a:buNone/>
              <a:defRPr/>
            </a:pPr>
            <a:r>
              <a:rPr lang="en-US" sz="1600">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The benchmark decides whether it helps.</a:t>
            </a:r>
            <a:endParaRPr lang="en-US" sz="1600" dirty="0">
              <a:solidFill>
                <a:srgbClr val="FFFFFF"/>
              </a:solidFill>
              <a:latin typeface="Helvetica Neue" panose="02000503000000020004"/>
              <a:ea typeface="Helvetica Neue" panose="02000503000000020004" pitchFamily="2" charset="0"/>
              <a:cs typeface="Helvetica Neue" panose="02000503000000020004" pitchFamily="2" charset="0"/>
              <a:sym typeface="OpenAI Sans"/>
            </a:endParaRPr>
          </a:p>
        </p:txBody>
      </p:sp>
    </p:spTree>
    <p:extLst>
      <p:ext uri="{BB962C8B-B14F-4D97-AF65-F5344CB8AC3E}">
        <p14:creationId xmlns:p14="http://schemas.microsoft.com/office/powerpoint/2010/main" val="348028969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531">
          <a:extLst>
            <a:ext uri="{FF2B5EF4-FFF2-40B4-BE49-F238E27FC236}">
              <a16:creationId xmlns:a16="http://schemas.microsoft.com/office/drawing/2014/main" id="{2BA2FB56-6C9E-95EC-5732-389D81A1924E}"/>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357537-167D-0462-A21D-DD8E87444BE4}"/>
              </a:ext>
            </a:extLst>
          </p:cNvPr>
          <p:cNvSpPr>
            <a:spLocks noGrp="1"/>
          </p:cNvSpPr>
          <p:nvPr>
            <p:ph type="ftr" sz="quarter" idx="3"/>
          </p:nvPr>
        </p:nvSpPr>
        <p:spPr>
          <a:xfrm>
            <a:off x="393700" y="6279952"/>
            <a:ext cx="3568700" cy="241240"/>
          </a:xfrm>
        </p:spPr>
        <p:txBody>
          <a:bodyPr/>
          <a:lstStyle/>
          <a:p>
            <a:endParaRPr lang="en-US" dirty="0"/>
          </a:p>
        </p:txBody>
      </p:sp>
      <p:sp>
        <p:nvSpPr>
          <p:cNvPr id="532" name="Google Shape;532;p58">
            <a:extLst>
              <a:ext uri="{FF2B5EF4-FFF2-40B4-BE49-F238E27FC236}">
                <a16:creationId xmlns:a16="http://schemas.microsoft.com/office/drawing/2014/main" id="{27489CDA-073D-5D98-B832-86AD74222B71}"/>
              </a:ext>
            </a:extLst>
          </p:cNvPr>
          <p:cNvSpPr txBox="1">
            <a:spLocks noGrp="1"/>
          </p:cNvSpPr>
          <p:nvPr>
            <p:ph type="sldNum" sz="quarter" idx="4"/>
          </p:nvPr>
        </p:nvSpPr>
        <p:spPr>
          <a:xfrm>
            <a:off x="11279332" y="6279294"/>
            <a:ext cx="518968" cy="241240"/>
          </a:xfrm>
        </p:spPr>
        <p:txBody>
          <a:bodyPr spcFirstLastPara="1" vert="horz" wrap="square" lIns="0" tIns="0" rIns="0" bIns="0" rtlCol="0" anchor="b" anchorCtr="0">
            <a:noAutofit/>
          </a:bodyPr>
          <a:lstStyle/>
          <a:p>
            <a:r>
              <a:rPr lang="en">
                <a:sym typeface="OpenAI Sans"/>
              </a:rPr>
              <a:t>9</a:t>
            </a:r>
            <a:endParaRPr lang="en" dirty="0">
              <a:sym typeface="OpenAI Sans"/>
            </a:endParaRPr>
          </a:p>
        </p:txBody>
      </p:sp>
      <p:sp>
        <p:nvSpPr>
          <p:cNvPr id="533" name="Google Shape;533;p58">
            <a:extLst>
              <a:ext uri="{FF2B5EF4-FFF2-40B4-BE49-F238E27FC236}">
                <a16:creationId xmlns:a16="http://schemas.microsoft.com/office/drawing/2014/main" id="{08EBC4B8-BBC1-7C2A-F77D-BEC6394B0F93}"/>
              </a:ext>
            </a:extLst>
          </p:cNvPr>
          <p:cNvSpPr txBox="1">
            <a:spLocks noGrp="1"/>
          </p:cNvSpPr>
          <p:nvPr>
            <p:ph type="title"/>
          </p:nvPr>
        </p:nvSpPr>
        <p:spPr>
          <a:xfrm>
            <a:off x="393700" y="344008"/>
            <a:ext cx="11404600" cy="1047491"/>
          </a:xfrm>
        </p:spPr>
        <p:txBody>
          <a:bodyPr spcFirstLastPara="1" vert="horz" wrap="square" lIns="0" tIns="0" rIns="0" bIns="0" rtlCol="0" anchor="t" anchorCtr="0">
            <a:noAutofit/>
          </a:bodyPr>
          <a:lstStyle/>
          <a:p>
            <a:r>
              <a:rPr lang="en-US"/>
              <a:t>Measured CNN performance</a:t>
            </a:r>
            <a:endParaRPr lang="en-US" dirty="0"/>
          </a:p>
        </p:txBody>
      </p:sp>
      <p:sp>
        <p:nvSpPr>
          <p:cNvPr id="14" name="Content Placeholder 15">
            <a:extLst>
              <a:ext uri="{FF2B5EF4-FFF2-40B4-BE49-F238E27FC236}">
                <a16:creationId xmlns:a16="http://schemas.microsoft.com/office/drawing/2014/main" id="{D81689CF-E5CF-3072-801D-DC2D321D4955}"/>
              </a:ext>
            </a:extLst>
          </p:cNvPr>
          <p:cNvSpPr txBox="1">
            <a:spLocks/>
          </p:cNvSpPr>
          <p:nvPr/>
        </p:nvSpPr>
        <p:spPr>
          <a:xfrm>
            <a:off x="400939" y="1057501"/>
            <a:ext cx="11404599" cy="1012250"/>
          </a:xfrm>
          <a:prstGeom prst="rect">
            <a:avLst/>
          </a:prstGeom>
        </p:spPr>
        <p:txBody>
          <a:bodyPr vert="horz" lIns="0" tIns="0" rIns="0" bIns="0" rtlCol="0">
            <a:noAutofit/>
          </a:bodyPr>
          <a:lstStyle>
            <a:lvl1pPr marL="0" indent="0" algn="l" defTabSz="914400" rtl="0" eaLnBrk="1" latinLnBrk="0" hangingPunct="1">
              <a:lnSpc>
                <a:spcPct val="90000"/>
              </a:lnSpc>
              <a:spcBef>
                <a:spcPts val="1000"/>
              </a:spcBef>
              <a:spcAft>
                <a:spcPts val="800"/>
              </a:spcAft>
              <a:buFont typeface="Arial" panose="020B0604020202020204" pitchFamily="34" charset="0"/>
              <a:buNone/>
              <a:defRPr sz="1600" kern="1200">
                <a:solidFill>
                  <a:schemeClr val="tx1"/>
                </a:solidFill>
                <a:latin typeface="+mn-lt"/>
                <a:ea typeface="+mn-ea"/>
                <a:cs typeface="+mn-cs"/>
              </a:defRPr>
            </a:lvl1pPr>
            <a:lvl2pPr marL="457200" indent="0" algn="l" defTabSz="914400" rtl="0" eaLnBrk="1" latinLnBrk="0" hangingPunct="1">
              <a:lnSpc>
                <a:spcPct val="90000"/>
              </a:lnSpc>
              <a:spcBef>
                <a:spcPts val="500"/>
              </a:spcBef>
              <a:spcAft>
                <a:spcPts val="800"/>
              </a:spcAft>
              <a:buFont typeface="Arial" panose="020B0604020202020204" pitchFamily="34" charset="0"/>
              <a:buNone/>
              <a:defRPr sz="1600" kern="1200">
                <a:solidFill>
                  <a:schemeClr val="tx1"/>
                </a:solidFill>
                <a:latin typeface="+mn-lt"/>
                <a:ea typeface="+mn-ea"/>
                <a:cs typeface="+mn-cs"/>
              </a:defRPr>
            </a:lvl2pPr>
            <a:lvl3pPr marL="914400" indent="0" algn="l" defTabSz="914400" rtl="0" eaLnBrk="1" latinLnBrk="0" hangingPunct="1">
              <a:lnSpc>
                <a:spcPct val="90000"/>
              </a:lnSpc>
              <a:spcBef>
                <a:spcPts val="500"/>
              </a:spcBef>
              <a:spcAft>
                <a:spcPts val="800"/>
              </a:spcAft>
              <a:buFont typeface="Arial" panose="020B0604020202020204" pitchFamily="34" charset="0"/>
              <a:buNone/>
              <a:defRPr sz="1600" kern="1200">
                <a:solidFill>
                  <a:schemeClr val="tx1"/>
                </a:solidFill>
                <a:latin typeface="+mn-lt"/>
                <a:ea typeface="+mn-ea"/>
                <a:cs typeface="+mn-cs"/>
              </a:defRPr>
            </a:lvl3pPr>
            <a:lvl4pPr marL="1371600" indent="0" algn="l" defTabSz="914400" rtl="0" eaLnBrk="1" latinLnBrk="0" hangingPunct="1">
              <a:lnSpc>
                <a:spcPct val="90000"/>
              </a:lnSpc>
              <a:spcBef>
                <a:spcPts val="500"/>
              </a:spcBef>
              <a:spcAft>
                <a:spcPts val="800"/>
              </a:spcAft>
              <a:buFont typeface="Arial" panose="020B0604020202020204" pitchFamily="34" charset="0"/>
              <a:buNone/>
              <a:defRPr sz="1600" kern="1200">
                <a:solidFill>
                  <a:schemeClr val="tx1"/>
                </a:solidFill>
                <a:latin typeface="+mn-lt"/>
                <a:ea typeface="+mn-ea"/>
                <a:cs typeface="+mn-cs"/>
              </a:defRPr>
            </a:lvl4pPr>
            <a:lvl5pPr marL="1828800" indent="0" algn="l" defTabSz="914400" rtl="0" eaLnBrk="1" latinLnBrk="0" hangingPunct="1">
              <a:lnSpc>
                <a:spcPct val="90000"/>
              </a:lnSpc>
              <a:spcBef>
                <a:spcPts val="500"/>
              </a:spcBef>
              <a:spcAft>
                <a:spcPts val="800"/>
              </a:spcAft>
              <a:buFont typeface="Arial" panose="020B0604020202020204" pitchFamily="34" charset="0"/>
              <a:buNone/>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14000"/>
              </a:lnSpc>
              <a:spcBef>
                <a:spcPts val="0"/>
              </a:spcBef>
              <a:spcAft>
                <a:spcPts val="1200"/>
              </a:spcAft>
              <a:defRPr/>
            </a:pPr>
            <a:r>
              <a:rPr lang="en-US" sz="1800">
                <a:solidFill>
                  <a:srgbClr val="FFFFFF"/>
                </a:solidFill>
                <a:latin typeface="Helvetica Neue" panose="02000503000000020004"/>
                <a:ea typeface="Helvetica Neue Medium" panose="02000503000000020004" pitchFamily="2" charset="0"/>
                <a:cs typeface="Helvetica Neue Medium" panose="02000503000000020004" pitchFamily="2" charset="0"/>
                <a:sym typeface="OpenAI Sans"/>
              </a:rPr>
              <a:t>50 epochs, 10% MNIST subset, Kaggle T4 x2</a:t>
            </a:r>
          </a:p>
          <a:p>
            <a:pPr>
              <a:lnSpc>
                <a:spcPct val="114000"/>
              </a:lnSpc>
              <a:spcBef>
                <a:spcPts val="0"/>
              </a:spcBef>
              <a:spcAft>
                <a:spcPts val="600"/>
              </a:spcAft>
              <a:defRPr/>
            </a:pPr>
            <a:r>
              <a:rPr lang="en-US">
                <a:solidFill>
                  <a:srgbClr val="FFFFFF"/>
                </a:solidFill>
                <a:latin typeface="Helvetica Neue" panose="02000503000000020004"/>
                <a:ea typeface="Helvetica Neue Medium" panose="02000503000000020004" pitchFamily="2" charset="0"/>
                <a:cs typeface="Helvetica Neue Medium" panose="02000503000000020004" pitchFamily="2" charset="0"/>
                <a:sym typeface="OpenAI Sans"/>
              </a:rPr>
              <a:t>One-digit wall latency. Batch one uses one replica. Two-GPU training splits 64 images.</a:t>
            </a:r>
            <a:endParaRPr lang="en-US" dirty="0">
              <a:solidFill>
                <a:srgbClr val="FFFFFF"/>
              </a:solidFill>
              <a:latin typeface="Helvetica Neue" panose="02000503000000020004"/>
              <a:ea typeface="Helvetica Neue" panose="02000503000000020004" pitchFamily="2" charset="0"/>
              <a:cs typeface="Helvetica Neue" panose="02000503000000020004" pitchFamily="2" charset="0"/>
              <a:sym typeface="OpenAI Sans"/>
            </a:endParaRPr>
          </a:p>
        </p:txBody>
      </p:sp>
      <p:graphicFrame>
        <p:nvGraphicFramePr>
          <p:cNvPr id="2" name="Google Shape;644;p93">
            <a:extLst>
              <a:ext uri="{FF2B5EF4-FFF2-40B4-BE49-F238E27FC236}">
                <a16:creationId xmlns:a16="http://schemas.microsoft.com/office/drawing/2014/main" id="{5B92C96C-AF80-E8E3-2109-4D6822E5E41E}"/>
              </a:ext>
            </a:extLst>
          </p:cNvPr>
          <p:cNvGraphicFramePr/>
          <p:nvPr>
            <p:extLst>
              <p:ext uri="{D42A27DB-BD31-4B8C-83A1-F6EECF244321}">
                <p14:modId xmlns:p14="http://schemas.microsoft.com/office/powerpoint/2010/main" val="2599861505"/>
              </p:ext>
            </p:extLst>
          </p:nvPr>
        </p:nvGraphicFramePr>
        <p:xfrm>
          <a:off x="393700" y="2251080"/>
          <a:ext cx="11404599" cy="3932614"/>
        </p:xfrm>
        <a:graphic>
          <a:graphicData uri="http://schemas.openxmlformats.org/drawingml/2006/table">
            <a:tbl>
              <a:tblPr firstRow="1">
                <a:noFill/>
              </a:tblPr>
              <a:tblGrid>
                <a:gridCol w="3906063">
                  <a:extLst>
                    <a:ext uri="{9D8B030D-6E8A-4147-A177-3AD203B41FA5}">
                      <a16:colId xmlns:a16="http://schemas.microsoft.com/office/drawing/2014/main" val="20000"/>
                    </a:ext>
                  </a:extLst>
                </a:gridCol>
                <a:gridCol w="1874634">
                  <a:extLst>
                    <a:ext uri="{9D8B030D-6E8A-4147-A177-3AD203B41FA5}">
                      <a16:colId xmlns:a16="http://schemas.microsoft.com/office/drawing/2014/main" val="20001"/>
                    </a:ext>
                  </a:extLst>
                </a:gridCol>
                <a:gridCol w="1874634">
                  <a:extLst>
                    <a:ext uri="{9D8B030D-6E8A-4147-A177-3AD203B41FA5}">
                      <a16:colId xmlns:a16="http://schemas.microsoft.com/office/drawing/2014/main" val="20002"/>
                    </a:ext>
                  </a:extLst>
                </a:gridCol>
                <a:gridCol w="1874634">
                  <a:extLst>
                    <a:ext uri="{9D8B030D-6E8A-4147-A177-3AD203B41FA5}">
                      <a16:colId xmlns:a16="http://schemas.microsoft.com/office/drawing/2014/main" val="20003"/>
                    </a:ext>
                  </a:extLst>
                </a:gridCol>
                <a:gridCol w="1874634">
                  <a:extLst>
                    <a:ext uri="{9D8B030D-6E8A-4147-A177-3AD203B41FA5}">
                      <a16:colId xmlns:a16="http://schemas.microsoft.com/office/drawing/2014/main" val="20004"/>
                    </a:ext>
                  </a:extLst>
                </a:gridCol>
              </a:tblGrid>
              <a:tr h="457200">
                <a:tc>
                  <a:txBody>
                    <a:bodyPr/>
                    <a:lstStyle/>
                    <a:p>
                      <a:pPr marL="0" lvl="0" indent="0" algn="l" rtl="0">
                        <a:lnSpc>
                          <a:spcPct val="110000"/>
                        </a:lnSpc>
                        <a:spcBef>
                          <a:spcPts val="0"/>
                        </a:spcBef>
                        <a:spcAft>
                          <a:spcPts val="700"/>
                        </a:spcAft>
                        <a:buFontTx/>
                        <a:buNone/>
                      </a:pPr>
                      <a:r>
                        <a:rPr lang="en-US" sz="1400" b="1">
                          <a:solidFill>
                            <a:srgbClr val="FFFFFF"/>
                          </a:solidFill>
                          <a:latin typeface="Helvetica Neue" panose="02000503000000020004"/>
                          <a:ea typeface="OpenAI Sans"/>
                          <a:cs typeface="OpenAI Sans"/>
                          <a:sym typeface="OpenAI Sans"/>
                        </a:rPr>
                        <a:t>Implementation</a:t>
                      </a:r>
                      <a:endParaRPr sz="1400" b="1" dirty="0">
                        <a:solidFill>
                          <a:srgbClr val="FFFFFF"/>
                        </a:solidFill>
                        <a:latin typeface="Helvetica Neue" panose="02000503000000020004"/>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19050" cap="flat" cmpd="sng" algn="ctr">
                      <a:solidFill>
                        <a:schemeClr val="tx1"/>
                      </a:solidFill>
                      <a:prstDash val="solid"/>
                      <a:round/>
                      <a:headEnd type="none" w="med" len="med"/>
                      <a:tailEnd type="none" w="med" len="med"/>
                    </a:lnB>
                  </a:tcPr>
                </a:tc>
                <a:tc>
                  <a:txBody>
                    <a:bodyPr/>
                    <a:lstStyle/>
                    <a:p>
                      <a:pPr marL="0" lvl="0" indent="0" algn="l" rtl="0">
                        <a:lnSpc>
                          <a:spcPct val="110000"/>
                        </a:lnSpc>
                        <a:spcBef>
                          <a:spcPts val="0"/>
                        </a:spcBef>
                        <a:spcAft>
                          <a:spcPts val="700"/>
                        </a:spcAft>
                        <a:buClr>
                          <a:srgbClr val="000000"/>
                        </a:buClr>
                        <a:buSzPts val="1200"/>
                        <a:buFontTx/>
                        <a:buNone/>
                      </a:pPr>
                      <a:r>
                        <a:rPr lang="en-US" sz="1400" b="1">
                          <a:solidFill>
                            <a:srgbClr val="FFFFFF"/>
                          </a:solidFill>
                          <a:latin typeface="Helvetica Neue" panose="02000503000000020004"/>
                          <a:ea typeface="OpenAI Sans"/>
                          <a:cs typeface="OpenAI Sans"/>
                          <a:sym typeface="OpenAI Sans"/>
                        </a:rPr>
                        <a:t>Conv (us)</a:t>
                      </a:r>
                      <a:endParaRPr sz="1400" b="1" dirty="0">
                        <a:solidFill>
                          <a:srgbClr val="FFFFFF"/>
                        </a:solidFill>
                        <a:latin typeface="Helvetica Neue" panose="02000503000000020004"/>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19050" cap="flat" cmpd="sng" algn="ctr">
                      <a:solidFill>
                        <a:schemeClr val="tx1"/>
                      </a:solidFill>
                      <a:prstDash val="solid"/>
                      <a:round/>
                      <a:headEnd type="none" w="med" len="med"/>
                      <a:tailEnd type="none" w="med" len="med"/>
                    </a:lnB>
                  </a:tcPr>
                </a:tc>
                <a:tc>
                  <a:txBody>
                    <a:bodyPr/>
                    <a:lstStyle/>
                    <a:p>
                      <a:pPr marL="0" lvl="0" indent="0" algn="l" rtl="0">
                        <a:lnSpc>
                          <a:spcPct val="110000"/>
                        </a:lnSpc>
                        <a:spcBef>
                          <a:spcPts val="0"/>
                        </a:spcBef>
                        <a:spcAft>
                          <a:spcPts val="700"/>
                        </a:spcAft>
                        <a:buFontTx/>
                        <a:buNone/>
                      </a:pPr>
                      <a:r>
                        <a:rPr lang="en-US" sz="1400" b="1">
                          <a:solidFill>
                            <a:srgbClr val="FFFFFF"/>
                          </a:solidFill>
                          <a:latin typeface="Helvetica Neue" panose="02000503000000020004"/>
                          <a:ea typeface="OpenAI Sans"/>
                          <a:cs typeface="OpenAI Sans"/>
                          <a:sym typeface="OpenAI Sans"/>
                        </a:rPr>
                        <a:t>Train (s)</a:t>
                      </a:r>
                      <a:endParaRPr sz="1400" b="1" dirty="0">
                        <a:solidFill>
                          <a:srgbClr val="FFFFFF"/>
                        </a:solidFill>
                        <a:latin typeface="Helvetica Neue" panose="02000503000000020004"/>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19050" cap="flat" cmpd="sng" algn="ctr">
                      <a:solidFill>
                        <a:schemeClr val="tx1"/>
                      </a:solidFill>
                      <a:prstDash val="solid"/>
                      <a:round/>
                      <a:headEnd type="none" w="med" len="med"/>
                      <a:tailEnd type="none" w="med" len="med"/>
                    </a:lnB>
                  </a:tcPr>
                </a:tc>
                <a:tc>
                  <a:txBody>
                    <a:bodyPr/>
                    <a:lstStyle/>
                    <a:p>
                      <a:pPr marL="0" lvl="0" indent="0" algn="l" rtl="0">
                        <a:lnSpc>
                          <a:spcPct val="110000"/>
                        </a:lnSpc>
                        <a:spcBef>
                          <a:spcPts val="0"/>
                        </a:spcBef>
                        <a:spcAft>
                          <a:spcPts val="700"/>
                        </a:spcAft>
                        <a:buClr>
                          <a:srgbClr val="000000"/>
                        </a:buClr>
                        <a:buSzPts val="1200"/>
                        <a:buFontTx/>
                        <a:buNone/>
                      </a:pPr>
                      <a:r>
                        <a:rPr lang="en-US" sz="1400" b="1">
                          <a:solidFill>
                            <a:srgbClr val="FFFFFF"/>
                          </a:solidFill>
                          <a:latin typeface="Helvetica Neue" panose="02000503000000020004"/>
                          <a:ea typeface="OpenAI Sans"/>
                          <a:cs typeface="OpenAI Sans"/>
                          <a:sym typeface="OpenAI Sans"/>
                        </a:rPr>
                        <a:t>Infer (us)</a:t>
                      </a:r>
                      <a:endParaRPr sz="1400" b="1" dirty="0">
                        <a:solidFill>
                          <a:srgbClr val="FFFFFF"/>
                        </a:solidFill>
                        <a:latin typeface="Helvetica Neue" panose="02000503000000020004"/>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19050" cap="flat" cmpd="sng" algn="ctr">
                      <a:solidFill>
                        <a:schemeClr val="tx1"/>
                      </a:solidFill>
                      <a:prstDash val="solid"/>
                      <a:round/>
                      <a:headEnd type="none" w="med" len="med"/>
                      <a:tailEnd type="none" w="med" len="med"/>
                    </a:lnB>
                  </a:tcPr>
                </a:tc>
                <a:tc>
                  <a:txBody>
                    <a:bodyPr/>
                    <a:lstStyle/>
                    <a:p>
                      <a:pPr marL="0" lvl="0" indent="0" algn="l" rtl="0">
                        <a:lnSpc>
                          <a:spcPct val="110000"/>
                        </a:lnSpc>
                        <a:spcBef>
                          <a:spcPts val="0"/>
                        </a:spcBef>
                        <a:spcAft>
                          <a:spcPts val="700"/>
                        </a:spcAft>
                        <a:buClr>
                          <a:srgbClr val="000000"/>
                        </a:buClr>
                        <a:buSzPts val="1200"/>
                        <a:buFontTx/>
                        <a:buNone/>
                      </a:pPr>
                      <a:r>
                        <a:rPr lang="en-US" sz="1400" b="1">
                          <a:solidFill>
                            <a:srgbClr val="FFFFFF"/>
                          </a:solidFill>
                          <a:latin typeface="Helvetica Neue" panose="02000503000000020004"/>
                          <a:ea typeface="OpenAI Sans"/>
                          <a:cs typeface="OpenAI Sans"/>
                          <a:sym typeface="OpenAI Sans"/>
                        </a:rPr>
                        <a:t>Test accuracy</a:t>
                      </a:r>
                      <a:endParaRPr sz="1400" b="1" dirty="0">
                        <a:solidFill>
                          <a:srgbClr val="FFFFFF"/>
                        </a:solidFill>
                        <a:latin typeface="Helvetica Neue" panose="02000503000000020004"/>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190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457200">
                <a:tc>
                  <a:txBody>
                    <a:bodyPr/>
                    <a:lstStyle/>
                    <a:p>
                      <a:pPr marL="0" lvl="0" indent="0" algn="l" rtl="0">
                        <a:lnSpc>
                          <a:spcPct val="110000"/>
                        </a:lnSpc>
                        <a:spcBef>
                          <a:spcPts val="0"/>
                        </a:spcBef>
                        <a:spcAft>
                          <a:spcPts val="700"/>
                        </a:spcAft>
                        <a:buFontTx/>
                        <a:buNone/>
                      </a:pPr>
                      <a:r>
                        <a:rPr lang="en-US" sz="1400" b="0">
                          <a:solidFill>
                            <a:srgbClr val="FFFFFF"/>
                          </a:solidFill>
                          <a:latin typeface="Helvetica Neue" panose="02000503000000020004"/>
                          <a:ea typeface="OpenAI Sans"/>
                          <a:cs typeface="OpenAI Sans"/>
                          <a:sym typeface="OpenAI Sans"/>
                        </a:rPr>
                        <a:t>CPU (PyTorch)</a:t>
                      </a:r>
                      <a:endParaRPr sz="1400" b="0" dirty="0">
                        <a:solidFill>
                          <a:srgbClr val="FFFFFF"/>
                        </a:solidFill>
                        <a:latin typeface="Helvetica Neue" panose="02000503000000020004"/>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l" rtl="0">
                        <a:lnSpc>
                          <a:spcPct val="110000"/>
                        </a:lnSpc>
                        <a:spcBef>
                          <a:spcPts val="0"/>
                        </a:spcBef>
                        <a:spcAft>
                          <a:spcPts val="700"/>
                        </a:spcAft>
                        <a:buFontTx/>
                        <a:buNone/>
                      </a:pPr>
                      <a:r>
                        <a:rPr lang="en-US" sz="1400" b="0">
                          <a:solidFill>
                            <a:srgbClr val="FFFFFF"/>
                          </a:solidFill>
                          <a:latin typeface="Helvetica Neue" panose="02000503000000020004"/>
                          <a:ea typeface="OpenAI Sans"/>
                          <a:cs typeface="OpenAI Sans"/>
                          <a:sym typeface="OpenAI Sans"/>
                        </a:rPr>
                        <a:t>23.80</a:t>
                      </a:r>
                      <a:endParaRPr sz="1400" b="0" dirty="0">
                        <a:solidFill>
                          <a:srgbClr val="FFFFFF"/>
                        </a:solidFill>
                        <a:latin typeface="Helvetica Neue" panose="02000503000000020004"/>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l" rtl="0">
                        <a:lnSpc>
                          <a:spcPct val="110000"/>
                        </a:lnSpc>
                        <a:spcBef>
                          <a:spcPts val="0"/>
                        </a:spcBef>
                        <a:spcAft>
                          <a:spcPts val="700"/>
                        </a:spcAft>
                        <a:buFontTx/>
                        <a:buNone/>
                      </a:pPr>
                      <a:r>
                        <a:rPr lang="en-US" sz="1400" b="0">
                          <a:solidFill>
                            <a:srgbClr val="FFFFFF"/>
                          </a:solidFill>
                          <a:latin typeface="Helvetica Neue" panose="02000503000000020004"/>
                          <a:ea typeface="OpenAI Sans"/>
                          <a:cs typeface="OpenAI Sans"/>
                          <a:sym typeface="OpenAI Sans"/>
                        </a:rPr>
                        <a:t>10.17</a:t>
                      </a:r>
                      <a:endParaRPr sz="1400" b="0" dirty="0">
                        <a:solidFill>
                          <a:srgbClr val="FFFFFF"/>
                        </a:solidFill>
                        <a:latin typeface="Helvetica Neue" panose="02000503000000020004"/>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l" rtl="0">
                        <a:lnSpc>
                          <a:spcPct val="110000"/>
                        </a:lnSpc>
                        <a:spcBef>
                          <a:spcPts val="0"/>
                        </a:spcBef>
                        <a:spcAft>
                          <a:spcPts val="700"/>
                        </a:spcAft>
                        <a:buFontTx/>
                        <a:buNone/>
                      </a:pPr>
                      <a:r>
                        <a:rPr lang="en-US" sz="1400" b="0">
                          <a:solidFill>
                            <a:srgbClr val="FFFFFF"/>
                          </a:solidFill>
                          <a:latin typeface="Helvetica Neue" panose="02000503000000020004"/>
                          <a:ea typeface="OpenAI Sans"/>
                          <a:cs typeface="OpenAI Sans"/>
                          <a:sym typeface="OpenAI Sans"/>
                        </a:rPr>
                        <a:t>83.45</a:t>
                      </a:r>
                      <a:endParaRPr sz="1400" b="0">
                        <a:solidFill>
                          <a:srgbClr val="FFFFFF"/>
                        </a:solidFill>
                        <a:latin typeface="Helvetica Neue" panose="02000503000000020004"/>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l" rtl="0">
                        <a:lnSpc>
                          <a:spcPct val="110000"/>
                        </a:lnSpc>
                        <a:spcBef>
                          <a:spcPts val="0"/>
                        </a:spcBef>
                        <a:spcAft>
                          <a:spcPts val="700"/>
                        </a:spcAft>
                        <a:buFontTx/>
                        <a:buNone/>
                      </a:pPr>
                      <a:r>
                        <a:rPr lang="en-US" sz="1400" b="0">
                          <a:solidFill>
                            <a:srgbClr val="FFFFFF"/>
                          </a:solidFill>
                          <a:latin typeface="Helvetica Neue" panose="02000503000000020004"/>
                          <a:ea typeface="OpenAI Sans"/>
                          <a:cs typeface="OpenAI Sans"/>
                          <a:sym typeface="OpenAI Sans"/>
                        </a:rPr>
                        <a:t>95.60%</a:t>
                      </a:r>
                      <a:endParaRPr sz="1400" b="0" dirty="0">
                        <a:solidFill>
                          <a:srgbClr val="FFFFFF"/>
                        </a:solidFill>
                        <a:latin typeface="Helvetica Neue" panose="02000503000000020004"/>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457200">
                <a:tc>
                  <a:txBody>
                    <a:bodyPr/>
                    <a:lstStyle/>
                    <a:p>
                      <a:pPr marL="0" lvl="0" indent="0" algn="l" rtl="0">
                        <a:lnSpc>
                          <a:spcPct val="110000"/>
                        </a:lnSpc>
                        <a:spcBef>
                          <a:spcPts val="0"/>
                        </a:spcBef>
                        <a:spcAft>
                          <a:spcPts val="700"/>
                        </a:spcAft>
                        <a:buFontTx/>
                        <a:buNone/>
                      </a:pPr>
                      <a:r>
                        <a:rPr lang="en-US" sz="1400" b="0">
                          <a:solidFill>
                            <a:srgbClr val="FFFFFF"/>
                          </a:solidFill>
                          <a:latin typeface="Helvetica Neue" panose="02000503000000020004"/>
                          <a:ea typeface="OpenAI Sans"/>
                          <a:cs typeface="OpenAI Sans"/>
                          <a:sym typeface="OpenAI Sans"/>
                        </a:rPr>
                        <a:t>Custom CUDA, 1 GPU</a:t>
                      </a:r>
                      <a:endParaRPr sz="1400" b="0" dirty="0">
                        <a:solidFill>
                          <a:srgbClr val="FFFFFF"/>
                        </a:solidFill>
                        <a:latin typeface="Helvetica Neue" panose="02000503000000020004"/>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l" rtl="0">
                        <a:lnSpc>
                          <a:spcPct val="110000"/>
                        </a:lnSpc>
                        <a:spcBef>
                          <a:spcPts val="0"/>
                        </a:spcBef>
                        <a:spcAft>
                          <a:spcPts val="700"/>
                        </a:spcAft>
                        <a:buFontTx/>
                        <a:buNone/>
                      </a:pPr>
                      <a:r>
                        <a:rPr lang="en-US" sz="1400" b="0">
                          <a:solidFill>
                            <a:srgbClr val="FFFFFF"/>
                          </a:solidFill>
                          <a:latin typeface="Helvetica Neue" panose="02000503000000020004"/>
                          <a:ea typeface="OpenAI Sans"/>
                          <a:cs typeface="OpenAI Sans"/>
                          <a:sym typeface="OpenAI Sans"/>
                        </a:rPr>
                        <a:t>62.41</a:t>
                      </a:r>
                      <a:endParaRPr sz="1400" b="0">
                        <a:solidFill>
                          <a:srgbClr val="FFFFFF"/>
                        </a:solidFill>
                        <a:latin typeface="Helvetica Neue" panose="02000503000000020004"/>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l" rtl="0">
                        <a:lnSpc>
                          <a:spcPct val="110000"/>
                        </a:lnSpc>
                        <a:spcBef>
                          <a:spcPts val="0"/>
                        </a:spcBef>
                        <a:spcAft>
                          <a:spcPts val="700"/>
                        </a:spcAft>
                        <a:buFontTx/>
                        <a:buNone/>
                      </a:pPr>
                      <a:r>
                        <a:rPr lang="en-US" sz="1400" b="0">
                          <a:solidFill>
                            <a:srgbClr val="FFFFFF"/>
                          </a:solidFill>
                          <a:latin typeface="Helvetica Neue" panose="02000503000000020004"/>
                          <a:ea typeface="OpenAI Sans"/>
                          <a:cs typeface="OpenAI Sans"/>
                          <a:sym typeface="OpenAI Sans"/>
                        </a:rPr>
                        <a:t>6.06</a:t>
                      </a:r>
                      <a:endParaRPr sz="1400" b="0">
                        <a:solidFill>
                          <a:srgbClr val="FFFFFF"/>
                        </a:solidFill>
                        <a:latin typeface="Helvetica Neue" panose="02000503000000020004"/>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l" rtl="0">
                        <a:lnSpc>
                          <a:spcPct val="110000"/>
                        </a:lnSpc>
                        <a:spcBef>
                          <a:spcPts val="0"/>
                        </a:spcBef>
                        <a:spcAft>
                          <a:spcPts val="700"/>
                        </a:spcAft>
                        <a:buFontTx/>
                        <a:buNone/>
                      </a:pPr>
                      <a:r>
                        <a:rPr lang="en-US" sz="1400" b="0">
                          <a:solidFill>
                            <a:srgbClr val="FFFFFF"/>
                          </a:solidFill>
                          <a:latin typeface="Helvetica Neue" panose="02000503000000020004"/>
                          <a:ea typeface="OpenAI Sans"/>
                          <a:cs typeface="OpenAI Sans"/>
                          <a:sym typeface="OpenAI Sans"/>
                        </a:rPr>
                        <a:t>351.39</a:t>
                      </a:r>
                      <a:endParaRPr sz="1400" b="0">
                        <a:solidFill>
                          <a:srgbClr val="FFFFFF"/>
                        </a:solidFill>
                        <a:latin typeface="Helvetica Neue" panose="02000503000000020004"/>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l" rtl="0">
                        <a:lnSpc>
                          <a:spcPct val="110000"/>
                        </a:lnSpc>
                        <a:spcBef>
                          <a:spcPts val="0"/>
                        </a:spcBef>
                        <a:spcAft>
                          <a:spcPts val="700"/>
                        </a:spcAft>
                        <a:buFontTx/>
                        <a:buNone/>
                      </a:pPr>
                      <a:r>
                        <a:rPr lang="en-US" sz="1400" b="0">
                          <a:solidFill>
                            <a:srgbClr val="FFFFFF"/>
                          </a:solidFill>
                          <a:latin typeface="Helvetica Neue" panose="02000503000000020004"/>
                          <a:ea typeface="OpenAI Sans"/>
                          <a:cs typeface="OpenAI Sans"/>
                          <a:sym typeface="OpenAI Sans"/>
                        </a:rPr>
                        <a:t>95.60%</a:t>
                      </a:r>
                      <a:endParaRPr sz="1400" b="0" dirty="0">
                        <a:solidFill>
                          <a:srgbClr val="FFFFFF"/>
                        </a:solidFill>
                        <a:latin typeface="Helvetica Neue" panose="02000503000000020004"/>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457200">
                <a:tc>
                  <a:txBody>
                    <a:bodyPr/>
                    <a:lstStyle/>
                    <a:p>
                      <a:pPr marL="0" lvl="0" indent="0" algn="l" rtl="0">
                        <a:lnSpc>
                          <a:spcPct val="110000"/>
                        </a:lnSpc>
                        <a:spcBef>
                          <a:spcPts val="0"/>
                        </a:spcBef>
                        <a:spcAft>
                          <a:spcPts val="700"/>
                        </a:spcAft>
                        <a:buFontTx/>
                        <a:buNone/>
                      </a:pPr>
                      <a:r>
                        <a:rPr lang="en-US" sz="1400" b="0">
                          <a:solidFill>
                            <a:srgbClr val="FFFFFF"/>
                          </a:solidFill>
                          <a:latin typeface="Helvetica Neue" panose="02000503000000020004"/>
                          <a:ea typeface="OpenAI Sans"/>
                          <a:cs typeface="OpenAI Sans"/>
                          <a:sym typeface="OpenAI Sans"/>
                        </a:rPr>
                        <a:t>Custom CUDA, 2 GPUs</a:t>
                      </a:r>
                      <a:endParaRPr sz="1400" b="0" dirty="0">
                        <a:solidFill>
                          <a:srgbClr val="FFFFFF"/>
                        </a:solidFill>
                        <a:latin typeface="Helvetica Neue" panose="02000503000000020004"/>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l" rtl="0">
                        <a:lnSpc>
                          <a:spcPct val="110000"/>
                        </a:lnSpc>
                        <a:spcBef>
                          <a:spcPts val="0"/>
                        </a:spcBef>
                        <a:spcAft>
                          <a:spcPts val="700"/>
                        </a:spcAft>
                        <a:buFontTx/>
                        <a:buNone/>
                      </a:pPr>
                      <a:r>
                        <a:rPr lang="en-US" sz="1400" b="0">
                          <a:solidFill>
                            <a:srgbClr val="FFFFFF"/>
                          </a:solidFill>
                          <a:latin typeface="Helvetica Neue" panose="02000503000000020004"/>
                          <a:ea typeface="OpenAI Sans"/>
                          <a:cs typeface="OpenAI Sans"/>
                          <a:sym typeface="OpenAI Sans"/>
                        </a:rPr>
                        <a:t>548.40</a:t>
                      </a:r>
                      <a:endParaRPr sz="1400" b="0" dirty="0">
                        <a:solidFill>
                          <a:srgbClr val="FFFFFF"/>
                        </a:solidFill>
                        <a:latin typeface="Helvetica Neue" panose="02000503000000020004"/>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l" rtl="0">
                        <a:lnSpc>
                          <a:spcPct val="110000"/>
                        </a:lnSpc>
                        <a:spcBef>
                          <a:spcPts val="0"/>
                        </a:spcBef>
                        <a:spcAft>
                          <a:spcPts val="700"/>
                        </a:spcAft>
                        <a:buFontTx/>
                        <a:buNone/>
                      </a:pPr>
                      <a:r>
                        <a:rPr lang="en-US" sz="1400" b="0">
                          <a:solidFill>
                            <a:srgbClr val="FFFFFF"/>
                          </a:solidFill>
                          <a:latin typeface="Helvetica Neue" panose="02000503000000020004"/>
                          <a:ea typeface="OpenAI Sans"/>
                          <a:cs typeface="OpenAI Sans"/>
                          <a:sym typeface="OpenAI Sans"/>
                        </a:rPr>
                        <a:t>15.99</a:t>
                      </a:r>
                      <a:endParaRPr sz="1400" b="0" dirty="0">
                        <a:solidFill>
                          <a:srgbClr val="FFFFFF"/>
                        </a:solidFill>
                        <a:latin typeface="Helvetica Neue" panose="02000503000000020004"/>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l" rtl="0">
                        <a:lnSpc>
                          <a:spcPct val="110000"/>
                        </a:lnSpc>
                        <a:spcBef>
                          <a:spcPts val="0"/>
                        </a:spcBef>
                        <a:spcAft>
                          <a:spcPts val="700"/>
                        </a:spcAft>
                        <a:buFontTx/>
                        <a:buNone/>
                      </a:pPr>
                      <a:r>
                        <a:rPr lang="en-US" sz="1400" b="0">
                          <a:solidFill>
                            <a:srgbClr val="FFFFFF"/>
                          </a:solidFill>
                          <a:latin typeface="Helvetica Neue" panose="02000503000000020004"/>
                          <a:ea typeface="OpenAI Sans"/>
                          <a:cs typeface="OpenAI Sans"/>
                          <a:sym typeface="OpenAI Sans"/>
                        </a:rPr>
                        <a:t>913.92</a:t>
                      </a:r>
                      <a:endParaRPr sz="1400" b="0">
                        <a:solidFill>
                          <a:srgbClr val="FFFFFF"/>
                        </a:solidFill>
                        <a:latin typeface="Helvetica Neue" panose="02000503000000020004"/>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l" rtl="0">
                        <a:lnSpc>
                          <a:spcPct val="110000"/>
                        </a:lnSpc>
                        <a:spcBef>
                          <a:spcPts val="0"/>
                        </a:spcBef>
                        <a:spcAft>
                          <a:spcPts val="700"/>
                        </a:spcAft>
                        <a:buFontTx/>
                        <a:buNone/>
                      </a:pPr>
                      <a:r>
                        <a:rPr lang="en-US" sz="1400" b="0">
                          <a:solidFill>
                            <a:srgbClr val="FFFFFF"/>
                          </a:solidFill>
                          <a:latin typeface="Helvetica Neue" panose="02000503000000020004"/>
                          <a:ea typeface="OpenAI Sans"/>
                          <a:cs typeface="OpenAI Sans"/>
                          <a:sym typeface="OpenAI Sans"/>
                        </a:rPr>
                        <a:t>95.60%</a:t>
                      </a:r>
                      <a:endParaRPr sz="1400" b="0" dirty="0">
                        <a:solidFill>
                          <a:srgbClr val="FFFFFF"/>
                        </a:solidFill>
                        <a:latin typeface="Helvetica Neue" panose="02000503000000020004"/>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457200">
                <a:tc>
                  <a:txBody>
                    <a:bodyPr/>
                    <a:lstStyle/>
                    <a:p>
                      <a:pPr marL="0" lvl="0" indent="0" algn="l" rtl="0">
                        <a:lnSpc>
                          <a:spcPct val="110000"/>
                        </a:lnSpc>
                        <a:spcBef>
                          <a:spcPts val="0"/>
                        </a:spcBef>
                        <a:spcAft>
                          <a:spcPts val="700"/>
                        </a:spcAft>
                        <a:buFontTx/>
                        <a:buNone/>
                      </a:pPr>
                      <a:r>
                        <a:rPr lang="en-US" sz="1400" b="0">
                          <a:solidFill>
                            <a:srgbClr val="FFFFFF"/>
                          </a:solidFill>
                          <a:latin typeface="Helvetica Neue" panose="02000503000000020004"/>
                          <a:ea typeface="OpenAI Sans"/>
                          <a:cs typeface="OpenAI Sans"/>
                          <a:sym typeface="OpenAI Sans"/>
                        </a:rPr>
                        <a:t>cuDNN, 1 GPU</a:t>
                      </a:r>
                      <a:endParaRPr sz="1400" b="0" dirty="0">
                        <a:solidFill>
                          <a:srgbClr val="FFFFFF"/>
                        </a:solidFill>
                        <a:latin typeface="Helvetica Neue" panose="02000503000000020004"/>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l" rtl="0">
                        <a:lnSpc>
                          <a:spcPct val="110000"/>
                        </a:lnSpc>
                        <a:spcBef>
                          <a:spcPts val="0"/>
                        </a:spcBef>
                        <a:spcAft>
                          <a:spcPts val="700"/>
                        </a:spcAft>
                        <a:buFontTx/>
                        <a:buNone/>
                      </a:pPr>
                      <a:r>
                        <a:rPr lang="en-US" sz="1400" b="0">
                          <a:solidFill>
                            <a:srgbClr val="FFFFFF"/>
                          </a:solidFill>
                          <a:latin typeface="Helvetica Neue" panose="02000503000000020004"/>
                          <a:ea typeface="OpenAI Sans"/>
                          <a:cs typeface="OpenAI Sans"/>
                          <a:sym typeface="OpenAI Sans"/>
                        </a:rPr>
                        <a:t>141.80</a:t>
                      </a:r>
                      <a:endParaRPr sz="1400" b="0" dirty="0">
                        <a:solidFill>
                          <a:srgbClr val="FFFFFF"/>
                        </a:solidFill>
                        <a:latin typeface="Helvetica Neue" panose="02000503000000020004"/>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l" rtl="0">
                        <a:lnSpc>
                          <a:spcPct val="110000"/>
                        </a:lnSpc>
                        <a:spcBef>
                          <a:spcPts val="0"/>
                        </a:spcBef>
                        <a:spcAft>
                          <a:spcPts val="700"/>
                        </a:spcAft>
                        <a:buFontTx/>
                        <a:buNone/>
                      </a:pPr>
                      <a:r>
                        <a:rPr lang="en-US" sz="1400" b="0">
                          <a:solidFill>
                            <a:srgbClr val="FFFFFF"/>
                          </a:solidFill>
                          <a:latin typeface="Helvetica Neue" panose="02000503000000020004"/>
                          <a:ea typeface="OpenAI Sans"/>
                          <a:cs typeface="OpenAI Sans"/>
                          <a:sym typeface="OpenAI Sans"/>
                        </a:rPr>
                        <a:t>6.34</a:t>
                      </a:r>
                      <a:endParaRPr sz="1400" b="0" dirty="0">
                        <a:solidFill>
                          <a:srgbClr val="FFFFFF"/>
                        </a:solidFill>
                        <a:latin typeface="Helvetica Neue" panose="02000503000000020004"/>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l" rtl="0">
                        <a:lnSpc>
                          <a:spcPct val="110000"/>
                        </a:lnSpc>
                        <a:spcBef>
                          <a:spcPts val="0"/>
                        </a:spcBef>
                        <a:spcAft>
                          <a:spcPts val="700"/>
                        </a:spcAft>
                        <a:buFontTx/>
                        <a:buNone/>
                      </a:pPr>
                      <a:r>
                        <a:rPr lang="en-US" sz="1400" b="0">
                          <a:solidFill>
                            <a:srgbClr val="FFFFFF"/>
                          </a:solidFill>
                          <a:latin typeface="Helvetica Neue" panose="02000503000000020004"/>
                          <a:ea typeface="OpenAI Sans"/>
                          <a:cs typeface="OpenAI Sans"/>
                          <a:sym typeface="OpenAI Sans"/>
                        </a:rPr>
                        <a:t>444.74</a:t>
                      </a:r>
                      <a:endParaRPr sz="1400" b="0">
                        <a:solidFill>
                          <a:srgbClr val="FFFFFF"/>
                        </a:solidFill>
                        <a:latin typeface="Helvetica Neue" panose="02000503000000020004"/>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l" rtl="0">
                        <a:lnSpc>
                          <a:spcPct val="110000"/>
                        </a:lnSpc>
                        <a:spcBef>
                          <a:spcPts val="0"/>
                        </a:spcBef>
                        <a:spcAft>
                          <a:spcPts val="700"/>
                        </a:spcAft>
                        <a:buFontTx/>
                        <a:buNone/>
                      </a:pPr>
                      <a:r>
                        <a:rPr lang="en-US" sz="1400" b="0">
                          <a:solidFill>
                            <a:srgbClr val="FFFFFF"/>
                          </a:solidFill>
                          <a:latin typeface="Helvetica Neue" panose="02000503000000020004"/>
                          <a:ea typeface="OpenAI Sans"/>
                          <a:cs typeface="OpenAI Sans"/>
                          <a:sym typeface="OpenAI Sans"/>
                        </a:rPr>
                        <a:t>95.60%</a:t>
                      </a:r>
                      <a:endParaRPr sz="1400" b="0" dirty="0">
                        <a:solidFill>
                          <a:srgbClr val="FFFFFF"/>
                        </a:solidFill>
                        <a:latin typeface="Helvetica Neue" panose="02000503000000020004"/>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457200">
                <a:tc>
                  <a:txBody>
                    <a:bodyPr/>
                    <a:lstStyle/>
                    <a:p>
                      <a:pPr marL="0" lvl="0" indent="0" algn="l" rtl="0">
                        <a:lnSpc>
                          <a:spcPct val="110000"/>
                        </a:lnSpc>
                        <a:spcBef>
                          <a:spcPts val="0"/>
                        </a:spcBef>
                        <a:spcAft>
                          <a:spcPts val="700"/>
                        </a:spcAft>
                        <a:buFontTx/>
                        <a:buNone/>
                      </a:pPr>
                      <a:r>
                        <a:rPr lang="en-US" sz="1400" b="0">
                          <a:solidFill>
                            <a:srgbClr val="FFFFFF"/>
                          </a:solidFill>
                          <a:latin typeface="Helvetica Neue" panose="02000503000000020004"/>
                          <a:ea typeface="OpenAI Sans"/>
                          <a:cs typeface="OpenAI Sans"/>
                          <a:sym typeface="OpenAI Sans"/>
                        </a:rPr>
                        <a:t>cuDNN, 2 GPUs</a:t>
                      </a:r>
                      <a:endParaRPr sz="1400" b="0" dirty="0">
                        <a:solidFill>
                          <a:srgbClr val="FFFFFF"/>
                        </a:solidFill>
                        <a:latin typeface="Helvetica Neue" panose="02000503000000020004"/>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l" rtl="0">
                        <a:lnSpc>
                          <a:spcPct val="110000"/>
                        </a:lnSpc>
                        <a:spcBef>
                          <a:spcPts val="0"/>
                        </a:spcBef>
                        <a:spcAft>
                          <a:spcPts val="700"/>
                        </a:spcAft>
                        <a:buFontTx/>
                        <a:buNone/>
                      </a:pPr>
                      <a:r>
                        <a:rPr lang="en-US" sz="1400" b="0">
                          <a:solidFill>
                            <a:srgbClr val="FFFFFF"/>
                          </a:solidFill>
                          <a:latin typeface="Helvetica Neue" panose="02000503000000020004"/>
                          <a:ea typeface="OpenAI Sans"/>
                          <a:cs typeface="OpenAI Sans"/>
                          <a:sym typeface="OpenAI Sans"/>
                        </a:rPr>
                        <a:t>633.95</a:t>
                      </a:r>
                      <a:endParaRPr sz="1400" b="0" dirty="0">
                        <a:solidFill>
                          <a:srgbClr val="FFFFFF"/>
                        </a:solidFill>
                        <a:latin typeface="Helvetica Neue" panose="02000503000000020004"/>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l" rtl="0">
                        <a:lnSpc>
                          <a:spcPct val="110000"/>
                        </a:lnSpc>
                        <a:spcBef>
                          <a:spcPts val="0"/>
                        </a:spcBef>
                        <a:spcAft>
                          <a:spcPts val="700"/>
                        </a:spcAft>
                        <a:buFontTx/>
                        <a:buNone/>
                      </a:pPr>
                      <a:r>
                        <a:rPr lang="en-US" sz="1400" b="0">
                          <a:solidFill>
                            <a:srgbClr val="FFFFFF"/>
                          </a:solidFill>
                          <a:latin typeface="Helvetica Neue" panose="02000503000000020004"/>
                          <a:ea typeface="OpenAI Sans"/>
                          <a:cs typeface="OpenAI Sans"/>
                          <a:sym typeface="OpenAI Sans"/>
                        </a:rPr>
                        <a:t>17.32</a:t>
                      </a:r>
                      <a:endParaRPr sz="1400" b="0" dirty="0">
                        <a:solidFill>
                          <a:srgbClr val="FFFFFF"/>
                        </a:solidFill>
                        <a:latin typeface="Helvetica Neue" panose="02000503000000020004"/>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l" rtl="0">
                        <a:lnSpc>
                          <a:spcPct val="110000"/>
                        </a:lnSpc>
                        <a:spcBef>
                          <a:spcPts val="0"/>
                        </a:spcBef>
                        <a:spcAft>
                          <a:spcPts val="700"/>
                        </a:spcAft>
                        <a:buFontTx/>
                        <a:buNone/>
                      </a:pPr>
                      <a:r>
                        <a:rPr lang="en-US" sz="1400" b="0">
                          <a:solidFill>
                            <a:srgbClr val="FFFFFF"/>
                          </a:solidFill>
                          <a:latin typeface="Helvetica Neue" panose="02000503000000020004"/>
                          <a:ea typeface="OpenAI Sans"/>
                          <a:cs typeface="OpenAI Sans"/>
                          <a:sym typeface="OpenAI Sans"/>
                        </a:rPr>
                        <a:t>959.52</a:t>
                      </a:r>
                      <a:endParaRPr sz="1400" b="0" dirty="0">
                        <a:solidFill>
                          <a:srgbClr val="FFFFFF"/>
                        </a:solidFill>
                        <a:latin typeface="Helvetica Neue" panose="02000503000000020004"/>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l" rtl="0">
                        <a:lnSpc>
                          <a:spcPct val="110000"/>
                        </a:lnSpc>
                        <a:spcBef>
                          <a:spcPts val="0"/>
                        </a:spcBef>
                        <a:spcAft>
                          <a:spcPts val="700"/>
                        </a:spcAft>
                        <a:buFontTx/>
                        <a:buNone/>
                      </a:pPr>
                      <a:r>
                        <a:rPr lang="en-US" sz="1400" b="0">
                          <a:solidFill>
                            <a:srgbClr val="FFFFFF"/>
                          </a:solidFill>
                          <a:latin typeface="Helvetica Neue" panose="02000503000000020004"/>
                          <a:ea typeface="OpenAI Sans"/>
                          <a:cs typeface="OpenAI Sans"/>
                          <a:sym typeface="OpenAI Sans"/>
                        </a:rPr>
                        <a:t>95.60%</a:t>
                      </a:r>
                      <a:endParaRPr sz="1400" b="0">
                        <a:solidFill>
                          <a:srgbClr val="FFFFFF"/>
                        </a:solidFill>
                        <a:latin typeface="Helvetica Neue" panose="02000503000000020004"/>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457200">
                <a:tc>
                  <a:txBody>
                    <a:bodyPr/>
                    <a:lstStyle/>
                    <a:p>
                      <a:pPr marL="0" lvl="0" indent="0" algn="l" rtl="0">
                        <a:lnSpc>
                          <a:spcPct val="110000"/>
                        </a:lnSpc>
                        <a:spcBef>
                          <a:spcPts val="0"/>
                        </a:spcBef>
                        <a:spcAft>
                          <a:spcPts val="700"/>
                        </a:spcAft>
                        <a:buFontTx/>
                        <a:buNone/>
                      </a:pPr>
                      <a:r>
                        <a:rPr lang="en-US" sz="1400" b="0">
                          <a:solidFill>
                            <a:srgbClr val="FFFFFF"/>
                          </a:solidFill>
                          <a:latin typeface="Helvetica Neue" panose="02000503000000020004"/>
                          <a:ea typeface="OpenAI Sans"/>
                          <a:cs typeface="OpenAI Sans"/>
                          <a:sym typeface="OpenAI Sans"/>
                        </a:rPr>
                        <a:t>PyTorch, 1 GPU</a:t>
                      </a:r>
                      <a:endParaRPr sz="1400" b="0">
                        <a:solidFill>
                          <a:srgbClr val="FFFFFF"/>
                        </a:solidFill>
                        <a:latin typeface="Helvetica Neue" panose="02000503000000020004"/>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l" rtl="0">
                        <a:lnSpc>
                          <a:spcPct val="110000"/>
                        </a:lnSpc>
                        <a:spcBef>
                          <a:spcPts val="0"/>
                        </a:spcBef>
                        <a:spcAft>
                          <a:spcPts val="700"/>
                        </a:spcAft>
                        <a:buFontTx/>
                        <a:buNone/>
                      </a:pPr>
                      <a:r>
                        <a:rPr lang="en-US" sz="1400" b="0">
                          <a:solidFill>
                            <a:srgbClr val="FFFFFF"/>
                          </a:solidFill>
                          <a:latin typeface="Helvetica Neue" panose="02000503000000020004"/>
                          <a:ea typeface="OpenAI Sans"/>
                          <a:cs typeface="OpenAI Sans"/>
                          <a:sym typeface="OpenAI Sans"/>
                        </a:rPr>
                        <a:t>41.68</a:t>
                      </a:r>
                      <a:endParaRPr sz="1400" b="0">
                        <a:solidFill>
                          <a:srgbClr val="FFFFFF"/>
                        </a:solidFill>
                        <a:latin typeface="Helvetica Neue" panose="02000503000000020004"/>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l" rtl="0">
                        <a:lnSpc>
                          <a:spcPct val="110000"/>
                        </a:lnSpc>
                        <a:spcBef>
                          <a:spcPts val="0"/>
                        </a:spcBef>
                        <a:spcAft>
                          <a:spcPts val="700"/>
                        </a:spcAft>
                        <a:buFontTx/>
                        <a:buNone/>
                      </a:pPr>
                      <a:r>
                        <a:rPr lang="en-US" sz="1400" b="0">
                          <a:solidFill>
                            <a:srgbClr val="FFFFFF"/>
                          </a:solidFill>
                          <a:latin typeface="Helvetica Neue" panose="02000503000000020004"/>
                          <a:ea typeface="OpenAI Sans"/>
                          <a:cs typeface="OpenAI Sans"/>
                          <a:sym typeface="OpenAI Sans"/>
                        </a:rPr>
                        <a:t>5.42</a:t>
                      </a:r>
                      <a:endParaRPr sz="1400" b="0" dirty="0">
                        <a:solidFill>
                          <a:srgbClr val="FFFFFF"/>
                        </a:solidFill>
                        <a:latin typeface="Helvetica Neue" panose="02000503000000020004"/>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l" rtl="0">
                        <a:lnSpc>
                          <a:spcPct val="110000"/>
                        </a:lnSpc>
                        <a:spcBef>
                          <a:spcPts val="0"/>
                        </a:spcBef>
                        <a:spcAft>
                          <a:spcPts val="700"/>
                        </a:spcAft>
                        <a:buFontTx/>
                        <a:buNone/>
                      </a:pPr>
                      <a:r>
                        <a:rPr lang="en-US" sz="1400" b="0">
                          <a:solidFill>
                            <a:srgbClr val="FFFFFF"/>
                          </a:solidFill>
                          <a:latin typeface="Helvetica Neue" panose="02000503000000020004"/>
                          <a:ea typeface="OpenAI Sans"/>
                          <a:cs typeface="OpenAI Sans"/>
                          <a:sym typeface="OpenAI Sans"/>
                        </a:rPr>
                        <a:t>379.61</a:t>
                      </a:r>
                      <a:endParaRPr sz="1400" b="0" dirty="0">
                        <a:solidFill>
                          <a:srgbClr val="FFFFFF"/>
                        </a:solidFill>
                        <a:latin typeface="Helvetica Neue" panose="02000503000000020004"/>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l" rtl="0">
                        <a:lnSpc>
                          <a:spcPct val="110000"/>
                        </a:lnSpc>
                        <a:spcBef>
                          <a:spcPts val="0"/>
                        </a:spcBef>
                        <a:spcAft>
                          <a:spcPts val="700"/>
                        </a:spcAft>
                        <a:buFontTx/>
                        <a:buNone/>
                      </a:pPr>
                      <a:r>
                        <a:rPr lang="en-US" sz="1400" b="0">
                          <a:solidFill>
                            <a:srgbClr val="FFFFFF"/>
                          </a:solidFill>
                          <a:latin typeface="Helvetica Neue" panose="02000503000000020004"/>
                          <a:ea typeface="OpenAI Sans"/>
                          <a:cs typeface="OpenAI Sans"/>
                          <a:sym typeface="OpenAI Sans"/>
                        </a:rPr>
                        <a:t>95.60%</a:t>
                      </a:r>
                      <a:endParaRPr sz="1400" b="0" dirty="0">
                        <a:solidFill>
                          <a:srgbClr val="FFFFFF"/>
                        </a:solidFill>
                        <a:latin typeface="Helvetica Neue" panose="02000503000000020004"/>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r h="457200">
                <a:tc>
                  <a:txBody>
                    <a:bodyPr/>
                    <a:lstStyle/>
                    <a:p>
                      <a:pPr marL="0" lvl="0" indent="0" algn="l" rtl="0">
                        <a:lnSpc>
                          <a:spcPct val="110000"/>
                        </a:lnSpc>
                        <a:spcBef>
                          <a:spcPts val="0"/>
                        </a:spcBef>
                        <a:spcAft>
                          <a:spcPts val="700"/>
                        </a:spcAft>
                        <a:buFontTx/>
                        <a:buNone/>
                      </a:pPr>
                      <a:r>
                        <a:rPr lang="en-US" sz="1400" b="0">
                          <a:solidFill>
                            <a:srgbClr val="FFFFFF"/>
                          </a:solidFill>
                          <a:latin typeface="Helvetica Neue" panose="02000503000000020004"/>
                          <a:ea typeface="OpenAI Sans"/>
                          <a:cs typeface="OpenAI Sans"/>
                          <a:sym typeface="OpenAI Sans"/>
                        </a:rPr>
                        <a:t>PyTorch, 2 GPUs</a:t>
                      </a:r>
                      <a:endParaRPr sz="1400" b="0" dirty="0">
                        <a:solidFill>
                          <a:srgbClr val="FFFFFF"/>
                        </a:solidFill>
                        <a:latin typeface="Helvetica Neue" panose="02000503000000020004"/>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l" rtl="0">
                        <a:lnSpc>
                          <a:spcPct val="110000"/>
                        </a:lnSpc>
                        <a:spcBef>
                          <a:spcPts val="0"/>
                        </a:spcBef>
                        <a:spcAft>
                          <a:spcPts val="700"/>
                        </a:spcAft>
                        <a:buFontTx/>
                        <a:buNone/>
                      </a:pPr>
                      <a:r>
                        <a:rPr lang="en-US" sz="1400" b="0">
                          <a:solidFill>
                            <a:srgbClr val="FFFFFF"/>
                          </a:solidFill>
                          <a:latin typeface="Helvetica Neue" panose="02000503000000020004"/>
                          <a:ea typeface="OpenAI Sans"/>
                          <a:cs typeface="OpenAI Sans"/>
                          <a:sym typeface="OpenAI Sans"/>
                        </a:rPr>
                        <a:t>524.17</a:t>
                      </a:r>
                      <a:endParaRPr sz="1400" b="0" dirty="0">
                        <a:solidFill>
                          <a:srgbClr val="FFFFFF"/>
                        </a:solidFill>
                        <a:latin typeface="Helvetica Neue" panose="02000503000000020004"/>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l" rtl="0">
                        <a:lnSpc>
                          <a:spcPct val="110000"/>
                        </a:lnSpc>
                        <a:spcBef>
                          <a:spcPts val="0"/>
                        </a:spcBef>
                        <a:spcAft>
                          <a:spcPts val="700"/>
                        </a:spcAft>
                        <a:buFontTx/>
                        <a:buNone/>
                      </a:pPr>
                      <a:r>
                        <a:rPr lang="en-US" sz="1400" b="0">
                          <a:solidFill>
                            <a:srgbClr val="FFFFFF"/>
                          </a:solidFill>
                          <a:latin typeface="Helvetica Neue" panose="02000503000000020004"/>
                          <a:ea typeface="OpenAI Sans"/>
                          <a:cs typeface="OpenAI Sans"/>
                          <a:sym typeface="OpenAI Sans"/>
                        </a:rPr>
                        <a:t>18.39</a:t>
                      </a:r>
                      <a:endParaRPr sz="1400" b="0" dirty="0">
                        <a:solidFill>
                          <a:srgbClr val="FFFFFF"/>
                        </a:solidFill>
                        <a:latin typeface="Helvetica Neue" panose="02000503000000020004"/>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l" rtl="0">
                        <a:lnSpc>
                          <a:spcPct val="110000"/>
                        </a:lnSpc>
                        <a:spcBef>
                          <a:spcPts val="0"/>
                        </a:spcBef>
                        <a:spcAft>
                          <a:spcPts val="700"/>
                        </a:spcAft>
                        <a:buFontTx/>
                        <a:buNone/>
                      </a:pPr>
                      <a:r>
                        <a:rPr lang="en-US" sz="1400" b="0">
                          <a:solidFill>
                            <a:srgbClr val="FFFFFF"/>
                          </a:solidFill>
                          <a:latin typeface="Helvetica Neue" panose="02000503000000020004"/>
                          <a:ea typeface="OpenAI Sans"/>
                          <a:cs typeface="OpenAI Sans"/>
                          <a:sym typeface="OpenAI Sans"/>
                        </a:rPr>
                        <a:t>867.08</a:t>
                      </a:r>
                      <a:endParaRPr sz="1400" b="0" dirty="0">
                        <a:solidFill>
                          <a:srgbClr val="FFFFFF"/>
                        </a:solidFill>
                        <a:latin typeface="Helvetica Neue" panose="02000503000000020004"/>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l" rtl="0">
                        <a:lnSpc>
                          <a:spcPct val="110000"/>
                        </a:lnSpc>
                        <a:spcBef>
                          <a:spcPts val="0"/>
                        </a:spcBef>
                        <a:spcAft>
                          <a:spcPts val="700"/>
                        </a:spcAft>
                        <a:buFontTx/>
                        <a:buNone/>
                      </a:pPr>
                      <a:r>
                        <a:rPr lang="en-US" sz="1400" b="0">
                          <a:solidFill>
                            <a:srgbClr val="FFFFFF"/>
                          </a:solidFill>
                          <a:latin typeface="Helvetica Neue" panose="02000503000000020004"/>
                          <a:ea typeface="OpenAI Sans"/>
                          <a:cs typeface="OpenAI Sans"/>
                          <a:sym typeface="OpenAI Sans"/>
                        </a:rPr>
                        <a:t>95.60%</a:t>
                      </a:r>
                      <a:endParaRPr sz="1400" b="0" dirty="0">
                        <a:solidFill>
                          <a:srgbClr val="FFFFFF"/>
                        </a:solidFill>
                        <a:latin typeface="Helvetica Neue" panose="02000503000000020004"/>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241910962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531">
          <a:extLst>
            <a:ext uri="{FF2B5EF4-FFF2-40B4-BE49-F238E27FC236}">
              <a16:creationId xmlns:a16="http://schemas.microsoft.com/office/drawing/2014/main" id="{20E7F48D-6160-4C7B-F1E4-6DA13560757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39EA4C82-C623-0196-4A95-876ADF5DEE92}"/>
              </a:ext>
            </a:extLst>
          </p:cNvPr>
          <p:cNvSpPr>
            <a:spLocks noGrp="1"/>
          </p:cNvSpPr>
          <p:nvPr>
            <p:ph type="ftr" sz="quarter" idx="3"/>
          </p:nvPr>
        </p:nvSpPr>
        <p:spPr>
          <a:xfrm>
            <a:off x="393700" y="6279952"/>
            <a:ext cx="3568700" cy="241240"/>
          </a:xfrm>
        </p:spPr>
        <p:txBody>
          <a:bodyPr/>
          <a:lstStyle/>
          <a:p>
            <a:endParaRPr lang="en-US" dirty="0"/>
          </a:p>
        </p:txBody>
      </p:sp>
      <p:sp>
        <p:nvSpPr>
          <p:cNvPr id="532" name="Google Shape;532;p58">
            <a:extLst>
              <a:ext uri="{FF2B5EF4-FFF2-40B4-BE49-F238E27FC236}">
                <a16:creationId xmlns:a16="http://schemas.microsoft.com/office/drawing/2014/main" id="{1BCBE750-7048-686D-1472-52C53362D6CD}"/>
              </a:ext>
            </a:extLst>
          </p:cNvPr>
          <p:cNvSpPr txBox="1">
            <a:spLocks noGrp="1"/>
          </p:cNvSpPr>
          <p:nvPr>
            <p:ph type="sldNum" sz="quarter" idx="4"/>
          </p:nvPr>
        </p:nvSpPr>
        <p:spPr>
          <a:xfrm>
            <a:off x="11279332" y="6279294"/>
            <a:ext cx="518968" cy="241240"/>
          </a:xfrm>
        </p:spPr>
        <p:txBody>
          <a:bodyPr spcFirstLastPara="1" vert="horz" wrap="square" lIns="0" tIns="0" rIns="0" bIns="0" rtlCol="0" anchor="b" anchorCtr="0">
            <a:noAutofit/>
          </a:bodyPr>
          <a:lstStyle/>
          <a:p>
            <a:r>
              <a:rPr lang="en">
                <a:sym typeface="OpenAI Sans"/>
              </a:rPr>
              <a:t>10</a:t>
            </a:r>
            <a:endParaRPr lang="en" dirty="0">
              <a:sym typeface="OpenAI Sans"/>
            </a:endParaRPr>
          </a:p>
        </p:txBody>
      </p:sp>
      <p:sp>
        <p:nvSpPr>
          <p:cNvPr id="533" name="Google Shape;533;p58">
            <a:extLst>
              <a:ext uri="{FF2B5EF4-FFF2-40B4-BE49-F238E27FC236}">
                <a16:creationId xmlns:a16="http://schemas.microsoft.com/office/drawing/2014/main" id="{1B5D55CD-1C17-7CD8-F26A-2DD65B067687}"/>
              </a:ext>
            </a:extLst>
          </p:cNvPr>
          <p:cNvSpPr txBox="1">
            <a:spLocks noGrp="1"/>
          </p:cNvSpPr>
          <p:nvPr>
            <p:ph type="title"/>
          </p:nvPr>
        </p:nvSpPr>
        <p:spPr>
          <a:xfrm>
            <a:off x="393700" y="344008"/>
            <a:ext cx="11404600" cy="1047491"/>
          </a:xfrm>
        </p:spPr>
        <p:txBody>
          <a:bodyPr spcFirstLastPara="1" vert="horz" wrap="square" lIns="0" tIns="0" rIns="0" bIns="0" rtlCol="0" anchor="t" anchorCtr="0">
            <a:noAutofit/>
          </a:bodyPr>
          <a:lstStyle/>
          <a:p>
            <a:r>
              <a:rPr lang="en-US"/>
              <a:t>Correctness and fair timing</a:t>
            </a:r>
            <a:endParaRPr lang="en-US" dirty="0"/>
          </a:p>
        </p:txBody>
      </p:sp>
      <p:sp>
        <p:nvSpPr>
          <p:cNvPr id="7" name="Google Shape;534;p58">
            <a:extLst>
              <a:ext uri="{FF2B5EF4-FFF2-40B4-BE49-F238E27FC236}">
                <a16:creationId xmlns:a16="http://schemas.microsoft.com/office/drawing/2014/main" id="{3A923FEE-B8D2-CD3A-ABBD-21770B40AA24}"/>
              </a:ext>
            </a:extLst>
          </p:cNvPr>
          <p:cNvSpPr txBox="1">
            <a:spLocks/>
          </p:cNvSpPr>
          <p:nvPr/>
        </p:nvSpPr>
        <p:spPr>
          <a:xfrm>
            <a:off x="393700" y="2031999"/>
            <a:ext cx="5537200" cy="3534787"/>
          </a:xfrm>
          <a:prstGeom prst="rect">
            <a:avLst/>
          </a:prstGeom>
        </p:spPr>
        <p:txBody>
          <a:bodyPr spcFirstLastPara="1" vert="horz" wrap="square" lIns="0" tIns="0" rIns="0" bIns="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4000"/>
              </a:lnSpc>
              <a:spcBef>
                <a:spcPts val="0"/>
              </a:spcBef>
              <a:spcAft>
                <a:spcPts val="1200"/>
              </a:spcAft>
              <a:buNone/>
            </a:pPr>
            <a:r>
              <a:rPr lang="en-US">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Correctness before performance</a:t>
            </a:r>
          </a:p>
          <a:p>
            <a:pPr marL="0" indent="0">
              <a:lnSpc>
                <a:spcPct val="114000"/>
              </a:lnSpc>
              <a:spcBef>
                <a:spcPts val="0"/>
              </a:spcBef>
              <a:spcAft>
                <a:spcPts val="600"/>
              </a:spcAft>
              <a:buNone/>
            </a:pPr>
            <a:r>
              <a:rPr lang="en-US" sz="1600">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Hand-calculated output and numerical derivative.</a:t>
            </a:r>
          </a:p>
          <a:p>
            <a:pPr marL="0" indent="0">
              <a:lnSpc>
                <a:spcPct val="114000"/>
              </a:lnSpc>
              <a:spcBef>
                <a:spcPts val="0"/>
              </a:spcBef>
              <a:spcAft>
                <a:spcPts val="600"/>
              </a:spcAft>
              <a:buNone/>
            </a:pPr>
            <a:r>
              <a:rPr lang="en-US" sz="1600">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Forward and all gradients match a reference.</a:t>
            </a:r>
          </a:p>
          <a:p>
            <a:pPr marL="0" indent="0">
              <a:lnSpc>
                <a:spcPct val="114000"/>
              </a:lnSpc>
              <a:spcBef>
                <a:spcPts val="0"/>
              </a:spcBef>
              <a:spcAft>
                <a:spcPts val="600"/>
              </a:spcAft>
              <a:buNone/>
            </a:pPr>
            <a:r>
              <a:rPr lang="en-US" sz="1600">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Tests cover channels, batches and partial tiles.</a:t>
            </a:r>
          </a:p>
          <a:p>
            <a:pPr marL="0" indent="0">
              <a:lnSpc>
                <a:spcPct val="114000"/>
              </a:lnSpc>
              <a:spcBef>
                <a:spcPts val="0"/>
              </a:spcBef>
              <a:spcAft>
                <a:spcPts val="600"/>
              </a:spcAft>
              <a:buNone/>
            </a:pPr>
            <a:r>
              <a:rPr lang="en-US" sz="1600">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Training uses disjoint fixed subsets.</a:t>
            </a:r>
          </a:p>
          <a:p>
            <a:pPr marL="0" indent="0">
              <a:lnSpc>
                <a:spcPct val="114000"/>
              </a:lnSpc>
              <a:spcBef>
                <a:spcPts val="0"/>
              </a:spcBef>
              <a:spcAft>
                <a:spcPts val="600"/>
              </a:spcAft>
              <a:buNone/>
            </a:pPr>
            <a:endParaRPr lang="en-US" sz="1600">
              <a:solidFill>
                <a:srgbClr val="FFFFFF"/>
              </a:solidFill>
              <a:latin typeface="Helvetica Neue" panose="02000503000000020004"/>
              <a:ea typeface="Helvetica Neue" panose="02000503000000020004" pitchFamily="2" charset="0"/>
              <a:cs typeface="Helvetica Neue" panose="02000503000000020004" pitchFamily="2" charset="0"/>
              <a:sym typeface="OpenAI Sans"/>
            </a:endParaRPr>
          </a:p>
          <a:p>
            <a:pPr marL="0" indent="0">
              <a:lnSpc>
                <a:spcPct val="114000"/>
              </a:lnSpc>
              <a:spcBef>
                <a:spcPts val="0"/>
              </a:spcBef>
              <a:spcAft>
                <a:spcPts val="600"/>
              </a:spcAft>
              <a:buNone/>
            </a:pPr>
            <a:r>
              <a:rPr lang="en-US" sz="1600">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Same weights, batch order and SGD settings.</a:t>
            </a:r>
          </a:p>
          <a:p>
            <a:pPr marL="0" indent="0">
              <a:lnSpc>
                <a:spcPct val="114000"/>
              </a:lnSpc>
              <a:spcBef>
                <a:spcPts val="0"/>
              </a:spcBef>
              <a:spcAft>
                <a:spcPts val="600"/>
              </a:spcAft>
              <a:buNone/>
            </a:pPr>
            <a:r>
              <a:rPr lang="en-US" sz="1600">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FP32 throughout, with TF32 disabled.</a:t>
            </a:r>
            <a:endParaRPr lang="en-US" sz="1600" dirty="0">
              <a:solidFill>
                <a:srgbClr val="FFFFFF"/>
              </a:solidFill>
              <a:latin typeface="Helvetica Neue" panose="02000503000000020004"/>
              <a:ea typeface="Helvetica Neue" panose="02000503000000020004" pitchFamily="2" charset="0"/>
              <a:cs typeface="Helvetica Neue" panose="02000503000000020004" pitchFamily="2" charset="0"/>
              <a:sym typeface="OpenAI Sans"/>
            </a:endParaRPr>
          </a:p>
        </p:txBody>
      </p:sp>
      <p:sp>
        <p:nvSpPr>
          <p:cNvPr id="8" name="Content Placeholder 3">
            <a:extLst>
              <a:ext uri="{FF2B5EF4-FFF2-40B4-BE49-F238E27FC236}">
                <a16:creationId xmlns:a16="http://schemas.microsoft.com/office/drawing/2014/main" id="{2EE8F343-A95F-2AAA-FE9E-A6C31E298DF7}"/>
              </a:ext>
            </a:extLst>
          </p:cNvPr>
          <p:cNvSpPr txBox="1">
            <a:spLocks/>
          </p:cNvSpPr>
          <p:nvPr/>
        </p:nvSpPr>
        <p:spPr>
          <a:xfrm>
            <a:off x="6256618" y="2031999"/>
            <a:ext cx="5537200" cy="3534787"/>
          </a:xfrm>
          <a:prstGeom prst="rect">
            <a:avLst/>
          </a:prstGeom>
        </p:spPr>
        <p:txBody>
          <a:bodyPr lIns="0" tIns="0" rIns="0" bIns="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4000"/>
              </a:lnSpc>
              <a:spcBef>
                <a:spcPts val="0"/>
              </a:spcBef>
              <a:spcAft>
                <a:spcPts val="1200"/>
              </a:spcAft>
              <a:buNone/>
              <a:defRPr/>
            </a:pPr>
            <a:r>
              <a:rPr lang="en-US">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Timing boundaries</a:t>
            </a:r>
          </a:p>
          <a:p>
            <a:pPr marL="0" indent="0">
              <a:lnSpc>
                <a:spcPct val="114000"/>
              </a:lnSpc>
              <a:spcBef>
                <a:spcPts val="0"/>
              </a:spcBef>
              <a:spcAft>
                <a:spcPts val="600"/>
              </a:spcAft>
              <a:buNone/>
              <a:defRPr/>
            </a:pPr>
            <a:r>
              <a:rPr lang="en-US" sz="1600">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20 warmup calls before latency samples.</a:t>
            </a:r>
          </a:p>
          <a:p>
            <a:pPr marL="0" indent="0">
              <a:lnSpc>
                <a:spcPct val="114000"/>
              </a:lnSpc>
              <a:spcBef>
                <a:spcPts val="0"/>
              </a:spcBef>
              <a:spcAft>
                <a:spcPts val="600"/>
              </a:spcAft>
              <a:buNone/>
              <a:defRPr/>
            </a:pPr>
            <a:r>
              <a:rPr lang="en-US" sz="1600">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100 samples for MNIST workloads.</a:t>
            </a:r>
          </a:p>
          <a:p>
            <a:pPr marL="0" indent="0">
              <a:lnSpc>
                <a:spcPct val="114000"/>
              </a:lnSpc>
              <a:spcBef>
                <a:spcPts val="0"/>
              </a:spcBef>
              <a:spcAft>
                <a:spcPts val="600"/>
              </a:spcAft>
              <a:buNone/>
              <a:defRPr/>
            </a:pPr>
            <a:r>
              <a:rPr lang="en-US" sz="1600">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30 samples for the larger synthetic case.</a:t>
            </a:r>
          </a:p>
          <a:p>
            <a:pPr marL="0" indent="0">
              <a:lnSpc>
                <a:spcPct val="114000"/>
              </a:lnSpc>
              <a:spcBef>
                <a:spcPts val="0"/>
              </a:spcBef>
              <a:spcAft>
                <a:spcPts val="600"/>
              </a:spcAft>
              <a:buNone/>
              <a:defRPr/>
            </a:pPr>
            <a:r>
              <a:rPr lang="en-US" sz="1600">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GPU events and wall time have separate samples.</a:t>
            </a:r>
          </a:p>
          <a:p>
            <a:pPr marL="0" indent="0">
              <a:lnSpc>
                <a:spcPct val="114000"/>
              </a:lnSpc>
              <a:spcBef>
                <a:spcPts val="0"/>
              </a:spcBef>
              <a:spcAft>
                <a:spcPts val="600"/>
              </a:spcAft>
              <a:buNone/>
              <a:defRPr/>
            </a:pPr>
            <a:endParaRPr lang="en-US" sz="1600">
              <a:solidFill>
                <a:srgbClr val="FFFFFF"/>
              </a:solidFill>
              <a:latin typeface="Helvetica Neue" panose="02000503000000020004"/>
              <a:ea typeface="Helvetica Neue" panose="02000503000000020004" pitchFamily="2" charset="0"/>
              <a:cs typeface="Helvetica Neue" panose="02000503000000020004" pitchFamily="2" charset="0"/>
              <a:sym typeface="OpenAI Sans"/>
            </a:endParaRPr>
          </a:p>
          <a:p>
            <a:pPr marL="0" indent="0">
              <a:lnSpc>
                <a:spcPct val="114000"/>
              </a:lnSpc>
              <a:spcBef>
                <a:spcPts val="0"/>
              </a:spcBef>
              <a:spcAft>
                <a:spcPts val="600"/>
              </a:spcAft>
              <a:buNone/>
              <a:defRPr/>
            </a:pPr>
            <a:r>
              <a:rPr lang="en-US" sz="1600">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Training, validation and setup stay separate.</a:t>
            </a:r>
          </a:p>
          <a:p>
            <a:pPr marL="0" indent="0">
              <a:lnSpc>
                <a:spcPct val="114000"/>
              </a:lnSpc>
              <a:spcBef>
                <a:spcPts val="0"/>
              </a:spcBef>
              <a:spcAft>
                <a:spcPts val="600"/>
              </a:spcAft>
              <a:buNone/>
              <a:defRPr/>
            </a:pPr>
            <a:r>
              <a:rPr lang="en-US" sz="1600">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Batch 1 shows latency. Batch 64 shows throughput.</a:t>
            </a:r>
            <a:endParaRPr lang="en-US" sz="1600" dirty="0">
              <a:solidFill>
                <a:srgbClr val="FFFFFF"/>
              </a:solidFill>
              <a:latin typeface="Helvetica Neue" panose="02000503000000020004"/>
              <a:ea typeface="Helvetica Neue" panose="02000503000000020004" pitchFamily="2" charset="0"/>
              <a:cs typeface="Helvetica Neue" panose="02000503000000020004" pitchFamily="2" charset="0"/>
              <a:sym typeface="OpenAI Sans"/>
            </a:endParaRPr>
          </a:p>
        </p:txBody>
      </p:sp>
    </p:spTree>
    <p:extLst>
      <p:ext uri="{BB962C8B-B14F-4D97-AF65-F5344CB8AC3E}">
        <p14:creationId xmlns:p14="http://schemas.microsoft.com/office/powerpoint/2010/main" val="297603620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531">
          <a:extLst>
            <a:ext uri="{FF2B5EF4-FFF2-40B4-BE49-F238E27FC236}">
              <a16:creationId xmlns:a16="http://schemas.microsoft.com/office/drawing/2014/main" id="{2BA2FB56-6C9E-95EC-5732-389D81A1924E}"/>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357537-167D-0462-A21D-DD8E87444BE4}"/>
              </a:ext>
            </a:extLst>
          </p:cNvPr>
          <p:cNvSpPr>
            <a:spLocks noGrp="1"/>
          </p:cNvSpPr>
          <p:nvPr>
            <p:ph type="ftr" sz="quarter" idx="3"/>
          </p:nvPr>
        </p:nvSpPr>
        <p:spPr>
          <a:xfrm>
            <a:off x="393700" y="6279952"/>
            <a:ext cx="3568700" cy="241240"/>
          </a:xfrm>
        </p:spPr>
        <p:txBody>
          <a:bodyPr/>
          <a:lstStyle/>
          <a:p>
            <a:endParaRPr lang="en-US" dirty="0"/>
          </a:p>
        </p:txBody>
      </p:sp>
      <p:sp>
        <p:nvSpPr>
          <p:cNvPr id="532" name="Google Shape;532;p58">
            <a:extLst>
              <a:ext uri="{FF2B5EF4-FFF2-40B4-BE49-F238E27FC236}">
                <a16:creationId xmlns:a16="http://schemas.microsoft.com/office/drawing/2014/main" id="{27489CDA-073D-5D98-B832-86AD74222B71}"/>
              </a:ext>
            </a:extLst>
          </p:cNvPr>
          <p:cNvSpPr txBox="1">
            <a:spLocks noGrp="1"/>
          </p:cNvSpPr>
          <p:nvPr>
            <p:ph type="sldNum" sz="quarter" idx="4"/>
          </p:nvPr>
        </p:nvSpPr>
        <p:spPr>
          <a:xfrm>
            <a:off x="11279332" y="6279294"/>
            <a:ext cx="518968" cy="241240"/>
          </a:xfrm>
        </p:spPr>
        <p:txBody>
          <a:bodyPr spcFirstLastPara="1" vert="horz" wrap="square" lIns="0" tIns="0" rIns="0" bIns="0" rtlCol="0" anchor="b" anchorCtr="0">
            <a:noAutofit/>
          </a:bodyPr>
          <a:lstStyle/>
          <a:p>
            <a:r>
              <a:rPr lang="en">
                <a:sym typeface="OpenAI Sans"/>
              </a:rPr>
              <a:t>11</a:t>
            </a:r>
            <a:endParaRPr lang="en" dirty="0">
              <a:sym typeface="OpenAI Sans"/>
            </a:endParaRPr>
          </a:p>
        </p:txBody>
      </p:sp>
      <p:sp>
        <p:nvSpPr>
          <p:cNvPr id="533" name="Google Shape;533;p58">
            <a:extLst>
              <a:ext uri="{FF2B5EF4-FFF2-40B4-BE49-F238E27FC236}">
                <a16:creationId xmlns:a16="http://schemas.microsoft.com/office/drawing/2014/main" id="{08EBC4B8-BBC1-7C2A-F77D-BEC6394B0F93}"/>
              </a:ext>
            </a:extLst>
          </p:cNvPr>
          <p:cNvSpPr txBox="1">
            <a:spLocks noGrp="1"/>
          </p:cNvSpPr>
          <p:nvPr>
            <p:ph type="title"/>
          </p:nvPr>
        </p:nvSpPr>
        <p:spPr>
          <a:xfrm>
            <a:off x="393700" y="344008"/>
            <a:ext cx="11404600" cy="1047491"/>
          </a:xfrm>
        </p:spPr>
        <p:txBody>
          <a:bodyPr spcFirstLastPara="1" vert="horz" wrap="square" lIns="0" tIns="0" rIns="0" bIns="0" rtlCol="0" anchor="t" anchorCtr="0">
            <a:noAutofit/>
          </a:bodyPr>
          <a:lstStyle/>
          <a:p>
            <a:r>
              <a:rPr lang="en-US"/>
              <a:t>One GPU versus two GPUs</a:t>
            </a:r>
            <a:endParaRPr lang="en-US" dirty="0"/>
          </a:p>
        </p:txBody>
      </p:sp>
      <p:sp>
        <p:nvSpPr>
          <p:cNvPr id="14" name="Content Placeholder 15">
            <a:extLst>
              <a:ext uri="{FF2B5EF4-FFF2-40B4-BE49-F238E27FC236}">
                <a16:creationId xmlns:a16="http://schemas.microsoft.com/office/drawing/2014/main" id="{D81689CF-E5CF-3072-801D-DC2D321D4955}"/>
              </a:ext>
            </a:extLst>
          </p:cNvPr>
          <p:cNvSpPr txBox="1">
            <a:spLocks/>
          </p:cNvSpPr>
          <p:nvPr/>
        </p:nvSpPr>
        <p:spPr>
          <a:xfrm>
            <a:off x="400939" y="1057501"/>
            <a:ext cx="11404599" cy="1012250"/>
          </a:xfrm>
          <a:prstGeom prst="rect">
            <a:avLst/>
          </a:prstGeom>
        </p:spPr>
        <p:txBody>
          <a:bodyPr vert="horz" lIns="0" tIns="0" rIns="0" bIns="0" rtlCol="0">
            <a:noAutofit/>
          </a:bodyPr>
          <a:lstStyle>
            <a:lvl1pPr marL="0" indent="0" algn="l" defTabSz="914400" rtl="0" eaLnBrk="1" latinLnBrk="0" hangingPunct="1">
              <a:lnSpc>
                <a:spcPct val="90000"/>
              </a:lnSpc>
              <a:spcBef>
                <a:spcPts val="1000"/>
              </a:spcBef>
              <a:spcAft>
                <a:spcPts val="800"/>
              </a:spcAft>
              <a:buFont typeface="Arial" panose="020B0604020202020204" pitchFamily="34" charset="0"/>
              <a:buNone/>
              <a:defRPr sz="1600" kern="1200">
                <a:solidFill>
                  <a:schemeClr val="tx1"/>
                </a:solidFill>
                <a:latin typeface="+mn-lt"/>
                <a:ea typeface="+mn-ea"/>
                <a:cs typeface="+mn-cs"/>
              </a:defRPr>
            </a:lvl1pPr>
            <a:lvl2pPr marL="457200" indent="0" algn="l" defTabSz="914400" rtl="0" eaLnBrk="1" latinLnBrk="0" hangingPunct="1">
              <a:lnSpc>
                <a:spcPct val="90000"/>
              </a:lnSpc>
              <a:spcBef>
                <a:spcPts val="500"/>
              </a:spcBef>
              <a:spcAft>
                <a:spcPts val="800"/>
              </a:spcAft>
              <a:buFont typeface="Arial" panose="020B0604020202020204" pitchFamily="34" charset="0"/>
              <a:buNone/>
              <a:defRPr sz="1600" kern="1200">
                <a:solidFill>
                  <a:schemeClr val="tx1"/>
                </a:solidFill>
                <a:latin typeface="+mn-lt"/>
                <a:ea typeface="+mn-ea"/>
                <a:cs typeface="+mn-cs"/>
              </a:defRPr>
            </a:lvl2pPr>
            <a:lvl3pPr marL="914400" indent="0" algn="l" defTabSz="914400" rtl="0" eaLnBrk="1" latinLnBrk="0" hangingPunct="1">
              <a:lnSpc>
                <a:spcPct val="90000"/>
              </a:lnSpc>
              <a:spcBef>
                <a:spcPts val="500"/>
              </a:spcBef>
              <a:spcAft>
                <a:spcPts val="800"/>
              </a:spcAft>
              <a:buFont typeface="Arial" panose="020B0604020202020204" pitchFamily="34" charset="0"/>
              <a:buNone/>
              <a:defRPr sz="1600" kern="1200">
                <a:solidFill>
                  <a:schemeClr val="tx1"/>
                </a:solidFill>
                <a:latin typeface="+mn-lt"/>
                <a:ea typeface="+mn-ea"/>
                <a:cs typeface="+mn-cs"/>
              </a:defRPr>
            </a:lvl3pPr>
            <a:lvl4pPr marL="1371600" indent="0" algn="l" defTabSz="914400" rtl="0" eaLnBrk="1" latinLnBrk="0" hangingPunct="1">
              <a:lnSpc>
                <a:spcPct val="90000"/>
              </a:lnSpc>
              <a:spcBef>
                <a:spcPts val="500"/>
              </a:spcBef>
              <a:spcAft>
                <a:spcPts val="800"/>
              </a:spcAft>
              <a:buFont typeface="Arial" panose="020B0604020202020204" pitchFamily="34" charset="0"/>
              <a:buNone/>
              <a:defRPr sz="1600" kern="1200">
                <a:solidFill>
                  <a:schemeClr val="tx1"/>
                </a:solidFill>
                <a:latin typeface="+mn-lt"/>
                <a:ea typeface="+mn-ea"/>
                <a:cs typeface="+mn-cs"/>
              </a:defRPr>
            </a:lvl4pPr>
            <a:lvl5pPr marL="1828800" indent="0" algn="l" defTabSz="914400" rtl="0" eaLnBrk="1" latinLnBrk="0" hangingPunct="1">
              <a:lnSpc>
                <a:spcPct val="90000"/>
              </a:lnSpc>
              <a:spcBef>
                <a:spcPts val="500"/>
              </a:spcBef>
              <a:spcAft>
                <a:spcPts val="800"/>
              </a:spcAft>
              <a:buFont typeface="Arial" panose="020B0604020202020204" pitchFamily="34" charset="0"/>
              <a:buNone/>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14000"/>
              </a:lnSpc>
              <a:spcBef>
                <a:spcPts val="0"/>
              </a:spcBef>
              <a:spcAft>
                <a:spcPts val="1200"/>
              </a:spcAft>
              <a:defRPr/>
            </a:pPr>
            <a:r>
              <a:rPr lang="en-US" sz="1800">
                <a:solidFill>
                  <a:srgbClr val="FFFFFF"/>
                </a:solidFill>
                <a:latin typeface="Helvetica Neue" panose="02000503000000020004"/>
                <a:ea typeface="Helvetica Neue Medium" panose="02000503000000020004" pitchFamily="2" charset="0"/>
                <a:cs typeface="Helvetica Neue Medium" panose="02000503000000020004" pitchFamily="2" charset="0"/>
                <a:sym typeface="OpenAI Sans"/>
              </a:rPr>
              <a:t>Two GPUs take longer for this small CNN</a:t>
            </a:r>
          </a:p>
          <a:p>
            <a:pPr>
              <a:lnSpc>
                <a:spcPct val="114000"/>
              </a:lnSpc>
              <a:spcBef>
                <a:spcPts val="0"/>
              </a:spcBef>
              <a:spcAft>
                <a:spcPts val="600"/>
              </a:spcAft>
              <a:defRPr/>
            </a:pPr>
            <a:r>
              <a:rPr lang="en-US">
                <a:solidFill>
                  <a:srgbClr val="FFFFFF"/>
                </a:solidFill>
                <a:latin typeface="Helvetica Neue" panose="02000503000000020004"/>
                <a:ea typeface="Helvetica Neue Medium" panose="02000503000000020004" pitchFamily="2" charset="0"/>
                <a:cs typeface="Helvetica Neue Medium" panose="02000503000000020004" pitchFamily="2" charset="0"/>
                <a:sym typeface="OpenAI Sans"/>
              </a:rPr>
              <a:t>Same global batch of 64. Efficiency = speedup/2. GPU-time cost = 2*T2/T1.</a:t>
            </a:r>
            <a:endParaRPr lang="en-US" dirty="0">
              <a:solidFill>
                <a:srgbClr val="FFFFFF"/>
              </a:solidFill>
              <a:latin typeface="Helvetica Neue" panose="02000503000000020004"/>
              <a:ea typeface="Helvetica Neue" panose="02000503000000020004" pitchFamily="2" charset="0"/>
              <a:cs typeface="Helvetica Neue" panose="02000503000000020004" pitchFamily="2" charset="0"/>
              <a:sym typeface="OpenAI Sans"/>
            </a:endParaRPr>
          </a:p>
        </p:txBody>
      </p:sp>
      <p:graphicFrame>
        <p:nvGraphicFramePr>
          <p:cNvPr id="2" name="Google Shape;644;p93">
            <a:extLst>
              <a:ext uri="{FF2B5EF4-FFF2-40B4-BE49-F238E27FC236}">
                <a16:creationId xmlns:a16="http://schemas.microsoft.com/office/drawing/2014/main" id="{5B92C96C-AF80-E8E3-2109-4D6822E5E41E}"/>
              </a:ext>
            </a:extLst>
          </p:cNvPr>
          <p:cNvGraphicFramePr/>
          <p:nvPr>
            <p:extLst>
              <p:ext uri="{D42A27DB-BD31-4B8C-83A1-F6EECF244321}">
                <p14:modId xmlns:p14="http://schemas.microsoft.com/office/powerpoint/2010/main" val="3945841963"/>
              </p:ext>
            </p:extLst>
          </p:nvPr>
        </p:nvGraphicFramePr>
        <p:xfrm>
          <a:off x="393700" y="2251080"/>
          <a:ext cx="11404599" cy="3932614"/>
        </p:xfrm>
        <a:graphic>
          <a:graphicData uri="http://schemas.openxmlformats.org/drawingml/2006/table">
            <a:tbl>
              <a:tblPr firstRow="1">
                <a:noFill/>
              </a:tblPr>
              <a:tblGrid>
                <a:gridCol w="3906063">
                  <a:extLst>
                    <a:ext uri="{9D8B030D-6E8A-4147-A177-3AD203B41FA5}">
                      <a16:colId xmlns:a16="http://schemas.microsoft.com/office/drawing/2014/main" val="20000"/>
                    </a:ext>
                  </a:extLst>
                </a:gridCol>
                <a:gridCol w="1874634">
                  <a:extLst>
                    <a:ext uri="{9D8B030D-6E8A-4147-A177-3AD203B41FA5}">
                      <a16:colId xmlns:a16="http://schemas.microsoft.com/office/drawing/2014/main" val="20001"/>
                    </a:ext>
                  </a:extLst>
                </a:gridCol>
                <a:gridCol w="1874634">
                  <a:extLst>
                    <a:ext uri="{9D8B030D-6E8A-4147-A177-3AD203B41FA5}">
                      <a16:colId xmlns:a16="http://schemas.microsoft.com/office/drawing/2014/main" val="20002"/>
                    </a:ext>
                  </a:extLst>
                </a:gridCol>
                <a:gridCol w="1874634">
                  <a:extLst>
                    <a:ext uri="{9D8B030D-6E8A-4147-A177-3AD203B41FA5}">
                      <a16:colId xmlns:a16="http://schemas.microsoft.com/office/drawing/2014/main" val="20003"/>
                    </a:ext>
                  </a:extLst>
                </a:gridCol>
                <a:gridCol w="1874634">
                  <a:extLst>
                    <a:ext uri="{9D8B030D-6E8A-4147-A177-3AD203B41FA5}">
                      <a16:colId xmlns:a16="http://schemas.microsoft.com/office/drawing/2014/main" val="20004"/>
                    </a:ext>
                  </a:extLst>
                </a:gridCol>
              </a:tblGrid>
              <a:tr h="457200">
                <a:tc>
                  <a:txBody>
                    <a:bodyPr/>
                    <a:lstStyle/>
                    <a:p>
                      <a:pPr marL="0" lvl="0" indent="0" algn="l" rtl="0">
                        <a:lnSpc>
                          <a:spcPct val="110000"/>
                        </a:lnSpc>
                        <a:spcBef>
                          <a:spcPts val="0"/>
                        </a:spcBef>
                        <a:spcAft>
                          <a:spcPts val="700"/>
                        </a:spcAft>
                        <a:buFontTx/>
                        <a:buNone/>
                      </a:pPr>
                      <a:r>
                        <a:rPr lang="en-US" sz="1400" b="1">
                          <a:solidFill>
                            <a:srgbClr val="FFFFFF"/>
                          </a:solidFill>
                          <a:latin typeface="Helvetica Neue" panose="02000503000000020004"/>
                          <a:ea typeface="OpenAI Sans"/>
                          <a:cs typeface="OpenAI Sans"/>
                          <a:sym typeface="OpenAI Sans"/>
                        </a:rPr>
                        <a:t>Implementation</a:t>
                      </a:r>
                      <a:endParaRPr sz="1400" b="1" dirty="0">
                        <a:solidFill>
                          <a:srgbClr val="FFFFFF"/>
                        </a:solidFill>
                        <a:latin typeface="Helvetica Neue" panose="02000503000000020004"/>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19050" cap="flat" cmpd="sng" algn="ctr">
                      <a:solidFill>
                        <a:schemeClr val="tx1"/>
                      </a:solidFill>
                      <a:prstDash val="solid"/>
                      <a:round/>
                      <a:headEnd type="none" w="med" len="med"/>
                      <a:tailEnd type="none" w="med" len="med"/>
                    </a:lnB>
                  </a:tcPr>
                </a:tc>
                <a:tc>
                  <a:txBody>
                    <a:bodyPr/>
                    <a:lstStyle/>
                    <a:p>
                      <a:pPr marL="0" lvl="0" indent="0" algn="l" rtl="0">
                        <a:lnSpc>
                          <a:spcPct val="110000"/>
                        </a:lnSpc>
                        <a:spcBef>
                          <a:spcPts val="0"/>
                        </a:spcBef>
                        <a:spcAft>
                          <a:spcPts val="700"/>
                        </a:spcAft>
                        <a:buClr>
                          <a:srgbClr val="000000"/>
                        </a:buClr>
                        <a:buSzPts val="1200"/>
                        <a:buFontTx/>
                        <a:buNone/>
                      </a:pPr>
                      <a:r>
                        <a:rPr lang="en-US" sz="1400" b="1">
                          <a:solidFill>
                            <a:srgbClr val="FFFFFF"/>
                          </a:solidFill>
                          <a:latin typeface="Helvetica Neue" panose="02000503000000020004"/>
                          <a:ea typeface="OpenAI Sans"/>
                          <a:cs typeface="OpenAI Sans"/>
                          <a:sym typeface="OpenAI Sans"/>
                        </a:rPr>
                        <a:t>Train speedup</a:t>
                      </a:r>
                      <a:endParaRPr sz="1400" b="1" dirty="0">
                        <a:solidFill>
                          <a:srgbClr val="FFFFFF"/>
                        </a:solidFill>
                        <a:latin typeface="Helvetica Neue" panose="02000503000000020004"/>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19050" cap="flat" cmpd="sng" algn="ctr">
                      <a:solidFill>
                        <a:schemeClr val="tx1"/>
                      </a:solidFill>
                      <a:prstDash val="solid"/>
                      <a:round/>
                      <a:headEnd type="none" w="med" len="med"/>
                      <a:tailEnd type="none" w="med" len="med"/>
                    </a:lnB>
                  </a:tcPr>
                </a:tc>
                <a:tc>
                  <a:txBody>
                    <a:bodyPr/>
                    <a:lstStyle/>
                    <a:p>
                      <a:pPr marL="0" lvl="0" indent="0" algn="l" rtl="0">
                        <a:lnSpc>
                          <a:spcPct val="110000"/>
                        </a:lnSpc>
                        <a:spcBef>
                          <a:spcPts val="0"/>
                        </a:spcBef>
                        <a:spcAft>
                          <a:spcPts val="700"/>
                        </a:spcAft>
                        <a:buFontTx/>
                        <a:buNone/>
                      </a:pPr>
                      <a:r>
                        <a:rPr lang="en-US" sz="1400" b="1">
                          <a:solidFill>
                            <a:srgbClr val="FFFFFF"/>
                          </a:solidFill>
                          <a:latin typeface="Helvetica Neue" panose="02000503000000020004"/>
                          <a:ea typeface="OpenAI Sans"/>
                          <a:cs typeface="OpenAI Sans"/>
                          <a:sym typeface="OpenAI Sans"/>
                        </a:rPr>
                        <a:t>Efficiency</a:t>
                      </a:r>
                      <a:endParaRPr sz="1400" b="1" dirty="0">
                        <a:solidFill>
                          <a:srgbClr val="FFFFFF"/>
                        </a:solidFill>
                        <a:latin typeface="Helvetica Neue" panose="02000503000000020004"/>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19050" cap="flat" cmpd="sng" algn="ctr">
                      <a:solidFill>
                        <a:schemeClr val="tx1"/>
                      </a:solidFill>
                      <a:prstDash val="solid"/>
                      <a:round/>
                      <a:headEnd type="none" w="med" len="med"/>
                      <a:tailEnd type="none" w="med" len="med"/>
                    </a:lnB>
                  </a:tcPr>
                </a:tc>
                <a:tc>
                  <a:txBody>
                    <a:bodyPr/>
                    <a:lstStyle/>
                    <a:p>
                      <a:pPr marL="0" lvl="0" indent="0" algn="l" rtl="0">
                        <a:lnSpc>
                          <a:spcPct val="110000"/>
                        </a:lnSpc>
                        <a:spcBef>
                          <a:spcPts val="0"/>
                        </a:spcBef>
                        <a:spcAft>
                          <a:spcPts val="700"/>
                        </a:spcAft>
                        <a:buClr>
                          <a:srgbClr val="000000"/>
                        </a:buClr>
                        <a:buSzPts val="1200"/>
                        <a:buFontTx/>
                        <a:buNone/>
                      </a:pPr>
                      <a:r>
                        <a:rPr lang="en-US" sz="1400" b="1">
                          <a:solidFill>
                            <a:srgbClr val="FFFFFF"/>
                          </a:solidFill>
                          <a:latin typeface="Helvetica Neue" panose="02000503000000020004"/>
                          <a:ea typeface="OpenAI Sans"/>
                          <a:cs typeface="OpenAI Sans"/>
                          <a:sym typeface="OpenAI Sans"/>
                        </a:rPr>
                        <a:t>GPU-time cost</a:t>
                      </a:r>
                      <a:endParaRPr sz="1400" b="1" dirty="0">
                        <a:solidFill>
                          <a:srgbClr val="FFFFFF"/>
                        </a:solidFill>
                        <a:latin typeface="Helvetica Neue" panose="02000503000000020004"/>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19050" cap="flat" cmpd="sng" algn="ctr">
                      <a:solidFill>
                        <a:schemeClr val="tx1"/>
                      </a:solidFill>
                      <a:prstDash val="solid"/>
                      <a:round/>
                      <a:headEnd type="none" w="med" len="med"/>
                      <a:tailEnd type="none" w="med" len="med"/>
                    </a:lnB>
                  </a:tcPr>
                </a:tc>
                <a:tc>
                  <a:txBody>
                    <a:bodyPr/>
                    <a:lstStyle/>
                    <a:p>
                      <a:pPr marL="0" lvl="0" indent="0" algn="l" rtl="0">
                        <a:lnSpc>
                          <a:spcPct val="110000"/>
                        </a:lnSpc>
                        <a:spcBef>
                          <a:spcPts val="0"/>
                        </a:spcBef>
                        <a:spcAft>
                          <a:spcPts val="700"/>
                        </a:spcAft>
                        <a:buClr>
                          <a:srgbClr val="000000"/>
                        </a:buClr>
                        <a:buSzPts val="1200"/>
                        <a:buFontTx/>
                        <a:buNone/>
                      </a:pPr>
                      <a:r>
                        <a:rPr lang="en-US" sz="1400" b="1">
                          <a:solidFill>
                            <a:srgbClr val="FFFFFF"/>
                          </a:solidFill>
                          <a:latin typeface="Helvetica Neue" panose="02000503000000020004"/>
                          <a:ea typeface="OpenAI Sans"/>
                          <a:cs typeface="OpenAI Sans"/>
                          <a:sym typeface="OpenAI Sans"/>
                        </a:rPr>
                        <a:t>Batch infer gain</a:t>
                      </a:r>
                      <a:endParaRPr sz="1400" b="1" dirty="0">
                        <a:solidFill>
                          <a:srgbClr val="FFFFFF"/>
                        </a:solidFill>
                        <a:latin typeface="Helvetica Neue" panose="02000503000000020004"/>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190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457200">
                <a:tc>
                  <a:txBody>
                    <a:bodyPr/>
                    <a:lstStyle/>
                    <a:p>
                      <a:pPr marL="0" lvl="0" indent="0" algn="l" rtl="0">
                        <a:lnSpc>
                          <a:spcPct val="110000"/>
                        </a:lnSpc>
                        <a:spcBef>
                          <a:spcPts val="0"/>
                        </a:spcBef>
                        <a:spcAft>
                          <a:spcPts val="700"/>
                        </a:spcAft>
                        <a:buFontTx/>
                        <a:buNone/>
                      </a:pPr>
                      <a:r>
                        <a:rPr lang="en-US" sz="1400" b="0">
                          <a:solidFill>
                            <a:srgbClr val="FFFFFF"/>
                          </a:solidFill>
                          <a:latin typeface="Helvetica Neue" panose="02000503000000020004"/>
                          <a:ea typeface="OpenAI Sans"/>
                          <a:cs typeface="OpenAI Sans"/>
                          <a:sym typeface="OpenAI Sans"/>
                        </a:rPr>
                        <a:t>Custom CUDA</a:t>
                      </a:r>
                      <a:endParaRPr sz="1400" b="0" dirty="0">
                        <a:solidFill>
                          <a:srgbClr val="FFFFFF"/>
                        </a:solidFill>
                        <a:latin typeface="Helvetica Neue" panose="02000503000000020004"/>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l" rtl="0">
                        <a:lnSpc>
                          <a:spcPct val="110000"/>
                        </a:lnSpc>
                        <a:spcBef>
                          <a:spcPts val="0"/>
                        </a:spcBef>
                        <a:spcAft>
                          <a:spcPts val="700"/>
                        </a:spcAft>
                        <a:buFontTx/>
                        <a:buNone/>
                      </a:pPr>
                      <a:r>
                        <a:rPr lang="en-US" sz="1400" b="0">
                          <a:solidFill>
                            <a:srgbClr val="FFFFFF"/>
                          </a:solidFill>
                          <a:latin typeface="Helvetica Neue" panose="02000503000000020004"/>
                          <a:ea typeface="OpenAI Sans"/>
                          <a:cs typeface="OpenAI Sans"/>
                          <a:sym typeface="OpenAI Sans"/>
                        </a:rPr>
                        <a:t>0.38x</a:t>
                      </a:r>
                      <a:endParaRPr sz="1400" b="0" dirty="0">
                        <a:solidFill>
                          <a:srgbClr val="FFFFFF"/>
                        </a:solidFill>
                        <a:latin typeface="Helvetica Neue" panose="02000503000000020004"/>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l" rtl="0">
                        <a:lnSpc>
                          <a:spcPct val="110000"/>
                        </a:lnSpc>
                        <a:spcBef>
                          <a:spcPts val="0"/>
                        </a:spcBef>
                        <a:spcAft>
                          <a:spcPts val="700"/>
                        </a:spcAft>
                        <a:buFontTx/>
                        <a:buNone/>
                      </a:pPr>
                      <a:r>
                        <a:rPr lang="en-US" sz="1400" b="0">
                          <a:solidFill>
                            <a:srgbClr val="FFFFFF"/>
                          </a:solidFill>
                          <a:latin typeface="Helvetica Neue" panose="02000503000000020004"/>
                          <a:ea typeface="OpenAI Sans"/>
                          <a:cs typeface="OpenAI Sans"/>
                          <a:sym typeface="OpenAI Sans"/>
                        </a:rPr>
                        <a:t>18.96%</a:t>
                      </a:r>
                      <a:endParaRPr sz="1400" b="0" dirty="0">
                        <a:solidFill>
                          <a:srgbClr val="FFFFFF"/>
                        </a:solidFill>
                        <a:latin typeface="Helvetica Neue" panose="02000503000000020004"/>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l" rtl="0">
                        <a:lnSpc>
                          <a:spcPct val="110000"/>
                        </a:lnSpc>
                        <a:spcBef>
                          <a:spcPts val="0"/>
                        </a:spcBef>
                        <a:spcAft>
                          <a:spcPts val="700"/>
                        </a:spcAft>
                        <a:buFontTx/>
                        <a:buNone/>
                      </a:pPr>
                      <a:r>
                        <a:rPr lang="en-US" sz="1400" b="0">
                          <a:solidFill>
                            <a:srgbClr val="FFFFFF"/>
                          </a:solidFill>
                          <a:latin typeface="Helvetica Neue" panose="02000503000000020004"/>
                          <a:ea typeface="OpenAI Sans"/>
                          <a:cs typeface="OpenAI Sans"/>
                          <a:sym typeface="OpenAI Sans"/>
                        </a:rPr>
                        <a:t>5.27x</a:t>
                      </a:r>
                      <a:endParaRPr sz="1400" b="0">
                        <a:solidFill>
                          <a:srgbClr val="FFFFFF"/>
                        </a:solidFill>
                        <a:latin typeface="Helvetica Neue" panose="02000503000000020004"/>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l" rtl="0">
                        <a:lnSpc>
                          <a:spcPct val="110000"/>
                        </a:lnSpc>
                        <a:spcBef>
                          <a:spcPts val="0"/>
                        </a:spcBef>
                        <a:spcAft>
                          <a:spcPts val="700"/>
                        </a:spcAft>
                        <a:buFontTx/>
                        <a:buNone/>
                      </a:pPr>
                      <a:r>
                        <a:rPr lang="en-US" sz="1400" b="0">
                          <a:solidFill>
                            <a:srgbClr val="FFFFFF"/>
                          </a:solidFill>
                          <a:latin typeface="Helvetica Neue" panose="02000503000000020004"/>
                          <a:ea typeface="OpenAI Sans"/>
                          <a:cs typeface="OpenAI Sans"/>
                          <a:sym typeface="OpenAI Sans"/>
                        </a:rPr>
                        <a:t>0.16x</a:t>
                      </a:r>
                      <a:endParaRPr sz="1400" b="0" dirty="0">
                        <a:solidFill>
                          <a:srgbClr val="FFFFFF"/>
                        </a:solidFill>
                        <a:latin typeface="Helvetica Neue" panose="02000503000000020004"/>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457200">
                <a:tc>
                  <a:txBody>
                    <a:bodyPr/>
                    <a:lstStyle/>
                    <a:p>
                      <a:pPr marL="0" lvl="0" indent="0" algn="l" rtl="0">
                        <a:lnSpc>
                          <a:spcPct val="110000"/>
                        </a:lnSpc>
                        <a:spcBef>
                          <a:spcPts val="0"/>
                        </a:spcBef>
                        <a:spcAft>
                          <a:spcPts val="700"/>
                        </a:spcAft>
                        <a:buFontTx/>
                        <a:buNone/>
                      </a:pPr>
                      <a:r>
                        <a:rPr lang="en-US" sz="1400" b="0">
                          <a:solidFill>
                            <a:srgbClr val="FFFFFF"/>
                          </a:solidFill>
                          <a:latin typeface="Helvetica Neue" panose="02000503000000020004"/>
                          <a:ea typeface="OpenAI Sans"/>
                          <a:cs typeface="OpenAI Sans"/>
                          <a:sym typeface="OpenAI Sans"/>
                        </a:rPr>
                        <a:t>Direct cuDNN</a:t>
                      </a:r>
                      <a:endParaRPr sz="1400" b="0" dirty="0">
                        <a:solidFill>
                          <a:srgbClr val="FFFFFF"/>
                        </a:solidFill>
                        <a:latin typeface="Helvetica Neue" panose="02000503000000020004"/>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l" rtl="0">
                        <a:lnSpc>
                          <a:spcPct val="110000"/>
                        </a:lnSpc>
                        <a:spcBef>
                          <a:spcPts val="0"/>
                        </a:spcBef>
                        <a:spcAft>
                          <a:spcPts val="700"/>
                        </a:spcAft>
                        <a:buFontTx/>
                        <a:buNone/>
                      </a:pPr>
                      <a:r>
                        <a:rPr lang="en-US" sz="1400" b="0">
                          <a:solidFill>
                            <a:srgbClr val="FFFFFF"/>
                          </a:solidFill>
                          <a:latin typeface="Helvetica Neue" panose="02000503000000020004"/>
                          <a:ea typeface="OpenAI Sans"/>
                          <a:cs typeface="OpenAI Sans"/>
                          <a:sym typeface="OpenAI Sans"/>
                        </a:rPr>
                        <a:t>0.37x</a:t>
                      </a:r>
                      <a:endParaRPr sz="1400" b="0">
                        <a:solidFill>
                          <a:srgbClr val="FFFFFF"/>
                        </a:solidFill>
                        <a:latin typeface="Helvetica Neue" panose="02000503000000020004"/>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l" rtl="0">
                        <a:lnSpc>
                          <a:spcPct val="110000"/>
                        </a:lnSpc>
                        <a:spcBef>
                          <a:spcPts val="0"/>
                        </a:spcBef>
                        <a:spcAft>
                          <a:spcPts val="700"/>
                        </a:spcAft>
                        <a:buFontTx/>
                        <a:buNone/>
                      </a:pPr>
                      <a:r>
                        <a:rPr lang="en-US" sz="1400" b="0">
                          <a:solidFill>
                            <a:srgbClr val="FFFFFF"/>
                          </a:solidFill>
                          <a:latin typeface="Helvetica Neue" panose="02000503000000020004"/>
                          <a:ea typeface="OpenAI Sans"/>
                          <a:cs typeface="OpenAI Sans"/>
                          <a:sym typeface="OpenAI Sans"/>
                        </a:rPr>
                        <a:t>18.30%</a:t>
                      </a:r>
                      <a:endParaRPr sz="1400" b="0">
                        <a:solidFill>
                          <a:srgbClr val="FFFFFF"/>
                        </a:solidFill>
                        <a:latin typeface="Helvetica Neue" panose="02000503000000020004"/>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l" rtl="0">
                        <a:lnSpc>
                          <a:spcPct val="110000"/>
                        </a:lnSpc>
                        <a:spcBef>
                          <a:spcPts val="0"/>
                        </a:spcBef>
                        <a:spcAft>
                          <a:spcPts val="700"/>
                        </a:spcAft>
                        <a:buFontTx/>
                        <a:buNone/>
                      </a:pPr>
                      <a:r>
                        <a:rPr lang="en-US" sz="1400" b="0">
                          <a:solidFill>
                            <a:srgbClr val="FFFFFF"/>
                          </a:solidFill>
                          <a:latin typeface="Helvetica Neue" panose="02000503000000020004"/>
                          <a:ea typeface="OpenAI Sans"/>
                          <a:cs typeface="OpenAI Sans"/>
                          <a:sym typeface="OpenAI Sans"/>
                        </a:rPr>
                        <a:t>5.47x</a:t>
                      </a:r>
                      <a:endParaRPr sz="1400" b="0">
                        <a:solidFill>
                          <a:srgbClr val="FFFFFF"/>
                        </a:solidFill>
                        <a:latin typeface="Helvetica Neue" panose="02000503000000020004"/>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l" rtl="0">
                        <a:lnSpc>
                          <a:spcPct val="110000"/>
                        </a:lnSpc>
                        <a:spcBef>
                          <a:spcPts val="0"/>
                        </a:spcBef>
                        <a:spcAft>
                          <a:spcPts val="700"/>
                        </a:spcAft>
                        <a:buFontTx/>
                        <a:buNone/>
                      </a:pPr>
                      <a:r>
                        <a:rPr lang="en-US" sz="1400" b="0">
                          <a:solidFill>
                            <a:srgbClr val="FFFFFF"/>
                          </a:solidFill>
                          <a:latin typeface="Helvetica Neue" panose="02000503000000020004"/>
                          <a:ea typeface="OpenAI Sans"/>
                          <a:cs typeface="OpenAI Sans"/>
                          <a:sym typeface="OpenAI Sans"/>
                        </a:rPr>
                        <a:t>0.19x</a:t>
                      </a:r>
                      <a:endParaRPr sz="1400" b="0" dirty="0">
                        <a:solidFill>
                          <a:srgbClr val="FFFFFF"/>
                        </a:solidFill>
                        <a:latin typeface="Helvetica Neue" panose="02000503000000020004"/>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457200">
                <a:tc>
                  <a:txBody>
                    <a:bodyPr/>
                    <a:lstStyle/>
                    <a:p>
                      <a:pPr marL="0" lvl="0" indent="0" algn="l" rtl="0">
                        <a:lnSpc>
                          <a:spcPct val="110000"/>
                        </a:lnSpc>
                        <a:spcBef>
                          <a:spcPts val="0"/>
                        </a:spcBef>
                        <a:spcAft>
                          <a:spcPts val="700"/>
                        </a:spcAft>
                        <a:buFontTx/>
                        <a:buNone/>
                      </a:pPr>
                      <a:r>
                        <a:rPr lang="en-US" sz="1400" b="0">
                          <a:solidFill>
                            <a:srgbClr val="FFFFFF"/>
                          </a:solidFill>
                          <a:latin typeface="Helvetica Neue" panose="02000503000000020004"/>
                          <a:ea typeface="OpenAI Sans"/>
                          <a:cs typeface="OpenAI Sans"/>
                          <a:sym typeface="OpenAI Sans"/>
                        </a:rPr>
                        <a:t>PyTorch</a:t>
                      </a:r>
                      <a:endParaRPr sz="1400" b="0" dirty="0">
                        <a:solidFill>
                          <a:srgbClr val="FFFFFF"/>
                        </a:solidFill>
                        <a:latin typeface="Helvetica Neue" panose="02000503000000020004"/>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l" rtl="0">
                        <a:lnSpc>
                          <a:spcPct val="110000"/>
                        </a:lnSpc>
                        <a:spcBef>
                          <a:spcPts val="0"/>
                        </a:spcBef>
                        <a:spcAft>
                          <a:spcPts val="700"/>
                        </a:spcAft>
                        <a:buFontTx/>
                        <a:buNone/>
                      </a:pPr>
                      <a:r>
                        <a:rPr lang="en-US" sz="1400" b="0">
                          <a:solidFill>
                            <a:srgbClr val="FFFFFF"/>
                          </a:solidFill>
                          <a:latin typeface="Helvetica Neue" panose="02000503000000020004"/>
                          <a:ea typeface="OpenAI Sans"/>
                          <a:cs typeface="OpenAI Sans"/>
                          <a:sym typeface="OpenAI Sans"/>
                        </a:rPr>
                        <a:t>0.29x</a:t>
                      </a:r>
                      <a:endParaRPr sz="1400" b="0" dirty="0">
                        <a:solidFill>
                          <a:srgbClr val="FFFFFF"/>
                        </a:solidFill>
                        <a:latin typeface="Helvetica Neue" panose="02000503000000020004"/>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l" rtl="0">
                        <a:lnSpc>
                          <a:spcPct val="110000"/>
                        </a:lnSpc>
                        <a:spcBef>
                          <a:spcPts val="0"/>
                        </a:spcBef>
                        <a:spcAft>
                          <a:spcPts val="700"/>
                        </a:spcAft>
                        <a:buFontTx/>
                        <a:buNone/>
                      </a:pPr>
                      <a:r>
                        <a:rPr lang="en-US" sz="1400" b="0">
                          <a:solidFill>
                            <a:srgbClr val="FFFFFF"/>
                          </a:solidFill>
                          <a:latin typeface="Helvetica Neue" panose="02000503000000020004"/>
                          <a:ea typeface="OpenAI Sans"/>
                          <a:cs typeface="OpenAI Sans"/>
                          <a:sym typeface="OpenAI Sans"/>
                        </a:rPr>
                        <a:t>14.74%</a:t>
                      </a:r>
                      <a:endParaRPr sz="1400" b="0" dirty="0">
                        <a:solidFill>
                          <a:srgbClr val="FFFFFF"/>
                        </a:solidFill>
                        <a:latin typeface="Helvetica Neue" panose="02000503000000020004"/>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l" rtl="0">
                        <a:lnSpc>
                          <a:spcPct val="110000"/>
                        </a:lnSpc>
                        <a:spcBef>
                          <a:spcPts val="0"/>
                        </a:spcBef>
                        <a:spcAft>
                          <a:spcPts val="700"/>
                        </a:spcAft>
                        <a:buFontTx/>
                        <a:buNone/>
                      </a:pPr>
                      <a:r>
                        <a:rPr lang="en-US" sz="1400" b="0">
                          <a:solidFill>
                            <a:srgbClr val="FFFFFF"/>
                          </a:solidFill>
                          <a:latin typeface="Helvetica Neue" panose="02000503000000020004"/>
                          <a:ea typeface="OpenAI Sans"/>
                          <a:cs typeface="OpenAI Sans"/>
                          <a:sym typeface="OpenAI Sans"/>
                        </a:rPr>
                        <a:t>6.78x</a:t>
                      </a:r>
                      <a:endParaRPr sz="1400" b="0">
                        <a:solidFill>
                          <a:srgbClr val="FFFFFF"/>
                        </a:solidFill>
                        <a:latin typeface="Helvetica Neue" panose="02000503000000020004"/>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lvl="0" indent="0" algn="l" rtl="0">
                        <a:lnSpc>
                          <a:spcPct val="110000"/>
                        </a:lnSpc>
                        <a:spcBef>
                          <a:spcPts val="0"/>
                        </a:spcBef>
                        <a:spcAft>
                          <a:spcPts val="700"/>
                        </a:spcAft>
                        <a:buFontTx/>
                        <a:buNone/>
                      </a:pPr>
                      <a:r>
                        <a:rPr lang="en-US" sz="1400" b="0">
                          <a:solidFill>
                            <a:srgbClr val="FFFFFF"/>
                          </a:solidFill>
                          <a:latin typeface="Helvetica Neue" panose="02000503000000020004"/>
                          <a:ea typeface="OpenAI Sans"/>
                          <a:cs typeface="OpenAI Sans"/>
                          <a:sym typeface="OpenAI Sans"/>
                        </a:rPr>
                        <a:t>0.12x</a:t>
                      </a:r>
                      <a:endParaRPr sz="1400" b="0" dirty="0">
                        <a:solidFill>
                          <a:srgbClr val="FFFFFF"/>
                        </a:solidFill>
                        <a:latin typeface="Helvetica Neue" panose="02000503000000020004"/>
                        <a:ea typeface="OpenAI Sans"/>
                        <a:cs typeface="OpenAI Sans"/>
                        <a:sym typeface="OpenAI Sans"/>
                      </a:endParaRPr>
                    </a:p>
                  </a:txBody>
                  <a:tcPr marL="0" marR="0"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106364793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B9D4E6-CFF8-CAD9-A94E-1228D81EA56C}"/>
            </a:ext>
          </a:extLst>
        </p:cNvPr>
        <p:cNvGrpSpPr/>
        <p:nvPr/>
      </p:nvGrpSpPr>
      <p:grpSpPr>
        <a:xfrm>
          <a:off x="0" y="0"/>
          <a:ext cx="0" cy="0"/>
          <a:chOff x="0" y="0"/>
          <a:chExt cx="0" cy="0"/>
        </a:xfrm>
      </p:grpSpPr>
      <p:sp>
        <p:nvSpPr>
          <p:cNvPr id="7" name="Footer Placeholder 6">
            <a:extLst>
              <a:ext uri="{FF2B5EF4-FFF2-40B4-BE49-F238E27FC236}">
                <a16:creationId xmlns:a16="http://schemas.microsoft.com/office/drawing/2014/main" id="{3AC3A10F-8642-8154-9AEA-7110D289C62E}"/>
              </a:ext>
            </a:extLst>
          </p:cNvPr>
          <p:cNvSpPr>
            <a:spLocks noGrp="1"/>
          </p:cNvSpPr>
          <p:nvPr>
            <p:ph type="ftr" sz="quarter" idx="3"/>
          </p:nvPr>
        </p:nvSpPr>
        <p:spPr>
          <a:xfrm>
            <a:off x="393700" y="6279952"/>
            <a:ext cx="3568700" cy="241240"/>
          </a:xfrm>
        </p:spPr>
        <p:txBody>
          <a:bodyPr/>
          <a:lstStyle/>
          <a:p>
            <a:endParaRPr lang="en-US" dirty="0"/>
          </a:p>
        </p:txBody>
      </p:sp>
      <p:sp>
        <p:nvSpPr>
          <p:cNvPr id="4" name="Slide Number Placeholder 3">
            <a:extLst>
              <a:ext uri="{FF2B5EF4-FFF2-40B4-BE49-F238E27FC236}">
                <a16:creationId xmlns:a16="http://schemas.microsoft.com/office/drawing/2014/main" id="{6BBF0163-E4B1-61D1-776D-45470B16F0F4}"/>
              </a:ext>
            </a:extLst>
          </p:cNvPr>
          <p:cNvSpPr>
            <a:spLocks noGrp="1"/>
          </p:cNvSpPr>
          <p:nvPr>
            <p:ph type="sldNum" sz="quarter" idx="4"/>
          </p:nvPr>
        </p:nvSpPr>
        <p:spPr>
          <a:xfrm>
            <a:off x="11279332" y="6279294"/>
            <a:ext cx="518968" cy="241240"/>
          </a:xfrm>
        </p:spPr>
        <p:txBody>
          <a:bodyPr/>
          <a:lstStyle/>
          <a:p>
            <a:r>
              <a:rPr lang="en-US"/>
              <a:t>12</a:t>
            </a:r>
            <a:endParaRPr lang="en-US" dirty="0"/>
          </a:p>
        </p:txBody>
      </p:sp>
      <p:sp>
        <p:nvSpPr>
          <p:cNvPr id="11" name="Title 10">
            <a:extLst>
              <a:ext uri="{FF2B5EF4-FFF2-40B4-BE49-F238E27FC236}">
                <a16:creationId xmlns:a16="http://schemas.microsoft.com/office/drawing/2014/main" id="{9759E2FE-9F02-E1B4-EBBC-AA8624ACC339}"/>
              </a:ext>
            </a:extLst>
          </p:cNvPr>
          <p:cNvSpPr>
            <a:spLocks noGrp="1"/>
          </p:cNvSpPr>
          <p:nvPr>
            <p:ph type="title"/>
          </p:nvPr>
        </p:nvSpPr>
        <p:spPr>
          <a:xfrm>
            <a:off x="393700" y="344008"/>
            <a:ext cx="11404600" cy="1047491"/>
          </a:xfrm>
        </p:spPr>
        <p:txBody>
          <a:bodyPr/>
          <a:lstStyle/>
          <a:p>
            <a:r>
              <a:rPr lang="en-US"/>
              <a:t>Live demo</a:t>
            </a:r>
            <a:endParaRPr lang="en-US" dirty="0"/>
          </a:p>
        </p:txBody>
      </p:sp>
      <p:cxnSp>
        <p:nvCxnSpPr>
          <p:cNvPr id="2" name="Google Shape;2259;p159">
            <a:extLst>
              <a:ext uri="{FF2B5EF4-FFF2-40B4-BE49-F238E27FC236}">
                <a16:creationId xmlns:a16="http://schemas.microsoft.com/office/drawing/2014/main" id="{B445FE4B-78BD-90F9-A6AA-1A4EF03DE791}"/>
              </a:ext>
            </a:extLst>
          </p:cNvPr>
          <p:cNvCxnSpPr>
            <a:stCxn id="3" idx="2"/>
          </p:cNvCxnSpPr>
          <p:nvPr/>
        </p:nvCxnSpPr>
        <p:spPr>
          <a:xfrm>
            <a:off x="337718" y="3373753"/>
            <a:ext cx="11430000" cy="300"/>
          </a:xfrm>
          <a:prstGeom prst="straightConnector1">
            <a:avLst/>
          </a:prstGeom>
          <a:noFill/>
          <a:ln w="9525" cap="flat" cmpd="sng">
            <a:solidFill>
              <a:schemeClr val="tx1"/>
            </a:solidFill>
            <a:prstDash val="solid"/>
            <a:round/>
            <a:headEnd type="none" w="med" len="med"/>
            <a:tailEnd type="none" w="med" len="med"/>
          </a:ln>
        </p:spPr>
      </p:cxnSp>
      <p:sp>
        <p:nvSpPr>
          <p:cNvPr id="3" name="Google Shape;2260;p159">
            <a:extLst>
              <a:ext uri="{FF2B5EF4-FFF2-40B4-BE49-F238E27FC236}">
                <a16:creationId xmlns:a16="http://schemas.microsoft.com/office/drawing/2014/main" id="{39A86B1D-EA5D-3FA6-7D83-8F21D70E330E}"/>
              </a:ext>
            </a:extLst>
          </p:cNvPr>
          <p:cNvSpPr/>
          <p:nvPr/>
        </p:nvSpPr>
        <p:spPr>
          <a:xfrm>
            <a:off x="337718" y="3320203"/>
            <a:ext cx="107100" cy="107100"/>
          </a:xfrm>
          <a:prstGeom prst="ellipse">
            <a:avLst/>
          </a:prstGeom>
          <a:solidFill>
            <a:schemeClr val="tx1"/>
          </a:solidFill>
          <a:ln>
            <a:solidFill>
              <a:schemeClr val="tx1"/>
            </a:solid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None/>
            </a:pPr>
            <a:endParaRPr>
              <a:latin typeface="OpenAI Sans"/>
              <a:ea typeface="OpenAI Sans"/>
              <a:cs typeface="OpenAI Sans"/>
              <a:sym typeface="OpenAI Sans"/>
            </a:endParaRPr>
          </a:p>
        </p:txBody>
      </p:sp>
      <p:sp>
        <p:nvSpPr>
          <p:cNvPr id="5" name="Google Shape;2261;p159">
            <a:extLst>
              <a:ext uri="{FF2B5EF4-FFF2-40B4-BE49-F238E27FC236}">
                <a16:creationId xmlns:a16="http://schemas.microsoft.com/office/drawing/2014/main" id="{A1013DAF-A2C3-BC42-73D5-9D8AB55DCA94}"/>
              </a:ext>
            </a:extLst>
          </p:cNvPr>
          <p:cNvSpPr/>
          <p:nvPr/>
        </p:nvSpPr>
        <p:spPr>
          <a:xfrm>
            <a:off x="4251750" y="3320203"/>
            <a:ext cx="107100" cy="107100"/>
          </a:xfrm>
          <a:prstGeom prst="ellipse">
            <a:avLst/>
          </a:prstGeom>
          <a:solidFill>
            <a:schemeClr val="tx1"/>
          </a:solidFill>
          <a:ln>
            <a:solidFill>
              <a:schemeClr val="tx1"/>
            </a:solid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None/>
            </a:pPr>
            <a:endParaRPr>
              <a:latin typeface="OpenAI Sans"/>
              <a:ea typeface="OpenAI Sans"/>
              <a:cs typeface="OpenAI Sans"/>
              <a:sym typeface="OpenAI Sans"/>
            </a:endParaRPr>
          </a:p>
        </p:txBody>
      </p:sp>
      <p:sp>
        <p:nvSpPr>
          <p:cNvPr id="6" name="Google Shape;2262;p159">
            <a:extLst>
              <a:ext uri="{FF2B5EF4-FFF2-40B4-BE49-F238E27FC236}">
                <a16:creationId xmlns:a16="http://schemas.microsoft.com/office/drawing/2014/main" id="{4654A74A-2C40-A8C6-E9F9-43C58A3ADE20}"/>
              </a:ext>
            </a:extLst>
          </p:cNvPr>
          <p:cNvSpPr/>
          <p:nvPr/>
        </p:nvSpPr>
        <p:spPr>
          <a:xfrm>
            <a:off x="8176050" y="3320203"/>
            <a:ext cx="107100" cy="107100"/>
          </a:xfrm>
          <a:prstGeom prst="ellipse">
            <a:avLst/>
          </a:prstGeom>
          <a:solidFill>
            <a:schemeClr val="tx1"/>
          </a:solidFill>
          <a:ln>
            <a:solidFill>
              <a:schemeClr val="tx1"/>
            </a:solid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None/>
            </a:pPr>
            <a:endParaRPr>
              <a:latin typeface="OpenAI Sans"/>
              <a:ea typeface="OpenAI Sans"/>
              <a:cs typeface="OpenAI Sans"/>
              <a:sym typeface="OpenAI Sans"/>
            </a:endParaRPr>
          </a:p>
        </p:txBody>
      </p:sp>
      <p:sp>
        <p:nvSpPr>
          <p:cNvPr id="9" name="Content Placeholder 15">
            <a:extLst>
              <a:ext uri="{FF2B5EF4-FFF2-40B4-BE49-F238E27FC236}">
                <a16:creationId xmlns:a16="http://schemas.microsoft.com/office/drawing/2014/main" id="{76C75857-E8EA-1B37-0464-3C7048D7FBEB}"/>
              </a:ext>
            </a:extLst>
          </p:cNvPr>
          <p:cNvSpPr txBox="1">
            <a:spLocks/>
          </p:cNvSpPr>
          <p:nvPr/>
        </p:nvSpPr>
        <p:spPr>
          <a:xfrm>
            <a:off x="393700" y="2843266"/>
            <a:ext cx="1612900" cy="262400"/>
          </a:xfrm>
          <a:prstGeom prst="rect">
            <a:avLst/>
          </a:prstGeom>
        </p:spPr>
        <p:txBody>
          <a:bodyPr vert="horz" lIns="0" tIns="0" rIns="0" bIns="0" rtlCol="0">
            <a:noAutofit/>
          </a:bodyPr>
          <a:lstStyle>
            <a:lvl1pPr marL="228600" indent="-228600" algn="l" defTabSz="914400" rtl="0" eaLnBrk="1" latinLnBrk="0" hangingPunct="1">
              <a:lnSpc>
                <a:spcPct val="90000"/>
              </a:lnSpc>
              <a:spcBef>
                <a:spcPts val="1000"/>
              </a:spcBef>
              <a:buFont typeface="Arial" panose="020B0604020202020204" pitchFamily="34" charset="0"/>
              <a:buNone/>
              <a:defRPr sz="1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4000"/>
              </a:lnSpc>
              <a:spcBef>
                <a:spcPts val="0"/>
              </a:spcBef>
              <a:spcAft>
                <a:spcPts val="800"/>
              </a:spcAft>
            </a:pPr>
            <a:r>
              <a:rPr lang="en-US" sz="1400">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1. Predict</a:t>
            </a:r>
            <a:endParaRPr lang="en-US" sz="1400" dirty="0">
              <a:solidFill>
                <a:srgbClr val="FFFFFF"/>
              </a:solidFill>
              <a:latin typeface="Helvetica Neue" panose="02000503000000020004"/>
              <a:ea typeface="Helvetica Neue" panose="02000503000000020004" pitchFamily="2" charset="0"/>
              <a:cs typeface="Helvetica Neue" panose="02000503000000020004" pitchFamily="2" charset="0"/>
              <a:sym typeface="OpenAI Sans"/>
            </a:endParaRPr>
          </a:p>
        </p:txBody>
      </p:sp>
      <p:sp>
        <p:nvSpPr>
          <p:cNvPr id="13" name="Content Placeholder 15">
            <a:extLst>
              <a:ext uri="{FF2B5EF4-FFF2-40B4-BE49-F238E27FC236}">
                <a16:creationId xmlns:a16="http://schemas.microsoft.com/office/drawing/2014/main" id="{76AEECBA-C292-6302-8A8E-7EB14A54E420}"/>
              </a:ext>
            </a:extLst>
          </p:cNvPr>
          <p:cNvSpPr txBox="1">
            <a:spLocks/>
          </p:cNvSpPr>
          <p:nvPr/>
        </p:nvSpPr>
        <p:spPr>
          <a:xfrm>
            <a:off x="4294187" y="2843266"/>
            <a:ext cx="1612900" cy="262400"/>
          </a:xfrm>
          <a:prstGeom prst="rect">
            <a:avLst/>
          </a:prstGeom>
        </p:spPr>
        <p:txBody>
          <a:bodyPr vert="horz" lIns="0" tIns="0" rIns="0" bIns="0" rtlCol="0">
            <a:noAutofit/>
          </a:bodyPr>
          <a:lstStyle>
            <a:lvl1pPr marL="228600" indent="-228600" algn="l" defTabSz="914400" rtl="0" eaLnBrk="1" latinLnBrk="0" hangingPunct="1">
              <a:lnSpc>
                <a:spcPct val="90000"/>
              </a:lnSpc>
              <a:spcBef>
                <a:spcPts val="1000"/>
              </a:spcBef>
              <a:buFont typeface="Arial" panose="020B0604020202020204" pitchFamily="34" charset="0"/>
              <a:buNone/>
              <a:defRPr sz="1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4000"/>
              </a:lnSpc>
              <a:spcBef>
                <a:spcPts val="0"/>
              </a:spcBef>
              <a:spcAft>
                <a:spcPts val="800"/>
              </a:spcAft>
            </a:pPr>
            <a:r>
              <a:rPr lang="en-US" sz="1400">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2. Compare</a:t>
            </a:r>
            <a:endParaRPr lang="en-US" sz="1400" dirty="0">
              <a:solidFill>
                <a:srgbClr val="FFFFFF"/>
              </a:solidFill>
              <a:latin typeface="Helvetica Neue" panose="02000503000000020004"/>
              <a:ea typeface="Helvetica Neue" panose="02000503000000020004" pitchFamily="2" charset="0"/>
              <a:cs typeface="Helvetica Neue" panose="02000503000000020004" pitchFamily="2" charset="0"/>
              <a:sym typeface="OpenAI Sans"/>
            </a:endParaRPr>
          </a:p>
        </p:txBody>
      </p:sp>
      <p:sp>
        <p:nvSpPr>
          <p:cNvPr id="14" name="Content Placeholder 15">
            <a:extLst>
              <a:ext uri="{FF2B5EF4-FFF2-40B4-BE49-F238E27FC236}">
                <a16:creationId xmlns:a16="http://schemas.microsoft.com/office/drawing/2014/main" id="{95982BB0-2387-9BAA-9F14-F45500C04700}"/>
              </a:ext>
            </a:extLst>
          </p:cNvPr>
          <p:cNvSpPr txBox="1">
            <a:spLocks/>
          </p:cNvSpPr>
          <p:nvPr/>
        </p:nvSpPr>
        <p:spPr>
          <a:xfrm>
            <a:off x="8223249" y="2843266"/>
            <a:ext cx="1612900" cy="262400"/>
          </a:xfrm>
          <a:prstGeom prst="rect">
            <a:avLst/>
          </a:prstGeom>
        </p:spPr>
        <p:txBody>
          <a:bodyPr vert="horz" lIns="0" tIns="0" rIns="0" bIns="0" rtlCol="0">
            <a:noAutofit/>
          </a:bodyPr>
          <a:lstStyle>
            <a:lvl1pPr marL="228600" indent="-228600" algn="l" defTabSz="914400" rtl="0" eaLnBrk="1" latinLnBrk="0" hangingPunct="1">
              <a:lnSpc>
                <a:spcPct val="90000"/>
              </a:lnSpc>
              <a:spcBef>
                <a:spcPts val="1000"/>
              </a:spcBef>
              <a:buFont typeface="Arial" panose="020B0604020202020204" pitchFamily="34" charset="0"/>
              <a:buNone/>
              <a:defRPr sz="1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4000"/>
              </a:lnSpc>
              <a:spcBef>
                <a:spcPts val="0"/>
              </a:spcBef>
              <a:spcAft>
                <a:spcPts val="800"/>
              </a:spcAft>
            </a:pPr>
            <a:r>
              <a:rPr lang="en-US" sz="1400">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3. Explain</a:t>
            </a:r>
            <a:endParaRPr lang="en-US" sz="1400" dirty="0">
              <a:solidFill>
                <a:srgbClr val="FFFFFF"/>
              </a:solidFill>
              <a:latin typeface="Helvetica Neue" panose="02000503000000020004"/>
              <a:ea typeface="Helvetica Neue" panose="02000503000000020004" pitchFamily="2" charset="0"/>
              <a:cs typeface="Helvetica Neue" panose="02000503000000020004" pitchFamily="2" charset="0"/>
              <a:sym typeface="OpenAI Sans"/>
            </a:endParaRPr>
          </a:p>
        </p:txBody>
      </p:sp>
      <p:sp>
        <p:nvSpPr>
          <p:cNvPr id="8" name="Text Placeholder 16">
            <a:extLst>
              <a:ext uri="{FF2B5EF4-FFF2-40B4-BE49-F238E27FC236}">
                <a16:creationId xmlns:a16="http://schemas.microsoft.com/office/drawing/2014/main" id="{D0EE3B6B-F07C-271E-2F97-41D7686F1C33}"/>
              </a:ext>
            </a:extLst>
          </p:cNvPr>
          <p:cNvSpPr txBox="1">
            <a:spLocks/>
          </p:cNvSpPr>
          <p:nvPr/>
        </p:nvSpPr>
        <p:spPr>
          <a:xfrm>
            <a:off x="4317118" y="3822700"/>
            <a:ext cx="3156125" cy="1586256"/>
          </a:xfrm>
          <a:prstGeom prst="rect">
            <a:avLst/>
          </a:prstGeom>
        </p:spPr>
        <p:txBody>
          <a:bodyPr lIns="0" tIns="0" rIns="0" bIns="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4000"/>
              </a:lnSpc>
              <a:spcBef>
                <a:spcPts val="0"/>
              </a:spcBef>
              <a:spcAft>
                <a:spcPts val="1200"/>
              </a:spcAft>
              <a:buNone/>
              <a:defRPr/>
            </a:pPr>
            <a:r>
              <a:rPr lang="en-US" sz="1600">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Performance</a:t>
            </a:r>
          </a:p>
          <a:p>
            <a:pPr marL="0" indent="0">
              <a:lnSpc>
                <a:spcPct val="114000"/>
              </a:lnSpc>
              <a:spcBef>
                <a:spcPts val="0"/>
              </a:spcBef>
              <a:spcAft>
                <a:spcPts val="600"/>
              </a:spcAft>
              <a:buNone/>
              <a:defRPr/>
            </a:pPr>
            <a:r>
              <a:rPr lang="en-US" sz="1600">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Show the measured results.</a:t>
            </a:r>
          </a:p>
          <a:p>
            <a:pPr marL="0" indent="0">
              <a:lnSpc>
                <a:spcPct val="114000"/>
              </a:lnSpc>
              <a:spcBef>
                <a:spcPts val="0"/>
              </a:spcBef>
              <a:spcAft>
                <a:spcPts val="600"/>
              </a:spcAft>
              <a:buNone/>
              <a:defRPr/>
            </a:pPr>
            <a:r>
              <a:rPr lang="en-US" sz="1600">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Compare latency and throughput.</a:t>
            </a:r>
          </a:p>
          <a:p>
            <a:pPr marL="0" indent="0">
              <a:lnSpc>
                <a:spcPct val="114000"/>
              </a:lnSpc>
              <a:spcBef>
                <a:spcPts val="0"/>
              </a:spcBef>
              <a:spcAft>
                <a:spcPts val="600"/>
              </a:spcAft>
              <a:buNone/>
              <a:defRPr/>
            </a:pPr>
            <a:r>
              <a:rPr lang="en-US" sz="1600">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Compare one and two GPUs.</a:t>
            </a:r>
            <a:endParaRPr lang="en-US" sz="1600" dirty="0">
              <a:solidFill>
                <a:srgbClr val="FFFFFF"/>
              </a:solidFill>
              <a:latin typeface="Helvetica Neue" panose="02000503000000020004"/>
              <a:ea typeface="Helvetica Neue" panose="02000503000000020004" pitchFamily="2" charset="0"/>
              <a:cs typeface="Helvetica Neue" panose="02000503000000020004" pitchFamily="2" charset="0"/>
              <a:sym typeface="OpenAI Sans"/>
            </a:endParaRPr>
          </a:p>
        </p:txBody>
      </p:sp>
      <p:sp>
        <p:nvSpPr>
          <p:cNvPr id="15" name="Text Placeholder 16">
            <a:extLst>
              <a:ext uri="{FF2B5EF4-FFF2-40B4-BE49-F238E27FC236}">
                <a16:creationId xmlns:a16="http://schemas.microsoft.com/office/drawing/2014/main" id="{B3EA0E10-C778-6971-AFB5-9B9B52B082D5}"/>
              </a:ext>
            </a:extLst>
          </p:cNvPr>
          <p:cNvSpPr txBox="1">
            <a:spLocks/>
          </p:cNvSpPr>
          <p:nvPr/>
        </p:nvSpPr>
        <p:spPr>
          <a:xfrm>
            <a:off x="399873" y="3822700"/>
            <a:ext cx="3156125" cy="1586256"/>
          </a:xfrm>
          <a:prstGeom prst="rect">
            <a:avLst/>
          </a:prstGeom>
        </p:spPr>
        <p:txBody>
          <a:bodyPr lIns="0" tIns="0" rIns="0" bIns="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4000"/>
              </a:lnSpc>
              <a:spcBef>
                <a:spcPts val="0"/>
              </a:spcBef>
              <a:spcAft>
                <a:spcPts val="1200"/>
              </a:spcAft>
              <a:buNone/>
              <a:defRPr/>
            </a:pPr>
            <a:r>
              <a:rPr lang="en-US" sz="1600">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Prediction</a:t>
            </a:r>
          </a:p>
          <a:p>
            <a:pPr marL="0" indent="0">
              <a:lnSpc>
                <a:spcPct val="114000"/>
              </a:lnSpc>
              <a:spcBef>
                <a:spcPts val="0"/>
              </a:spcBef>
              <a:spcAft>
                <a:spcPts val="600"/>
              </a:spcAft>
              <a:buNone/>
              <a:defRPr/>
            </a:pPr>
            <a:r>
              <a:rPr lang="en-US" sz="1600">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Load the final checkpoints.</a:t>
            </a:r>
          </a:p>
          <a:p>
            <a:pPr marL="0" indent="0">
              <a:lnSpc>
                <a:spcPct val="114000"/>
              </a:lnSpc>
              <a:spcBef>
                <a:spcPts val="0"/>
              </a:spcBef>
              <a:spcAft>
                <a:spcPts val="600"/>
              </a:spcAft>
              <a:buNone/>
              <a:defRPr/>
            </a:pPr>
            <a:r>
              <a:rPr lang="en-US" sz="1600">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Predict the same held-out digits.</a:t>
            </a:r>
          </a:p>
          <a:p>
            <a:pPr marL="0" indent="0">
              <a:lnSpc>
                <a:spcPct val="114000"/>
              </a:lnSpc>
              <a:spcBef>
                <a:spcPts val="0"/>
              </a:spcBef>
              <a:spcAft>
                <a:spcPts val="600"/>
              </a:spcAft>
              <a:buNone/>
              <a:defRPr/>
            </a:pPr>
            <a:r>
              <a:rPr lang="en-US" sz="1600">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Compare predictions with labels.</a:t>
            </a:r>
            <a:endParaRPr lang="en-US" sz="1600" dirty="0">
              <a:solidFill>
                <a:srgbClr val="FFFFFF"/>
              </a:solidFill>
              <a:latin typeface="Helvetica Neue" panose="02000503000000020004"/>
              <a:ea typeface="Helvetica Neue" panose="02000503000000020004" pitchFamily="2" charset="0"/>
              <a:cs typeface="Helvetica Neue" panose="02000503000000020004" pitchFamily="2" charset="0"/>
              <a:sym typeface="OpenAI Sans"/>
            </a:endParaRPr>
          </a:p>
        </p:txBody>
      </p:sp>
      <p:sp>
        <p:nvSpPr>
          <p:cNvPr id="19" name="Text Placeholder 16">
            <a:extLst>
              <a:ext uri="{FF2B5EF4-FFF2-40B4-BE49-F238E27FC236}">
                <a16:creationId xmlns:a16="http://schemas.microsoft.com/office/drawing/2014/main" id="{5A9F39A9-7A23-0F85-F761-1AB9FA6B8FDE}"/>
              </a:ext>
            </a:extLst>
          </p:cNvPr>
          <p:cNvSpPr txBox="1">
            <a:spLocks/>
          </p:cNvSpPr>
          <p:nvPr/>
        </p:nvSpPr>
        <p:spPr>
          <a:xfrm>
            <a:off x="8177917" y="3822700"/>
            <a:ext cx="3156125" cy="1586256"/>
          </a:xfrm>
          <a:prstGeom prst="rect">
            <a:avLst/>
          </a:prstGeom>
        </p:spPr>
        <p:txBody>
          <a:bodyPr lIns="0" tIns="0" rIns="0" bIns="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4000"/>
              </a:lnSpc>
              <a:spcBef>
                <a:spcPts val="0"/>
              </a:spcBef>
              <a:spcAft>
                <a:spcPts val="1200"/>
              </a:spcAft>
              <a:buNone/>
              <a:defRPr/>
            </a:pPr>
            <a:r>
              <a:rPr lang="en-US" sz="1600">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Explanation</a:t>
            </a:r>
          </a:p>
          <a:p>
            <a:pPr marL="0" indent="0">
              <a:lnSpc>
                <a:spcPct val="114000"/>
              </a:lnSpc>
              <a:spcBef>
                <a:spcPts val="0"/>
              </a:spcBef>
              <a:spcAft>
                <a:spcPts val="600"/>
              </a:spcAft>
              <a:buNone/>
              <a:defRPr/>
            </a:pPr>
            <a:r>
              <a:rPr lang="en-US" sz="1600">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Connect speed to overhead.</a:t>
            </a:r>
          </a:p>
          <a:p>
            <a:pPr marL="0" indent="0">
              <a:lnSpc>
                <a:spcPct val="114000"/>
              </a:lnSpc>
              <a:spcBef>
                <a:spcPts val="0"/>
              </a:spcBef>
              <a:spcAft>
                <a:spcPts val="600"/>
              </a:spcAft>
              <a:buNone/>
              <a:defRPr/>
            </a:pPr>
            <a:r>
              <a:rPr lang="en-US" sz="1600">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Explain input reuse.</a:t>
            </a:r>
          </a:p>
          <a:p>
            <a:pPr marL="0" indent="0">
              <a:lnSpc>
                <a:spcPct val="114000"/>
              </a:lnSpc>
              <a:spcBef>
                <a:spcPts val="0"/>
              </a:spcBef>
              <a:spcAft>
                <a:spcPts val="600"/>
              </a:spcAft>
              <a:buNone/>
              <a:defRPr/>
            </a:pPr>
            <a:r>
              <a:rPr lang="en-US" sz="1600">
                <a:solidFill>
                  <a:srgbClr val="FFFFFF"/>
                </a:solidFill>
                <a:latin typeface="Helvetica Neue" panose="02000503000000020004"/>
                <a:ea typeface="Helvetica Neue" panose="02000503000000020004" pitchFamily="2" charset="0"/>
                <a:cs typeface="Helvetica Neue" panose="02000503000000020004" pitchFamily="2" charset="0"/>
                <a:sym typeface="OpenAI Sans"/>
              </a:rPr>
              <a:t>Discuss where the GPU helps.</a:t>
            </a:r>
            <a:endParaRPr lang="en-US" sz="1600" dirty="0">
              <a:solidFill>
                <a:srgbClr val="FFFFFF"/>
              </a:solidFill>
              <a:latin typeface="Helvetica Neue" panose="02000503000000020004"/>
              <a:ea typeface="Helvetica Neue" panose="02000503000000020004" pitchFamily="2" charset="0"/>
              <a:cs typeface="Helvetica Neue" panose="02000503000000020004" pitchFamily="2" charset="0"/>
              <a:sym typeface="OpenAI Sans"/>
            </a:endParaRPr>
          </a:p>
        </p:txBody>
      </p:sp>
    </p:spTree>
    <p:extLst>
      <p:ext uri="{BB962C8B-B14F-4D97-AF65-F5344CB8AC3E}">
        <p14:creationId xmlns:p14="http://schemas.microsoft.com/office/powerpoint/2010/main" val="2415442767"/>
      </p:ext>
    </p:extLst>
  </p:cSld>
  <p:clrMapOvr>
    <a:masterClrMapping/>
  </p:clrMapOvr>
</p:sld>
</file>

<file path=ppt/theme/theme1.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1822</TotalTime>
  <Words>4740</Words>
  <Application>Microsoft Office PowerPoint</Application>
  <PresentationFormat>Widescreen</PresentationFormat>
  <Paragraphs>242</Paragraphs>
  <Slides>12</Slides>
  <Notes>12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12</vt:i4>
      </vt:variant>
    </vt:vector>
  </HeadingPairs>
  <TitlesOfParts>
    <vt:vector size="18" baseType="lpstr">
      <vt:lpstr>Aptos</vt:lpstr>
      <vt:lpstr>Consolas</vt:lpstr>
      <vt:lpstr>OpenAI Sans</vt:lpstr>
      <vt:lpstr>Helvetica Neue</vt:lpstr>
      <vt:lpstr>Arial</vt:lpstr>
      <vt:lpstr>Default Codex Theme</vt:lpstr>
      <vt:lpstr>CNN CUDA
Case Study</vt:lpstr>
      <vt:lpstr>The small CNN classifier</vt:lpstr>
      <vt:lpstr>The 2D convolution operation</vt:lpstr>
      <vt:lpstr>The CPU implementation</vt:lpstr>
      <vt:lpstr>CUDA execution for convolution</vt:lpstr>
      <vt:lpstr>The custom CUDA kernel</vt:lpstr>
      <vt:lpstr>Two GPUs with DataParallel</vt:lpstr>
      <vt:lpstr>Shared memory and input reuse</vt:lpstr>
      <vt:lpstr>Measured CNN performance</vt:lpstr>
      <vt:lpstr>Correctness and fair timing</vt:lpstr>
      <vt:lpstr>One GPU versus two GPUs</vt:lpstr>
      <vt:lpstr>Live demo</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cp:lastModifiedBy>Satya Paladugu</cp:lastModifiedBy>
  <cp:revision>1</cp:revision>
  <dcterms:modified xsi:type="dcterms:W3CDTF">2026-10-14T10:11:28Z</dcterms:modified>
</cp:coreProperties>
</file>