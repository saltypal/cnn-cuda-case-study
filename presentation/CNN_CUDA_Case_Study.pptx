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1"/>
  </p:sldMasterIdLst>
  <p:notesMasterIdLst>
    <p:notesMasterId r:id="rId13"/>
  </p:notesMasterIdLst>
  <p:sldIdLst>
    <p:sldId id="397" r:id="rId2"/>
    <p:sldId id="398" r:id="rId3"/>
    <p:sldId id="399" r:id="rId4"/>
    <p:sldId id="400" r:id="rId5"/>
    <p:sldId id="401" r:id="rId6"/>
    <p:sldId id="402" r:id="rId7"/>
    <p:sldId id="403" r:id="rId8"/>
    <p:sldId id="404" r:id="rId9"/>
    <p:sldId id="405" r:id="rId10"/>
    <p:sldId id="406" r:id="rId11"/>
    <p:sldId id="407" r:id="rId12"/>
  </p:sldIdLst>
  <p:sldSz cx="12192000" cy="6858000"/>
  <p:notesSz cx="6858000" cy="9144000"/>
  <p:embeddedFontLst>
    <p:embeddedFont>
      <p:font typeface="Inter" panose="020B0604020202020204" charset="0"/>
      <p:regular r:id="rId14"/>
      <p:bold r:id="rId15"/>
    </p:embeddedFont>
    <p:embeddedFont>
      <p:font typeface="Inter Medium" panose="020B0604020202020204" charset="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CEF59"/>
    <a:srgbClr val="002615"/>
    <a:srgbClr val="003700"/>
    <a:srgbClr val="28463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30"/>
    <p:restoredTop sz="94658"/>
  </p:normalViewPr>
  <p:slideViewPr>
    <p:cSldViewPr snapToGrid="0">
      <p:cViewPr varScale="1">
        <p:scale>
          <a:sx n="95" d="100"/>
          <a:sy n="95" d="100"/>
        </p:scale>
        <p:origin x="192" y="624"/>
      </p:cViewPr>
      <p:guideLst/>
    </p:cSldViewPr>
  </p:slideViewPr>
  <p:outlineViewPr>
    <p:cViewPr>
      <p:scale>
        <a:sx n="33" d="100"/>
        <a:sy n="33" d="100"/>
      </p:scale>
      <p:origin x="0" y="-29912"/>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EC29E5-F646-1C4E-9C79-40608B34D03C}" type="datetimeFigureOut">
              <a:rPr lang="en-US" smtClean="0"/>
              <a:t>10/14/2026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AAA0A2-FFE2-354C-9768-C35E42B6251D}" type="slidenum">
              <a:rPr lang="en-US" smtClean="0"/>
              <a:t>‹#›</a:t>
            </a:fld>
            <a:endParaRPr lang="en-US"/>
          </a:p>
        </p:txBody>
      </p:sp>
    </p:spTree>
    <p:extLst>
      <p:ext uri="{BB962C8B-B14F-4D97-AF65-F5344CB8AC3E}">
        <p14:creationId xmlns:p14="http://schemas.microsoft.com/office/powerpoint/2010/main" val="1991176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BC14113F-029B-FB33-F177-B2B418A1C40C}"/>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BCF3E01E-64AE-4922-C4A9-4D2F8BFA636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DD457944-AF00-713C-09E0-2B2ECB0FC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1
Follow the picture from input to predicted digit. A filter performs a weighted sum over a small image patch. The same learned weights scan every location. Multiple filters learn different responses. ReLU replaces negative responses with zero; max pooling retains the largest response in each 2x2 region.
Our actual shapes are 1x28x28 -&gt; 4x26x26 -&gt; 4x13x13 -&gt; 676 -&gt; 10 logits. The CNN has 6,810 parameters. Cross entropy compares the scores with the true label; backpropagation and SGD adjust the weights. The illustration is conceptual, not a captured activation from a trained model.
Reference: https://docs.pytorch.org/docs/2.9/generated/torch.nn.Conv2d.html
Measured implementation: https://github.com/saltypal/CNN-CUDA-Case-Study/tree/370e8a418f76c32129057a95eb7993f19095cd3f/src/hpc_cnn</a:t>
            </a:r>
          </a:p>
          <a:p>
            <a:pPr marL="0" lvl="0" indent="0" algn="l" rtl="0">
              <a:spcBef>
                <a:spcPts val="0"/>
              </a:spcBef>
              <a:spcAft>
                <a:spcPts val="0"/>
              </a:spcAft>
              <a:buNone/>
            </a:pPr>
            <a:endParaRPr lang="en-US"/>
          </a:p>
          <a:p>
            <a:pPr marL="0" lvl="0" indent="0" algn="l" rtl="0">
              <a:spcBef>
                <a:spcPts val="0"/>
              </a:spcBef>
              <a:spcAft>
                <a:spcPts val="0"/>
              </a:spcAft>
              <a:buNone/>
            </a:pPr>
            <a:r>
              <a:rPr lang="en-US"/>
              <a:t>Illustration: generated teaching schematic. Not captured activations or exact hardware topology.</a:t>
            </a:r>
            <a:endParaRPr/>
          </a:p>
        </p:txBody>
      </p:sp>
    </p:spTree>
    <p:extLst>
      <p:ext uri="{BB962C8B-B14F-4D97-AF65-F5344CB8AC3E}">
        <p14:creationId xmlns:p14="http://schemas.microsoft.com/office/powerpoint/2010/main" val="16761704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BC14113F-029B-FB33-F177-B2B418A1C40C}"/>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BCF3E01E-64AE-4922-C4A9-4D2F8BFA636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DD457944-AF00-713C-09E0-2B2ECB0FC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1
The arithmetic stays the same. Each output is bias plus the sum of input*weight products in its receptive field. Different outputs do not depend on each other, so they can have separate workers and separate writers. Our image has 2,704 outputs; batch 64 has 173,056. This makes convolution a useful source of data parallelism.
Parallelism is most useful when there is enough work to offset scheduling and communication. It also appears in other CNN operations. Weight gradients require combining contributions because every image uses the same filter weights; the optimizer waits for those gradients. Parallel layers do not remove the forward -&gt; loss -&gt; backward dependency.
The toy diagram shows four outputs. Worker icons are conceptual, not physical-core counts.
Measured implementation: https://github.com/saltypal/CNN-CUDA-Case-Study/tree/370e8a418f76c32129057a95eb7993f19095cd3f/src/hpc_cnn</a:t>
            </a:r>
          </a:p>
          <a:p>
            <a:pPr marL="0" lvl="0" indent="0" algn="l" rtl="0">
              <a:spcBef>
                <a:spcPts val="0"/>
              </a:spcBef>
              <a:spcAft>
                <a:spcPts val="0"/>
              </a:spcAft>
              <a:buNone/>
            </a:pPr>
            <a:endParaRPr lang="en-US"/>
          </a:p>
          <a:p>
            <a:pPr marL="0" lvl="0" indent="0" algn="l" rtl="0">
              <a:spcBef>
                <a:spcPts val="0"/>
              </a:spcBef>
              <a:spcAft>
                <a:spcPts val="0"/>
              </a:spcAft>
              <a:buNone/>
            </a:pPr>
            <a:r>
              <a:rPr lang="en-US"/>
              <a:t>Illustration: generated teaching schematic. Not captured activations or exact hardware topology.</a:t>
            </a:r>
            <a:endParaRPr/>
          </a:p>
        </p:txBody>
      </p:sp>
    </p:spTree>
    <p:extLst>
      <p:ext uri="{BB962C8B-B14F-4D97-AF65-F5344CB8AC3E}">
        <p14:creationId xmlns:p14="http://schemas.microsoft.com/office/powerpoint/2010/main" val="1676170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BC14113F-029B-FB33-F177-B2B418A1C40C}"/>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BCF3E01E-64AE-4922-C4A9-4D2F8BFA636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DD457944-AF00-713C-09E0-2B2ECB0FC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1
The native C++ code has an outer output loop and inner channel/filter loops. OpenMP parallel-for with static scheduling distributes outer-loop iterations among four logical CPU workers. Each iteration has a local accumulator and stores a different output, so the forward pass needs no atomic addition.
Caches reuse nearby image data. OpenMP adds threads; SIMD vectorization is a separate mechanism, and its exact use was not inspected. Several CPU workers still share memory resources. These are practical limits to ideal scaling, not proof of a specific bottleneck percentage.
The illustration shows read-only input and weights feeding separate output owners. The native CPU microbenchmark is distinct from PyTorch CPU training.
Reference: https://www.openmp.org/spec-html/5.2/openmpse66.html
Measured implementation: https://github.com/saltypal/CNN-CUDA-Case-Study/tree/370e8a418f76c32129057a95eb7993f19095cd3f/src/hpc_cnn</a:t>
            </a:r>
          </a:p>
          <a:p>
            <a:pPr marL="0" lvl="0" indent="0" algn="l" rtl="0">
              <a:spcBef>
                <a:spcPts val="0"/>
              </a:spcBef>
              <a:spcAft>
                <a:spcPts val="0"/>
              </a:spcAft>
              <a:buNone/>
            </a:pPr>
            <a:endParaRPr lang="en-US"/>
          </a:p>
          <a:p>
            <a:pPr marL="0" lvl="0" indent="0" algn="l" rtl="0">
              <a:spcBef>
                <a:spcPts val="0"/>
              </a:spcBef>
              <a:spcAft>
                <a:spcPts val="0"/>
              </a:spcAft>
              <a:buNone/>
            </a:pPr>
            <a:r>
              <a:rPr lang="en-US"/>
              <a:t>Illustration: generated teaching schematic. Not captured activations or exact hardware topology.</a:t>
            </a:r>
            <a:endParaRPr/>
          </a:p>
        </p:txBody>
      </p:sp>
    </p:spTree>
    <p:extLst>
      <p:ext uri="{BB962C8B-B14F-4D97-AF65-F5344CB8AC3E}">
        <p14:creationId xmlns:p14="http://schemas.microsoft.com/office/powerpoint/2010/main" val="16761704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BC14113F-029B-FB33-F177-B2B418A1C40C}"/>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BCF3E01E-64AE-4922-C4A9-4D2F8BFA636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DD457944-AF00-713C-09E0-2B2ECB0FC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2
GPGPU means general-purpose computing on a graphics processing unit. A GPU has many arithmetic resources designed for throughput. A CPU has fewer, more complex general-purpose execution resources and often lower overhead for a small request. Neither wins every workload.
CNN convolution exposes many similar independent sums. Bigger batches and feature maps provide more work for GPU scheduling. Moving tensors to a separate device and submitting kernels still costs time. Our benchmarks distinguish resident data from transfer costs.
The chip illustration is conceptual and does not claim an exact hardware core count.
Reference: https://docs.nvidia.com/cuda/archive/12.8.0/cuda-c-programming-guide/index.html
Measured implementation: https://github.com/saltypal/CNN-CUDA-Case-Study/tree/370e8a418f76c32129057a95eb7993f19095cd3f/src/hpc_cnn</a:t>
            </a:r>
          </a:p>
          <a:p>
            <a:pPr marL="0" lvl="0" indent="0" algn="l" rtl="0">
              <a:spcBef>
                <a:spcPts val="0"/>
              </a:spcBef>
              <a:spcAft>
                <a:spcPts val="0"/>
              </a:spcAft>
              <a:buNone/>
            </a:pPr>
            <a:endParaRPr lang="en-US"/>
          </a:p>
          <a:p>
            <a:pPr marL="0" lvl="0" indent="0" algn="l" rtl="0">
              <a:spcBef>
                <a:spcPts val="0"/>
              </a:spcBef>
              <a:spcAft>
                <a:spcPts val="0"/>
              </a:spcAft>
              <a:buNone/>
            </a:pPr>
            <a:r>
              <a:rPr lang="en-US"/>
              <a:t>Illustration: generated teaching schematic. Not captured activations or exact hardware topology.</a:t>
            </a:r>
            <a:endParaRPr/>
          </a:p>
        </p:txBody>
      </p:sp>
    </p:spTree>
    <p:extLst>
      <p:ext uri="{BB962C8B-B14F-4D97-AF65-F5344CB8AC3E}">
        <p14:creationId xmlns:p14="http://schemas.microsoft.com/office/powerpoint/2010/main" val="16761704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BC14113F-029B-FB33-F177-B2B418A1C40C}"/>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BCF3E01E-64AE-4922-C4A9-4D2F8BFA636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DD457944-AF00-713C-09E0-2B2ECB0FC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2
CUDA is NVIDIA's programming platform for this GPU work. The CPU launches a grid of blocks; the GPU schedules the blocks on streaming multiprocessors. Our direct convolution uses one logical thread per output, with 256 threads per block. Logical threads are not equivalent to physical CUDA cores, and all threads need not execute simultaneously.
Threads accumulate products using the same kernel code and different indices. Shared-memory tiling can reduce repeated source-level reads, but cooperative loading and barriers add cost. In our saved measurements it was slower than direct CUDA.
The host launch is asynchronous. A completed-call wall measurement synchronizes before stopping the timer; enqueue time alone would not measure convolution completion.
Reference: https://docs.nvidia.com/cuda/archive/12.8.0/cuda-c-programming-guide/index.html
Measured implementation: https://github.com/saltypal/CNN-CUDA-Case-Study/tree/370e8a418f76c32129057a95eb7993f19095cd3f/src/hpc_cnn</a:t>
            </a:r>
          </a:p>
          <a:p>
            <a:pPr marL="0" lvl="0" indent="0" algn="l" rtl="0">
              <a:spcBef>
                <a:spcPts val="0"/>
              </a:spcBef>
              <a:spcAft>
                <a:spcPts val="0"/>
              </a:spcAft>
              <a:buNone/>
            </a:pPr>
            <a:endParaRPr lang="en-US"/>
          </a:p>
          <a:p>
            <a:pPr marL="0" lvl="0" indent="0" algn="l" rtl="0">
              <a:spcBef>
                <a:spcPts val="0"/>
              </a:spcBef>
              <a:spcAft>
                <a:spcPts val="0"/>
              </a:spcAft>
              <a:buNone/>
            </a:pPr>
            <a:r>
              <a:rPr lang="en-US"/>
              <a:t>Illustration: generated teaching schematic. Not captured activations or exact hardware topology.</a:t>
            </a:r>
            <a:endParaRPr/>
          </a:p>
        </p:txBody>
      </p:sp>
    </p:spTree>
    <p:extLst>
      <p:ext uri="{BB962C8B-B14F-4D97-AF65-F5344CB8AC3E}">
        <p14:creationId xmlns:p14="http://schemas.microsoft.com/office/powerpoint/2010/main" val="1676170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Person 2
A kernel is a device function executed by many CUDA threads. Our index is blockIdx.x*blockDim.x+threadIdx.x. Each valid thread decodes its sample, filter, row and column, then writes one complete output. The first layer has one input channel and four 3x3 filters, so each output uses nine multiply-accumulates plus bias.
All programs share ReLU, pooling, linear classifier, cross entropy and SGD. The controlled comparison changes convolution and, for two-GPU runs, the DataParallel wrapper. Custom backward kernels compute parameter gradients using partial sums and a block reduction. Input gradients are supported and validated, but raw MNIST input does not require them during training.
Direct cuDNN uses fixed convolution algorithms through its C API. PyTorch GPU also used cuDNN in the observed trace. No Tensor Core usage was verified. The three paths represent program/API and algorithm choices, not three different GPU hardware types.
Measured implementation: https://github.com/saltypal/CNN-CUDA-Case-Study/tree/370e8a418f76c32129057a95eb7993f19095cd3f/src/hpc_cnn</a:t>
            </a:r>
          </a:p>
        </p:txBody>
      </p:sp>
      <p:sp>
        <p:nvSpPr>
          <p:cNvPr id="4" name="Slide Number Placeholder 3"/>
          <p:cNvSpPr>
            <a:spLocks noGrp="1"/>
          </p:cNvSpPr>
          <p:nvPr>
            <p:ph type="sldNum" sz="quarter" idx="5"/>
          </p:nvPr>
        </p:nvSpPr>
        <p:spPr/>
        <p:txBody>
          <a:bodyPr/>
          <a:lstStyle/>
          <a:p>
            <a:fld id="{F9AAA0A2-FFE2-354C-9768-C35E42B6251D}" type="slidenum">
              <a:rPr lang="en-US" smtClean="0"/>
              <a:t>6</a:t>
            </a:fld>
            <a:endParaRPr lang="en-US"/>
          </a:p>
        </p:txBody>
      </p:sp>
    </p:spTree>
    <p:extLst>
      <p:ext uri="{BB962C8B-B14F-4D97-AF65-F5344CB8AC3E}">
        <p14:creationId xmlns:p14="http://schemas.microsoft.com/office/powerpoint/2010/main" val="1924443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BC14113F-029B-FB33-F177-B2B418A1C40C}"/>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BCF3E01E-64AE-4922-C4A9-4D2F8BFA636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DD457944-AF00-713C-09E0-2B2ECB0FC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2
PyTorch DataParallel replicates the module, scatters the batch, runs each replica and gathers outputs on the primary device. We compute one mean cross-entropy loss over the gathered batch. Backward sums both replicas' parameter gradients into the original module; one SGD optimizer updates it.
The global batch remains 64 instead of increasing to 128, which preserves the experiment workload and optimizer behavior. Our native wrappers use the tensor's device and current stream; direct cuDNN state is cached by device. A batch of one creates only one useful input chunk, so single-image latency does not benefit from a second replica.
Reference: https://docs.pytorch.org/docs/main/generated/torch.nn.DataParallel.html
Measured implementation: https://github.com/saltypal/CNN-CUDA-Case-Study/tree/370e8a418f76c32129057a95eb7993f19095cd3f/src/hpc_cnn</a:t>
            </a:r>
          </a:p>
          <a:p>
            <a:pPr marL="0" lvl="0" indent="0" algn="l" rtl="0">
              <a:spcBef>
                <a:spcPts val="0"/>
              </a:spcBef>
              <a:spcAft>
                <a:spcPts val="0"/>
              </a:spcAft>
              <a:buNone/>
            </a:pPr>
            <a:endParaRPr lang="en-US"/>
          </a:p>
          <a:p>
            <a:pPr marL="0" lvl="0" indent="0" algn="l" rtl="0">
              <a:spcBef>
                <a:spcPts val="0"/>
              </a:spcBef>
              <a:spcAft>
                <a:spcPts val="0"/>
              </a:spcAft>
              <a:buNone/>
            </a:pPr>
            <a:r>
              <a:rPr lang="en-US"/>
              <a:t>Illustration: generated teaching schematic. Not captured activations or exact hardware topology.</a:t>
            </a:r>
            <a:endParaRPr/>
          </a:p>
        </p:txBody>
      </p:sp>
    </p:spTree>
    <p:extLst>
      <p:ext uri="{BB962C8B-B14F-4D97-AF65-F5344CB8AC3E}">
        <p14:creationId xmlns:p14="http://schemas.microsoft.com/office/powerpoint/2010/main" val="1676170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Person 3
All seven models completed 50 epochs on Kaggle T4 x2. The balanced 10% MNIST subset contains 4,800 training, 1,200 validation and 1,000 test images. Seed 42, batch 64, identical initial weights, FP32, SGD learning rate 0.05 and momentum 0.9 are shared. TF32 is disabled. All 170 correctness checks passed.
Training time sums synchronized training epochs and excludes warmup, validation, initial transfer and checkpoint I/O. All final epoch-50 checkpoints predict 956 of 1,000 test examples correctly. PyTorch with one GPU is fastest here at 5.42 s; CPU takes 10.17 s. Two-GPU DataParallel is slower than its matching one-GPU path.
This is one seed and one runtime. It is a case study rather than a universal hardware ranking.
Measured implementation: https://github.com/saltypal/CNN-CUDA-Case-Study/tree/370e8a418f76c32129057a95eb7993f19095cd3f/src/hpc_cnn</a:t>
            </a:r>
          </a:p>
        </p:txBody>
      </p:sp>
      <p:sp>
        <p:nvSpPr>
          <p:cNvPr id="4" name="Slide Number Placeholder 3"/>
          <p:cNvSpPr>
            <a:spLocks noGrp="1"/>
          </p:cNvSpPr>
          <p:nvPr>
            <p:ph type="sldNum" sz="quarter" idx="5"/>
          </p:nvPr>
        </p:nvSpPr>
        <p:spPr/>
        <p:txBody>
          <a:bodyPr/>
          <a:lstStyle/>
          <a:p>
            <a:fld id="{F9AAA0A2-FFE2-354C-9768-C35E42B6251D}" type="slidenum">
              <a:rPr lang="en-US" smtClean="0"/>
              <a:t>8</a:t>
            </a:fld>
            <a:endParaRPr lang="en-US"/>
          </a:p>
        </p:txBody>
      </p:sp>
    </p:spTree>
    <p:extLst>
      <p:ext uri="{BB962C8B-B14F-4D97-AF65-F5344CB8AC3E}">
        <p14:creationId xmlns:p14="http://schemas.microsoft.com/office/powerpoint/2010/main" val="19891984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Person 3
The operation column measures one convolution on a single digit: input 1x1x28x28, four 3x3 filters, bias and output allocation. Inference measures the entire CNN forward pass. Both are warmed medians of completed-call wall latency with input resident on the device. Batch infer/s uses a batch of 64, unlike the one-image columns.
PyTorch CPU has the lowest single-image inference latency. Our custom CUDA has the highest batch-64 inference throughput in this runtime. These two workload scopes need not have the same winner. DataParallel single-image calls use one replica and still pay wrapper costs.
The handwritten C++ convolution, benchmarked separately, takes 124.06 us with one worker and 66.32 us with OpenMP. At batch 64, it improves from 6608.54 to 2244.91 us: 2.94x on four logical workers. Do not confuse that native baseline with optimized PyTorch CPU convolution. The tiled custom CUDA variant was also benchmarked, but did not improve the direct kernel in any saved case.
Measured implementation: https://github.com/saltypal/CNN-CUDA-Case-Study/tree/370e8a418f76c32129057a95eb7993f19095cd3f/src/hpc_cnn</a:t>
            </a:r>
          </a:p>
        </p:txBody>
      </p:sp>
      <p:sp>
        <p:nvSpPr>
          <p:cNvPr id="4" name="Slide Number Placeholder 3"/>
          <p:cNvSpPr>
            <a:spLocks noGrp="1"/>
          </p:cNvSpPr>
          <p:nvPr>
            <p:ph type="sldNum" sz="quarter" idx="5"/>
          </p:nvPr>
        </p:nvSpPr>
        <p:spPr/>
        <p:txBody>
          <a:bodyPr/>
          <a:lstStyle/>
          <a:p>
            <a:fld id="{F9AAA0A2-FFE2-354C-9768-C35E42B6251D}" type="slidenum">
              <a:rPr lang="en-US" smtClean="0"/>
              <a:t>9</a:t>
            </a:fld>
            <a:endParaRPr lang="en-US"/>
          </a:p>
        </p:txBody>
      </p:sp>
    </p:spTree>
    <p:extLst>
      <p:ext uri="{BB962C8B-B14F-4D97-AF65-F5344CB8AC3E}">
        <p14:creationId xmlns:p14="http://schemas.microsoft.com/office/powerpoint/2010/main" val="2038963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Person 3
The comparison holds the global batch at 64 and uses the matching one-GPU engine as the baseline. Training speedup is T1/T2. Efficiency is speedup divided by two. A speedup below one means the two-GPU run took longer. GPU-time cost is 2*T2/T1, a time-based resource proxy rather than monetary billing, energy or Kaggle quota use.
The small convolution does not supply enough per-replica work to compensate for replication, host dispatch, scattering, gathering and gradient reduction. These costs are real, but no profiling attribution was collected to prove what exact percentage each contributes. The report saves host enqueue, instrumented device intervals, transfers and an identity DataParallel diagnostic; the latter is not an exact subtraction of CNN communication cost.
Energy was not measured. No monetary rate was provided. Logical tensor bytes and FLOP counts, measured memory and timing are separate quantities. For this model, one GPU is the better training choice.
Measured implementation: https://github.com/saltypal/CNN-CUDA-Case-Study/tree/370e8a418f76c32129057a95eb7993f19095cd3f/src/hpc_cnn</a:t>
            </a:r>
          </a:p>
        </p:txBody>
      </p:sp>
      <p:sp>
        <p:nvSpPr>
          <p:cNvPr id="4" name="Slide Number Placeholder 3"/>
          <p:cNvSpPr>
            <a:spLocks noGrp="1"/>
          </p:cNvSpPr>
          <p:nvPr>
            <p:ph type="sldNum" sz="quarter" idx="5"/>
          </p:nvPr>
        </p:nvSpPr>
        <p:spPr/>
        <p:txBody>
          <a:bodyPr/>
          <a:lstStyle/>
          <a:p>
            <a:fld id="{F9AAA0A2-FFE2-354C-9768-C35E42B6251D}" type="slidenum">
              <a:rPr lang="en-US" smtClean="0"/>
              <a:t>10</a:t>
            </a:fld>
            <a:endParaRPr lang="en-US"/>
          </a:p>
        </p:txBody>
      </p:sp>
    </p:spTree>
    <p:extLst>
      <p:ext uri="{BB962C8B-B14F-4D97-AF65-F5344CB8AC3E}">
        <p14:creationId xmlns:p14="http://schemas.microsoft.com/office/powerpoint/2010/main" val="42638171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4833CCCF-3F9D-A618-80AB-3D4A5A75AF71}"/>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30FEAD63-73E6-6865-0563-39C87E4A2C1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6AD55573-DB52-73E0-765A-E60EFC9024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3
Conclude with the workload, not a blanket CPU-versus-GPU claim. The CPU wins single-image latency in this run; one GPU wins training and batched throughput. More GPUs are useful only when additional parallel compute exceeds orchestration and communication costs. Every final model has 95.6% test accuracy.
Demo: load the seven final checkpoints and predict the same held-out digits. The script already ran successfully in the completed Kaggle notebook. It does not retrain. Its cold loading time is not the warmed inference benchmark.
cd /kaggle/working/cnn-cuda-case-study-source
PYTHONPATH=src python -m hpc_cnn.demo --run-root /kaggle/working/cnn-cuda-case-study-results
A live run of all paths requires two GPUs. Keep the saved logs and predictions ready as an offline backup. The experiment is one seed and one runtime.
Measured implementation: https://github.com/saltypal/CNN-CUDA-Case-Study/tree/370e8a418f76c32129057a95eb7993f19095cd3f/src/hpc_cnn</a:t>
            </a:r>
            <a:endParaRPr/>
          </a:p>
        </p:txBody>
      </p:sp>
    </p:spTree>
    <p:extLst>
      <p:ext uri="{BB962C8B-B14F-4D97-AF65-F5344CB8AC3E}">
        <p14:creationId xmlns:p14="http://schemas.microsoft.com/office/powerpoint/2010/main" val="2349355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004A5-B645-655E-5362-4217D55892E1}"/>
              </a:ext>
            </a:extLst>
          </p:cNvPr>
          <p:cNvSpPr>
            <a:spLocks noGrp="1"/>
          </p:cNvSpPr>
          <p:nvPr>
            <p:ph type="ctrTitle"/>
          </p:nvPr>
        </p:nvSpPr>
        <p:spPr>
          <a:xfrm>
            <a:off x="393700" y="1041400"/>
            <a:ext cx="7493000" cy="2491490"/>
          </a:xfrm>
        </p:spPr>
        <p:txBody>
          <a:bodyPr anchor="b"/>
          <a:lstStyle>
            <a:lvl1pPr algn="l">
              <a:defRPr sz="6000"/>
            </a:lvl1pPr>
          </a:lstStyle>
          <a:p>
            <a:r>
              <a:rPr lang="en-US" dirty="0"/>
              <a:t>Click to edit Master title style</a:t>
            </a:r>
          </a:p>
        </p:txBody>
      </p:sp>
      <p:sp>
        <p:nvSpPr>
          <p:cNvPr id="3" name="Subtitle 2">
            <a:extLst>
              <a:ext uri="{FF2B5EF4-FFF2-40B4-BE49-F238E27FC236}">
                <a16:creationId xmlns:a16="http://schemas.microsoft.com/office/drawing/2014/main" id="{C57031B1-59B2-C235-9FDD-8050418A5FD8}"/>
              </a:ext>
            </a:extLst>
          </p:cNvPr>
          <p:cNvSpPr>
            <a:spLocks noGrp="1"/>
          </p:cNvSpPr>
          <p:nvPr>
            <p:ph type="subTitle" idx="1"/>
          </p:nvPr>
        </p:nvSpPr>
        <p:spPr>
          <a:xfrm>
            <a:off x="393700" y="4356100"/>
            <a:ext cx="5537200" cy="1638300"/>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1881485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5E851FDE-9E0B-568C-1CBA-E72B86CC06ED}"/>
              </a:ext>
            </a:extLst>
          </p:cNvPr>
          <p:cNvSpPr>
            <a:spLocks noGrp="1"/>
          </p:cNvSpPr>
          <p:nvPr>
            <p:ph idx="1"/>
          </p:nvPr>
        </p:nvSpPr>
        <p:spPr>
          <a:xfrm>
            <a:off x="393700" y="2032000"/>
            <a:ext cx="114046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4">
            <a:extLst>
              <a:ext uri="{FF2B5EF4-FFF2-40B4-BE49-F238E27FC236}">
                <a16:creationId xmlns:a16="http://schemas.microsoft.com/office/drawing/2014/main" id="{29CCD18F-3BF6-A3EE-DAAE-66BD406D7E8D}"/>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0" name="Slide Number Placeholder 5">
            <a:extLst>
              <a:ext uri="{FF2B5EF4-FFF2-40B4-BE49-F238E27FC236}">
                <a16:creationId xmlns:a16="http://schemas.microsoft.com/office/drawing/2014/main" id="{5186992D-ADA6-5A23-EBD5-6BEF0A2E61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CDBB333F-FFCF-AA9E-7AC0-64DB02353FBC}"/>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26533535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Text Placeholder 2">
            <a:extLst>
              <a:ext uri="{FF2B5EF4-FFF2-40B4-BE49-F238E27FC236}">
                <a16:creationId xmlns:a16="http://schemas.microsoft.com/office/drawing/2014/main" id="{4DCC3060-FADA-4310-30F9-24EC34B5AA87}"/>
              </a:ext>
            </a:extLst>
          </p:cNvPr>
          <p:cNvSpPr>
            <a:spLocks noGrp="1"/>
          </p:cNvSpPr>
          <p:nvPr>
            <p:ph idx="1"/>
          </p:nvPr>
        </p:nvSpPr>
        <p:spPr>
          <a:xfrm>
            <a:off x="393700" y="2032000"/>
            <a:ext cx="55372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4">
            <a:extLst>
              <a:ext uri="{FF2B5EF4-FFF2-40B4-BE49-F238E27FC236}">
                <a16:creationId xmlns:a16="http://schemas.microsoft.com/office/drawing/2014/main" id="{19E7B047-08E6-29C1-F101-C084D555AACC}"/>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1" name="Slide Number Placeholder 5">
            <a:extLst>
              <a:ext uri="{FF2B5EF4-FFF2-40B4-BE49-F238E27FC236}">
                <a16:creationId xmlns:a16="http://schemas.microsoft.com/office/drawing/2014/main" id="{3DE564C6-8AA0-935D-A919-07AFA15B335B}"/>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12" name="Text Placeholder 2">
            <a:extLst>
              <a:ext uri="{FF2B5EF4-FFF2-40B4-BE49-F238E27FC236}">
                <a16:creationId xmlns:a16="http://schemas.microsoft.com/office/drawing/2014/main" id="{4ABE46D3-8F05-1C7F-3EC7-20BFCC76C251}"/>
              </a:ext>
            </a:extLst>
          </p:cNvPr>
          <p:cNvSpPr>
            <a:spLocks noGrp="1"/>
          </p:cNvSpPr>
          <p:nvPr>
            <p:ph idx="10"/>
          </p:nvPr>
        </p:nvSpPr>
        <p:spPr>
          <a:xfrm>
            <a:off x="6256618" y="2032000"/>
            <a:ext cx="55372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739D2C21-36BF-25E7-8E97-1D17F313F7AF}"/>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9807323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14" name="Text Placeholder 2">
            <a:extLst>
              <a:ext uri="{FF2B5EF4-FFF2-40B4-BE49-F238E27FC236}">
                <a16:creationId xmlns:a16="http://schemas.microsoft.com/office/drawing/2014/main" id="{80E090C5-E6C8-92F2-E8C2-A840B8F1807D}"/>
              </a:ext>
            </a:extLst>
          </p:cNvPr>
          <p:cNvSpPr>
            <a:spLocks noGrp="1"/>
          </p:cNvSpPr>
          <p:nvPr>
            <p:ph idx="10"/>
          </p:nvPr>
        </p:nvSpPr>
        <p:spPr>
          <a:xfrm>
            <a:off x="4318000"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2">
            <a:extLst>
              <a:ext uri="{FF2B5EF4-FFF2-40B4-BE49-F238E27FC236}">
                <a16:creationId xmlns:a16="http://schemas.microsoft.com/office/drawing/2014/main" id="{0C6D2D15-AEC2-9F99-316F-C37AF863965D}"/>
              </a:ext>
            </a:extLst>
          </p:cNvPr>
          <p:cNvSpPr>
            <a:spLocks noGrp="1"/>
          </p:cNvSpPr>
          <p:nvPr>
            <p:ph idx="11"/>
          </p:nvPr>
        </p:nvSpPr>
        <p:spPr>
          <a:xfrm>
            <a:off x="8232273"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38400112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213811"/>
            <a:ext cx="2595934" cy="3780589"/>
          </a:xfrm>
          <a:prstGeom prst="rect">
            <a:avLst/>
          </a:prstGeom>
        </p:spPr>
        <p:txBody>
          <a:bodyPr vert="horz" lIns="0" tIns="0" rIns="0" bIns="0" rtlCol="0">
            <a:normAutofit/>
          </a:bodyPr>
          <a:lstStyle>
            <a:lvl1pPr>
              <a:buNone/>
              <a:defRPr sz="1600"/>
            </a:lvl1pPr>
            <a:lvl2pPr>
              <a:buNone/>
              <a:defRPr sz="1600"/>
            </a:lvl2pPr>
            <a:lvl3pPr>
              <a:buNone/>
              <a:defRPr sz="1600"/>
            </a:lvl3pPr>
            <a:lvl4pPr>
              <a:buNone/>
              <a:defRPr sz="1600"/>
            </a:lvl4pPr>
            <a:lvl5pPr>
              <a:buNone/>
              <a:defRPr sz="1600"/>
            </a:lvl5pPr>
          </a:lstStyle>
          <a:p>
            <a:pPr lvl="0"/>
            <a:r>
              <a:rPr lang="en-US" dirty="0"/>
              <a:t>Click to edit Master</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
        <p:nvSpPr>
          <p:cNvPr id="8" name="Text Placeholder 7">
            <a:extLst>
              <a:ext uri="{FF2B5EF4-FFF2-40B4-BE49-F238E27FC236}">
                <a16:creationId xmlns:a16="http://schemas.microsoft.com/office/drawing/2014/main" id="{4F70A9DA-D783-0627-3166-E13B68C2ADAC}"/>
              </a:ext>
            </a:extLst>
          </p:cNvPr>
          <p:cNvSpPr>
            <a:spLocks noGrp="1"/>
          </p:cNvSpPr>
          <p:nvPr>
            <p:ph type="body" sz="quarter" idx="12"/>
          </p:nvPr>
        </p:nvSpPr>
        <p:spPr>
          <a:xfrm>
            <a:off x="3334966"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r>
              <a:rPr lang="en-US" dirty="0"/>
              <a:t>Click to edit Master</a:t>
            </a:r>
          </a:p>
        </p:txBody>
      </p:sp>
      <p:sp>
        <p:nvSpPr>
          <p:cNvPr id="9" name="Text Placeholder 2">
            <a:extLst>
              <a:ext uri="{FF2B5EF4-FFF2-40B4-BE49-F238E27FC236}">
                <a16:creationId xmlns:a16="http://schemas.microsoft.com/office/drawing/2014/main" id="{75BF2647-8E8C-CAEE-896D-0E1567AF7E99}"/>
              </a:ext>
            </a:extLst>
          </p:cNvPr>
          <p:cNvSpPr>
            <a:spLocks noGrp="1"/>
          </p:cNvSpPr>
          <p:nvPr>
            <p:ph idx="13"/>
          </p:nvPr>
        </p:nvSpPr>
        <p:spPr>
          <a:xfrm>
            <a:off x="6264413" y="2213811"/>
            <a:ext cx="2595934" cy="3780589"/>
          </a:xfrm>
          <a:prstGeom prst="rect">
            <a:avLst/>
          </a:prstGeom>
        </p:spPr>
        <p:txBody>
          <a:bodyPr vert="horz" lIns="0" tIns="0" rIns="0" bIns="0" rtlCol="0">
            <a:normAutofit/>
          </a:bodyPr>
          <a:lstStyle>
            <a:lvl1pPr>
              <a:buNone/>
              <a:defRPr sz="1600"/>
            </a:lvl1pPr>
            <a:lvl2pPr>
              <a:buNone/>
              <a:defRPr sz="1600"/>
            </a:lvl2pPr>
            <a:lvl3pPr>
              <a:buNone/>
              <a:defRPr sz="1600"/>
            </a:lvl3pPr>
            <a:lvl4pPr>
              <a:buNone/>
              <a:defRPr sz="1600"/>
            </a:lvl4pPr>
            <a:lvl5pPr>
              <a:buNone/>
              <a:defRPr sz="1600"/>
            </a:lvl5pPr>
          </a:lstStyle>
          <a:p>
            <a:pPr lvl="0"/>
            <a:r>
              <a:rPr lang="en-US" dirty="0"/>
              <a:t>Click to edit Master</a:t>
            </a:r>
          </a:p>
        </p:txBody>
      </p:sp>
      <p:sp>
        <p:nvSpPr>
          <p:cNvPr id="10" name="Text Placeholder 7">
            <a:extLst>
              <a:ext uri="{FF2B5EF4-FFF2-40B4-BE49-F238E27FC236}">
                <a16:creationId xmlns:a16="http://schemas.microsoft.com/office/drawing/2014/main" id="{37C6F143-221A-9959-8FBA-B9B1DB6602D0}"/>
              </a:ext>
            </a:extLst>
          </p:cNvPr>
          <p:cNvSpPr>
            <a:spLocks noGrp="1"/>
          </p:cNvSpPr>
          <p:nvPr>
            <p:ph type="body" sz="quarter" idx="14"/>
          </p:nvPr>
        </p:nvSpPr>
        <p:spPr>
          <a:xfrm>
            <a:off x="9205679"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r>
              <a:rPr lang="en-US" dirty="0"/>
              <a:t>Click to edit Master</a:t>
            </a:r>
          </a:p>
        </p:txBody>
      </p:sp>
    </p:spTree>
    <p:extLst>
      <p:ext uri="{BB962C8B-B14F-4D97-AF65-F5344CB8AC3E}">
        <p14:creationId xmlns:p14="http://schemas.microsoft.com/office/powerpoint/2010/main" val="971241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B1182C5-F22B-2641-06DE-4EDACA3C1DDD}"/>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9" name="Slide Number Placeholder 5">
            <a:extLst>
              <a:ext uri="{FF2B5EF4-FFF2-40B4-BE49-F238E27FC236}">
                <a16:creationId xmlns:a16="http://schemas.microsoft.com/office/drawing/2014/main" id="{F97A4AD5-204B-38FD-4F33-270C2F9F5CC6}"/>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75CF9983-3FD7-FAE4-9F0B-B2CE806D891D}"/>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16941055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oter Only">
    <p:spTree>
      <p:nvGrpSpPr>
        <p:cNvPr id="1" name=""/>
        <p:cNvGrpSpPr/>
        <p:nvPr/>
      </p:nvGrpSpPr>
      <p:grpSpPr>
        <a:xfrm>
          <a:off x="0" y="0"/>
          <a:ext cx="0" cy="0"/>
          <a:chOff x="0" y="0"/>
          <a:chExt cx="0" cy="0"/>
        </a:xfrm>
      </p:grpSpPr>
      <p:sp>
        <p:nvSpPr>
          <p:cNvPr id="7" name="Footer Placeholder 4">
            <a:extLst>
              <a:ext uri="{FF2B5EF4-FFF2-40B4-BE49-F238E27FC236}">
                <a16:creationId xmlns:a16="http://schemas.microsoft.com/office/drawing/2014/main" id="{1012CBCC-C555-8C11-443D-86D6F7A45CF8}"/>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8" name="Slide Number Placeholder 5">
            <a:extLst>
              <a:ext uri="{FF2B5EF4-FFF2-40B4-BE49-F238E27FC236}">
                <a16:creationId xmlns:a16="http://schemas.microsoft.com/office/drawing/2014/main" id="{B69B260B-B882-BF7F-1BB1-28B9578A25A2}"/>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Tree>
    <p:extLst>
      <p:ext uri="{BB962C8B-B14F-4D97-AF65-F5344CB8AC3E}">
        <p14:creationId xmlns:p14="http://schemas.microsoft.com/office/powerpoint/2010/main" val="1856794158"/>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2548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2615"/>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87ED2E-D8FF-5C8C-ED50-59BA3091C3E1}"/>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5B0E1CB-6DCA-2E9F-2B74-4309B4084C09}"/>
              </a:ext>
            </a:extLst>
          </p:cNvPr>
          <p:cNvSpPr>
            <a:spLocks noGrp="1"/>
          </p:cNvSpPr>
          <p:nvPr>
            <p:ph type="body" idx="1"/>
          </p:nvPr>
        </p:nvSpPr>
        <p:spPr>
          <a:xfrm>
            <a:off x="393700" y="2032000"/>
            <a:ext cx="114046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3C75650C-2983-5B02-8421-FF1818435433}"/>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6" name="Slide Number Placeholder 5">
            <a:extLst>
              <a:ext uri="{FF2B5EF4-FFF2-40B4-BE49-F238E27FC236}">
                <a16:creationId xmlns:a16="http://schemas.microsoft.com/office/drawing/2014/main" id="{D872C88C-1AB3-96BA-C9E5-3435A4BD59BB}"/>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Tree>
    <p:extLst>
      <p:ext uri="{BB962C8B-B14F-4D97-AF65-F5344CB8AC3E}">
        <p14:creationId xmlns:p14="http://schemas.microsoft.com/office/powerpoint/2010/main" val="2081855943"/>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9" r:id="rId5"/>
    <p:sldLayoutId id="2147483654" r:id="rId6"/>
    <p:sldLayoutId id="2147483655" r:id="rId7"/>
    <p:sldLayoutId id="2147483656" r:id="rId8"/>
  </p:sldLayoutIdLst>
  <p:hf hdr="0" dt="0"/>
  <p:txStyles>
    <p:titleStyle>
      <a:lvl1pPr algn="l" defTabSz="914400" rtl="0" eaLnBrk="1" latinLnBrk="0" hangingPunct="1">
        <a:lnSpc>
          <a:spcPct val="90000"/>
        </a:lnSpc>
        <a:spcBef>
          <a:spcPct val="0"/>
        </a:spcBef>
        <a:buNone/>
        <a:defRPr sz="2900" b="0" i="0" kern="1200">
          <a:solidFill>
            <a:schemeClr val="tx1"/>
          </a:solidFill>
          <a:latin typeface="Inter Medium" panose="02000503000000020004" pitchFamily="2" charset="0"/>
          <a:ea typeface="Inter Medium" panose="02000503000000020004"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15:clr>
            <a:srgbClr val="F26B43"/>
          </p15:clr>
        </p15:guide>
        <p15:guide id="2" pos="7680">
          <p15:clr>
            <a:srgbClr val="F26B43"/>
          </p15:clr>
        </p15:guide>
        <p15:guide id="3" pos="248">
          <p15:clr>
            <a:srgbClr val="F26B43"/>
          </p15:clr>
        </p15:guide>
        <p15:guide id="4" pos="1264">
          <p15:clr>
            <a:srgbClr val="F26B43"/>
          </p15:clr>
        </p15:guide>
        <p15:guide id="5" pos="1480">
          <p15:clr>
            <a:srgbClr val="F26B43"/>
          </p15:clr>
        </p15:guide>
        <p15:guide id="6" pos="2496">
          <p15:clr>
            <a:srgbClr val="F26B43"/>
          </p15:clr>
        </p15:guide>
        <p15:guide id="7" pos="2712">
          <p15:clr>
            <a:srgbClr val="F26B43"/>
          </p15:clr>
        </p15:guide>
        <p15:guide id="8" pos="3736">
          <p15:clr>
            <a:srgbClr val="F26B43"/>
          </p15:clr>
        </p15:guide>
        <p15:guide id="9" pos="3944">
          <p15:clr>
            <a:srgbClr val="F26B43"/>
          </p15:clr>
        </p15:guide>
        <p15:guide id="10" pos="4968">
          <p15:clr>
            <a:srgbClr val="F26B43"/>
          </p15:clr>
        </p15:guide>
        <p15:guide id="11" pos="5184">
          <p15:clr>
            <a:srgbClr val="F26B43"/>
          </p15:clr>
        </p15:guide>
        <p15:guide id="12" pos="6200">
          <p15:clr>
            <a:srgbClr val="F26B43"/>
          </p15:clr>
        </p15:guide>
        <p15:guide id="13" pos="6416">
          <p15:clr>
            <a:srgbClr val="F26B43"/>
          </p15:clr>
        </p15:guide>
        <p15:guide id="14" pos="7432">
          <p15:clr>
            <a:srgbClr val="F26B43"/>
          </p15:clr>
        </p15:guide>
        <p15:guide id="15" orient="horz">
          <p15:clr>
            <a:srgbClr val="F26B43"/>
          </p15:clr>
        </p15:guide>
        <p15:guide id="17" orient="horz" pos="248">
          <p15:clr>
            <a:srgbClr val="F26B43"/>
          </p15:clr>
        </p15:guide>
        <p15:guide id="18" orient="horz" pos="656">
          <p15:clr>
            <a:srgbClr val="F26B43"/>
          </p15:clr>
        </p15:guide>
        <p15:guide id="19" orient="horz" pos="872">
          <p15:clr>
            <a:srgbClr val="F26B43"/>
          </p15:clr>
        </p15:guide>
        <p15:guide id="20" orient="horz" pos="1280">
          <p15:clr>
            <a:srgbClr val="F26B43"/>
          </p15:clr>
        </p15:guide>
        <p15:guide id="21" orient="horz" pos="1496">
          <p15:clr>
            <a:srgbClr val="F26B43"/>
          </p15:clr>
        </p15:guide>
        <p15:guide id="22" orient="horz" pos="1904">
          <p15:clr>
            <a:srgbClr val="F26B43"/>
          </p15:clr>
        </p15:guide>
        <p15:guide id="23" orient="horz" pos="2120">
          <p15:clr>
            <a:srgbClr val="F26B43"/>
          </p15:clr>
        </p15:guide>
        <p15:guide id="24" orient="horz" pos="2528">
          <p15:clr>
            <a:srgbClr val="F26B43"/>
          </p15:clr>
        </p15:guide>
        <p15:guide id="25" orient="horz" pos="2744">
          <p15:clr>
            <a:srgbClr val="F26B43"/>
          </p15:clr>
        </p15:guide>
        <p15:guide id="26" orient="horz" pos="3152">
          <p15:clr>
            <a:srgbClr val="F26B43"/>
          </p15:clr>
        </p15:guide>
        <p15:guide id="27" orient="horz" pos="3368">
          <p15:clr>
            <a:srgbClr val="F26B43"/>
          </p15:clr>
        </p15:guide>
        <p15:guide id="28" orient="horz" pos="3776">
          <p15:clr>
            <a:srgbClr val="F26B43"/>
          </p15:clr>
        </p15:guide>
        <p15:guide id="29" orient="horz" pos="4088">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teaching-cnn.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teaching-parallel.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teaching-cpu.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teaching-gpgpu.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teaching-cuda.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teaching-dp.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9B0323E1-B478-9FE3-B5ED-6819FF00BDA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1</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D4C92004-F6FC-8FE6-BAD5-82F7D96E79D7}"/>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1</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3A80AAE9-99DA-415B-48E5-DF2948540391}"/>
              </a:ext>
            </a:extLst>
          </p:cNvPr>
          <p:cNvSpPr txBox="1">
            <a:spLocks noGrp="1"/>
          </p:cNvSpPr>
          <p:nvPr>
            <p:ph type="title"/>
          </p:nvPr>
        </p:nvSpPr>
        <p:spPr/>
        <p:txBody>
          <a:bodyPr spcFirstLastPara="1" vert="horz" wrap="square" lIns="0" tIns="0" rIns="0" bIns="0" rtlCol="0" anchor="t" anchorCtr="0">
            <a:noAutofit/>
          </a:bodyPr>
          <a:lstStyle/>
          <a:p>
            <a:r>
              <a:rPr lang="en-US"/>
              <a:t>How a CNN works</a:t>
            </a:r>
            <a:endParaRPr lang="en-US" dirty="0"/>
          </a:p>
        </p:txBody>
      </p:sp>
      <p:pic>
        <p:nvPicPr>
          <p:cNvPr id="4" name="Picture 3" descr="Generated teaching illustration: cnn">
            <a:extLst>
              <a:ext uri="{FF2B5EF4-FFF2-40B4-BE49-F238E27FC236}">
                <a16:creationId xmlns:a16="http://schemas.microsoft.com/office/drawing/2014/main" id="{151807BD-12E8-1C71-568D-447C013D100D}"/>
              </a:ext>
            </a:extLst>
          </p:cNvPr>
          <p:cNvPicPr>
            <a:picLocks noChangeAspect="1"/>
          </p:cNvPicPr>
          <p:nvPr/>
        </p:nvPicPr>
        <p:blipFill>
          <a:blip r:embed="rId3"/>
          <a:stretch>
            <a:fillRect/>
          </a:stretch>
        </p:blipFill>
        <p:spPr>
          <a:xfrm>
            <a:off x="6269040" y="396409"/>
            <a:ext cx="5539740" cy="5602070"/>
          </a:xfrm>
          <a:prstGeom prst="roundRect">
            <a:avLst>
              <a:gd name="adj" fmla="val 1361"/>
            </a:avLst>
          </a:prstGeom>
        </p:spPr>
      </p:pic>
      <p:sp>
        <p:nvSpPr>
          <p:cNvPr id="2" name="Google Shape;534;p58">
            <a:extLst>
              <a:ext uri="{FF2B5EF4-FFF2-40B4-BE49-F238E27FC236}">
                <a16:creationId xmlns:a16="http://schemas.microsoft.com/office/drawing/2014/main" id="{D4EE2969-B7C7-0C70-E299-B866E67DBC36}"/>
              </a:ext>
            </a:extLst>
          </p:cNvPr>
          <p:cNvSpPr txBox="1">
            <a:spLocks/>
          </p:cNvSpPr>
          <p:nvPr/>
        </p:nvSpPr>
        <p:spPr>
          <a:xfrm>
            <a:off x="393700" y="1684866"/>
            <a:ext cx="5537200" cy="19685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Extract features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A 3x3 filter scans nearby pixels.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Four filters create four feature maps.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ReLU keeps positive values; pooling shrinks maps.</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Google Shape;534;p58">
            <a:extLst>
              <a:ext uri="{FF2B5EF4-FFF2-40B4-BE49-F238E27FC236}">
                <a16:creationId xmlns:a16="http://schemas.microsoft.com/office/drawing/2014/main" id="{72A34455-41AC-E436-D08C-DBCA262EF4C8}"/>
              </a:ext>
            </a:extLst>
          </p:cNvPr>
          <p:cNvSpPr txBox="1">
            <a:spLocks/>
          </p:cNvSpPr>
          <p:nvPr/>
        </p:nvSpPr>
        <p:spPr>
          <a:xfrm>
            <a:off x="393700" y="3855854"/>
            <a:ext cx="5537200" cy="21209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Classify and learn</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Flatten the maps into 676 features.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A linear layer gives scores for ten digits.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Training updates weights using prediction error.</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2174819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9B0323E1-B478-9FE3-B5ED-6819FF00BDA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1</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D4C92004-F6FC-8FE6-BAD5-82F7D96E79D7}"/>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2</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3A80AAE9-99DA-415B-48E5-DF2948540391}"/>
              </a:ext>
            </a:extLst>
          </p:cNvPr>
          <p:cNvSpPr txBox="1">
            <a:spLocks noGrp="1"/>
          </p:cNvSpPr>
          <p:nvPr>
            <p:ph type="title"/>
          </p:nvPr>
        </p:nvSpPr>
        <p:spPr/>
        <p:txBody>
          <a:bodyPr spcFirstLastPara="1" vert="horz" wrap="square" lIns="0" tIns="0" rIns="0" bIns="0" rtlCol="0" anchor="t" anchorCtr="0">
            <a:noAutofit/>
          </a:bodyPr>
          <a:lstStyle/>
          <a:p>
            <a:r>
              <a:rPr lang="en-US"/>
              <a:t>Sequential vs parallel CNN</a:t>
            </a:r>
            <a:endParaRPr lang="en-US" dirty="0"/>
          </a:p>
        </p:txBody>
      </p:sp>
      <p:pic>
        <p:nvPicPr>
          <p:cNvPr id="4" name="Picture 3" descr="Generated teaching illustration: parallel">
            <a:extLst>
              <a:ext uri="{FF2B5EF4-FFF2-40B4-BE49-F238E27FC236}">
                <a16:creationId xmlns:a16="http://schemas.microsoft.com/office/drawing/2014/main" id="{151807BD-12E8-1C71-568D-447C013D100D}"/>
              </a:ext>
            </a:extLst>
          </p:cNvPr>
          <p:cNvPicPr>
            <a:picLocks noChangeAspect="1"/>
          </p:cNvPicPr>
          <p:nvPr/>
        </p:nvPicPr>
        <p:blipFill>
          <a:blip r:embed="rId3"/>
          <a:stretch>
            <a:fillRect/>
          </a:stretch>
        </p:blipFill>
        <p:spPr>
          <a:xfrm>
            <a:off x="6269040" y="396409"/>
            <a:ext cx="5539740" cy="5602070"/>
          </a:xfrm>
          <a:prstGeom prst="roundRect">
            <a:avLst>
              <a:gd name="adj" fmla="val 1361"/>
            </a:avLst>
          </a:prstGeom>
        </p:spPr>
      </p:pic>
      <p:sp>
        <p:nvSpPr>
          <p:cNvPr id="2" name="Google Shape;534;p58">
            <a:extLst>
              <a:ext uri="{FF2B5EF4-FFF2-40B4-BE49-F238E27FC236}">
                <a16:creationId xmlns:a16="http://schemas.microsoft.com/office/drawing/2014/main" id="{D4EE2969-B7C7-0C70-E299-B866E67DBC36}"/>
              </a:ext>
            </a:extLst>
          </p:cNvPr>
          <p:cNvSpPr txBox="1">
            <a:spLocks/>
          </p:cNvSpPr>
          <p:nvPr/>
        </p:nvSpPr>
        <p:spPr>
          <a:xfrm>
            <a:off x="393700" y="1684866"/>
            <a:ext cx="5537200" cy="19685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Sequential: one worker</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Compute each output in turn.</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Repeat the filter calculation at every position.</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Simple to trace, but the work queues up.</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Google Shape;534;p58">
            <a:extLst>
              <a:ext uri="{FF2B5EF4-FFF2-40B4-BE49-F238E27FC236}">
                <a16:creationId xmlns:a16="http://schemas.microsoft.com/office/drawing/2014/main" id="{72A34455-41AC-E436-D08C-DBCA262EF4C8}"/>
              </a:ext>
            </a:extLst>
          </p:cNvPr>
          <p:cNvSpPr txBox="1">
            <a:spLocks/>
          </p:cNvSpPr>
          <p:nvPr/>
        </p:nvSpPr>
        <p:spPr>
          <a:xfrm>
            <a:off x="393700" y="3855854"/>
            <a:ext cx="5537200" cy="21209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Parallel: many workers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Compute different outputs at once.</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Read the same input and filter weights.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Useful across pixels, filters and batch images.</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19334630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9B0323E1-B478-9FE3-B5ED-6819FF00BDA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1</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D4C92004-F6FC-8FE6-BAD5-82F7D96E79D7}"/>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3</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3A80AAE9-99DA-415B-48E5-DF2948540391}"/>
              </a:ext>
            </a:extLst>
          </p:cNvPr>
          <p:cNvSpPr txBox="1">
            <a:spLocks noGrp="1"/>
          </p:cNvSpPr>
          <p:nvPr>
            <p:ph type="title"/>
          </p:nvPr>
        </p:nvSpPr>
        <p:spPr/>
        <p:txBody>
          <a:bodyPr spcFirstLastPara="1" vert="horz" wrap="square" lIns="0" tIns="0" rIns="0" bIns="0" rtlCol="0" anchor="t" anchorCtr="0">
            <a:noAutofit/>
          </a:bodyPr>
          <a:lstStyle/>
          <a:p>
            <a:r>
              <a:rPr lang="en-US"/>
              <a:t>CNN on a CPU</a:t>
            </a:r>
            <a:endParaRPr lang="en-US" dirty="0"/>
          </a:p>
        </p:txBody>
      </p:sp>
      <p:pic>
        <p:nvPicPr>
          <p:cNvPr id="4" name="Picture 3" descr="Generated teaching illustration: cpu">
            <a:extLst>
              <a:ext uri="{FF2B5EF4-FFF2-40B4-BE49-F238E27FC236}">
                <a16:creationId xmlns:a16="http://schemas.microsoft.com/office/drawing/2014/main" id="{151807BD-12E8-1C71-568D-447C013D100D}"/>
              </a:ext>
            </a:extLst>
          </p:cNvPr>
          <p:cNvPicPr>
            <a:picLocks noChangeAspect="1"/>
          </p:cNvPicPr>
          <p:nvPr/>
        </p:nvPicPr>
        <p:blipFill>
          <a:blip r:embed="rId3"/>
          <a:stretch>
            <a:fillRect/>
          </a:stretch>
        </p:blipFill>
        <p:spPr>
          <a:xfrm>
            <a:off x="6269040" y="396409"/>
            <a:ext cx="5539740" cy="5602070"/>
          </a:xfrm>
          <a:prstGeom prst="roundRect">
            <a:avLst>
              <a:gd name="adj" fmla="val 1361"/>
            </a:avLst>
          </a:prstGeom>
        </p:spPr>
      </p:pic>
      <p:sp>
        <p:nvSpPr>
          <p:cNvPr id="2" name="Google Shape;534;p58">
            <a:extLst>
              <a:ext uri="{FF2B5EF4-FFF2-40B4-BE49-F238E27FC236}">
                <a16:creationId xmlns:a16="http://schemas.microsoft.com/office/drawing/2014/main" id="{D4EE2969-B7C7-0C70-E299-B866E67DBC36}"/>
              </a:ext>
            </a:extLst>
          </p:cNvPr>
          <p:cNvSpPr txBox="1">
            <a:spLocks/>
          </p:cNvSpPr>
          <p:nvPr/>
        </p:nvSpPr>
        <p:spPr>
          <a:xfrm>
            <a:off x="393700" y="1684866"/>
            <a:ext cx="5537200" cy="19685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How the CPU computes it</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C++ loops calculate the weighted sums.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OpenMP divides outputs among CPU threads.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Threads share reads and own separate writes.</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Google Shape;534;p58">
            <a:extLst>
              <a:ext uri="{FF2B5EF4-FFF2-40B4-BE49-F238E27FC236}">
                <a16:creationId xmlns:a16="http://schemas.microsoft.com/office/drawing/2014/main" id="{72A34455-41AC-E436-D08C-DBCA262EF4C8}"/>
              </a:ext>
            </a:extLst>
          </p:cNvPr>
          <p:cNvSpPr txBox="1">
            <a:spLocks/>
          </p:cNvSpPr>
          <p:nvPr/>
        </p:nvSpPr>
        <p:spPr>
          <a:xfrm>
            <a:off x="393700" y="3855854"/>
            <a:ext cx="5537200" cy="21209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Advantages and disadvantages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 Low overhead for small requests.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 Easy debugging and shared memory.</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 Fewer workers; shared memory bandwidth.</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 Thread setup can outweigh tiny jobs.</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35934401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9B0323E1-B478-9FE3-B5ED-6819FF00BDA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2</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D4C92004-F6FC-8FE6-BAD5-82F7D96E79D7}"/>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4</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3A80AAE9-99DA-415B-48E5-DF2948540391}"/>
              </a:ext>
            </a:extLst>
          </p:cNvPr>
          <p:cNvSpPr txBox="1">
            <a:spLocks noGrp="1"/>
          </p:cNvSpPr>
          <p:nvPr>
            <p:ph type="title"/>
          </p:nvPr>
        </p:nvSpPr>
        <p:spPr/>
        <p:txBody>
          <a:bodyPr spcFirstLastPara="1" vert="horz" wrap="square" lIns="0" tIns="0" rIns="0" bIns="0" rtlCol="0" anchor="t" anchorCtr="0">
            <a:noAutofit/>
          </a:bodyPr>
          <a:lstStyle/>
          <a:p>
            <a:r>
              <a:rPr lang="en-US"/>
              <a:t>What is GPGPU?</a:t>
            </a:r>
            <a:endParaRPr lang="en-US" dirty="0"/>
          </a:p>
        </p:txBody>
      </p:sp>
      <p:pic>
        <p:nvPicPr>
          <p:cNvPr id="4" name="Picture 3" descr="Generated teaching illustration: gpgpu">
            <a:extLst>
              <a:ext uri="{FF2B5EF4-FFF2-40B4-BE49-F238E27FC236}">
                <a16:creationId xmlns:a16="http://schemas.microsoft.com/office/drawing/2014/main" id="{151807BD-12E8-1C71-568D-447C013D100D}"/>
              </a:ext>
            </a:extLst>
          </p:cNvPr>
          <p:cNvPicPr>
            <a:picLocks noChangeAspect="1"/>
          </p:cNvPicPr>
          <p:nvPr/>
        </p:nvPicPr>
        <p:blipFill>
          <a:blip r:embed="rId3"/>
          <a:stretch>
            <a:fillRect/>
          </a:stretch>
        </p:blipFill>
        <p:spPr>
          <a:xfrm>
            <a:off x="6269040" y="396409"/>
            <a:ext cx="5539740" cy="5602070"/>
          </a:xfrm>
          <a:prstGeom prst="roundRect">
            <a:avLst>
              <a:gd name="adj" fmla="val 1361"/>
            </a:avLst>
          </a:prstGeom>
        </p:spPr>
      </p:pic>
      <p:sp>
        <p:nvSpPr>
          <p:cNvPr id="2" name="Google Shape;534;p58">
            <a:extLst>
              <a:ext uri="{FF2B5EF4-FFF2-40B4-BE49-F238E27FC236}">
                <a16:creationId xmlns:a16="http://schemas.microsoft.com/office/drawing/2014/main" id="{D4EE2969-B7C7-0C70-E299-B866E67DBC36}"/>
              </a:ext>
            </a:extLst>
          </p:cNvPr>
          <p:cNvSpPr txBox="1">
            <a:spLocks/>
          </p:cNvSpPr>
          <p:nvPr/>
        </p:nvSpPr>
        <p:spPr>
          <a:xfrm>
            <a:off x="393700" y="1684866"/>
            <a:ext cx="5537200" cy="19685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General-purpose GPU computing</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Use graphics hardware for numerical work.</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A GPU executes many similar calculations,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including the repeated sums in convolution.</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Google Shape;534;p58">
            <a:extLst>
              <a:ext uri="{FF2B5EF4-FFF2-40B4-BE49-F238E27FC236}">
                <a16:creationId xmlns:a16="http://schemas.microsoft.com/office/drawing/2014/main" id="{72A34455-41AC-E436-D08C-DBCA262EF4C8}"/>
              </a:ext>
            </a:extLst>
          </p:cNvPr>
          <p:cNvSpPr txBox="1">
            <a:spLocks/>
          </p:cNvSpPr>
          <p:nvPr/>
        </p:nvSpPr>
        <p:spPr>
          <a:xfrm>
            <a:off x="393700" y="3855854"/>
            <a:ext cx="5537200" cy="21209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Why CNNs fit this hardware</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Many outputs use the same kind of calculation.</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GPU workers compute different outputs together.</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Small jobs still pay transfer and launch costs.</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30912824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9B0323E1-B478-9FE3-B5ED-6819FF00BDA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2</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D4C92004-F6FC-8FE6-BAD5-82F7D96E79D7}"/>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5</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3A80AAE9-99DA-415B-48E5-DF2948540391}"/>
              </a:ext>
            </a:extLst>
          </p:cNvPr>
          <p:cNvSpPr txBox="1">
            <a:spLocks noGrp="1"/>
          </p:cNvSpPr>
          <p:nvPr>
            <p:ph type="title"/>
          </p:nvPr>
        </p:nvSpPr>
        <p:spPr/>
        <p:txBody>
          <a:bodyPr spcFirstLastPara="1" vert="horz" wrap="square" lIns="0" tIns="0" rIns="0" bIns="0" rtlCol="0" anchor="t" anchorCtr="0">
            <a:noAutofit/>
          </a:bodyPr>
          <a:lstStyle/>
          <a:p>
            <a:r>
              <a:rPr lang="en-US"/>
              <a:t>CUDA on the GPU</a:t>
            </a:r>
            <a:endParaRPr lang="en-US" dirty="0"/>
          </a:p>
        </p:txBody>
      </p:sp>
      <p:pic>
        <p:nvPicPr>
          <p:cNvPr id="4" name="Picture 3" descr="Generated teaching illustration: cuda">
            <a:extLst>
              <a:ext uri="{FF2B5EF4-FFF2-40B4-BE49-F238E27FC236}">
                <a16:creationId xmlns:a16="http://schemas.microsoft.com/office/drawing/2014/main" id="{151807BD-12E8-1C71-568D-447C013D100D}"/>
              </a:ext>
            </a:extLst>
          </p:cNvPr>
          <p:cNvPicPr>
            <a:picLocks noChangeAspect="1"/>
          </p:cNvPicPr>
          <p:nvPr/>
        </p:nvPicPr>
        <p:blipFill>
          <a:blip r:embed="rId3"/>
          <a:stretch>
            <a:fillRect/>
          </a:stretch>
        </p:blipFill>
        <p:spPr>
          <a:xfrm>
            <a:off x="6269040" y="396409"/>
            <a:ext cx="5539740" cy="5602070"/>
          </a:xfrm>
          <a:prstGeom prst="roundRect">
            <a:avLst>
              <a:gd name="adj" fmla="val 1361"/>
            </a:avLst>
          </a:prstGeom>
        </p:spPr>
      </p:pic>
      <p:sp>
        <p:nvSpPr>
          <p:cNvPr id="2" name="Google Shape;534;p58">
            <a:extLst>
              <a:ext uri="{FF2B5EF4-FFF2-40B4-BE49-F238E27FC236}">
                <a16:creationId xmlns:a16="http://schemas.microsoft.com/office/drawing/2014/main" id="{D4EE2969-B7C7-0C70-E299-B866E67DBC36}"/>
              </a:ext>
            </a:extLst>
          </p:cNvPr>
          <p:cNvSpPr txBox="1">
            <a:spLocks/>
          </p:cNvSpPr>
          <p:nvPr/>
        </p:nvSpPr>
        <p:spPr>
          <a:xfrm>
            <a:off x="393700" y="1684866"/>
            <a:ext cx="5537200" cy="19685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The CPU organizes the work</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Allocate tensors and move data to the GPU.</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Launch a kernel: grid -&gt; blocks -&gt; threads.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Wait for completion when measuring time.</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Google Shape;534;p58">
            <a:extLst>
              <a:ext uri="{FF2B5EF4-FFF2-40B4-BE49-F238E27FC236}">
                <a16:creationId xmlns:a16="http://schemas.microsoft.com/office/drawing/2014/main" id="{72A34455-41AC-E436-D08C-DBCA262EF4C8}"/>
              </a:ext>
            </a:extLst>
          </p:cNvPr>
          <p:cNvSpPr txBox="1">
            <a:spLocks/>
          </p:cNvSpPr>
          <p:nvPr/>
        </p:nvSpPr>
        <p:spPr>
          <a:xfrm>
            <a:off x="393700" y="3855854"/>
            <a:ext cx="5537200" cy="21209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GPU threads compute the CNN</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Each thread computes a different output.</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Shared memory can reuse overlapping input.</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More independent work keeps the GPU busy.</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19340055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56CEA-FF7D-9794-994B-E1F644052A04}"/>
            </a:ext>
          </a:extLst>
        </p:cNvPr>
        <p:cNvGrpSpPr/>
        <p:nvPr/>
      </p:nvGrpSpPr>
      <p:grpSpPr>
        <a:xfrm>
          <a:off x="0" y="0"/>
          <a:ext cx="0" cy="0"/>
          <a:chOff x="0" y="0"/>
          <a:chExt cx="0" cy="0"/>
        </a:xfrm>
      </p:grpSpPr>
      <p:sp>
        <p:nvSpPr>
          <p:cNvPr id="6" name="Footer Placeholder 5">
            <a:extLst>
              <a:ext uri="{FF2B5EF4-FFF2-40B4-BE49-F238E27FC236}">
                <a16:creationId xmlns:a16="http://schemas.microsoft.com/office/drawing/2014/main" id="{E79D819C-33DB-D779-0CC9-74786C7AA643}"/>
              </a:ext>
            </a:extLst>
          </p:cNvPr>
          <p:cNvSpPr>
            <a:spLocks noGrp="1"/>
          </p:cNvSpPr>
          <p:nvPr>
            <p:ph type="ftr" sz="quarter" idx="3"/>
          </p:nvPr>
        </p:nvSpPr>
        <p:spPr>
          <a:xfrm>
            <a:off x="393700" y="6279952"/>
            <a:ext cx="3568700" cy="241240"/>
          </a:xfrm>
        </p:spPr>
        <p:txBody>
          <a:bodyPr>
            <a:noAutofit/>
          </a:bodyPr>
          <a:lstStyle/>
          <a:p>
            <a:pPr>
              <a:spcAft>
                <a:spcPts val="400"/>
              </a:spcAft>
            </a:pPr>
            <a:r>
              <a:rPr lang="en-US">
                <a:solidFill>
                  <a:srgbClr val="FFFFFF"/>
                </a:solidFill>
                <a:latin typeface="Inter" panose="020B0604020202020204" charset="0"/>
              </a:rPr>
              <a:t>CNN CUDA Case Study | Person 2</a:t>
            </a:r>
            <a:endParaRPr lang="en-US" dirty="0">
              <a:solidFill>
                <a:srgbClr val="FFFFFF"/>
              </a:solidFill>
              <a:latin typeface="Inter" panose="020B0604020202020204" charset="0"/>
            </a:endParaRPr>
          </a:p>
        </p:txBody>
      </p:sp>
      <p:sp>
        <p:nvSpPr>
          <p:cNvPr id="2" name="Slide Number Placeholder 1">
            <a:extLst>
              <a:ext uri="{FF2B5EF4-FFF2-40B4-BE49-F238E27FC236}">
                <a16:creationId xmlns:a16="http://schemas.microsoft.com/office/drawing/2014/main" id="{6B79DB2A-CC47-00B8-FE1C-26473E47EA9C}"/>
              </a:ext>
            </a:extLst>
          </p:cNvPr>
          <p:cNvSpPr>
            <a:spLocks noGrp="1"/>
          </p:cNvSpPr>
          <p:nvPr>
            <p:ph type="sldNum" sz="quarter" idx="4"/>
          </p:nvPr>
        </p:nvSpPr>
        <p:spPr>
          <a:xfrm>
            <a:off x="11279188" y="6278563"/>
            <a:ext cx="519112" cy="241300"/>
          </a:xfrm>
        </p:spPr>
        <p:txBody>
          <a:bodyPr>
            <a:noAutofit/>
          </a:bodyPr>
          <a:lstStyle/>
          <a:p>
            <a:pPr>
              <a:spcAft>
                <a:spcPts val="400"/>
              </a:spcAft>
            </a:pPr>
            <a:r>
              <a:rPr lang="en">
                <a:solidFill>
                  <a:srgbClr val="FFFFFF"/>
                </a:solidFill>
                <a:latin typeface="Inter" panose="020B0604020202020204" charset="0"/>
              </a:rPr>
              <a:t>6</a:t>
            </a:r>
            <a:endParaRPr lang="en" dirty="0">
              <a:solidFill>
                <a:srgbClr val="FFFFFF"/>
              </a:solidFill>
              <a:latin typeface="Inter" panose="020B0604020202020204" charset="0"/>
            </a:endParaRPr>
          </a:p>
        </p:txBody>
      </p:sp>
      <p:sp>
        <p:nvSpPr>
          <p:cNvPr id="3" name="Title 2">
            <a:extLst>
              <a:ext uri="{FF2B5EF4-FFF2-40B4-BE49-F238E27FC236}">
                <a16:creationId xmlns:a16="http://schemas.microsoft.com/office/drawing/2014/main" id="{89BFFB18-4CB5-6BE2-9B1E-49B4101293F1}"/>
              </a:ext>
            </a:extLst>
          </p:cNvPr>
          <p:cNvSpPr>
            <a:spLocks noGrp="1"/>
          </p:cNvSpPr>
          <p:nvPr>
            <p:ph type="title"/>
          </p:nvPr>
        </p:nvSpPr>
        <p:spPr>
          <a:xfrm>
            <a:off x="393700" y="344008"/>
            <a:ext cx="11404600" cy="1047491"/>
          </a:xfrm>
        </p:spPr>
        <p:txBody>
          <a:bodyPr/>
          <a:lstStyle/>
          <a:p>
            <a:r>
              <a:rPr lang="en-US"/>
              <a:t>CUDA kernels and our program design</a:t>
            </a:r>
            <a:endParaRPr lang="en-US" dirty="0"/>
          </a:p>
        </p:txBody>
      </p:sp>
      <p:sp>
        <p:nvSpPr>
          <p:cNvPr id="10" name="Content Placeholder 9">
            <a:extLst>
              <a:ext uri="{FF2B5EF4-FFF2-40B4-BE49-F238E27FC236}">
                <a16:creationId xmlns:a16="http://schemas.microsoft.com/office/drawing/2014/main" id="{40C911A7-2999-5B10-850F-7785C571AE51}"/>
              </a:ext>
            </a:extLst>
          </p:cNvPr>
          <p:cNvSpPr>
            <a:spLocks noGrp="1"/>
          </p:cNvSpPr>
          <p:nvPr>
            <p:ph idx="4294967295"/>
          </p:nvPr>
        </p:nvSpPr>
        <p:spPr>
          <a:xfrm>
            <a:off x="393700" y="1917699"/>
            <a:ext cx="5537200" cy="1943100"/>
          </a:xfrm>
        </p:spPr>
        <p:txBody>
          <a:bodyPr>
            <a:noAutofit/>
          </a:bodyPr>
          <a:lstStyle/>
          <a:p>
            <a:pPr marL="0" marR="0" lvl="0" indent="0" fontAlgn="auto">
              <a:lnSpc>
                <a:spcPct val="114000"/>
              </a:lnSpc>
              <a:spcBef>
                <a:spcPts val="0"/>
              </a:spcBef>
              <a:spcAft>
                <a:spcPts val="1000"/>
              </a:spcAft>
              <a:buClrTx/>
              <a:buSzTx/>
              <a:buNone/>
              <a:tabLst/>
              <a:defRPr/>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Our CUDA kernel</a:t>
            </a:r>
          </a:p>
          <a:p>
            <a:pPr marL="0" marR="0" lvl="0" indent="0" fontAlgn="auto">
              <a:lnSpc>
                <a:spcPct val="114000"/>
              </a:lnSpc>
              <a:spcBef>
                <a:spcPts val="0"/>
              </a:spcBef>
              <a:spcAft>
                <a:spcPts val="400"/>
              </a:spcAft>
              <a:buClrTx/>
              <a:buSzTx/>
              <a:buNone/>
              <a:tabLst/>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A GPU function run by many threads.</a:t>
            </a:r>
          </a:p>
          <a:p>
            <a:pPr marL="0" marR="0" lvl="0" indent="0" fontAlgn="auto">
              <a:lnSpc>
                <a:spcPct val="114000"/>
              </a:lnSpc>
              <a:spcBef>
                <a:spcPts val="0"/>
              </a:spcBef>
              <a:spcAft>
                <a:spcPts val="400"/>
              </a:spcAft>
              <a:buClrTx/>
              <a:buSzTx/>
              <a:buNone/>
              <a:tabLst/>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One output per thread; 256 threads per block.</a:t>
            </a:r>
          </a:p>
          <a:p>
            <a:pPr marL="0" marR="0" lvl="0" indent="0" fontAlgn="auto">
              <a:lnSpc>
                <a:spcPct val="114000"/>
              </a:lnSpc>
              <a:spcBef>
                <a:spcPts val="0"/>
              </a:spcBef>
              <a:spcAft>
                <a:spcPts val="400"/>
              </a:spcAft>
              <a:buClrTx/>
              <a:buSzTx/>
              <a:buNone/>
              <a:tabLst/>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Each output sums nine products plus bias.</a:t>
            </a:r>
            <a:endParaRPr kumimoji="0" lang="en-US" sz="1700" i="0" u="none" strike="noStrike" kern="1200" cap="none" spc="0" normalizeH="0" baseline="0" noProof="0" dirty="0">
              <a:ln>
                <a:noFill/>
              </a:ln>
              <a:solidFill>
                <a:srgbClr val="FFFFFF"/>
              </a:solidFill>
              <a:effectLst/>
              <a:uLnTx/>
              <a:uFillTx/>
              <a:latin typeface="Inter" panose="020B0604020202020204" charset="0"/>
              <a:ea typeface="Helvetica Neue" panose="02000503000000020004" pitchFamily="2" charset="0"/>
              <a:cs typeface="Helvetica Neue" panose="02000503000000020004" pitchFamily="2" charset="0"/>
              <a:sym typeface="OpenAI Sans"/>
            </a:endParaRPr>
          </a:p>
        </p:txBody>
      </p:sp>
      <p:sp>
        <p:nvSpPr>
          <p:cNvPr id="11" name="Content Placeholder 10">
            <a:extLst>
              <a:ext uri="{FF2B5EF4-FFF2-40B4-BE49-F238E27FC236}">
                <a16:creationId xmlns:a16="http://schemas.microsoft.com/office/drawing/2014/main" id="{9591DE77-626F-6364-307D-6A3CECC3E0AC}"/>
              </a:ext>
            </a:extLst>
          </p:cNvPr>
          <p:cNvSpPr>
            <a:spLocks noGrp="1"/>
          </p:cNvSpPr>
          <p:nvPr>
            <p:ph idx="4294967295"/>
          </p:nvPr>
        </p:nvSpPr>
        <p:spPr>
          <a:xfrm>
            <a:off x="6256618" y="1917699"/>
            <a:ext cx="5537200" cy="1943100"/>
          </a:xfrm>
        </p:spPr>
        <p:txBody>
          <a:bodyPr>
            <a:noAutofit/>
          </a:bodyPr>
          <a:lstStyle/>
          <a:p>
            <a:pPr marL="0" marR="0" lvl="0" indent="0" fontAlgn="auto">
              <a:lnSpc>
                <a:spcPct val="114000"/>
              </a:lnSpc>
              <a:spcBef>
                <a:spcPts val="0"/>
              </a:spcBef>
              <a:spcAft>
                <a:spcPts val="1000"/>
              </a:spcAft>
              <a:buClrTx/>
              <a:buSzTx/>
              <a:buNone/>
              <a:tabLst/>
              <a:defRPr/>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One shared program flow</a:t>
            </a:r>
          </a:p>
          <a:p>
            <a:pPr marL="0" marR="0" lvl="0" indent="0" fontAlgn="auto">
              <a:lnSpc>
                <a:spcPct val="114000"/>
              </a:lnSpc>
              <a:spcBef>
                <a:spcPts val="0"/>
              </a:spcBef>
              <a:spcAft>
                <a:spcPts val="400"/>
              </a:spcAft>
              <a:buClrTx/>
              <a:buSzTx/>
              <a:buNone/>
              <a:tabLst/>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Input -&gt; CNN -&gt; loss -&gt; backward -&gt; SGD.</a:t>
            </a:r>
          </a:p>
          <a:p>
            <a:pPr marL="0" marR="0" lvl="0" indent="0" fontAlgn="auto">
              <a:lnSpc>
                <a:spcPct val="114000"/>
              </a:lnSpc>
              <a:spcBef>
                <a:spcPts val="0"/>
              </a:spcBef>
              <a:spcAft>
                <a:spcPts val="400"/>
              </a:spcAft>
              <a:buClrTx/>
              <a:buSzTx/>
              <a:buNone/>
              <a:tabLst/>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Same model and data; swap convolution only.</a:t>
            </a:r>
          </a:p>
          <a:p>
            <a:pPr marL="0" marR="0" lvl="0" indent="0" fontAlgn="auto">
              <a:lnSpc>
                <a:spcPct val="114000"/>
              </a:lnSpc>
              <a:spcBef>
                <a:spcPts val="0"/>
              </a:spcBef>
              <a:spcAft>
                <a:spcPts val="400"/>
              </a:spcAft>
              <a:buClrTx/>
              <a:buSzTx/>
              <a:buNone/>
              <a:tabLst/>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Backward combines the weight gradients.</a:t>
            </a:r>
            <a:endParaRPr kumimoji="0" lang="en-US" sz="1700" i="0" u="none" strike="noStrike" kern="1200" cap="none" spc="0" normalizeH="0" baseline="0" noProof="0" dirty="0">
              <a:ln>
                <a:noFill/>
              </a:ln>
              <a:solidFill>
                <a:srgbClr val="FFFFFF"/>
              </a:solidFill>
              <a:effectLst/>
              <a:uLnTx/>
              <a:uFillTx/>
              <a:latin typeface="Inter" panose="020B0604020202020204" charset="0"/>
              <a:ea typeface="Helvetica Neue" panose="02000503000000020004" pitchFamily="2" charset="0"/>
              <a:cs typeface="Helvetica Neue" panose="02000503000000020004" pitchFamily="2" charset="0"/>
              <a:sym typeface="OpenAI Sans"/>
            </a:endParaRPr>
          </a:p>
        </p:txBody>
      </p:sp>
      <p:sp>
        <p:nvSpPr>
          <p:cNvPr id="4" name="Content Placeholder 9">
            <a:extLst>
              <a:ext uri="{FF2B5EF4-FFF2-40B4-BE49-F238E27FC236}">
                <a16:creationId xmlns:a16="http://schemas.microsoft.com/office/drawing/2014/main" id="{5FBFFE27-6CE4-D49E-8371-7F40817D25C4}"/>
              </a:ext>
            </a:extLst>
          </p:cNvPr>
          <p:cNvSpPr txBox="1">
            <a:spLocks/>
          </p:cNvSpPr>
          <p:nvPr/>
        </p:nvSpPr>
        <p:spPr>
          <a:xfrm>
            <a:off x="393700" y="4038599"/>
            <a:ext cx="5537200" cy="19431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defRPr/>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Our CUDA implementation</a:t>
            </a:r>
          </a:p>
          <a:p>
            <a:pPr marL="0" indent="0">
              <a:lnSpc>
                <a:spcPct val="114000"/>
              </a:lnSpc>
              <a:spcBef>
                <a:spcPts val="0"/>
              </a:spcBef>
              <a:spcAft>
                <a:spcPts val="400"/>
              </a:spcAft>
              <a:buNone/>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Handwritten kernels inside a PyTorch CNN.</a:t>
            </a:r>
          </a:p>
          <a:p>
            <a:pPr marL="0" indent="0">
              <a:lnSpc>
                <a:spcPct val="114000"/>
              </a:lnSpc>
              <a:spcBef>
                <a:spcPts val="0"/>
              </a:spcBef>
              <a:spcAft>
                <a:spcPts val="400"/>
              </a:spcAft>
              <a:buNone/>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We choose thread mapping and input reuse.</a:t>
            </a:r>
          </a:p>
          <a:p>
            <a:pPr marL="0" indent="0">
              <a:lnSpc>
                <a:spcPct val="114000"/>
              </a:lnSpc>
              <a:spcBef>
                <a:spcPts val="0"/>
              </a:spcBef>
              <a:spcAft>
                <a:spcPts val="400"/>
              </a:spcAft>
              <a:buNone/>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PyTorch supplies the other layers and optimizer.</a:t>
            </a:r>
            <a:endParaRPr lang="en-US" sz="1700" dirty="0">
              <a:solidFill>
                <a:srgbClr val="FFFFFF"/>
              </a:solidFill>
              <a:latin typeface="Inter" panose="020B0604020202020204" charset="0"/>
              <a:ea typeface="Helvetica Neue" panose="02000503000000020004" pitchFamily="2" charset="0"/>
              <a:cs typeface="Helvetica Neue" panose="02000503000000020004" pitchFamily="2" charset="0"/>
              <a:sym typeface="OpenAI Sans"/>
            </a:endParaRPr>
          </a:p>
        </p:txBody>
      </p:sp>
      <p:sp>
        <p:nvSpPr>
          <p:cNvPr id="5" name="Content Placeholder 10">
            <a:extLst>
              <a:ext uri="{FF2B5EF4-FFF2-40B4-BE49-F238E27FC236}">
                <a16:creationId xmlns:a16="http://schemas.microsoft.com/office/drawing/2014/main" id="{D6F50C40-7DBA-55A3-751E-00E97654E163}"/>
              </a:ext>
            </a:extLst>
          </p:cNvPr>
          <p:cNvSpPr txBox="1">
            <a:spLocks/>
          </p:cNvSpPr>
          <p:nvPr/>
        </p:nvSpPr>
        <p:spPr>
          <a:xfrm>
            <a:off x="6256618" y="4038599"/>
            <a:ext cx="5537200" cy="19431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defRPr/>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PyTorch vs direct cuDNN</a:t>
            </a:r>
          </a:p>
          <a:p>
            <a:pPr marL="0" indent="0">
              <a:lnSpc>
                <a:spcPct val="114000"/>
              </a:lnSpc>
              <a:spcBef>
                <a:spcPts val="0"/>
              </a:spcBef>
              <a:spcAft>
                <a:spcPts val="400"/>
              </a:spcAft>
              <a:buNone/>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PyTorch chooses a convolution backend.</a:t>
            </a:r>
          </a:p>
          <a:p>
            <a:pPr marL="0" indent="0">
              <a:lnSpc>
                <a:spcPct val="114000"/>
              </a:lnSpc>
              <a:spcBef>
                <a:spcPts val="0"/>
              </a:spcBef>
              <a:spcAft>
                <a:spcPts val="400"/>
              </a:spcAft>
              <a:buNone/>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Direct cuDNN calls NVIDIA library routines.</a:t>
            </a:r>
          </a:p>
          <a:p>
            <a:pPr marL="0" indent="0">
              <a:lnSpc>
                <a:spcPct val="114000"/>
              </a:lnSpc>
              <a:spcBef>
                <a:spcPts val="0"/>
              </a:spcBef>
              <a:spcAft>
                <a:spcPts val="400"/>
              </a:spcAft>
              <a:buNone/>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Our PyTorch GPU also dispatched to cuDNN.</a:t>
            </a:r>
            <a:endParaRPr lang="en-US" sz="1700" dirty="0">
              <a:solidFill>
                <a:srgbClr val="FFFFFF"/>
              </a:solidFill>
              <a:latin typeface="Inter" panose="020B0604020202020204" charset="0"/>
              <a:ea typeface="Helvetica Neue"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11152928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9B0323E1-B478-9FE3-B5ED-6819FF00BDA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2</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D4C92004-F6FC-8FE6-BAD5-82F7D96E79D7}"/>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7</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3A80AAE9-99DA-415B-48E5-DF2948540391}"/>
              </a:ext>
            </a:extLst>
          </p:cNvPr>
          <p:cNvSpPr txBox="1">
            <a:spLocks noGrp="1"/>
          </p:cNvSpPr>
          <p:nvPr>
            <p:ph type="title"/>
          </p:nvPr>
        </p:nvSpPr>
        <p:spPr/>
        <p:txBody>
          <a:bodyPr spcFirstLastPara="1" vert="horz" wrap="square" lIns="0" tIns="0" rIns="0" bIns="0" rtlCol="0" anchor="t" anchorCtr="0">
            <a:noAutofit/>
          </a:bodyPr>
          <a:lstStyle/>
          <a:p>
            <a:r>
              <a:rPr lang="en-US"/>
              <a:t>Two GPUs with DataParallel</a:t>
            </a:r>
            <a:endParaRPr lang="en-US" dirty="0"/>
          </a:p>
        </p:txBody>
      </p:sp>
      <p:pic>
        <p:nvPicPr>
          <p:cNvPr id="4" name="Picture 3" descr="Generated teaching illustration: dp">
            <a:extLst>
              <a:ext uri="{FF2B5EF4-FFF2-40B4-BE49-F238E27FC236}">
                <a16:creationId xmlns:a16="http://schemas.microsoft.com/office/drawing/2014/main" id="{151807BD-12E8-1C71-568D-447C013D100D}"/>
              </a:ext>
            </a:extLst>
          </p:cNvPr>
          <p:cNvPicPr>
            <a:picLocks noChangeAspect="1"/>
          </p:cNvPicPr>
          <p:nvPr/>
        </p:nvPicPr>
        <p:blipFill>
          <a:blip r:embed="rId3"/>
          <a:stretch>
            <a:fillRect/>
          </a:stretch>
        </p:blipFill>
        <p:spPr>
          <a:xfrm>
            <a:off x="6269040" y="396409"/>
            <a:ext cx="5539740" cy="5602070"/>
          </a:xfrm>
          <a:prstGeom prst="roundRect">
            <a:avLst>
              <a:gd name="adj" fmla="val 1361"/>
            </a:avLst>
          </a:prstGeom>
        </p:spPr>
      </p:pic>
      <p:sp>
        <p:nvSpPr>
          <p:cNvPr id="2" name="Google Shape;534;p58">
            <a:extLst>
              <a:ext uri="{FF2B5EF4-FFF2-40B4-BE49-F238E27FC236}">
                <a16:creationId xmlns:a16="http://schemas.microsoft.com/office/drawing/2014/main" id="{D4EE2969-B7C7-0C70-E299-B866E67DBC36}"/>
              </a:ext>
            </a:extLst>
          </p:cNvPr>
          <p:cNvSpPr txBox="1">
            <a:spLocks/>
          </p:cNvSpPr>
          <p:nvPr/>
        </p:nvSpPr>
        <p:spPr>
          <a:xfrm>
            <a:off x="393700" y="1684866"/>
            <a:ext cx="5537200" cy="19685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Split and compute</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Batch 64 becomes 32 images per GPU.</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Each GPU runs a copy of the same CNN.</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Both replicas start with identical weights.</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Google Shape;534;p58">
            <a:extLst>
              <a:ext uri="{FF2B5EF4-FFF2-40B4-BE49-F238E27FC236}">
                <a16:creationId xmlns:a16="http://schemas.microsoft.com/office/drawing/2014/main" id="{72A34455-41AC-E436-D08C-DBCA262EF4C8}"/>
              </a:ext>
            </a:extLst>
          </p:cNvPr>
          <p:cNvSpPr txBox="1">
            <a:spLocks/>
          </p:cNvSpPr>
          <p:nvPr/>
        </p:nvSpPr>
        <p:spPr>
          <a:xfrm>
            <a:off x="393700" y="3855854"/>
            <a:ext cx="5537200" cy="21209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Gather and update</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Gather predictions on GPU 0.</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Compute loss; sum replica gradients.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Update one model for the next batch.</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Replication and communication add cost.</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3889315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BCF89-6B3E-13C3-5860-10A5B4F64A75}"/>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D2FC4FC7-396D-BE8D-1F0E-C849A74CA5DD}"/>
              </a:ext>
            </a:extLst>
          </p:cNvPr>
          <p:cNvSpPr>
            <a:spLocks noGrp="1"/>
          </p:cNvSpPr>
          <p:nvPr>
            <p:ph type="ftr" sz="quarter" idx="3"/>
          </p:nvPr>
        </p:nvSpPr>
        <p:spPr>
          <a:xfrm>
            <a:off x="393700" y="6279952"/>
            <a:ext cx="3568700" cy="241240"/>
          </a:xfrm>
        </p:spPr>
        <p:txBody>
          <a:bodyPr>
            <a:noAutofit/>
          </a:bodyPr>
          <a:lstStyle/>
          <a:p>
            <a:pPr>
              <a:spcAft>
                <a:spcPts val="400"/>
              </a:spcAft>
            </a:pPr>
            <a:r>
              <a:rPr lang="en-US">
                <a:solidFill>
                  <a:srgbClr val="FFFFFF"/>
                </a:solidFill>
                <a:latin typeface="Inter" panose="020B0604020202020204" charset="0"/>
              </a:rPr>
              <a:t>CNN CUDA Case Study | Person 3</a:t>
            </a:r>
            <a:endParaRPr lang="en-US" dirty="0">
              <a:solidFill>
                <a:srgbClr val="FFFFFF"/>
              </a:solidFill>
              <a:latin typeface="Inter" panose="020B0604020202020204" charset="0"/>
            </a:endParaRPr>
          </a:p>
        </p:txBody>
      </p:sp>
      <p:sp>
        <p:nvSpPr>
          <p:cNvPr id="2" name="Slide Number Placeholder 1">
            <a:extLst>
              <a:ext uri="{FF2B5EF4-FFF2-40B4-BE49-F238E27FC236}">
                <a16:creationId xmlns:a16="http://schemas.microsoft.com/office/drawing/2014/main" id="{B3BD1300-E71C-732F-134B-B7EE0492A9B7}"/>
              </a:ext>
            </a:extLst>
          </p:cNvPr>
          <p:cNvSpPr>
            <a:spLocks noGrp="1"/>
          </p:cNvSpPr>
          <p:nvPr>
            <p:ph type="sldNum" sz="quarter" idx="4"/>
          </p:nvPr>
        </p:nvSpPr>
        <p:spPr>
          <a:xfrm>
            <a:off x="11279332" y="6279294"/>
            <a:ext cx="518968" cy="241240"/>
          </a:xfrm>
        </p:spPr>
        <p:txBody>
          <a:bodyPr>
            <a:noAutofit/>
          </a:bodyPr>
          <a:lstStyle/>
          <a:p>
            <a:pPr>
              <a:spcAft>
                <a:spcPts val="400"/>
              </a:spcAft>
            </a:pPr>
            <a:r>
              <a:rPr lang="en">
                <a:solidFill>
                  <a:srgbClr val="FFFFFF"/>
                </a:solidFill>
                <a:latin typeface="Inter" panose="020B0604020202020204" charset="0"/>
              </a:rPr>
              <a:t>8</a:t>
            </a:r>
          </a:p>
        </p:txBody>
      </p:sp>
      <p:sp>
        <p:nvSpPr>
          <p:cNvPr id="3" name="Title 2">
            <a:extLst>
              <a:ext uri="{FF2B5EF4-FFF2-40B4-BE49-F238E27FC236}">
                <a16:creationId xmlns:a16="http://schemas.microsoft.com/office/drawing/2014/main" id="{FC59BB80-DF6A-0532-F91A-4A78B8E5820E}"/>
              </a:ext>
            </a:extLst>
          </p:cNvPr>
          <p:cNvSpPr>
            <a:spLocks noGrp="1"/>
          </p:cNvSpPr>
          <p:nvPr>
            <p:ph type="title"/>
          </p:nvPr>
        </p:nvSpPr>
        <p:spPr>
          <a:xfrm>
            <a:off x="393700" y="344008"/>
            <a:ext cx="11404600" cy="519595"/>
          </a:xfrm>
        </p:spPr>
        <p:txBody>
          <a:bodyPr/>
          <a:lstStyle/>
          <a:p>
            <a:r>
              <a:rPr lang="en-US">
                <a:solidFill>
                  <a:srgbClr val="BCEF59"/>
                </a:solidFill>
              </a:rPr>
              <a:t>Training results: 50 epochs</a:t>
            </a:r>
            <a:endParaRPr lang="en-US" dirty="0">
              <a:solidFill>
                <a:srgbClr val="BCEF59"/>
              </a:solidFill>
            </a:endParaRPr>
          </a:p>
        </p:txBody>
      </p:sp>
      <p:graphicFrame>
        <p:nvGraphicFramePr>
          <p:cNvPr id="4" name="Table 3">
            <a:extLst>
              <a:ext uri="{FF2B5EF4-FFF2-40B4-BE49-F238E27FC236}">
                <a16:creationId xmlns:a16="http://schemas.microsoft.com/office/drawing/2014/main" id="{CE8CD771-F7CC-8D28-8ED8-48ACE9DA4166}"/>
              </a:ext>
            </a:extLst>
          </p:cNvPr>
          <p:cNvGraphicFramePr>
            <a:graphicFrameLocks noGrp="1"/>
          </p:cNvGraphicFramePr>
          <p:nvPr>
            <p:extLst>
              <p:ext uri="{D42A27DB-BD31-4B8C-83A1-F6EECF244321}">
                <p14:modId xmlns:p14="http://schemas.microsoft.com/office/powerpoint/2010/main" val="2446310505"/>
              </p:ext>
            </p:extLst>
          </p:nvPr>
        </p:nvGraphicFramePr>
        <p:xfrm>
          <a:off x="393700" y="1917700"/>
          <a:ext cx="11404600" cy="4112586"/>
        </p:xfrm>
        <a:graphic>
          <a:graphicData uri="http://schemas.openxmlformats.org/drawingml/2006/table">
            <a:tbl>
              <a:tblPr firstRow="1" bandRow="1">
                <a:tableStyleId>{5C22544A-7EE6-4342-B048-85BDC9FD1C3A}</a:tableStyleId>
              </a:tblPr>
              <a:tblGrid>
                <a:gridCol w="5969000">
                  <a:extLst>
                    <a:ext uri="{9D8B030D-6E8A-4147-A177-3AD203B41FA5}">
                      <a16:colId xmlns:a16="http://schemas.microsoft.com/office/drawing/2014/main" val="1631070132"/>
                    </a:ext>
                  </a:extLst>
                </a:gridCol>
                <a:gridCol w="2717800">
                  <a:extLst>
                    <a:ext uri="{9D8B030D-6E8A-4147-A177-3AD203B41FA5}">
                      <a16:colId xmlns:a16="http://schemas.microsoft.com/office/drawing/2014/main" val="1616312772"/>
                    </a:ext>
                  </a:extLst>
                </a:gridCol>
                <a:gridCol w="2717800">
                  <a:extLst>
                    <a:ext uri="{9D8B030D-6E8A-4147-A177-3AD203B41FA5}">
                      <a16:colId xmlns:a16="http://schemas.microsoft.com/office/drawing/2014/main" val="1128248815"/>
                    </a:ext>
                  </a:extLst>
                </a:gridCol>
              </a:tblGrid>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Implementation</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Training (s)</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Test accuracy</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2842163"/>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 CPU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10.17</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59605887"/>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Our CUDA — 1 GPU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6.06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0902002"/>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Our CUDA — 2 GPUs</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15.99</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3852306"/>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Direct cuDNN — 1 GPU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6.34</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4140170"/>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Direct cuDNN — 2 GPUs</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17.32</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6914960"/>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 — 1 GPU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5.42</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9445964"/>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 DataParallel — 2 GPUs</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18.39</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1286958"/>
                  </a:ext>
                </a:extLst>
              </a:tr>
            </a:tbl>
          </a:graphicData>
        </a:graphic>
      </p:graphicFrame>
      <p:sp>
        <p:nvSpPr>
          <p:cNvPr id="6" name="TextBox 5">
            <a:extLst>
              <a:ext uri="{FF2B5EF4-FFF2-40B4-BE49-F238E27FC236}">
                <a16:creationId xmlns:a16="http://schemas.microsoft.com/office/drawing/2014/main" id="{06E01E3E-CA89-F74C-AFDD-543724989950}"/>
              </a:ext>
            </a:extLst>
          </p:cNvPr>
          <p:cNvSpPr txBox="1"/>
          <p:nvPr/>
        </p:nvSpPr>
        <p:spPr>
          <a:xfrm>
            <a:off x="393700" y="1092200"/>
            <a:ext cx="11404600" cy="246221"/>
          </a:xfrm>
          <a:prstGeom prst="rect">
            <a:avLst/>
          </a:prstGeom>
          <a:noFill/>
        </p:spPr>
        <p:txBody>
          <a:bodyPr vert="horz" lIns="0" tIns="0" rIns="0" bIns="0" rtlCol="0">
            <a:noAutofit/>
          </a:bodyPr>
          <a:lstStyle/>
          <a:p>
            <a:pPr>
              <a:spcAft>
                <a:spcPts val="400"/>
              </a:spcAft>
            </a:pPr>
            <a:r>
              <a:rPr lang="en-US" sz="1600">
                <a:solidFill>
                  <a:srgbClr val="FFFFFF"/>
                </a:solidFill>
                <a:latin typeface="Inter" panose="020B0604020202020204" charset="0"/>
              </a:rPr>
              <a:t>Kaggle T4 x2 · 4,800 train / 1,200 validation / 1,000 test · identical model and initialization</a:t>
            </a:r>
          </a:p>
        </p:txBody>
      </p:sp>
      <p:sp>
        <p:nvSpPr>
          <p:cNvPr id="7" name="TextBox 6">
            <a:extLst>
              <a:ext uri="{FF2B5EF4-FFF2-40B4-BE49-F238E27FC236}">
                <a16:creationId xmlns:a16="http://schemas.microsoft.com/office/drawing/2014/main" id="{8D205F28-3948-D18B-DAAA-879066E3C6ED}"/>
              </a:ext>
            </a:extLst>
          </p:cNvPr>
          <p:cNvSpPr txBox="1"/>
          <p:nvPr/>
        </p:nvSpPr>
        <p:spPr>
          <a:xfrm>
            <a:off x="393700" y="5702300"/>
            <a:ext cx="11404600" cy="230832"/>
          </a:xfrm>
          <a:prstGeom prst="rect">
            <a:avLst/>
          </a:prstGeom>
          <a:noFill/>
        </p:spPr>
        <p:txBody>
          <a:bodyPr vert="horz" lIns="0" tIns="0" rIns="0" bIns="0" rtlCol="0">
            <a:noAutofit/>
          </a:bodyPr>
          <a:lstStyle/>
          <a:p>
            <a:pPr>
              <a:spcAft>
                <a:spcPts val="400"/>
              </a:spcAft>
            </a:pPr>
            <a:r>
              <a:rPr lang="en-US" sz="1500">
                <a:solidFill>
                  <a:srgbClr val="FFFFFF"/>
                </a:solidFill>
                <a:latin typeface="Inter" panose="020B0604020202020204" charset="0"/>
              </a:rPr>
              <a:t>Fastest training: PyTorch on one GPU. All seven final models: 95.6% accuracy; 170 checks passed.</a:t>
            </a:r>
          </a:p>
        </p:txBody>
      </p:sp>
    </p:spTree>
    <p:extLst>
      <p:ext uri="{BB962C8B-B14F-4D97-AF65-F5344CB8AC3E}">
        <p14:creationId xmlns:p14="http://schemas.microsoft.com/office/powerpoint/2010/main" val="23406683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BCF89-6B3E-13C3-5860-10A5B4F64A75}"/>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D2FC4FC7-396D-BE8D-1F0E-C849A74CA5DD}"/>
              </a:ext>
            </a:extLst>
          </p:cNvPr>
          <p:cNvSpPr>
            <a:spLocks noGrp="1"/>
          </p:cNvSpPr>
          <p:nvPr>
            <p:ph type="ftr" sz="quarter" idx="3"/>
          </p:nvPr>
        </p:nvSpPr>
        <p:spPr>
          <a:xfrm>
            <a:off x="393700" y="6279952"/>
            <a:ext cx="3568700" cy="241240"/>
          </a:xfrm>
        </p:spPr>
        <p:txBody>
          <a:bodyPr>
            <a:noAutofit/>
          </a:bodyPr>
          <a:lstStyle/>
          <a:p>
            <a:pPr>
              <a:spcAft>
                <a:spcPts val="400"/>
              </a:spcAft>
            </a:pPr>
            <a:r>
              <a:rPr lang="en-US">
                <a:solidFill>
                  <a:srgbClr val="FFFFFF"/>
                </a:solidFill>
                <a:latin typeface="Inter" panose="020B0604020202020204" charset="0"/>
              </a:rPr>
              <a:t>CNN CUDA Case Study | Person 3</a:t>
            </a:r>
            <a:endParaRPr lang="en-US" dirty="0">
              <a:solidFill>
                <a:srgbClr val="FFFFFF"/>
              </a:solidFill>
              <a:latin typeface="Inter" panose="020B0604020202020204" charset="0"/>
            </a:endParaRPr>
          </a:p>
        </p:txBody>
      </p:sp>
      <p:sp>
        <p:nvSpPr>
          <p:cNvPr id="2" name="Slide Number Placeholder 1">
            <a:extLst>
              <a:ext uri="{FF2B5EF4-FFF2-40B4-BE49-F238E27FC236}">
                <a16:creationId xmlns:a16="http://schemas.microsoft.com/office/drawing/2014/main" id="{B3BD1300-E71C-732F-134B-B7EE0492A9B7}"/>
              </a:ext>
            </a:extLst>
          </p:cNvPr>
          <p:cNvSpPr>
            <a:spLocks noGrp="1"/>
          </p:cNvSpPr>
          <p:nvPr>
            <p:ph type="sldNum" sz="quarter" idx="4"/>
          </p:nvPr>
        </p:nvSpPr>
        <p:spPr>
          <a:xfrm>
            <a:off x="11279332" y="6279294"/>
            <a:ext cx="518968" cy="241240"/>
          </a:xfrm>
        </p:spPr>
        <p:txBody>
          <a:bodyPr>
            <a:noAutofit/>
          </a:bodyPr>
          <a:lstStyle/>
          <a:p>
            <a:pPr>
              <a:spcAft>
                <a:spcPts val="400"/>
              </a:spcAft>
            </a:pPr>
            <a:r>
              <a:rPr lang="en">
                <a:solidFill>
                  <a:srgbClr val="FFFFFF"/>
                </a:solidFill>
                <a:latin typeface="Inter" panose="020B0604020202020204" charset="0"/>
              </a:rPr>
              <a:t>9</a:t>
            </a:r>
          </a:p>
        </p:txBody>
      </p:sp>
      <p:sp>
        <p:nvSpPr>
          <p:cNvPr id="3" name="Title 2">
            <a:extLst>
              <a:ext uri="{FF2B5EF4-FFF2-40B4-BE49-F238E27FC236}">
                <a16:creationId xmlns:a16="http://schemas.microsoft.com/office/drawing/2014/main" id="{FC59BB80-DF6A-0532-F91A-4A78B8E5820E}"/>
              </a:ext>
            </a:extLst>
          </p:cNvPr>
          <p:cNvSpPr>
            <a:spLocks noGrp="1"/>
          </p:cNvSpPr>
          <p:nvPr>
            <p:ph type="title"/>
          </p:nvPr>
        </p:nvSpPr>
        <p:spPr>
          <a:xfrm>
            <a:off x="393700" y="344008"/>
            <a:ext cx="11404600" cy="519595"/>
          </a:xfrm>
        </p:spPr>
        <p:txBody>
          <a:bodyPr/>
          <a:lstStyle/>
          <a:p>
            <a:r>
              <a:rPr lang="en-US">
                <a:solidFill>
                  <a:srgbClr val="BCEF59"/>
                </a:solidFill>
              </a:rPr>
              <a:t>Convolution and inference results</a:t>
            </a:r>
            <a:endParaRPr lang="en-US" dirty="0">
              <a:solidFill>
                <a:srgbClr val="BCEF59"/>
              </a:solidFill>
            </a:endParaRPr>
          </a:p>
        </p:txBody>
      </p:sp>
      <p:graphicFrame>
        <p:nvGraphicFramePr>
          <p:cNvPr id="4" name="Table 3">
            <a:extLst>
              <a:ext uri="{FF2B5EF4-FFF2-40B4-BE49-F238E27FC236}">
                <a16:creationId xmlns:a16="http://schemas.microsoft.com/office/drawing/2014/main" id="{CE8CD771-F7CC-8D28-8ED8-48ACE9DA4166}"/>
              </a:ext>
            </a:extLst>
          </p:cNvPr>
          <p:cNvGraphicFramePr>
            <a:graphicFrameLocks noGrp="1"/>
          </p:cNvGraphicFramePr>
          <p:nvPr>
            <p:extLst>
              <p:ext uri="{D42A27DB-BD31-4B8C-83A1-F6EECF244321}">
                <p14:modId xmlns:p14="http://schemas.microsoft.com/office/powerpoint/2010/main" val="904975290"/>
              </p:ext>
            </p:extLst>
          </p:nvPr>
        </p:nvGraphicFramePr>
        <p:xfrm>
          <a:off x="393700" y="1917700"/>
          <a:ext cx="11404600" cy="4112586"/>
        </p:xfrm>
        <a:graphic>
          <a:graphicData uri="http://schemas.openxmlformats.org/drawingml/2006/table">
            <a:tbl>
              <a:tblPr firstRow="1" bandRow="1">
                <a:tableStyleId>{5C22544A-7EE6-4342-B048-85BDC9FD1C3A}</a:tableStyleId>
              </a:tblPr>
              <a:tblGrid>
                <a:gridCol w="4508500">
                  <a:extLst>
                    <a:ext uri="{9D8B030D-6E8A-4147-A177-3AD203B41FA5}">
                      <a16:colId xmlns:a16="http://schemas.microsoft.com/office/drawing/2014/main" val="1631070132"/>
                    </a:ext>
                  </a:extLst>
                </a:gridCol>
                <a:gridCol w="1968500">
                  <a:extLst>
                    <a:ext uri="{9D8B030D-6E8A-4147-A177-3AD203B41FA5}">
                      <a16:colId xmlns:a16="http://schemas.microsoft.com/office/drawing/2014/main" val="1616312772"/>
                    </a:ext>
                  </a:extLst>
                </a:gridCol>
                <a:gridCol w="2108200">
                  <a:extLst>
                    <a:ext uri="{9D8B030D-6E8A-4147-A177-3AD203B41FA5}">
                      <a16:colId xmlns:a16="http://schemas.microsoft.com/office/drawing/2014/main" val="1128248815"/>
                    </a:ext>
                  </a:extLst>
                </a:gridCol>
                <a:gridCol w="2819400">
                  <a:extLst>
                    <a:ext uri="{9D8B030D-6E8A-4147-A177-3AD203B41FA5}">
                      <a16:colId xmlns:a16="http://schemas.microsoft.com/office/drawing/2014/main" val="1798952155"/>
                    </a:ext>
                  </a:extLst>
                </a:gridCol>
              </a:tblGrid>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Implementation</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Conv (us)</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Infer (us)</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Batch infer/s</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2842163"/>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 CPU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23.80</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83.45</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59,454</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59605887"/>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Our CUDA — 1 GPU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62.41</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351.39</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178,698</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0902002"/>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Our CUDA — 2 GPUs</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548.40</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913.92</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29,441</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3852306"/>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Direct cuDNN — 1 GPU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141.80</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444.74</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142,844</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4140170"/>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Direct cuDNN — 2 GPUs</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633.95</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959.52</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27,024</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6914960"/>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 — 1 GPU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41.68</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379.61</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169,365</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5592202"/>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 DataParallel — 2 GPUs</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524.17</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867.08</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20,903</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0681834"/>
                  </a:ext>
                </a:extLst>
              </a:tr>
            </a:tbl>
          </a:graphicData>
        </a:graphic>
      </p:graphicFrame>
      <p:sp>
        <p:nvSpPr>
          <p:cNvPr id="6" name="TextBox 5">
            <a:extLst>
              <a:ext uri="{FF2B5EF4-FFF2-40B4-BE49-F238E27FC236}">
                <a16:creationId xmlns:a16="http://schemas.microsoft.com/office/drawing/2014/main" id="{38CC57AD-956E-1719-404F-956FE5BC88B7}"/>
              </a:ext>
            </a:extLst>
          </p:cNvPr>
          <p:cNvSpPr txBox="1"/>
          <p:nvPr/>
        </p:nvSpPr>
        <p:spPr>
          <a:xfrm>
            <a:off x="393700" y="1092200"/>
            <a:ext cx="11404600" cy="246221"/>
          </a:xfrm>
          <a:prstGeom prst="rect">
            <a:avLst/>
          </a:prstGeom>
          <a:noFill/>
        </p:spPr>
        <p:txBody>
          <a:bodyPr vert="horz" lIns="0" tIns="0" rIns="0" bIns="0" rtlCol="0">
            <a:noAutofit/>
          </a:bodyPr>
          <a:lstStyle/>
          <a:p>
            <a:pPr>
              <a:spcAft>
                <a:spcPts val="400"/>
              </a:spcAft>
            </a:pPr>
            <a:r>
              <a:rPr lang="en-US" sz="1600">
                <a:solidFill>
                  <a:srgbClr val="FFFFFF"/>
                </a:solidFill>
                <a:latin typeface="Inter" panose="020B0604020202020204" charset="0"/>
              </a:rPr>
              <a:t>One-digit convolution and CNN inference: microseconds. Batch inference: images/second at batch 64.</a:t>
            </a:r>
          </a:p>
        </p:txBody>
      </p:sp>
      <p:sp>
        <p:nvSpPr>
          <p:cNvPr id="7" name="TextBox 6">
            <a:extLst>
              <a:ext uri="{FF2B5EF4-FFF2-40B4-BE49-F238E27FC236}">
                <a16:creationId xmlns:a16="http://schemas.microsoft.com/office/drawing/2014/main" id="{175800BF-68DE-3091-14D8-8333AAC14821}"/>
              </a:ext>
            </a:extLst>
          </p:cNvPr>
          <p:cNvSpPr txBox="1"/>
          <p:nvPr/>
        </p:nvSpPr>
        <p:spPr>
          <a:xfrm>
            <a:off x="393700" y="5702300"/>
            <a:ext cx="11404600" cy="230832"/>
          </a:xfrm>
          <a:prstGeom prst="rect">
            <a:avLst/>
          </a:prstGeom>
          <a:noFill/>
        </p:spPr>
        <p:txBody>
          <a:bodyPr vert="horz" lIns="0" tIns="0" rIns="0" bIns="0" rtlCol="0">
            <a:noAutofit/>
          </a:bodyPr>
          <a:lstStyle/>
          <a:p>
            <a:pPr>
              <a:spcAft>
                <a:spcPts val="400"/>
              </a:spcAft>
            </a:pPr>
            <a:r>
              <a:rPr lang="en-US" sz="1500">
                <a:solidFill>
                  <a:srgbClr val="FFFFFF"/>
                </a:solidFill>
                <a:latin typeface="Inter" panose="020B0604020202020204" charset="0"/>
              </a:rPr>
              <a:t>Resident inputs; warmed completed-call latency. Native CPU conv: serial 124.06 us -&gt; OpenMP 66.32 us.</a:t>
            </a:r>
          </a:p>
        </p:txBody>
      </p:sp>
    </p:spTree>
    <p:extLst>
      <p:ext uri="{BB962C8B-B14F-4D97-AF65-F5344CB8AC3E}">
        <p14:creationId xmlns:p14="http://schemas.microsoft.com/office/powerpoint/2010/main" val="893695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BCF89-6B3E-13C3-5860-10A5B4F64A75}"/>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D2FC4FC7-396D-BE8D-1F0E-C849A74CA5DD}"/>
              </a:ext>
            </a:extLst>
          </p:cNvPr>
          <p:cNvSpPr>
            <a:spLocks noGrp="1"/>
          </p:cNvSpPr>
          <p:nvPr>
            <p:ph type="ftr" sz="quarter" idx="3"/>
          </p:nvPr>
        </p:nvSpPr>
        <p:spPr>
          <a:xfrm>
            <a:off x="393700" y="6279952"/>
            <a:ext cx="3568700" cy="241240"/>
          </a:xfrm>
        </p:spPr>
        <p:txBody>
          <a:bodyPr>
            <a:noAutofit/>
          </a:bodyPr>
          <a:lstStyle/>
          <a:p>
            <a:pPr>
              <a:spcAft>
                <a:spcPts val="400"/>
              </a:spcAft>
            </a:pPr>
            <a:r>
              <a:rPr lang="en-US">
                <a:solidFill>
                  <a:srgbClr val="FFFFFF"/>
                </a:solidFill>
                <a:latin typeface="Inter" panose="020B0604020202020204" charset="0"/>
              </a:rPr>
              <a:t>CNN CUDA Case Study | Person 3</a:t>
            </a:r>
            <a:endParaRPr lang="en-US" dirty="0">
              <a:solidFill>
                <a:srgbClr val="FFFFFF"/>
              </a:solidFill>
              <a:latin typeface="Inter" panose="020B0604020202020204" charset="0"/>
            </a:endParaRPr>
          </a:p>
        </p:txBody>
      </p:sp>
      <p:sp>
        <p:nvSpPr>
          <p:cNvPr id="2" name="Slide Number Placeholder 1">
            <a:extLst>
              <a:ext uri="{FF2B5EF4-FFF2-40B4-BE49-F238E27FC236}">
                <a16:creationId xmlns:a16="http://schemas.microsoft.com/office/drawing/2014/main" id="{B3BD1300-E71C-732F-134B-B7EE0492A9B7}"/>
              </a:ext>
            </a:extLst>
          </p:cNvPr>
          <p:cNvSpPr>
            <a:spLocks noGrp="1"/>
          </p:cNvSpPr>
          <p:nvPr>
            <p:ph type="sldNum" sz="quarter" idx="4"/>
          </p:nvPr>
        </p:nvSpPr>
        <p:spPr>
          <a:xfrm>
            <a:off x="11279332" y="6279294"/>
            <a:ext cx="518968" cy="241240"/>
          </a:xfrm>
        </p:spPr>
        <p:txBody>
          <a:bodyPr>
            <a:noAutofit/>
          </a:bodyPr>
          <a:lstStyle/>
          <a:p>
            <a:pPr>
              <a:spcAft>
                <a:spcPts val="400"/>
              </a:spcAft>
            </a:pPr>
            <a:r>
              <a:rPr lang="en">
                <a:solidFill>
                  <a:srgbClr val="FFFFFF"/>
                </a:solidFill>
                <a:latin typeface="Inter" panose="020B0604020202020204" charset="0"/>
              </a:rPr>
              <a:t>10</a:t>
            </a:r>
          </a:p>
        </p:txBody>
      </p:sp>
      <p:sp>
        <p:nvSpPr>
          <p:cNvPr id="3" name="Title 2">
            <a:extLst>
              <a:ext uri="{FF2B5EF4-FFF2-40B4-BE49-F238E27FC236}">
                <a16:creationId xmlns:a16="http://schemas.microsoft.com/office/drawing/2014/main" id="{FC59BB80-DF6A-0532-F91A-4A78B8E5820E}"/>
              </a:ext>
            </a:extLst>
          </p:cNvPr>
          <p:cNvSpPr>
            <a:spLocks noGrp="1"/>
          </p:cNvSpPr>
          <p:nvPr>
            <p:ph type="title"/>
          </p:nvPr>
        </p:nvSpPr>
        <p:spPr>
          <a:xfrm>
            <a:off x="393700" y="344008"/>
            <a:ext cx="11404600" cy="519595"/>
          </a:xfrm>
        </p:spPr>
        <p:txBody>
          <a:bodyPr/>
          <a:lstStyle/>
          <a:p>
            <a:r>
              <a:rPr lang="en-US">
                <a:solidFill>
                  <a:srgbClr val="BCEF59"/>
                </a:solidFill>
              </a:rPr>
              <a:t>Efficiency, overhead and cost</a:t>
            </a:r>
            <a:endParaRPr lang="en-US" dirty="0">
              <a:solidFill>
                <a:srgbClr val="BCEF59"/>
              </a:solidFill>
            </a:endParaRPr>
          </a:p>
        </p:txBody>
      </p:sp>
      <p:graphicFrame>
        <p:nvGraphicFramePr>
          <p:cNvPr id="4" name="Table 3">
            <a:extLst>
              <a:ext uri="{FF2B5EF4-FFF2-40B4-BE49-F238E27FC236}">
                <a16:creationId xmlns:a16="http://schemas.microsoft.com/office/drawing/2014/main" id="{CE8CD771-F7CC-8D28-8ED8-48ACE9DA4166}"/>
              </a:ext>
            </a:extLst>
          </p:cNvPr>
          <p:cNvGraphicFramePr>
            <a:graphicFrameLocks noGrp="1"/>
          </p:cNvGraphicFramePr>
          <p:nvPr>
            <p:extLst>
              <p:ext uri="{D42A27DB-BD31-4B8C-83A1-F6EECF244321}">
                <p14:modId xmlns:p14="http://schemas.microsoft.com/office/powerpoint/2010/main" val="3469517534"/>
              </p:ext>
            </p:extLst>
          </p:nvPr>
        </p:nvGraphicFramePr>
        <p:xfrm>
          <a:off x="393700" y="1917700"/>
          <a:ext cx="11404600" cy="4112586"/>
        </p:xfrm>
        <a:graphic>
          <a:graphicData uri="http://schemas.openxmlformats.org/drawingml/2006/table">
            <a:tbl>
              <a:tblPr firstRow="1" bandRow="1">
                <a:tableStyleId>{5C22544A-7EE6-4342-B048-85BDC9FD1C3A}</a:tableStyleId>
              </a:tblPr>
              <a:tblGrid>
                <a:gridCol w="4127500">
                  <a:extLst>
                    <a:ext uri="{9D8B030D-6E8A-4147-A177-3AD203B41FA5}">
                      <a16:colId xmlns:a16="http://schemas.microsoft.com/office/drawing/2014/main" val="1631070132"/>
                    </a:ext>
                  </a:extLst>
                </a:gridCol>
                <a:gridCol w="2425700">
                  <a:extLst>
                    <a:ext uri="{9D8B030D-6E8A-4147-A177-3AD203B41FA5}">
                      <a16:colId xmlns:a16="http://schemas.microsoft.com/office/drawing/2014/main" val="1616312772"/>
                    </a:ext>
                  </a:extLst>
                </a:gridCol>
                <a:gridCol w="2413000">
                  <a:extLst>
                    <a:ext uri="{9D8B030D-6E8A-4147-A177-3AD203B41FA5}">
                      <a16:colId xmlns:a16="http://schemas.microsoft.com/office/drawing/2014/main" val="1128248815"/>
                    </a:ext>
                  </a:extLst>
                </a:gridCol>
                <a:gridCol w="2438400">
                  <a:extLst>
                    <a:ext uri="{9D8B030D-6E8A-4147-A177-3AD203B41FA5}">
                      <a16:colId xmlns:a16="http://schemas.microsoft.com/office/drawing/2014/main" val="4012770209"/>
                    </a:ext>
                  </a:extLst>
                </a:gridCol>
              </a:tblGrid>
              <a:tr h="6223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Engine</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2-GPU speedup</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Efficiency</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GPU-time cost</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2842163"/>
                  </a:ext>
                </a:extLst>
              </a:tr>
              <a:tr h="6223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Our CUDA</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0.379x</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18.96%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5.27x</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59605887"/>
                  </a:ext>
                </a:extLst>
              </a:tr>
              <a:tr h="6223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Direct cuDNN</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0.366x</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18.30%</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5.47x</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0902002"/>
                  </a:ext>
                </a:extLst>
              </a:tr>
              <a:tr h="6223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0.295x</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14.74%</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6.78x</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3852306"/>
                  </a:ext>
                </a:extLst>
              </a:tr>
            </a:tbl>
          </a:graphicData>
        </a:graphic>
      </p:graphicFrame>
      <p:sp>
        <p:nvSpPr>
          <p:cNvPr id="6" name="TextBox 5">
            <a:extLst>
              <a:ext uri="{FF2B5EF4-FFF2-40B4-BE49-F238E27FC236}">
                <a16:creationId xmlns:a16="http://schemas.microsoft.com/office/drawing/2014/main" id="{A4C171DA-5482-99F7-9AB6-C8F93FCADA38}"/>
              </a:ext>
            </a:extLst>
          </p:cNvPr>
          <p:cNvSpPr txBox="1"/>
          <p:nvPr/>
        </p:nvSpPr>
        <p:spPr>
          <a:xfrm>
            <a:off x="393700" y="1092200"/>
            <a:ext cx="11404600" cy="246221"/>
          </a:xfrm>
          <a:prstGeom prst="rect">
            <a:avLst/>
          </a:prstGeom>
          <a:noFill/>
        </p:spPr>
        <p:txBody>
          <a:bodyPr vert="horz" lIns="0" tIns="0" rIns="0" bIns="0" rtlCol="0">
            <a:noAutofit/>
          </a:bodyPr>
          <a:lstStyle/>
          <a:p>
            <a:pPr>
              <a:spcAft>
                <a:spcPts val="400"/>
              </a:spcAft>
            </a:pPr>
            <a:r>
              <a:rPr lang="en-US" sz="1600">
                <a:solidFill>
                  <a:srgbClr val="FFFFFF"/>
                </a:solidFill>
                <a:latin typeface="Inter" panose="020B0604020202020204" charset="0"/>
              </a:rPr>
              <a:t>Same global batch of 64. Speedup = T1/T2; efficiency = speedup/2; GPU-time cost = 2*T2/T1.</a:t>
            </a:r>
          </a:p>
        </p:txBody>
      </p:sp>
      <p:sp>
        <p:nvSpPr>
          <p:cNvPr id="7" name="TextBox 6">
            <a:extLst>
              <a:ext uri="{FF2B5EF4-FFF2-40B4-BE49-F238E27FC236}">
                <a16:creationId xmlns:a16="http://schemas.microsoft.com/office/drawing/2014/main" id="{8F0C3185-F7E7-C899-38E9-EA2496D3EB74}"/>
              </a:ext>
            </a:extLst>
          </p:cNvPr>
          <p:cNvSpPr txBox="1"/>
          <p:nvPr/>
        </p:nvSpPr>
        <p:spPr>
          <a:xfrm>
            <a:off x="393700" y="4953000"/>
            <a:ext cx="11404600" cy="512961"/>
          </a:xfrm>
          <a:prstGeom prst="rect">
            <a:avLst/>
          </a:prstGeom>
          <a:noFill/>
        </p:spPr>
        <p:txBody>
          <a:bodyPr vert="horz" lIns="0" tIns="0" rIns="0" bIns="0" rtlCol="0">
            <a:noAutofit/>
          </a:bodyPr>
          <a:lstStyle/>
          <a:p>
            <a:pPr>
              <a:spcAft>
                <a:spcPts val="400"/>
              </a:spcAft>
            </a:pPr>
            <a:r>
              <a:rPr lang="en-US" sz="1500">
                <a:solidFill>
                  <a:srgbClr val="FFFFFF"/>
                </a:solidFill>
                <a:latin typeface="Inter" panose="020B0604020202020204" charset="0"/>
              </a:rPr>
              <a:t>Two GPUs lose here: replication, scatter/gather and gradient reduction outweigh the saved compute time.</a:t>
            </a:r>
          </a:p>
          <a:p>
            <a:pPr>
              <a:spcAft>
                <a:spcPts val="400"/>
              </a:spcAft>
            </a:pPr>
            <a:r>
              <a:rPr lang="en-US" sz="1500">
                <a:solidFill>
                  <a:srgbClr val="FFFFFF"/>
                </a:solidFill>
                <a:latin typeface="Inter" panose="020B0604020202020204" charset="0"/>
              </a:rPr>
              <a:t>GPU-time is a resource proxy. Energy and monetary cost were not measured.</a:t>
            </a:r>
          </a:p>
        </p:txBody>
      </p:sp>
    </p:spTree>
    <p:extLst>
      <p:ext uri="{BB962C8B-B14F-4D97-AF65-F5344CB8AC3E}">
        <p14:creationId xmlns:p14="http://schemas.microsoft.com/office/powerpoint/2010/main" val="41844037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7BF6385B-F2B3-709D-00BC-0FED7171DE20}"/>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ADE525C3-6A65-3281-3715-AE2CF21E370C}"/>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3</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855F9338-C523-361B-6D81-B9AAD76BBB65}"/>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11</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509200BE-15E5-FE37-6AFE-A51B10E1A9BC}"/>
              </a:ext>
            </a:extLst>
          </p:cNvPr>
          <p:cNvSpPr txBox="1">
            <a:spLocks noGrp="1"/>
          </p:cNvSpPr>
          <p:nvPr>
            <p:ph type="title"/>
          </p:nvPr>
        </p:nvSpPr>
        <p:spPr/>
        <p:txBody>
          <a:bodyPr spcFirstLastPara="1" vert="horz" wrap="square" lIns="0" tIns="0" rIns="0" bIns="0" rtlCol="0" anchor="t" anchorCtr="0">
            <a:noAutofit/>
          </a:bodyPr>
          <a:lstStyle/>
          <a:p>
            <a:r>
              <a:rPr lang="en-US"/>
              <a:t>Conclusion and live demo</a:t>
            </a:r>
            <a:endParaRPr lang="en-US" dirty="0"/>
          </a:p>
        </p:txBody>
      </p:sp>
      <p:sp>
        <p:nvSpPr>
          <p:cNvPr id="534" name="Google Shape;534;p58">
            <a:extLst>
              <a:ext uri="{FF2B5EF4-FFF2-40B4-BE49-F238E27FC236}">
                <a16:creationId xmlns:a16="http://schemas.microsoft.com/office/drawing/2014/main" id="{94D83715-924E-FD86-6E33-16B595E7DE71}"/>
              </a:ext>
            </a:extLst>
          </p:cNvPr>
          <p:cNvSpPr txBox="1">
            <a:spLocks noGrp="1"/>
          </p:cNvSpPr>
          <p:nvPr>
            <p:ph idx="4294967295"/>
          </p:nvPr>
        </p:nvSpPr>
        <p:spPr>
          <a:xfrm>
            <a:off x="393700" y="3365500"/>
            <a:ext cx="3568700" cy="2044700"/>
          </a:xfrm>
          <a:prstGeom prst="rect">
            <a:avLst/>
          </a:prstGeom>
        </p:spPr>
        <p:txBody>
          <a:bodyPr spcFirstLastPara="1" vert="horz" wrap="square" lIns="0" tIns="0" rIns="0" bIns="0" rtlCol="0" anchor="t" anchorCtr="0">
            <a:noAutofit/>
          </a:bodyPr>
          <a:lstStyle/>
          <a:p>
            <a:pPr marL="0" indent="0">
              <a:lnSpc>
                <a:spcPct val="114000"/>
              </a:lnSpc>
              <a:spcBef>
                <a:spcPts val="0"/>
              </a:spcBef>
              <a:spcAft>
                <a:spcPts val="1200"/>
              </a:spcAft>
              <a:buNone/>
            </a:pPr>
            <a:r>
              <a:rPr lang="en-US" sz="1800" b="1">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Small requests</a:t>
            </a:r>
          </a:p>
          <a:p>
            <a:pPr marL="0" indent="0">
              <a:lnSpc>
                <a:spcPct val="114000"/>
              </a:lnSpc>
              <a:spcBef>
                <a:spcPts val="0"/>
              </a:spcBef>
              <a:spcAft>
                <a:spcPts val="400"/>
              </a:spcAft>
              <a:buNone/>
            </a:pPr>
            <a:r>
              <a:rPr lang="en-US" sz="1800">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CPU gives the lowest one-digit inference latency.</a:t>
            </a:r>
          </a:p>
          <a:p>
            <a:pPr marL="0" indent="0">
              <a:lnSpc>
                <a:spcPct val="114000"/>
              </a:lnSpc>
              <a:spcBef>
                <a:spcPts val="0"/>
              </a:spcBef>
              <a:spcAft>
                <a:spcPts val="400"/>
              </a:spcAft>
              <a:buNone/>
            </a:pPr>
            <a:r>
              <a:rPr lang="en-US" sz="1800">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Choose low overhead when the job is tiny.</a:t>
            </a:r>
            <a:endParaRPr sz="18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2" name="Content Placeholder 1">
            <a:extLst>
              <a:ext uri="{FF2B5EF4-FFF2-40B4-BE49-F238E27FC236}">
                <a16:creationId xmlns:a16="http://schemas.microsoft.com/office/drawing/2014/main" id="{49D4B6C8-289F-F081-BCAE-309463E70BA1}"/>
              </a:ext>
            </a:extLst>
          </p:cNvPr>
          <p:cNvSpPr>
            <a:spLocks noGrp="1"/>
          </p:cNvSpPr>
          <p:nvPr>
            <p:ph idx="4294967295"/>
          </p:nvPr>
        </p:nvSpPr>
        <p:spPr>
          <a:xfrm>
            <a:off x="8229600" y="3365500"/>
            <a:ext cx="3568700" cy="2044700"/>
          </a:xfrm>
        </p:spPr>
        <p:txBody>
          <a:bodyPr>
            <a:noAutofit/>
          </a:bodyPr>
          <a:lstStyle/>
          <a:p>
            <a:pPr marL="0" marR="0" lvl="0" indent="0" fontAlgn="auto">
              <a:lnSpc>
                <a:spcPct val="114000"/>
              </a:lnSpc>
              <a:spcBef>
                <a:spcPts val="0"/>
              </a:spcBef>
              <a:spcAft>
                <a:spcPts val="1200"/>
              </a:spcAft>
              <a:buClrTx/>
              <a:buSzTx/>
              <a:buNone/>
              <a:tabLst/>
              <a:defRPr/>
            </a:pPr>
            <a:r>
              <a:rPr lang="en-US" sz="1800" b="1">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Extra GPUs add extra work</a:t>
            </a:r>
          </a:p>
          <a:p>
            <a:pPr marL="0" marR="0" lvl="0" indent="0" fontAlgn="auto">
              <a:lnSpc>
                <a:spcPct val="114000"/>
              </a:lnSpc>
              <a:spcBef>
                <a:spcPts val="0"/>
              </a:spcBef>
              <a:spcAft>
                <a:spcPts val="400"/>
              </a:spcAft>
              <a:buClrTx/>
              <a:buSzTx/>
              <a:buNone/>
              <a:tabLst/>
              <a:defRPr/>
            </a:pPr>
            <a:r>
              <a:rPr lang="en-US" sz="1800">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DataParallel needs communication and reduction.</a:t>
            </a:r>
          </a:p>
          <a:p>
            <a:pPr marL="0" marR="0" lvl="0" indent="0" fontAlgn="auto">
              <a:lnSpc>
                <a:spcPct val="114000"/>
              </a:lnSpc>
              <a:spcBef>
                <a:spcPts val="0"/>
              </a:spcBef>
              <a:spcAft>
                <a:spcPts val="400"/>
              </a:spcAft>
              <a:buClrTx/>
              <a:buSzTx/>
              <a:buNone/>
              <a:tabLst/>
              <a:defRPr/>
            </a:pPr>
            <a:r>
              <a:rPr lang="en-US" sz="1800">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Two GPUs were slower for this small CNN.</a:t>
            </a:r>
            <a:endParaRPr kumimoji="0" lang="en-US" sz="1800" i="0" u="none" strike="noStrike" kern="1200" cap="none" spc="0" normalizeH="0" baseline="0" noProof="0" dirty="0">
              <a:ln>
                <a:noFill/>
              </a:ln>
              <a:solidFill>
                <a:srgbClr val="FFFFFF"/>
              </a:solidFill>
              <a:effectLst/>
              <a:uLnTx/>
              <a:uFillTx/>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Content Placeholder 2">
            <a:extLst>
              <a:ext uri="{FF2B5EF4-FFF2-40B4-BE49-F238E27FC236}">
                <a16:creationId xmlns:a16="http://schemas.microsoft.com/office/drawing/2014/main" id="{E4A749CC-0D72-2ABA-CEDC-7DFC7D138B4B}"/>
              </a:ext>
            </a:extLst>
          </p:cNvPr>
          <p:cNvSpPr>
            <a:spLocks noGrp="1"/>
          </p:cNvSpPr>
          <p:nvPr>
            <p:ph idx="4294967295"/>
          </p:nvPr>
        </p:nvSpPr>
        <p:spPr>
          <a:xfrm>
            <a:off x="4311650" y="3365500"/>
            <a:ext cx="3568700" cy="2044700"/>
          </a:xfrm>
        </p:spPr>
        <p:txBody>
          <a:bodyPr>
            <a:noAutofit/>
          </a:bodyPr>
          <a:lstStyle/>
          <a:p>
            <a:pPr marL="0" marR="0" lvl="0" indent="0" fontAlgn="auto">
              <a:lnSpc>
                <a:spcPct val="114000"/>
              </a:lnSpc>
              <a:spcBef>
                <a:spcPts val="0"/>
              </a:spcBef>
              <a:spcAft>
                <a:spcPts val="1200"/>
              </a:spcAft>
              <a:buClrTx/>
              <a:buSzTx/>
              <a:buNone/>
              <a:tabLst/>
              <a:defRPr/>
            </a:pPr>
            <a:r>
              <a:rPr lang="en-US" sz="1800" b="1">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Enough parallel work</a:t>
            </a:r>
          </a:p>
          <a:p>
            <a:pPr marL="0" marR="0" lvl="0" indent="0" fontAlgn="auto">
              <a:lnSpc>
                <a:spcPct val="114000"/>
              </a:lnSpc>
              <a:spcBef>
                <a:spcPts val="0"/>
              </a:spcBef>
              <a:spcAft>
                <a:spcPts val="400"/>
              </a:spcAft>
              <a:buClrTx/>
              <a:buSzTx/>
              <a:buNone/>
              <a:tabLst/>
              <a:defRPr/>
            </a:pPr>
            <a:r>
              <a:rPr lang="en-US" sz="1800">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One GPU trains faster and handles batches well.</a:t>
            </a:r>
          </a:p>
          <a:p>
            <a:pPr marL="0" marR="0" lvl="0" indent="0" fontAlgn="auto">
              <a:lnSpc>
                <a:spcPct val="114000"/>
              </a:lnSpc>
              <a:spcBef>
                <a:spcPts val="0"/>
              </a:spcBef>
              <a:spcAft>
                <a:spcPts val="400"/>
              </a:spcAft>
              <a:buClrTx/>
              <a:buSzTx/>
              <a:buNone/>
              <a:tabLst/>
              <a:defRPr/>
            </a:pPr>
            <a:r>
              <a:rPr lang="en-US" sz="1800">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CUDA makes independent outputs run together.</a:t>
            </a:r>
            <a:endParaRPr lang="en-US" sz="1800" dirty="0">
              <a:solidFill>
                <a:srgbClr val="FFFFFF"/>
              </a:solidFill>
              <a:latin typeface="Inter" panose="020B0604020202020204" charset="0"/>
              <a:ea typeface="Inter" panose="02000503000000020004" pitchFamily="2" charset="0"/>
            </a:endParaRPr>
          </a:p>
        </p:txBody>
      </p:sp>
      <p:sp>
        <p:nvSpPr>
          <p:cNvPr id="7" name="Content Placeholder 15">
            <a:extLst>
              <a:ext uri="{FF2B5EF4-FFF2-40B4-BE49-F238E27FC236}">
                <a16:creationId xmlns:a16="http://schemas.microsoft.com/office/drawing/2014/main" id="{DD72B81A-AC75-C1B0-4313-7B84D70521A7}"/>
              </a:ext>
            </a:extLst>
          </p:cNvPr>
          <p:cNvSpPr txBox="1">
            <a:spLocks/>
          </p:cNvSpPr>
          <p:nvPr/>
        </p:nvSpPr>
        <p:spPr>
          <a:xfrm>
            <a:off x="393700" y="2763754"/>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400"/>
              </a:spcAft>
            </a:pPr>
            <a:r>
              <a:rPr lang="en-US" sz="1400">
                <a:solidFill>
                  <a:srgbClr val="BCEF59"/>
                </a:solidFill>
                <a:latin typeface="Inter" panose="020B0604020202020204" charset="0"/>
                <a:ea typeface="Inter SemiBold" panose="02000503000000020004" pitchFamily="2" charset="0"/>
                <a:cs typeface="Helvetica Neue" panose="02000503000000020004" pitchFamily="2" charset="0"/>
                <a:sym typeface="OpenAI Sans"/>
              </a:rPr>
              <a:t>CPU</a:t>
            </a:r>
            <a:endParaRPr lang="en-US" sz="1400" dirty="0">
              <a:solidFill>
                <a:srgbClr val="BCEF59"/>
              </a:solidFill>
              <a:latin typeface="Inter" panose="020B0604020202020204" charset="0"/>
              <a:ea typeface="Inter SemiBold" panose="02000503000000020004" pitchFamily="2" charset="0"/>
              <a:cs typeface="Helvetica Neue" panose="02000503000000020004" pitchFamily="2" charset="0"/>
              <a:sym typeface="OpenAI Sans"/>
            </a:endParaRPr>
          </a:p>
        </p:txBody>
      </p:sp>
      <p:sp>
        <p:nvSpPr>
          <p:cNvPr id="8" name="Content Placeholder 15">
            <a:extLst>
              <a:ext uri="{FF2B5EF4-FFF2-40B4-BE49-F238E27FC236}">
                <a16:creationId xmlns:a16="http://schemas.microsoft.com/office/drawing/2014/main" id="{5200B2E2-6D19-9AFE-1E8D-518E55CC26ED}"/>
              </a:ext>
            </a:extLst>
          </p:cNvPr>
          <p:cNvSpPr txBox="1">
            <a:spLocks/>
          </p:cNvSpPr>
          <p:nvPr/>
        </p:nvSpPr>
        <p:spPr>
          <a:xfrm>
            <a:off x="4294187" y="2763754"/>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400"/>
              </a:spcAft>
            </a:pPr>
            <a:r>
              <a:rPr lang="en-US" sz="1400">
                <a:solidFill>
                  <a:srgbClr val="BCEF59"/>
                </a:solidFill>
                <a:latin typeface="Inter" panose="020B0604020202020204" charset="0"/>
                <a:ea typeface="Inter SemiBold" panose="02000503000000020004" pitchFamily="2" charset="0"/>
                <a:cs typeface="Helvetica Neue" panose="02000503000000020004" pitchFamily="2" charset="0"/>
                <a:sym typeface="OpenAI Sans"/>
              </a:rPr>
              <a:t>One GPU</a:t>
            </a:r>
            <a:endParaRPr lang="en-US" sz="1400" dirty="0">
              <a:solidFill>
                <a:srgbClr val="BCEF59"/>
              </a:solidFill>
              <a:latin typeface="Inter" panose="020B0604020202020204" charset="0"/>
              <a:ea typeface="Inter SemiBold" panose="02000503000000020004" pitchFamily="2" charset="0"/>
              <a:cs typeface="Helvetica Neue" panose="02000503000000020004" pitchFamily="2" charset="0"/>
              <a:sym typeface="OpenAI Sans"/>
            </a:endParaRPr>
          </a:p>
        </p:txBody>
      </p:sp>
      <p:sp>
        <p:nvSpPr>
          <p:cNvPr id="9" name="Content Placeholder 15">
            <a:extLst>
              <a:ext uri="{FF2B5EF4-FFF2-40B4-BE49-F238E27FC236}">
                <a16:creationId xmlns:a16="http://schemas.microsoft.com/office/drawing/2014/main" id="{74611C1F-A471-6B24-C785-2D7A5B5DD6BA}"/>
              </a:ext>
            </a:extLst>
          </p:cNvPr>
          <p:cNvSpPr txBox="1">
            <a:spLocks/>
          </p:cNvSpPr>
          <p:nvPr/>
        </p:nvSpPr>
        <p:spPr>
          <a:xfrm>
            <a:off x="8223249" y="2763754"/>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400"/>
              </a:spcAft>
            </a:pPr>
            <a:r>
              <a:rPr lang="en-US" sz="1400">
                <a:solidFill>
                  <a:srgbClr val="BCEF59"/>
                </a:solidFill>
                <a:latin typeface="Inter" panose="020B0604020202020204" charset="0"/>
                <a:ea typeface="Inter SemiBold" panose="02000503000000020004" pitchFamily="2" charset="0"/>
                <a:cs typeface="Helvetica Neue" panose="02000503000000020004" pitchFamily="2" charset="0"/>
                <a:sym typeface="OpenAI Sans"/>
              </a:rPr>
              <a:t>Two GPUs</a:t>
            </a:r>
            <a:endParaRPr lang="en-US" sz="1400" dirty="0">
              <a:solidFill>
                <a:srgbClr val="BCEF59"/>
              </a:solidFill>
              <a:latin typeface="Inter" panose="020B0604020202020204" charset="0"/>
              <a:ea typeface="Inter SemiBold" panose="02000503000000020004" pitchFamily="2" charset="0"/>
              <a:cs typeface="Helvetica Neue" panose="02000503000000020004" pitchFamily="2" charset="0"/>
              <a:sym typeface="OpenAI Sans"/>
            </a:endParaRPr>
          </a:p>
        </p:txBody>
      </p:sp>
      <p:sp>
        <p:nvSpPr>
          <p:cNvPr id="5" name="TextBox 4">
            <a:extLst>
              <a:ext uri="{FF2B5EF4-FFF2-40B4-BE49-F238E27FC236}">
                <a16:creationId xmlns:a16="http://schemas.microsoft.com/office/drawing/2014/main" id="{F9DE52F5-A66C-D587-9251-43AEDF34BD3F}"/>
              </a:ext>
            </a:extLst>
          </p:cNvPr>
          <p:cNvSpPr txBox="1"/>
          <p:nvPr/>
        </p:nvSpPr>
        <p:spPr>
          <a:xfrm>
            <a:off x="393700" y="1498600"/>
            <a:ext cx="11404600" cy="738664"/>
          </a:xfrm>
          <a:prstGeom prst="rect">
            <a:avLst/>
          </a:prstGeom>
          <a:noFill/>
        </p:spPr>
        <p:txBody>
          <a:bodyPr vert="horz" lIns="0" tIns="0" rIns="0" bIns="0" rtlCol="0">
            <a:noAutofit/>
          </a:bodyPr>
          <a:lstStyle/>
          <a:p>
            <a:pPr>
              <a:spcAft>
                <a:spcPts val="400"/>
              </a:spcAft>
            </a:pPr>
            <a:r>
              <a:rPr lang="en-US" sz="2400">
                <a:solidFill>
                  <a:srgbClr val="BCEF59"/>
                </a:solidFill>
                <a:latin typeface="Inter" panose="020B0604020202020204" charset="0"/>
              </a:rPr>
              <a:t>Parallel computing helps when useful work is larger than the cost of coordinating the workers.</a:t>
            </a:r>
          </a:p>
        </p:txBody>
      </p:sp>
      <p:sp>
        <p:nvSpPr>
          <p:cNvPr id="6" name="TextBox 5">
            <a:extLst>
              <a:ext uri="{FF2B5EF4-FFF2-40B4-BE49-F238E27FC236}">
                <a16:creationId xmlns:a16="http://schemas.microsoft.com/office/drawing/2014/main" id="{CBF7CD0D-05DF-FC20-2D52-1840C4E56B76}"/>
              </a:ext>
            </a:extLst>
          </p:cNvPr>
          <p:cNvSpPr txBox="1"/>
          <p:nvPr/>
        </p:nvSpPr>
        <p:spPr>
          <a:xfrm>
            <a:off x="393700" y="5715000"/>
            <a:ext cx="11404600" cy="261610"/>
          </a:xfrm>
          <a:prstGeom prst="rect">
            <a:avLst/>
          </a:prstGeom>
          <a:noFill/>
        </p:spPr>
        <p:txBody>
          <a:bodyPr vert="horz" lIns="0" tIns="0" rIns="0" bIns="0" rtlCol="0">
            <a:noAutofit/>
          </a:bodyPr>
          <a:lstStyle/>
          <a:p>
            <a:pPr>
              <a:spcAft>
                <a:spcPts val="400"/>
              </a:spcAft>
            </a:pPr>
            <a:r>
              <a:rPr lang="en-US" sz="1700">
                <a:solidFill>
                  <a:srgbClr val="FFFFFF"/>
                </a:solidFill>
                <a:latin typeface="Inter" panose="020B0604020202020204" charset="0"/>
              </a:rPr>
              <a:t>Demo: load all seven checkpoints, predict the same held-out digits, and compare with the true labels.</a:t>
            </a:r>
          </a:p>
        </p:txBody>
      </p:sp>
    </p:spTree>
    <p:extLst>
      <p:ext uri="{BB962C8B-B14F-4D97-AF65-F5344CB8AC3E}">
        <p14:creationId xmlns:p14="http://schemas.microsoft.com/office/powerpoint/2010/main" val="2257321586"/>
      </p:ext>
    </p:extLst>
  </p:cSld>
  <p:clrMapOvr>
    <a:masterClrMapping/>
  </p:clrMapOvr>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Inter">
      <a:majorFont>
        <a:latin typeface="Inter"/>
        <a:ea typeface=""/>
        <a:cs typeface=""/>
      </a:majorFont>
      <a:minorFont>
        <a:latin typeface="Int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Madison</Template>
  <TotalTime>1867</TotalTime>
  <Words>3037</Words>
  <Application>Microsoft Office PowerPoint</Application>
  <PresentationFormat>Widescreen</PresentationFormat>
  <Paragraphs>219</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Inter</vt:lpstr>
      <vt:lpstr>Arial</vt:lpstr>
      <vt:lpstr>Aptos</vt:lpstr>
      <vt:lpstr>Inter Medium</vt:lpstr>
      <vt:lpstr>Default Codex Theme</vt:lpstr>
      <vt:lpstr>How a CNN works</vt:lpstr>
      <vt:lpstr>Sequential vs parallel CNN</vt:lpstr>
      <vt:lpstr>CNN on a CPU</vt:lpstr>
      <vt:lpstr>What is GPGPU?</vt:lpstr>
      <vt:lpstr>CUDA on the GPU</vt:lpstr>
      <vt:lpstr>CUDA kernels and our program design</vt:lpstr>
      <vt:lpstr>Two GPUs with DataParallel</vt:lpstr>
      <vt:lpstr>Training results: 50 epochs</vt:lpstr>
      <vt:lpstr>Convolution and inference results</vt:lpstr>
      <vt:lpstr>Efficiency, overhead and cost</vt:lpstr>
      <vt:lpstr>Conclusion and live 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lastModifiedBy>Satya Paladugu</cp:lastModifiedBy>
  <cp:revision>1</cp:revision>
  <dcterms:modified xsi:type="dcterms:W3CDTF">2026-10-14T13:40:01Z</dcterms:modified>
</cp:coreProperties>
</file>