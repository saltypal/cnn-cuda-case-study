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8" r:id="rId7"/>
    <p:sldId id="261" r:id="rId8"/>
    <p:sldId id="262" r:id="rId9"/>
    <p:sldId id="263" r:id="rId10"/>
    <p:sldId id="264" r:id="rId11"/>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8356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CNN CUDA Case Study. Prithvi explains the CNN and CPU, Satya explains CUDA and DataParallel, and Roydon presents the measured results and checkpoint demo. Full MNIST: 48,000 train, 12,000 validation and 10,000 test images. All five paths run 50 epochs with the prescribed setup. The revised deck has thirteen slides, including a dedicated GPU and batching explanation. Presenter names appear only on the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Follow the picture from input to predicted digit. A filter performs a weighted sum over a small image patch. The same learned weights scan every location. Multiple filters learn different responses. ReLU replaces negative responses with zero; max pooling retains the largest response in each 2x2 region.
The actual shapes are 1x28x28 -&gt; 4x26x26 -&gt; 4x13x13 -&gt; 676 -&gt; 10 logits. The CNN has 6,810 parameters. Cross entropy compares the scores with the true label; backpropagation and SGD adjust the weights. The illustration is conceptual, not a captured activation from a trained model.
Reference: https://docs.pytorch.org/docs/2.9/generated/torch.nn.Conv2d.html
Measured implementation: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arithmetic stays the same. Each output is bias plus the sum of input*weight products in its receptive field. Different outputs do not depend on each other, so they can have separate workers and separate writers. The image has 2,704 outputs; batch 64 has 173,056. This makes convolution a useful source of data parallelism.
Parallelism is most useful when there is enough work to offset scheduling and communication. It also appears in other CNN operations. Weight gradients require combining contributions because every image uses the same filter weights; the optimizer waits for those gradients. Parallel layers do not remove the forward -&gt; loss -&gt; backward dependency.
The toy diagram shows four outputs. Worker icons are conceptual, not physical-core counts.
Measured implementation: https://github.com/saltypal/CNN-CUDA-Case-Study/tree/42624fca4ba9b278076097e076363057b2d32a27/src/hpc_cnn
Combining forward work means filling different indices of one output tensor. It is not summing unrelated output values. A consumer such as pooling needs all inputs in its receptive field to be ready. The native OpenMP parallel-for has a default loop-end barrier. On GPU, ordered operations in a stream enforce producer/consumer dependencies; the CPU need not wait after every layer. A CUDA block barrier synchronizes only that block, not all blocks or GPUs.
Backward differs: each weight is reused across images and spatial positions, so its gradient sums all those contributions. Completion of the gradients is required before SGD updates the shared weights.
References: https://www.openmp.org/spec-html/5.2/openmpse94.html ; https://docs.nvidia.com/cuda/cuda-programming-guide/02-basics/intro-to-cuda-cpp.html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native C++ code has an outer output loop and inner channel/filter loops. OpenMP parallel-for with static scheduling distributes outer-loop iterations among four logical CPU workers. Each iteration has a local accumulator and stores a different output, so the forward pass needs no atomic addition.
Caches reuse nearby image data. OpenMP adds threads; SIMD vectorization is a separate mechanism, and its exact use was not inspected. Several CPU workers still share memory resources. These are practical limits to ideal scaling, not proof of a specific bottleneck percentage.
The illustration shows read-only input and weights feeding separate output owners. The native CPU microbenchmark is distinct from PyTorch CPU training.
Reference: https://www.openmp.org/spec-html/5.2/openmpse66.html
Measured implementation: https://github.com/saltypal/CNN-CUDA-Case-Study/tree/42624fca4ba9b278076097e076363057b2d32a27/src/hpc_cnn
Full-run native operation benchmark at batch 64: serial 6734.15 us; four OpenMP workers 2242.33 us. This is distinct from PyTorch CPU training.
CPU execution starts with loops over batch, output filter and spatial location. A private accumulator multiplies the input patch by the filter and adds bias. Static OpenMP scheduling assigns output ranges to four workers, which read shared input/weights and write disjoint output elements. Nearby patches overlap, so caches can reuse data. SIMD is a separate possible form of vectorization, and exact vector instruction use was not inspected. The loop-end barrier joins the workers before the convolution returns to the next layer.
The actual CPU CNN uses PyTorch operators with four configured CPU threads. The C++ serial/OpenMP implementation is a separate operation benchmark, not the CPU training implementation. Do not attribute the native 3.00x batch-convolution speedup to total PyTorch training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GPGPU means general-purpose computing on a graphics processing unit. A GPU has many arithmetic resources designed for throughput. A CPU has fewer, more complex general-purpose execution resources and often lower overhead for a small request. Neither wins every workload.
CNN convolution exposes many similar independent sums. Bigger batches and feature maps provide more work for GPU scheduling. Moving tensors to a separate device and submitting kernels still costs time. These benchmarks distinguish resident data from transfer costs.
The chip illustration is conceptual and does not claim an exact hardware core count.
Reference: https://docs.nvidia.com/cuda/archive/12.8.0/cuda-c-programming-guide/index.html
Measured implementation: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Dedicated GPU, batches and memory
A dedicated GPU has its own VRAM. Inputs, weights, activations, gradients and library workspace must fit there. Uploading data costs time, so resident tensors and batched work improve reuse of a launch/dispatch cost. More images expose more independent output positions, while every image uses the same filter weights. Larger batches grow activation and gradient-related storage; weights do not grow with batch size. Hardware and memory limits mean throughput need not scale indefinitely.
The diagram illustrates relative work rather than literal GPU core or thread counts. Batch 1 has 2,704 convolution outputs; batch 64 has 173,056. These operation counts do not claim the cuDNN block mapping.
Measured PyTorch one-GPU full-CNN inference: one digit 347.21 us; batch 64 354.24 us; throughput 180,668 images/s. CPU batch-64 throughput is 60,449 images/s. Inputs are resident and these are warmed median completed-call wall times. No batch-size sweep, utilization telemetry or maximum-batch capacity measurement was performed. Training remained at batch 64 in all five configurations.
Source: https://github.com/saltypal/CNN-CUDA-Case-Study/tree/42624fca4ba9b278076097e076363057b2d32a27
Reference: https://docs.nvidia.com/cuda/cuda-programming-guide/02-basics/intro-to-cuda-cpp.html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CUDA supplies the execution platform for cuDNN and PyTorch GPU operations. The host submits kernel launches; GPU blocks and threads perform the numerical work. Libraries choose the actual thread/block mapping. The diagram shows the hierarchy conceptually and does not claim a traced block size or physical-core count.
Registers and shared memory can support local data reuse; global memory stores tensors. Thread blocks are scheduled onto streaming multiprocessors. Launches are asynchronous, so completed-call wall timing waits for GPU work to finish. Inputs are already resident for the operation benchmarks.
Reference: https://docs.nvidia.com/cuda/archive/12.8.0/cuda-c-programming-guide/index.html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CUDA kernel is a GPU function executed by many threads. The direct cuDNN path uses forward algorithm 0, IMPLICIT_GEMM. Conceptually, image patches supply matrix rows, filter weights supply matrix columns, and dot products produce output values. At batch 64, the conceptual matrices are 43,264-by-9 image patches and 9-by-4 filter weights, producing 43,264-by-4 outputs. The library computes this matrix product without explicitly materializing the complete patch matrix. Threads collaborate on the library's chosen work tiles. Actual block dimensions and Tensor Core usage were not verified.
PyTorch supplies tensors, autograd, ReLU, pooling, the linear classifier, cross entropy and SGD. The direct cuDNN adapter binds the C library and fixes convolution algorithms. PyTorch GPU also dispatches cuDNN in the observed trace. CUDA supplies device execution beneath both GPU paths; it is not a separate handwritten implementation in this study. Library backward kernels compute convolution gradients, and DataParallel sums replica contributions.
Reference: https://docs.nvidia.com/deeplearning/cudnn/backend/v9.20.0/api/cudnn-ops-library.html#cudnnconvolutionfwdalgo-t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PyTorch DataParallel replicates the module, scatters the batch, runs each replica and gathers outputs on the primary device. We compute one mean cross-entropy loss over the gathered batch. Backward sums both replicas' parameter gradients into the original module; one SGD optimizer updates it.
The global batch remains 64 instead of increasing to 128, which preserves the experiment workload and optimizer behavior. Our native wrappers use the tensor's device and current stream; direct cuDNN state is cached by device. A batch of one creates only one useful input chunk, so single-image latency does not benefit from a second replica.
Reference: https://docs.pytorch.org/docs/main/generated/torch.nn.DataParallel.html
Measured implementation: https://github.com/saltypal/CNN-CUDA-Case-Study/tree/42624fca4ba9b278076097e076363057b2d32a27/src/hpc_cnn
A complete global step replicates the model for this forward call, scatters 64 images into two chunks of 32, runs the replicas concurrently and gathers logits on GPU 0. Cross entropy is one mean over all 64 gathered examples. Backward computes each replica's contributions and sums parameter gradients into the original module. Because the loss already uses global normalization, this is not an extra average of two independently normalized losses. One SGD step updates the original weights. The next forward replicates those updated weights.
Gather and gradient reduction are joining points: their consumers must wait for both replicas. The slower replica and device-to-device transfers can limit step time. DataParallel is replication-based data parallelism, not a split of CNN layers across devices. A batch of one uses only one useful replica.
Reference: https://docs.pytorch.org/docs/main/generated/torch.nn.DataParallel.html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CPU-relative ratios use matched full-MNIST runs: PyTorch one-GPU training 94.592346674/50.799344737=1.8621x, time reduction 46.2966%; cuDNN one-GPU 1.5137x. Batch-64 throughput ratios are CPU latency divided by GPU latency: PyTorch 2.9887x, cuDNN 2.3097x. Resident-input warm medians; training excludes warmup, validation and I/O. Conv and Infer are batch-one, not batch-64. PyTorch GPU dispatches cuDNN; these are different program interfaces and algorithm selection, not independent hardware technologies.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Dashed cyan line is the measured CPU training baseline 94.59 seconds. cuDNN two-GPU 165.78 seconds is 1.7526x slower than CPU; PyTorch two-GPU 181.97 seconds is 1.9237x slower. Same-engine one-to-two GPU speedup gives efficiency (T1/T2)/2: 18.85% cuDNN, 13.96% PyTorch. GPU-time proxy 2*T2/T1 is 5.31x and 7.16x, not money or energy. Replication, scatter/gather and gradient reduction are expected overhead mechanisms; their individual timing shares were not profiled. More dataset images add steps, not more work per replica at fixed global batch64.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All five epoch50 checkpoints were evaluated on the same10000 held-out digits. CPU97.13%, cuDNN1 and2 GPU97.17%, PyTorch1 GPU97.17%, PyTorch2 GPU97.15%. Single seed/runtime, so these small differences do not establish an accuracy advantage.119 numerical checks pass, including forward and all gradients. Parallel work, tiling/data reuse, resident VRAM and amortized launch overhead explain why larger batched operations can favor GPU hardware. These are architectural explanations, not measured utilization or an overhead decomposition.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 T4 is the measured performance choice for this model/globalbatch64. Two GPUs could benefit a larger global batch or more computation per sample, but this study did not run that sweep. DataParallel replicates the entire model on every device, splits input, gathers logits, sums replica gradients onto the original module and performs one optimizer step; it is not model sharding and does not allow a model larger than one GPU simply by adding devices. CPU has lower latency for one digit. The demo uses the five actual trained checkpoints. Source commit42624fca4ba9b278076097e076363057b2d32a27; full results/checkpoints releasev2.0.0. https://docs.pytorch.org/docs/main/generated/torch.nn.DataParallel.html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0B0F14"/>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76B900"/>
          </a:solidFill>
          <a:ln w="12700">
            <a:solidFill>
              <a:srgbClr val="76B900">
                <a:alpha val="0"/>
              </a:srgbClr>
            </a:solidFill>
            <a:prstDash val="solid"/>
          </a:ln>
        </p:spPr>
      </p:sp>
      <p:sp>
        <p:nvSpPr>
          <p:cNvPr id="3" name="Text 1"/>
          <p:cNvSpPr/>
          <p:nvPr/>
        </p:nvSpPr>
        <p:spPr>
          <a:xfrm>
            <a:off x="566928" y="6473952"/>
            <a:ext cx="5303520" cy="164592"/>
          </a:xfrm>
          <a:prstGeom prst="rect">
            <a:avLst/>
          </a:prstGeom>
          <a:noFill/>
          <a:ln/>
        </p:spPr>
        <p:txBody>
          <a:bodyPr wrap="square" lIns="0" tIns="0" rIns="0" bIns="0" rtlCol="0" anchor="ctr"/>
          <a:lstStyle/>
          <a:p>
            <a:pPr marL="0" indent="0">
              <a:buNone/>
            </a:pPr>
            <a:r>
              <a:rPr lang="en-US" sz="850" b="1" kern="0" spc="120" dirty="0">
                <a:solidFill>
                  <a:srgbClr val="6F7A86"/>
                </a:solidFill>
                <a:latin typeface="Aptos" pitchFamily="34" charset="0"/>
                <a:ea typeface="Aptos" pitchFamily="34" charset="-122"/>
                <a:cs typeface="Aptos" pitchFamily="34" charset="-120"/>
              </a:rPr>
              <a:t>CNN PARALLELISM • CUDA • MULTI-GPU</a:t>
            </a:r>
            <a:endParaRPr lang="en-US" sz="850" dirty="0"/>
          </a:p>
        </p:txBody>
      </p:sp>
      <p:sp>
        <p:nvSpPr>
          <p:cNvPr id="25" name="Slide Number Placeholder 0"/>
          <p:cNvSpPr>
            <a:spLocks noGrp="1"/>
          </p:cNvSpPr>
          <p:nvPr>
            <p:ph type="sldNum" sz="quarter" idx="4294967295"/>
          </p:nvPr>
        </p:nvSpPr>
        <p:spPr>
          <a:xfrm>
            <a:off x="11384280" y="6419088"/>
            <a:ext cx="27432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6717D"/>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19088"/>
            <a:ext cx="27432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6717D"/>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a:effectLst/>
      </p:bgPr>
    </p:bg>
    <p:spTree>
      <p:nvGrpSpPr>
        <p:cNvPr id="1" name=""/>
        <p:cNvGrpSpPr/>
        <p:nvPr/>
      </p:nvGrpSpPr>
      <p:grpSpPr>
        <a:xfrm>
          <a:off x="0" y="0"/>
          <a:ext cx="0" cy="0"/>
          <a:chOff x="0" y="0"/>
          <a:chExt cx="0" cy="0"/>
        </a:xfrm>
      </p:grpSpPr>
      <p:sp>
        <p:nvSpPr>
          <p:cNvPr id="2" name="Text 0"/>
          <p:cNvSpPr/>
          <p:nvPr/>
        </p:nvSpPr>
        <p:spPr>
          <a:xfrm>
            <a:off x="640080" y="1078992"/>
            <a:ext cx="6583680" cy="621792"/>
          </a:xfrm>
          <a:prstGeom prst="rect">
            <a:avLst/>
          </a:prstGeom>
          <a:noFill/>
          <a:ln/>
        </p:spPr>
        <p:txBody>
          <a:bodyPr wrap="square" lIns="0" tIns="0" rIns="0" bIns="0" rtlCol="0" anchor="ctr">
            <a:noAutofit/>
          </a:bodyPr>
          <a:lstStyle/>
          <a:p>
            <a:pPr marL="0" indent="0">
              <a:buNone/>
            </a:pPr>
            <a:r>
              <a:rPr lang="en-US" sz="3600" b="1" dirty="0">
                <a:solidFill>
                  <a:srgbClr val="F4F7FA"/>
                </a:solidFill>
              </a:rPr>
              <a:t>Parallelizing CNNs</a:t>
            </a:r>
            <a:endParaRPr lang="en-US" sz="3600" dirty="0"/>
          </a:p>
        </p:txBody>
      </p:sp>
      <p:sp>
        <p:nvSpPr>
          <p:cNvPr id="3" name="Text 1"/>
          <p:cNvSpPr/>
          <p:nvPr/>
        </p:nvSpPr>
        <p:spPr>
          <a:xfrm>
            <a:off x="640080" y="1764792"/>
            <a:ext cx="6949440" cy="530352"/>
          </a:xfrm>
          <a:prstGeom prst="rect">
            <a:avLst/>
          </a:prstGeom>
          <a:noFill/>
          <a:ln/>
        </p:spPr>
        <p:txBody>
          <a:bodyPr wrap="square" lIns="0" tIns="0" rIns="0" bIns="0" rtlCol="0" anchor="ctr">
            <a:noAutofit/>
          </a:bodyPr>
          <a:lstStyle/>
          <a:p>
            <a:pPr marL="0" indent="0">
              <a:buNone/>
            </a:pPr>
            <a:r>
              <a:rPr lang="en-US" sz="3100" b="1" dirty="0">
                <a:solidFill>
                  <a:srgbClr val="76B900"/>
                </a:solidFill>
              </a:rPr>
              <a:t>CPU → CUDA → Multi-GPU</a:t>
            </a:r>
            <a:endParaRPr lang="en-US" sz="3100" dirty="0"/>
          </a:p>
        </p:txBody>
      </p:sp>
      <p:sp>
        <p:nvSpPr>
          <p:cNvPr id="4" name="Text 2"/>
          <p:cNvSpPr/>
          <p:nvPr/>
        </p:nvSpPr>
        <p:spPr>
          <a:xfrm>
            <a:off x="658368" y="2487168"/>
            <a:ext cx="5943600" cy="822960"/>
          </a:xfrm>
          <a:prstGeom prst="rect">
            <a:avLst/>
          </a:prstGeom>
          <a:noFill/>
          <a:ln/>
        </p:spPr>
        <p:txBody>
          <a:bodyPr wrap="square" lIns="0" tIns="0" rIns="0" bIns="0" rtlCol="0" anchor="ctr">
            <a:noAutofit/>
          </a:bodyPr>
          <a:lstStyle/>
          <a:p>
            <a:pPr marL="0" indent="0">
              <a:buNone/>
            </a:pPr>
            <a:r>
              <a:rPr lang="en-US" sz="1700">
                <a:solidFill>
                  <a:srgbClr val="C7D0D9"/>
                </a:solidFill>
              </a:rPr>
              <a:t>A measured MNIST case study: the same convolution on CPU, CUDA, cuDNN and two GPUs.</a:t>
            </a:r>
            <a:endParaRPr lang="en-US" sz="1700" dirty="0"/>
          </a:p>
        </p:txBody>
      </p:sp>
      <p:sp>
        <p:nvSpPr>
          <p:cNvPr id="5" name="Shape 3"/>
          <p:cNvSpPr/>
          <p:nvPr/>
        </p:nvSpPr>
        <p:spPr>
          <a:xfrm>
            <a:off x="7406640" y="1298448"/>
            <a:ext cx="1234440" cy="2377440"/>
          </a:xfrm>
          <a:prstGeom prst="roundRect">
            <a:avLst>
              <a:gd name="adj" fmla="val 5926"/>
            </a:avLst>
          </a:prstGeom>
          <a:solidFill>
            <a:srgbClr val="18212D"/>
          </a:solidFill>
          <a:ln w="12700">
            <a:solidFill>
              <a:srgbClr val="41D9FF"/>
            </a:solidFill>
            <a:prstDash val="solid"/>
          </a:ln>
        </p:spPr>
      </p:sp>
      <p:sp>
        <p:nvSpPr>
          <p:cNvPr id="6" name="Text 4"/>
          <p:cNvSpPr/>
          <p:nvPr/>
        </p:nvSpPr>
        <p:spPr>
          <a:xfrm>
            <a:off x="7498080" y="1508760"/>
            <a:ext cx="1051560" cy="228600"/>
          </a:xfrm>
          <a:prstGeom prst="rect">
            <a:avLst/>
          </a:prstGeom>
          <a:noFill/>
          <a:ln/>
        </p:spPr>
        <p:txBody>
          <a:bodyPr wrap="square" lIns="0" tIns="0" rIns="0" bIns="0" rtlCol="0" anchor="ctr">
            <a:noAutofit/>
          </a:bodyPr>
          <a:lstStyle/>
          <a:p>
            <a:pPr marL="0" indent="0" algn="ctr">
              <a:buNone/>
            </a:pPr>
            <a:r>
              <a:rPr lang="en-US" sz="1400" b="1" dirty="0">
                <a:solidFill>
                  <a:srgbClr val="41D9FF"/>
                </a:solidFill>
              </a:rPr>
              <a:t>CPU</a:t>
            </a:r>
            <a:endParaRPr lang="en-US" sz="1400" dirty="0"/>
          </a:p>
        </p:txBody>
      </p:sp>
      <p:sp>
        <p:nvSpPr>
          <p:cNvPr id="7" name="Shape 5"/>
          <p:cNvSpPr/>
          <p:nvPr/>
        </p:nvSpPr>
        <p:spPr>
          <a:xfrm>
            <a:off x="7607808" y="2011680"/>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8" name="Shape 6"/>
          <p:cNvSpPr/>
          <p:nvPr/>
        </p:nvSpPr>
        <p:spPr>
          <a:xfrm>
            <a:off x="8037576" y="2011680"/>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9" name="Shape 7"/>
          <p:cNvSpPr/>
          <p:nvPr/>
        </p:nvSpPr>
        <p:spPr>
          <a:xfrm>
            <a:off x="7607808" y="2450592"/>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10" name="Shape 8"/>
          <p:cNvSpPr/>
          <p:nvPr/>
        </p:nvSpPr>
        <p:spPr>
          <a:xfrm>
            <a:off x="8037576" y="2450592"/>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11" name="Text 9"/>
          <p:cNvSpPr/>
          <p:nvPr/>
        </p:nvSpPr>
        <p:spPr>
          <a:xfrm>
            <a:off x="7516368" y="3154680"/>
            <a:ext cx="1024128" cy="310896"/>
          </a:xfrm>
          <a:prstGeom prst="rect">
            <a:avLst/>
          </a:prstGeom>
          <a:noFill/>
          <a:ln/>
        </p:spPr>
        <p:txBody>
          <a:bodyPr wrap="square" lIns="0" tIns="0" rIns="0" bIns="0" rtlCol="0" anchor="ctr">
            <a:noAutofit/>
          </a:bodyPr>
          <a:lstStyle/>
          <a:p>
            <a:pPr marL="0" indent="0" algn="ctr">
              <a:buNone/>
            </a:pPr>
            <a:r>
              <a:rPr lang="en-US" sz="950" dirty="0">
                <a:solidFill>
                  <a:srgbClr val="7E8A97"/>
                </a:solidFill>
              </a:rPr>
              <a:t>few powerful cores</a:t>
            </a:r>
            <a:endParaRPr lang="en-US" sz="950" dirty="0"/>
          </a:p>
        </p:txBody>
      </p:sp>
      <p:sp>
        <p:nvSpPr>
          <p:cNvPr id="12" name="Shape 10"/>
          <p:cNvSpPr/>
          <p:nvPr/>
        </p:nvSpPr>
        <p:spPr>
          <a:xfrm>
            <a:off x="8887968" y="1298448"/>
            <a:ext cx="1234440" cy="2377440"/>
          </a:xfrm>
          <a:prstGeom prst="roundRect">
            <a:avLst>
              <a:gd name="adj" fmla="val 5926"/>
            </a:avLst>
          </a:prstGeom>
          <a:solidFill>
            <a:srgbClr val="18212D"/>
          </a:solidFill>
          <a:ln w="12700">
            <a:solidFill>
              <a:srgbClr val="76B900"/>
            </a:solidFill>
            <a:prstDash val="solid"/>
          </a:ln>
        </p:spPr>
      </p:sp>
      <p:sp>
        <p:nvSpPr>
          <p:cNvPr id="13" name="Text 11"/>
          <p:cNvSpPr/>
          <p:nvPr/>
        </p:nvSpPr>
        <p:spPr>
          <a:xfrm>
            <a:off x="8979408" y="1508760"/>
            <a:ext cx="1051560" cy="228600"/>
          </a:xfrm>
          <a:prstGeom prst="rect">
            <a:avLst/>
          </a:prstGeom>
          <a:noFill/>
          <a:ln/>
        </p:spPr>
        <p:txBody>
          <a:bodyPr wrap="square" lIns="0" tIns="0" rIns="0" bIns="0" rtlCol="0" anchor="ctr">
            <a:noAutofit/>
          </a:bodyPr>
          <a:lstStyle/>
          <a:p>
            <a:pPr marL="0" indent="0" algn="ctr">
              <a:buNone/>
            </a:pPr>
            <a:r>
              <a:rPr lang="en-US" sz="1400" b="1" dirty="0">
                <a:solidFill>
                  <a:srgbClr val="76B900"/>
                </a:solidFill>
              </a:rPr>
              <a:t>CUDA GPU</a:t>
            </a:r>
            <a:endParaRPr lang="en-US" sz="1400" dirty="0"/>
          </a:p>
        </p:txBody>
      </p:sp>
      <p:sp>
        <p:nvSpPr>
          <p:cNvPr id="14" name="Shape 12"/>
          <p:cNvSpPr/>
          <p:nvPr/>
        </p:nvSpPr>
        <p:spPr>
          <a:xfrm>
            <a:off x="9070848" y="1938528"/>
            <a:ext cx="118872" cy="118872"/>
          </a:xfrm>
          <a:prstGeom prst="rect">
            <a:avLst/>
          </a:prstGeom>
          <a:solidFill>
            <a:srgbClr val="76B900">
              <a:alpha val="90000"/>
            </a:srgbClr>
          </a:solidFill>
          <a:ln w="12700">
            <a:solidFill>
              <a:srgbClr val="76B900">
                <a:alpha val="0"/>
              </a:srgbClr>
            </a:solidFill>
            <a:prstDash val="solid"/>
          </a:ln>
        </p:spPr>
      </p:sp>
      <p:sp>
        <p:nvSpPr>
          <p:cNvPr id="15" name="Shape 13"/>
          <p:cNvSpPr/>
          <p:nvPr/>
        </p:nvSpPr>
        <p:spPr>
          <a:xfrm>
            <a:off x="9253728" y="1938528"/>
            <a:ext cx="118872" cy="118872"/>
          </a:xfrm>
          <a:prstGeom prst="rect">
            <a:avLst/>
          </a:prstGeom>
          <a:solidFill>
            <a:srgbClr val="76B900">
              <a:alpha val="90000"/>
            </a:srgbClr>
          </a:solidFill>
          <a:ln w="12700">
            <a:solidFill>
              <a:srgbClr val="76B900">
                <a:alpha val="0"/>
              </a:srgbClr>
            </a:solidFill>
            <a:prstDash val="solid"/>
          </a:ln>
        </p:spPr>
      </p:sp>
      <p:sp>
        <p:nvSpPr>
          <p:cNvPr id="16" name="Shape 14"/>
          <p:cNvSpPr/>
          <p:nvPr/>
        </p:nvSpPr>
        <p:spPr>
          <a:xfrm>
            <a:off x="9436608" y="1938528"/>
            <a:ext cx="118872" cy="118872"/>
          </a:xfrm>
          <a:prstGeom prst="rect">
            <a:avLst/>
          </a:prstGeom>
          <a:solidFill>
            <a:srgbClr val="76B900">
              <a:alpha val="90000"/>
            </a:srgbClr>
          </a:solidFill>
          <a:ln w="12700">
            <a:solidFill>
              <a:srgbClr val="76B900">
                <a:alpha val="0"/>
              </a:srgbClr>
            </a:solidFill>
            <a:prstDash val="solid"/>
          </a:ln>
        </p:spPr>
      </p:sp>
      <p:sp>
        <p:nvSpPr>
          <p:cNvPr id="17" name="Shape 15"/>
          <p:cNvSpPr/>
          <p:nvPr/>
        </p:nvSpPr>
        <p:spPr>
          <a:xfrm>
            <a:off x="9619488" y="1938528"/>
            <a:ext cx="118872" cy="118872"/>
          </a:xfrm>
          <a:prstGeom prst="rect">
            <a:avLst/>
          </a:prstGeom>
          <a:solidFill>
            <a:srgbClr val="76B900">
              <a:alpha val="90000"/>
            </a:srgbClr>
          </a:solidFill>
          <a:ln w="12700">
            <a:solidFill>
              <a:srgbClr val="76B900">
                <a:alpha val="0"/>
              </a:srgbClr>
            </a:solidFill>
            <a:prstDash val="solid"/>
          </a:ln>
        </p:spPr>
      </p:sp>
      <p:sp>
        <p:nvSpPr>
          <p:cNvPr id="18" name="Shape 16"/>
          <p:cNvSpPr/>
          <p:nvPr/>
        </p:nvSpPr>
        <p:spPr>
          <a:xfrm>
            <a:off x="9802368" y="1938528"/>
            <a:ext cx="118872" cy="118872"/>
          </a:xfrm>
          <a:prstGeom prst="rect">
            <a:avLst/>
          </a:prstGeom>
          <a:solidFill>
            <a:srgbClr val="76B900">
              <a:alpha val="90000"/>
            </a:srgbClr>
          </a:solidFill>
          <a:ln w="12700">
            <a:solidFill>
              <a:srgbClr val="76B900">
                <a:alpha val="0"/>
              </a:srgbClr>
            </a:solidFill>
            <a:prstDash val="solid"/>
          </a:ln>
        </p:spPr>
      </p:sp>
      <p:sp>
        <p:nvSpPr>
          <p:cNvPr id="19" name="Shape 17"/>
          <p:cNvSpPr/>
          <p:nvPr/>
        </p:nvSpPr>
        <p:spPr>
          <a:xfrm>
            <a:off x="9070848" y="2167128"/>
            <a:ext cx="118872" cy="118872"/>
          </a:xfrm>
          <a:prstGeom prst="rect">
            <a:avLst/>
          </a:prstGeom>
          <a:solidFill>
            <a:srgbClr val="76B900">
              <a:alpha val="90000"/>
            </a:srgbClr>
          </a:solidFill>
          <a:ln w="12700">
            <a:solidFill>
              <a:srgbClr val="76B900">
                <a:alpha val="0"/>
              </a:srgbClr>
            </a:solidFill>
            <a:prstDash val="solid"/>
          </a:ln>
        </p:spPr>
      </p:sp>
      <p:sp>
        <p:nvSpPr>
          <p:cNvPr id="20" name="Shape 18"/>
          <p:cNvSpPr/>
          <p:nvPr/>
        </p:nvSpPr>
        <p:spPr>
          <a:xfrm>
            <a:off x="9253728" y="2167128"/>
            <a:ext cx="118872" cy="118872"/>
          </a:xfrm>
          <a:prstGeom prst="rect">
            <a:avLst/>
          </a:prstGeom>
          <a:solidFill>
            <a:srgbClr val="76B900">
              <a:alpha val="90000"/>
            </a:srgbClr>
          </a:solidFill>
          <a:ln w="12700">
            <a:solidFill>
              <a:srgbClr val="76B900">
                <a:alpha val="0"/>
              </a:srgbClr>
            </a:solidFill>
            <a:prstDash val="solid"/>
          </a:ln>
        </p:spPr>
      </p:sp>
      <p:sp>
        <p:nvSpPr>
          <p:cNvPr id="21" name="Shape 19"/>
          <p:cNvSpPr/>
          <p:nvPr/>
        </p:nvSpPr>
        <p:spPr>
          <a:xfrm>
            <a:off x="9436608" y="2167128"/>
            <a:ext cx="118872" cy="118872"/>
          </a:xfrm>
          <a:prstGeom prst="rect">
            <a:avLst/>
          </a:prstGeom>
          <a:solidFill>
            <a:srgbClr val="76B900">
              <a:alpha val="90000"/>
            </a:srgbClr>
          </a:solidFill>
          <a:ln w="12700">
            <a:solidFill>
              <a:srgbClr val="76B900">
                <a:alpha val="0"/>
              </a:srgbClr>
            </a:solidFill>
            <a:prstDash val="solid"/>
          </a:ln>
        </p:spPr>
      </p:sp>
      <p:sp>
        <p:nvSpPr>
          <p:cNvPr id="22" name="Shape 20"/>
          <p:cNvSpPr/>
          <p:nvPr/>
        </p:nvSpPr>
        <p:spPr>
          <a:xfrm>
            <a:off x="9619488" y="2167128"/>
            <a:ext cx="118872" cy="118872"/>
          </a:xfrm>
          <a:prstGeom prst="rect">
            <a:avLst/>
          </a:prstGeom>
          <a:solidFill>
            <a:srgbClr val="76B900">
              <a:alpha val="90000"/>
            </a:srgbClr>
          </a:solidFill>
          <a:ln w="12700">
            <a:solidFill>
              <a:srgbClr val="76B900">
                <a:alpha val="0"/>
              </a:srgbClr>
            </a:solidFill>
            <a:prstDash val="solid"/>
          </a:ln>
        </p:spPr>
      </p:sp>
      <p:sp>
        <p:nvSpPr>
          <p:cNvPr id="23" name="Shape 21"/>
          <p:cNvSpPr/>
          <p:nvPr/>
        </p:nvSpPr>
        <p:spPr>
          <a:xfrm>
            <a:off x="9802368" y="2167128"/>
            <a:ext cx="118872" cy="118872"/>
          </a:xfrm>
          <a:prstGeom prst="rect">
            <a:avLst/>
          </a:prstGeom>
          <a:solidFill>
            <a:srgbClr val="76B900">
              <a:alpha val="90000"/>
            </a:srgbClr>
          </a:solidFill>
          <a:ln w="12700">
            <a:solidFill>
              <a:srgbClr val="76B900">
                <a:alpha val="0"/>
              </a:srgbClr>
            </a:solidFill>
            <a:prstDash val="solid"/>
          </a:ln>
        </p:spPr>
      </p:sp>
      <p:sp>
        <p:nvSpPr>
          <p:cNvPr id="24" name="Shape 22"/>
          <p:cNvSpPr/>
          <p:nvPr/>
        </p:nvSpPr>
        <p:spPr>
          <a:xfrm>
            <a:off x="9070848" y="2395728"/>
            <a:ext cx="118872" cy="118872"/>
          </a:xfrm>
          <a:prstGeom prst="rect">
            <a:avLst/>
          </a:prstGeom>
          <a:solidFill>
            <a:srgbClr val="76B900">
              <a:alpha val="90000"/>
            </a:srgbClr>
          </a:solidFill>
          <a:ln w="12700">
            <a:solidFill>
              <a:srgbClr val="76B900">
                <a:alpha val="0"/>
              </a:srgbClr>
            </a:solidFill>
            <a:prstDash val="solid"/>
          </a:ln>
        </p:spPr>
      </p:sp>
      <p:sp>
        <p:nvSpPr>
          <p:cNvPr id="25" name="Shape 23"/>
          <p:cNvSpPr/>
          <p:nvPr/>
        </p:nvSpPr>
        <p:spPr>
          <a:xfrm>
            <a:off x="9253728" y="2395728"/>
            <a:ext cx="118872" cy="118872"/>
          </a:xfrm>
          <a:prstGeom prst="rect">
            <a:avLst/>
          </a:prstGeom>
          <a:solidFill>
            <a:srgbClr val="76B900">
              <a:alpha val="90000"/>
            </a:srgbClr>
          </a:solidFill>
          <a:ln w="12700">
            <a:solidFill>
              <a:srgbClr val="76B900">
                <a:alpha val="0"/>
              </a:srgbClr>
            </a:solidFill>
            <a:prstDash val="solid"/>
          </a:ln>
        </p:spPr>
      </p:sp>
      <p:sp>
        <p:nvSpPr>
          <p:cNvPr id="26" name="Shape 24"/>
          <p:cNvSpPr/>
          <p:nvPr/>
        </p:nvSpPr>
        <p:spPr>
          <a:xfrm>
            <a:off x="9436608" y="2395728"/>
            <a:ext cx="118872" cy="118872"/>
          </a:xfrm>
          <a:prstGeom prst="rect">
            <a:avLst/>
          </a:prstGeom>
          <a:solidFill>
            <a:srgbClr val="76B900">
              <a:alpha val="90000"/>
            </a:srgbClr>
          </a:solidFill>
          <a:ln w="12700">
            <a:solidFill>
              <a:srgbClr val="76B900">
                <a:alpha val="0"/>
              </a:srgbClr>
            </a:solidFill>
            <a:prstDash val="solid"/>
          </a:ln>
        </p:spPr>
      </p:sp>
      <p:sp>
        <p:nvSpPr>
          <p:cNvPr id="27" name="Shape 25"/>
          <p:cNvSpPr/>
          <p:nvPr/>
        </p:nvSpPr>
        <p:spPr>
          <a:xfrm>
            <a:off x="9619488" y="2395728"/>
            <a:ext cx="118872" cy="118872"/>
          </a:xfrm>
          <a:prstGeom prst="rect">
            <a:avLst/>
          </a:prstGeom>
          <a:solidFill>
            <a:srgbClr val="76B900">
              <a:alpha val="90000"/>
            </a:srgbClr>
          </a:solidFill>
          <a:ln w="12700">
            <a:solidFill>
              <a:srgbClr val="76B900">
                <a:alpha val="0"/>
              </a:srgbClr>
            </a:solidFill>
            <a:prstDash val="solid"/>
          </a:ln>
        </p:spPr>
      </p:sp>
      <p:sp>
        <p:nvSpPr>
          <p:cNvPr id="28" name="Shape 26"/>
          <p:cNvSpPr/>
          <p:nvPr/>
        </p:nvSpPr>
        <p:spPr>
          <a:xfrm>
            <a:off x="9802368" y="2395728"/>
            <a:ext cx="118872" cy="118872"/>
          </a:xfrm>
          <a:prstGeom prst="rect">
            <a:avLst/>
          </a:prstGeom>
          <a:solidFill>
            <a:srgbClr val="76B900">
              <a:alpha val="90000"/>
            </a:srgbClr>
          </a:solidFill>
          <a:ln w="12700">
            <a:solidFill>
              <a:srgbClr val="76B900">
                <a:alpha val="0"/>
              </a:srgbClr>
            </a:solidFill>
            <a:prstDash val="solid"/>
          </a:ln>
        </p:spPr>
      </p:sp>
      <p:sp>
        <p:nvSpPr>
          <p:cNvPr id="29" name="Shape 27"/>
          <p:cNvSpPr/>
          <p:nvPr/>
        </p:nvSpPr>
        <p:spPr>
          <a:xfrm>
            <a:off x="9070848" y="2624328"/>
            <a:ext cx="118872" cy="118872"/>
          </a:xfrm>
          <a:prstGeom prst="rect">
            <a:avLst/>
          </a:prstGeom>
          <a:solidFill>
            <a:srgbClr val="76B900">
              <a:alpha val="90000"/>
            </a:srgbClr>
          </a:solidFill>
          <a:ln w="12700">
            <a:solidFill>
              <a:srgbClr val="76B900">
                <a:alpha val="0"/>
              </a:srgbClr>
            </a:solidFill>
            <a:prstDash val="solid"/>
          </a:ln>
        </p:spPr>
      </p:sp>
      <p:sp>
        <p:nvSpPr>
          <p:cNvPr id="30" name="Shape 28"/>
          <p:cNvSpPr/>
          <p:nvPr/>
        </p:nvSpPr>
        <p:spPr>
          <a:xfrm>
            <a:off x="9253728" y="2624328"/>
            <a:ext cx="118872" cy="118872"/>
          </a:xfrm>
          <a:prstGeom prst="rect">
            <a:avLst/>
          </a:prstGeom>
          <a:solidFill>
            <a:srgbClr val="76B900">
              <a:alpha val="90000"/>
            </a:srgbClr>
          </a:solidFill>
          <a:ln w="12700">
            <a:solidFill>
              <a:srgbClr val="76B900">
                <a:alpha val="0"/>
              </a:srgbClr>
            </a:solidFill>
            <a:prstDash val="solid"/>
          </a:ln>
        </p:spPr>
      </p:sp>
      <p:sp>
        <p:nvSpPr>
          <p:cNvPr id="31" name="Shape 29"/>
          <p:cNvSpPr/>
          <p:nvPr/>
        </p:nvSpPr>
        <p:spPr>
          <a:xfrm>
            <a:off x="9436608" y="2624328"/>
            <a:ext cx="118872" cy="118872"/>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9619488" y="2624328"/>
            <a:ext cx="118872" cy="118872"/>
          </a:xfrm>
          <a:prstGeom prst="rect">
            <a:avLst/>
          </a:prstGeom>
          <a:solidFill>
            <a:srgbClr val="76B900">
              <a:alpha val="90000"/>
            </a:srgbClr>
          </a:solidFill>
          <a:ln w="12700">
            <a:solidFill>
              <a:srgbClr val="76B900">
                <a:alpha val="0"/>
              </a:srgbClr>
            </a:solidFill>
            <a:prstDash val="solid"/>
          </a:ln>
        </p:spPr>
      </p:sp>
      <p:sp>
        <p:nvSpPr>
          <p:cNvPr id="33" name="Shape 31"/>
          <p:cNvSpPr/>
          <p:nvPr/>
        </p:nvSpPr>
        <p:spPr>
          <a:xfrm>
            <a:off x="9802368" y="2624328"/>
            <a:ext cx="118872" cy="118872"/>
          </a:xfrm>
          <a:prstGeom prst="rect">
            <a:avLst/>
          </a:prstGeom>
          <a:solidFill>
            <a:srgbClr val="76B900">
              <a:alpha val="90000"/>
            </a:srgbClr>
          </a:solidFill>
          <a:ln w="12700">
            <a:solidFill>
              <a:srgbClr val="76B900">
                <a:alpha val="0"/>
              </a:srgbClr>
            </a:solidFill>
            <a:prstDash val="solid"/>
          </a:ln>
        </p:spPr>
      </p:sp>
      <p:sp>
        <p:nvSpPr>
          <p:cNvPr id="34" name="Text 32"/>
          <p:cNvSpPr/>
          <p:nvPr/>
        </p:nvSpPr>
        <p:spPr>
          <a:xfrm>
            <a:off x="8997696" y="3154680"/>
            <a:ext cx="1024128" cy="310896"/>
          </a:xfrm>
          <a:prstGeom prst="rect">
            <a:avLst/>
          </a:prstGeom>
          <a:noFill/>
          <a:ln/>
        </p:spPr>
        <p:txBody>
          <a:bodyPr wrap="square" lIns="0" tIns="0" rIns="0" bIns="0" rtlCol="0" anchor="ctr">
            <a:noAutofit/>
          </a:bodyPr>
          <a:lstStyle/>
          <a:p>
            <a:pPr marL="0" indent="0" algn="ctr">
              <a:buNone/>
            </a:pPr>
            <a:r>
              <a:rPr lang="en-US" sz="950" dirty="0">
                <a:solidFill>
                  <a:srgbClr val="7E8A97"/>
                </a:solidFill>
              </a:rPr>
              <a:t>many parallel threads</a:t>
            </a:r>
            <a:endParaRPr lang="en-US" sz="950" dirty="0"/>
          </a:p>
        </p:txBody>
      </p:sp>
      <p:sp>
        <p:nvSpPr>
          <p:cNvPr id="35" name="Shape 33"/>
          <p:cNvSpPr/>
          <p:nvPr/>
        </p:nvSpPr>
        <p:spPr>
          <a:xfrm>
            <a:off x="10369296" y="1298448"/>
            <a:ext cx="1234440" cy="2377440"/>
          </a:xfrm>
          <a:prstGeom prst="roundRect">
            <a:avLst>
              <a:gd name="adj" fmla="val 5926"/>
            </a:avLst>
          </a:prstGeom>
          <a:solidFill>
            <a:srgbClr val="18212D"/>
          </a:solidFill>
          <a:ln w="12700">
            <a:solidFill>
              <a:srgbClr val="FFB454"/>
            </a:solidFill>
            <a:prstDash val="solid"/>
          </a:ln>
        </p:spPr>
      </p:sp>
      <p:sp>
        <p:nvSpPr>
          <p:cNvPr id="36" name="Text 34"/>
          <p:cNvSpPr/>
          <p:nvPr/>
        </p:nvSpPr>
        <p:spPr>
          <a:xfrm>
            <a:off x="10460736" y="1508760"/>
            <a:ext cx="1051560" cy="228600"/>
          </a:xfrm>
          <a:prstGeom prst="rect">
            <a:avLst/>
          </a:prstGeom>
          <a:noFill/>
          <a:ln/>
        </p:spPr>
        <p:txBody>
          <a:bodyPr wrap="square" lIns="0" tIns="0" rIns="0" bIns="0" rtlCol="0" anchor="ctr">
            <a:noAutofit/>
          </a:bodyPr>
          <a:lstStyle/>
          <a:p>
            <a:pPr marL="0" indent="0" algn="ctr">
              <a:buNone/>
            </a:pPr>
            <a:r>
              <a:rPr lang="en-US" sz="1400" b="1" dirty="0">
                <a:solidFill>
                  <a:srgbClr val="FFB454"/>
                </a:solidFill>
              </a:rPr>
              <a:t>2× GPU</a:t>
            </a:r>
            <a:endParaRPr lang="en-US" sz="1400" dirty="0"/>
          </a:p>
        </p:txBody>
      </p:sp>
      <p:sp>
        <p:nvSpPr>
          <p:cNvPr id="37" name="Shape 35"/>
          <p:cNvSpPr/>
          <p:nvPr/>
        </p:nvSpPr>
        <p:spPr>
          <a:xfrm>
            <a:off x="10552176" y="1938528"/>
            <a:ext cx="118872" cy="118872"/>
          </a:xfrm>
          <a:prstGeom prst="rect">
            <a:avLst/>
          </a:prstGeom>
          <a:solidFill>
            <a:srgbClr val="FFB454">
              <a:alpha val="90000"/>
            </a:srgbClr>
          </a:solidFill>
          <a:ln w="12700">
            <a:solidFill>
              <a:srgbClr val="FFB454">
                <a:alpha val="0"/>
              </a:srgbClr>
            </a:solidFill>
            <a:prstDash val="solid"/>
          </a:ln>
        </p:spPr>
      </p:sp>
      <p:sp>
        <p:nvSpPr>
          <p:cNvPr id="38" name="Shape 36"/>
          <p:cNvSpPr/>
          <p:nvPr/>
        </p:nvSpPr>
        <p:spPr>
          <a:xfrm>
            <a:off x="10735056" y="1938528"/>
            <a:ext cx="118872" cy="118872"/>
          </a:xfrm>
          <a:prstGeom prst="rect">
            <a:avLst/>
          </a:prstGeom>
          <a:solidFill>
            <a:srgbClr val="FFB454">
              <a:alpha val="90000"/>
            </a:srgbClr>
          </a:solidFill>
          <a:ln w="12700">
            <a:solidFill>
              <a:srgbClr val="FFB454">
                <a:alpha val="0"/>
              </a:srgbClr>
            </a:solidFill>
            <a:prstDash val="solid"/>
          </a:ln>
        </p:spPr>
      </p:sp>
      <p:sp>
        <p:nvSpPr>
          <p:cNvPr id="39" name="Shape 37"/>
          <p:cNvSpPr/>
          <p:nvPr/>
        </p:nvSpPr>
        <p:spPr>
          <a:xfrm>
            <a:off x="10917936" y="1938528"/>
            <a:ext cx="118872" cy="118872"/>
          </a:xfrm>
          <a:prstGeom prst="rect">
            <a:avLst/>
          </a:prstGeom>
          <a:solidFill>
            <a:srgbClr val="FFB454">
              <a:alpha val="90000"/>
            </a:srgbClr>
          </a:solidFill>
          <a:ln w="12700">
            <a:solidFill>
              <a:srgbClr val="FFB454">
                <a:alpha val="0"/>
              </a:srgbClr>
            </a:solidFill>
            <a:prstDash val="solid"/>
          </a:ln>
        </p:spPr>
      </p:sp>
      <p:sp>
        <p:nvSpPr>
          <p:cNvPr id="40" name="Shape 38"/>
          <p:cNvSpPr/>
          <p:nvPr/>
        </p:nvSpPr>
        <p:spPr>
          <a:xfrm>
            <a:off x="11100816" y="1938528"/>
            <a:ext cx="118872" cy="118872"/>
          </a:xfrm>
          <a:prstGeom prst="rect">
            <a:avLst/>
          </a:prstGeom>
          <a:solidFill>
            <a:srgbClr val="FFB454">
              <a:alpha val="90000"/>
            </a:srgbClr>
          </a:solidFill>
          <a:ln w="12700">
            <a:solidFill>
              <a:srgbClr val="FFB454">
                <a:alpha val="0"/>
              </a:srgbClr>
            </a:solidFill>
            <a:prstDash val="solid"/>
          </a:ln>
        </p:spPr>
      </p:sp>
      <p:sp>
        <p:nvSpPr>
          <p:cNvPr id="41" name="Shape 39"/>
          <p:cNvSpPr/>
          <p:nvPr/>
        </p:nvSpPr>
        <p:spPr>
          <a:xfrm>
            <a:off x="10552176" y="2167128"/>
            <a:ext cx="118872" cy="118872"/>
          </a:xfrm>
          <a:prstGeom prst="rect">
            <a:avLst/>
          </a:prstGeom>
          <a:solidFill>
            <a:srgbClr val="FFB454">
              <a:alpha val="90000"/>
            </a:srgbClr>
          </a:solidFill>
          <a:ln w="12700">
            <a:solidFill>
              <a:srgbClr val="FFB454">
                <a:alpha val="0"/>
              </a:srgbClr>
            </a:solidFill>
            <a:prstDash val="solid"/>
          </a:ln>
        </p:spPr>
      </p:sp>
      <p:sp>
        <p:nvSpPr>
          <p:cNvPr id="42" name="Shape 40"/>
          <p:cNvSpPr/>
          <p:nvPr/>
        </p:nvSpPr>
        <p:spPr>
          <a:xfrm>
            <a:off x="10735056" y="2167128"/>
            <a:ext cx="118872" cy="118872"/>
          </a:xfrm>
          <a:prstGeom prst="rect">
            <a:avLst/>
          </a:prstGeom>
          <a:solidFill>
            <a:srgbClr val="FFB454">
              <a:alpha val="90000"/>
            </a:srgbClr>
          </a:solidFill>
          <a:ln w="12700">
            <a:solidFill>
              <a:srgbClr val="FFB454">
                <a:alpha val="0"/>
              </a:srgbClr>
            </a:solidFill>
            <a:prstDash val="solid"/>
          </a:ln>
        </p:spPr>
      </p:sp>
      <p:sp>
        <p:nvSpPr>
          <p:cNvPr id="43" name="Shape 41"/>
          <p:cNvSpPr/>
          <p:nvPr/>
        </p:nvSpPr>
        <p:spPr>
          <a:xfrm>
            <a:off x="10917936" y="2167128"/>
            <a:ext cx="118872" cy="118872"/>
          </a:xfrm>
          <a:prstGeom prst="rect">
            <a:avLst/>
          </a:prstGeom>
          <a:solidFill>
            <a:srgbClr val="FFB454">
              <a:alpha val="90000"/>
            </a:srgbClr>
          </a:solidFill>
          <a:ln w="12700">
            <a:solidFill>
              <a:srgbClr val="FFB454">
                <a:alpha val="0"/>
              </a:srgbClr>
            </a:solidFill>
            <a:prstDash val="solid"/>
          </a:ln>
        </p:spPr>
      </p:sp>
      <p:sp>
        <p:nvSpPr>
          <p:cNvPr id="44" name="Shape 42"/>
          <p:cNvSpPr/>
          <p:nvPr/>
        </p:nvSpPr>
        <p:spPr>
          <a:xfrm>
            <a:off x="11100816" y="2167128"/>
            <a:ext cx="118872" cy="118872"/>
          </a:xfrm>
          <a:prstGeom prst="rect">
            <a:avLst/>
          </a:prstGeom>
          <a:solidFill>
            <a:srgbClr val="FFB454">
              <a:alpha val="90000"/>
            </a:srgbClr>
          </a:solidFill>
          <a:ln w="12700">
            <a:solidFill>
              <a:srgbClr val="FFB454">
                <a:alpha val="0"/>
              </a:srgbClr>
            </a:solidFill>
            <a:prstDash val="solid"/>
          </a:ln>
        </p:spPr>
      </p:sp>
      <p:sp>
        <p:nvSpPr>
          <p:cNvPr id="45" name="Shape 43"/>
          <p:cNvSpPr/>
          <p:nvPr/>
        </p:nvSpPr>
        <p:spPr>
          <a:xfrm>
            <a:off x="10552176" y="2395728"/>
            <a:ext cx="118872" cy="118872"/>
          </a:xfrm>
          <a:prstGeom prst="rect">
            <a:avLst/>
          </a:prstGeom>
          <a:solidFill>
            <a:srgbClr val="FFB454">
              <a:alpha val="90000"/>
            </a:srgbClr>
          </a:solidFill>
          <a:ln w="12700">
            <a:solidFill>
              <a:srgbClr val="FFB454">
                <a:alpha val="0"/>
              </a:srgbClr>
            </a:solidFill>
            <a:prstDash val="solid"/>
          </a:ln>
        </p:spPr>
      </p:sp>
      <p:sp>
        <p:nvSpPr>
          <p:cNvPr id="46" name="Shape 44"/>
          <p:cNvSpPr/>
          <p:nvPr/>
        </p:nvSpPr>
        <p:spPr>
          <a:xfrm>
            <a:off x="10735056" y="2395728"/>
            <a:ext cx="118872" cy="118872"/>
          </a:xfrm>
          <a:prstGeom prst="rect">
            <a:avLst/>
          </a:prstGeom>
          <a:solidFill>
            <a:srgbClr val="FFB454">
              <a:alpha val="90000"/>
            </a:srgbClr>
          </a:solidFill>
          <a:ln w="12700">
            <a:solidFill>
              <a:srgbClr val="FFB454">
                <a:alpha val="0"/>
              </a:srgbClr>
            </a:solidFill>
            <a:prstDash val="solid"/>
          </a:ln>
        </p:spPr>
      </p:sp>
      <p:sp>
        <p:nvSpPr>
          <p:cNvPr id="47" name="Shape 45"/>
          <p:cNvSpPr/>
          <p:nvPr/>
        </p:nvSpPr>
        <p:spPr>
          <a:xfrm>
            <a:off x="10917936" y="2395728"/>
            <a:ext cx="118872" cy="118872"/>
          </a:xfrm>
          <a:prstGeom prst="rect">
            <a:avLst/>
          </a:prstGeom>
          <a:solidFill>
            <a:srgbClr val="FFB454">
              <a:alpha val="90000"/>
            </a:srgbClr>
          </a:solidFill>
          <a:ln w="12700">
            <a:solidFill>
              <a:srgbClr val="FFB454">
                <a:alpha val="0"/>
              </a:srgbClr>
            </a:solidFill>
            <a:prstDash val="solid"/>
          </a:ln>
        </p:spPr>
      </p:sp>
      <p:sp>
        <p:nvSpPr>
          <p:cNvPr id="48" name="Shape 46"/>
          <p:cNvSpPr/>
          <p:nvPr/>
        </p:nvSpPr>
        <p:spPr>
          <a:xfrm>
            <a:off x="11100816" y="2395728"/>
            <a:ext cx="118872" cy="118872"/>
          </a:xfrm>
          <a:prstGeom prst="rect">
            <a:avLst/>
          </a:prstGeom>
          <a:solidFill>
            <a:srgbClr val="FFB454">
              <a:alpha val="90000"/>
            </a:srgbClr>
          </a:solidFill>
          <a:ln w="12700">
            <a:solidFill>
              <a:srgbClr val="FFB454">
                <a:alpha val="0"/>
              </a:srgbClr>
            </a:solidFill>
            <a:prstDash val="solid"/>
          </a:ln>
        </p:spPr>
      </p:sp>
      <p:sp>
        <p:nvSpPr>
          <p:cNvPr id="49" name="Text 47"/>
          <p:cNvSpPr/>
          <p:nvPr/>
        </p:nvSpPr>
        <p:spPr>
          <a:xfrm>
            <a:off x="10479024" y="3154680"/>
            <a:ext cx="1024128" cy="310896"/>
          </a:xfrm>
          <a:prstGeom prst="rect">
            <a:avLst/>
          </a:prstGeom>
          <a:noFill/>
          <a:ln/>
        </p:spPr>
        <p:txBody>
          <a:bodyPr wrap="square" lIns="0" tIns="0" rIns="0" bIns="0" rtlCol="0" anchor="ctr">
            <a:noAutofit/>
          </a:bodyPr>
          <a:lstStyle/>
          <a:p>
            <a:pPr marL="0" indent="0" algn="ctr">
              <a:buNone/>
            </a:pPr>
            <a:r>
              <a:rPr lang="en-US" sz="950" dirty="0">
                <a:solidFill>
                  <a:srgbClr val="7E8A97"/>
                </a:solidFill>
              </a:rPr>
              <a:t>batch split + sync</a:t>
            </a:r>
            <a:endParaRPr lang="en-US" sz="950" dirty="0"/>
          </a:p>
        </p:txBody>
      </p:sp>
      <p:sp>
        <p:nvSpPr>
          <p:cNvPr id="50" name="Shape 48"/>
          <p:cNvSpPr/>
          <p:nvPr/>
        </p:nvSpPr>
        <p:spPr>
          <a:xfrm>
            <a:off x="8641080" y="2514600"/>
            <a:ext cx="210312" cy="0"/>
          </a:xfrm>
          <a:prstGeom prst="line">
            <a:avLst/>
          </a:prstGeom>
          <a:noFill/>
          <a:ln w="17780">
            <a:solidFill>
              <a:srgbClr val="7E8A97"/>
            </a:solidFill>
            <a:prstDash val="solid"/>
            <a:headEnd type="none"/>
            <a:tailEnd type="triangle"/>
          </a:ln>
        </p:spPr>
      </p:sp>
      <p:sp>
        <p:nvSpPr>
          <p:cNvPr id="51" name="Shape 49"/>
          <p:cNvSpPr/>
          <p:nvPr/>
        </p:nvSpPr>
        <p:spPr>
          <a:xfrm>
            <a:off x="10131552" y="2514600"/>
            <a:ext cx="210312" cy="0"/>
          </a:xfrm>
          <a:prstGeom prst="line">
            <a:avLst/>
          </a:prstGeom>
          <a:noFill/>
          <a:ln w="17780">
            <a:solidFill>
              <a:srgbClr val="7E8A97"/>
            </a:solidFill>
            <a:prstDash val="solid"/>
            <a:headEnd type="none"/>
            <a:tailEnd type="triangle"/>
          </a:ln>
        </p:spPr>
      </p:sp>
      <p:sp>
        <p:nvSpPr>
          <p:cNvPr id="52" name="Shape 50"/>
          <p:cNvSpPr/>
          <p:nvPr/>
        </p:nvSpPr>
        <p:spPr>
          <a:xfrm>
            <a:off x="658368" y="4251960"/>
            <a:ext cx="2148840" cy="347472"/>
          </a:xfrm>
          <a:prstGeom prst="roundRect">
            <a:avLst>
              <a:gd name="adj" fmla="val 13158"/>
            </a:avLst>
          </a:prstGeom>
          <a:solidFill>
            <a:srgbClr val="41D9FF">
              <a:alpha val="18000"/>
            </a:srgbClr>
          </a:solidFill>
          <a:ln w="12700">
            <a:solidFill>
              <a:srgbClr val="41D9FF">
                <a:alpha val="50000"/>
              </a:srgbClr>
            </a:solidFill>
            <a:prstDash val="solid"/>
          </a:ln>
        </p:spPr>
      </p:sp>
      <p:sp>
        <p:nvSpPr>
          <p:cNvPr id="53" name="Text 51"/>
          <p:cNvSpPr/>
          <p:nvPr/>
        </p:nvSpPr>
        <p:spPr>
          <a:xfrm>
            <a:off x="658368" y="4338828"/>
            <a:ext cx="2148840" cy="137160"/>
          </a:xfrm>
          <a:prstGeom prst="rect">
            <a:avLst/>
          </a:prstGeom>
          <a:noFill/>
          <a:ln/>
        </p:spPr>
        <p:txBody>
          <a:bodyPr wrap="square" lIns="0" tIns="0" rIns="0" bIns="0" rtlCol="0" anchor="ctr">
            <a:noAutofit/>
          </a:bodyPr>
          <a:lstStyle/>
          <a:p>
            <a:pPr marL="0" indent="0" algn="ctr">
              <a:buNone/>
            </a:pPr>
            <a:r>
              <a:rPr lang="en-US" sz="900" b="1">
                <a:solidFill>
                  <a:srgbClr val="41D9FF"/>
                </a:solidFill>
              </a:rPr>
              <a:t>PRITHVI • CNN + CPU</a:t>
            </a:r>
            <a:endParaRPr lang="en-US" sz="900" dirty="0"/>
          </a:p>
        </p:txBody>
      </p:sp>
      <p:sp>
        <p:nvSpPr>
          <p:cNvPr id="54" name="Shape 52"/>
          <p:cNvSpPr/>
          <p:nvPr/>
        </p:nvSpPr>
        <p:spPr>
          <a:xfrm>
            <a:off x="2971800" y="4251960"/>
            <a:ext cx="2331720"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55" name="Text 53"/>
          <p:cNvSpPr/>
          <p:nvPr/>
        </p:nvSpPr>
        <p:spPr>
          <a:xfrm>
            <a:off x="2971800" y="4338828"/>
            <a:ext cx="2331720"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SATYA • CUDA + KERNELS</a:t>
            </a:r>
            <a:endParaRPr lang="en-US" sz="900" dirty="0"/>
          </a:p>
        </p:txBody>
      </p:sp>
      <p:sp>
        <p:nvSpPr>
          <p:cNvPr id="56" name="Shape 54"/>
          <p:cNvSpPr/>
          <p:nvPr/>
        </p:nvSpPr>
        <p:spPr>
          <a:xfrm>
            <a:off x="5468112" y="4251960"/>
            <a:ext cx="1965960" cy="347472"/>
          </a:xfrm>
          <a:prstGeom prst="roundRect">
            <a:avLst>
              <a:gd name="adj" fmla="val 13158"/>
            </a:avLst>
          </a:prstGeom>
          <a:solidFill>
            <a:srgbClr val="FFB454">
              <a:alpha val="18000"/>
            </a:srgbClr>
          </a:solidFill>
          <a:ln w="12700">
            <a:solidFill>
              <a:srgbClr val="FFB454">
                <a:alpha val="50000"/>
              </a:srgbClr>
            </a:solidFill>
            <a:prstDash val="solid"/>
          </a:ln>
        </p:spPr>
      </p:sp>
      <p:sp>
        <p:nvSpPr>
          <p:cNvPr id="57" name="Text 55"/>
          <p:cNvSpPr/>
          <p:nvPr/>
        </p:nvSpPr>
        <p:spPr>
          <a:xfrm>
            <a:off x="5468112" y="4338828"/>
            <a:ext cx="1965960" cy="137160"/>
          </a:xfrm>
          <a:prstGeom prst="rect">
            <a:avLst/>
          </a:prstGeom>
          <a:noFill/>
          <a:ln/>
        </p:spPr>
        <p:txBody>
          <a:bodyPr wrap="square" lIns="0" tIns="0" rIns="0" bIns="0" rtlCol="0" anchor="ctr">
            <a:noAutofit/>
          </a:bodyPr>
          <a:lstStyle/>
          <a:p>
            <a:pPr marL="0" indent="0" algn="ctr">
              <a:buNone/>
            </a:pPr>
            <a:r>
              <a:rPr lang="en-US" sz="900" b="1">
                <a:solidFill>
                  <a:srgbClr val="FFB454"/>
                </a:solidFill>
              </a:rPr>
              <a:t>ROYDON • RESULTS</a:t>
            </a:r>
            <a:endParaRPr lang="en-US" sz="900" dirty="0"/>
          </a:p>
        </p:txBody>
      </p:sp>
      <p:sp>
        <p:nvSpPr>
          <p:cNvPr id="58" name="Text 56"/>
          <p:cNvSpPr/>
          <p:nvPr/>
        </p:nvSpPr>
        <p:spPr>
          <a:xfrm>
            <a:off x="658368" y="4901184"/>
            <a:ext cx="3017520" cy="274320"/>
          </a:xfrm>
          <a:prstGeom prst="rect">
            <a:avLst/>
          </a:prstGeom>
          <a:noFill/>
          <a:ln/>
        </p:spPr>
        <p:txBody>
          <a:bodyPr wrap="square" lIns="0" tIns="0" rIns="0" bIns="0" rtlCol="0" anchor="ctr">
            <a:noAutofit/>
          </a:bodyPr>
          <a:lstStyle/>
          <a:p>
            <a:pPr marL="0" indent="0">
              <a:buNone/>
            </a:pPr>
            <a:r>
              <a:rPr lang="en-US" sz="1200">
                <a:solidFill>
                  <a:srgbClr val="7E8A97"/>
                </a:solidFill>
              </a:rPr>
              <a:t>50 epochs · Full MNIST · Kaggle T4 ×2</a:t>
            </a:r>
            <a:endParaRPr lang="en-US" sz="1200" dirty="0"/>
          </a:p>
        </p:txBody>
      </p:sp>
      <p:sp>
        <p:nvSpPr>
          <p:cNvPr id="59"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1</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How a CNN works — in one slide</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Digit classifier: 28×28 image → convolution → ReLU/pool → 676 features → ten class scores.</a:t>
            </a:r>
            <a:endParaRPr lang="en-US" sz="1150" dirty="0"/>
          </a:p>
        </p:txBody>
      </p:sp>
      <p:sp>
        <p:nvSpPr>
          <p:cNvPr id="6" name="Shape 4"/>
          <p:cNvSpPr/>
          <p:nvPr/>
        </p:nvSpPr>
        <p:spPr>
          <a:xfrm>
            <a:off x="594360" y="1234440"/>
            <a:ext cx="10972800" cy="4846320"/>
          </a:xfrm>
          <a:prstGeom prst="roundRect">
            <a:avLst>
              <a:gd name="adj" fmla="val 1509"/>
            </a:avLst>
          </a:prstGeom>
          <a:solidFill>
            <a:srgbClr val="121923"/>
          </a:solidFill>
          <a:ln w="12700">
            <a:solidFill>
              <a:srgbClr val="25303D"/>
            </a:solidFill>
            <a:prstDash val="solid"/>
          </a:ln>
        </p:spPr>
      </p:sp>
      <p:sp>
        <p:nvSpPr>
          <p:cNvPr id="7" name="Shape 5"/>
          <p:cNvSpPr/>
          <p:nvPr/>
        </p:nvSpPr>
        <p:spPr>
          <a:xfrm>
            <a:off x="868680" y="1536192"/>
            <a:ext cx="141732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68680" y="1613916"/>
            <a:ext cx="14173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1 • INPUT IMAGE</a:t>
            </a:r>
            <a:endParaRPr lang="en-US" sz="850" dirty="0"/>
          </a:p>
        </p:txBody>
      </p:sp>
      <p:sp>
        <p:nvSpPr>
          <p:cNvPr id="9" name="Shape 7"/>
          <p:cNvSpPr/>
          <p:nvPr/>
        </p:nvSpPr>
        <p:spPr>
          <a:xfrm>
            <a:off x="914400" y="2148840"/>
            <a:ext cx="233172" cy="233172"/>
          </a:xfrm>
          <a:prstGeom prst="rect">
            <a:avLst/>
          </a:prstGeom>
          <a:solidFill>
            <a:srgbClr val="24303C"/>
          </a:solidFill>
          <a:ln w="6350">
            <a:solidFill>
              <a:srgbClr val="33404E"/>
            </a:solidFill>
            <a:prstDash val="solid"/>
          </a:ln>
        </p:spPr>
      </p:sp>
      <p:sp>
        <p:nvSpPr>
          <p:cNvPr id="10" name="Shape 8"/>
          <p:cNvSpPr/>
          <p:nvPr/>
        </p:nvSpPr>
        <p:spPr>
          <a:xfrm>
            <a:off x="1161288" y="2148840"/>
            <a:ext cx="233172" cy="233172"/>
          </a:xfrm>
          <a:prstGeom prst="rect">
            <a:avLst/>
          </a:prstGeom>
          <a:solidFill>
            <a:srgbClr val="24303C"/>
          </a:solidFill>
          <a:ln w="6350">
            <a:solidFill>
              <a:srgbClr val="33404E"/>
            </a:solidFill>
            <a:prstDash val="solid"/>
          </a:ln>
        </p:spPr>
      </p:sp>
      <p:sp>
        <p:nvSpPr>
          <p:cNvPr id="11" name="Shape 9"/>
          <p:cNvSpPr/>
          <p:nvPr/>
        </p:nvSpPr>
        <p:spPr>
          <a:xfrm>
            <a:off x="1408176" y="2148840"/>
            <a:ext cx="233172" cy="233172"/>
          </a:xfrm>
          <a:prstGeom prst="rect">
            <a:avLst/>
          </a:prstGeom>
          <a:solidFill>
            <a:srgbClr val="24303C"/>
          </a:solidFill>
          <a:ln w="6350">
            <a:solidFill>
              <a:srgbClr val="33404E"/>
            </a:solidFill>
            <a:prstDash val="solid"/>
          </a:ln>
        </p:spPr>
      </p:sp>
      <p:sp>
        <p:nvSpPr>
          <p:cNvPr id="12" name="Shape 10"/>
          <p:cNvSpPr/>
          <p:nvPr/>
        </p:nvSpPr>
        <p:spPr>
          <a:xfrm>
            <a:off x="1655064" y="2148840"/>
            <a:ext cx="233172" cy="233172"/>
          </a:xfrm>
          <a:prstGeom prst="rect">
            <a:avLst/>
          </a:prstGeom>
          <a:solidFill>
            <a:srgbClr val="24303C"/>
          </a:solidFill>
          <a:ln w="6350">
            <a:solidFill>
              <a:srgbClr val="33404E"/>
            </a:solidFill>
            <a:prstDash val="solid"/>
          </a:ln>
        </p:spPr>
      </p:sp>
      <p:sp>
        <p:nvSpPr>
          <p:cNvPr id="13" name="Shape 11"/>
          <p:cNvSpPr/>
          <p:nvPr/>
        </p:nvSpPr>
        <p:spPr>
          <a:xfrm>
            <a:off x="1901952" y="2148840"/>
            <a:ext cx="233172" cy="233172"/>
          </a:xfrm>
          <a:prstGeom prst="rect">
            <a:avLst/>
          </a:prstGeom>
          <a:solidFill>
            <a:srgbClr val="24303C"/>
          </a:solidFill>
          <a:ln w="6350">
            <a:solidFill>
              <a:srgbClr val="33404E"/>
            </a:solidFill>
            <a:prstDash val="solid"/>
          </a:ln>
        </p:spPr>
      </p:sp>
      <p:sp>
        <p:nvSpPr>
          <p:cNvPr id="14" name="Shape 12"/>
          <p:cNvSpPr/>
          <p:nvPr/>
        </p:nvSpPr>
        <p:spPr>
          <a:xfrm>
            <a:off x="2148840" y="2148840"/>
            <a:ext cx="233172" cy="233172"/>
          </a:xfrm>
          <a:prstGeom prst="rect">
            <a:avLst/>
          </a:prstGeom>
          <a:solidFill>
            <a:srgbClr val="24303C"/>
          </a:solidFill>
          <a:ln w="6350">
            <a:solidFill>
              <a:srgbClr val="33404E"/>
            </a:solidFill>
            <a:prstDash val="solid"/>
          </a:ln>
        </p:spPr>
      </p:sp>
      <p:sp>
        <p:nvSpPr>
          <p:cNvPr id="15" name="Shape 13"/>
          <p:cNvSpPr/>
          <p:nvPr/>
        </p:nvSpPr>
        <p:spPr>
          <a:xfrm>
            <a:off x="914400" y="2395728"/>
            <a:ext cx="233172" cy="233172"/>
          </a:xfrm>
          <a:prstGeom prst="rect">
            <a:avLst/>
          </a:prstGeom>
          <a:solidFill>
            <a:srgbClr val="24303C"/>
          </a:solidFill>
          <a:ln w="6350">
            <a:solidFill>
              <a:srgbClr val="33404E"/>
            </a:solidFill>
            <a:prstDash val="solid"/>
          </a:ln>
        </p:spPr>
      </p:sp>
      <p:sp>
        <p:nvSpPr>
          <p:cNvPr id="16" name="Shape 14"/>
          <p:cNvSpPr/>
          <p:nvPr/>
        </p:nvSpPr>
        <p:spPr>
          <a:xfrm>
            <a:off x="1161288" y="2395728"/>
            <a:ext cx="233172" cy="233172"/>
          </a:xfrm>
          <a:prstGeom prst="rect">
            <a:avLst/>
          </a:prstGeom>
          <a:solidFill>
            <a:srgbClr val="24303C"/>
          </a:solidFill>
          <a:ln w="6350">
            <a:solidFill>
              <a:srgbClr val="33404E"/>
            </a:solidFill>
            <a:prstDash val="solid"/>
          </a:ln>
        </p:spPr>
      </p:sp>
      <p:sp>
        <p:nvSpPr>
          <p:cNvPr id="17" name="Shape 15"/>
          <p:cNvSpPr/>
          <p:nvPr/>
        </p:nvSpPr>
        <p:spPr>
          <a:xfrm>
            <a:off x="1408176" y="2395728"/>
            <a:ext cx="233172" cy="233172"/>
          </a:xfrm>
          <a:prstGeom prst="rect">
            <a:avLst/>
          </a:prstGeom>
          <a:solidFill>
            <a:srgbClr val="41D9FF">
              <a:alpha val="80000"/>
            </a:srgbClr>
          </a:solidFill>
          <a:ln w="15240">
            <a:solidFill>
              <a:srgbClr val="41D9FF"/>
            </a:solidFill>
            <a:prstDash val="solid"/>
          </a:ln>
        </p:spPr>
      </p:sp>
      <p:sp>
        <p:nvSpPr>
          <p:cNvPr id="18" name="Shape 16"/>
          <p:cNvSpPr/>
          <p:nvPr/>
        </p:nvSpPr>
        <p:spPr>
          <a:xfrm>
            <a:off x="1655064" y="2395728"/>
            <a:ext cx="233172" cy="233172"/>
          </a:xfrm>
          <a:prstGeom prst="rect">
            <a:avLst/>
          </a:prstGeom>
          <a:solidFill>
            <a:srgbClr val="41D9FF">
              <a:alpha val="80000"/>
            </a:srgbClr>
          </a:solidFill>
          <a:ln w="15240">
            <a:solidFill>
              <a:srgbClr val="41D9FF"/>
            </a:solidFill>
            <a:prstDash val="solid"/>
          </a:ln>
        </p:spPr>
      </p:sp>
      <p:sp>
        <p:nvSpPr>
          <p:cNvPr id="19" name="Shape 17"/>
          <p:cNvSpPr/>
          <p:nvPr/>
        </p:nvSpPr>
        <p:spPr>
          <a:xfrm>
            <a:off x="1901952" y="2395728"/>
            <a:ext cx="233172" cy="233172"/>
          </a:xfrm>
          <a:prstGeom prst="rect">
            <a:avLst/>
          </a:prstGeom>
          <a:solidFill>
            <a:srgbClr val="41D9FF">
              <a:alpha val="80000"/>
            </a:srgbClr>
          </a:solidFill>
          <a:ln w="15240">
            <a:solidFill>
              <a:srgbClr val="41D9FF"/>
            </a:solidFill>
            <a:prstDash val="solid"/>
          </a:ln>
        </p:spPr>
      </p:sp>
      <p:sp>
        <p:nvSpPr>
          <p:cNvPr id="20" name="Shape 18"/>
          <p:cNvSpPr/>
          <p:nvPr/>
        </p:nvSpPr>
        <p:spPr>
          <a:xfrm>
            <a:off x="2148840" y="2395728"/>
            <a:ext cx="233172" cy="233172"/>
          </a:xfrm>
          <a:prstGeom prst="rect">
            <a:avLst/>
          </a:prstGeom>
          <a:solidFill>
            <a:srgbClr val="24303C"/>
          </a:solidFill>
          <a:ln w="6350">
            <a:solidFill>
              <a:srgbClr val="33404E"/>
            </a:solidFill>
            <a:prstDash val="solid"/>
          </a:ln>
        </p:spPr>
      </p:sp>
      <p:sp>
        <p:nvSpPr>
          <p:cNvPr id="21" name="Shape 19"/>
          <p:cNvSpPr/>
          <p:nvPr/>
        </p:nvSpPr>
        <p:spPr>
          <a:xfrm>
            <a:off x="914400" y="2642616"/>
            <a:ext cx="233172" cy="233172"/>
          </a:xfrm>
          <a:prstGeom prst="rect">
            <a:avLst/>
          </a:prstGeom>
          <a:solidFill>
            <a:srgbClr val="24303C"/>
          </a:solidFill>
          <a:ln w="6350">
            <a:solidFill>
              <a:srgbClr val="33404E"/>
            </a:solidFill>
            <a:prstDash val="solid"/>
          </a:ln>
        </p:spPr>
      </p:sp>
      <p:sp>
        <p:nvSpPr>
          <p:cNvPr id="22" name="Shape 20"/>
          <p:cNvSpPr/>
          <p:nvPr/>
        </p:nvSpPr>
        <p:spPr>
          <a:xfrm>
            <a:off x="1161288" y="2642616"/>
            <a:ext cx="233172" cy="233172"/>
          </a:xfrm>
          <a:prstGeom prst="rect">
            <a:avLst/>
          </a:prstGeom>
          <a:solidFill>
            <a:srgbClr val="24303C"/>
          </a:solidFill>
          <a:ln w="6350">
            <a:solidFill>
              <a:srgbClr val="33404E"/>
            </a:solidFill>
            <a:prstDash val="solid"/>
          </a:ln>
        </p:spPr>
      </p:sp>
      <p:sp>
        <p:nvSpPr>
          <p:cNvPr id="23" name="Shape 21"/>
          <p:cNvSpPr/>
          <p:nvPr/>
        </p:nvSpPr>
        <p:spPr>
          <a:xfrm>
            <a:off x="1408176" y="2642616"/>
            <a:ext cx="233172" cy="233172"/>
          </a:xfrm>
          <a:prstGeom prst="rect">
            <a:avLst/>
          </a:prstGeom>
          <a:solidFill>
            <a:srgbClr val="41D9FF">
              <a:alpha val="80000"/>
            </a:srgbClr>
          </a:solidFill>
          <a:ln w="15240">
            <a:solidFill>
              <a:srgbClr val="41D9FF"/>
            </a:solidFill>
            <a:prstDash val="solid"/>
          </a:ln>
        </p:spPr>
      </p:sp>
      <p:sp>
        <p:nvSpPr>
          <p:cNvPr id="24" name="Shape 22"/>
          <p:cNvSpPr/>
          <p:nvPr/>
        </p:nvSpPr>
        <p:spPr>
          <a:xfrm>
            <a:off x="1655064" y="2642616"/>
            <a:ext cx="233172" cy="233172"/>
          </a:xfrm>
          <a:prstGeom prst="rect">
            <a:avLst/>
          </a:prstGeom>
          <a:solidFill>
            <a:srgbClr val="41D9FF">
              <a:alpha val="80000"/>
            </a:srgbClr>
          </a:solidFill>
          <a:ln w="15240">
            <a:solidFill>
              <a:srgbClr val="41D9FF"/>
            </a:solidFill>
            <a:prstDash val="solid"/>
          </a:ln>
        </p:spPr>
      </p:sp>
      <p:sp>
        <p:nvSpPr>
          <p:cNvPr id="25" name="Shape 23"/>
          <p:cNvSpPr/>
          <p:nvPr/>
        </p:nvSpPr>
        <p:spPr>
          <a:xfrm>
            <a:off x="1901952" y="2642616"/>
            <a:ext cx="233172" cy="233172"/>
          </a:xfrm>
          <a:prstGeom prst="rect">
            <a:avLst/>
          </a:prstGeom>
          <a:solidFill>
            <a:srgbClr val="41D9FF">
              <a:alpha val="80000"/>
            </a:srgbClr>
          </a:solidFill>
          <a:ln w="15240">
            <a:solidFill>
              <a:srgbClr val="41D9FF"/>
            </a:solidFill>
            <a:prstDash val="solid"/>
          </a:ln>
        </p:spPr>
      </p:sp>
      <p:sp>
        <p:nvSpPr>
          <p:cNvPr id="26" name="Shape 24"/>
          <p:cNvSpPr/>
          <p:nvPr/>
        </p:nvSpPr>
        <p:spPr>
          <a:xfrm>
            <a:off x="2148840" y="2642616"/>
            <a:ext cx="233172" cy="233172"/>
          </a:xfrm>
          <a:prstGeom prst="rect">
            <a:avLst/>
          </a:prstGeom>
          <a:solidFill>
            <a:srgbClr val="24303C"/>
          </a:solidFill>
          <a:ln w="6350">
            <a:solidFill>
              <a:srgbClr val="33404E"/>
            </a:solidFill>
            <a:prstDash val="solid"/>
          </a:ln>
        </p:spPr>
      </p:sp>
      <p:sp>
        <p:nvSpPr>
          <p:cNvPr id="27" name="Shape 25"/>
          <p:cNvSpPr/>
          <p:nvPr/>
        </p:nvSpPr>
        <p:spPr>
          <a:xfrm>
            <a:off x="914400" y="2889504"/>
            <a:ext cx="233172" cy="233172"/>
          </a:xfrm>
          <a:prstGeom prst="rect">
            <a:avLst/>
          </a:prstGeom>
          <a:solidFill>
            <a:srgbClr val="24303C"/>
          </a:solidFill>
          <a:ln w="6350">
            <a:solidFill>
              <a:srgbClr val="33404E"/>
            </a:solidFill>
            <a:prstDash val="solid"/>
          </a:ln>
        </p:spPr>
      </p:sp>
      <p:sp>
        <p:nvSpPr>
          <p:cNvPr id="28" name="Shape 26"/>
          <p:cNvSpPr/>
          <p:nvPr/>
        </p:nvSpPr>
        <p:spPr>
          <a:xfrm>
            <a:off x="1161288" y="2889504"/>
            <a:ext cx="233172" cy="233172"/>
          </a:xfrm>
          <a:prstGeom prst="rect">
            <a:avLst/>
          </a:prstGeom>
          <a:solidFill>
            <a:srgbClr val="24303C"/>
          </a:solidFill>
          <a:ln w="6350">
            <a:solidFill>
              <a:srgbClr val="33404E"/>
            </a:solidFill>
            <a:prstDash val="solid"/>
          </a:ln>
        </p:spPr>
      </p:sp>
      <p:sp>
        <p:nvSpPr>
          <p:cNvPr id="29" name="Shape 27"/>
          <p:cNvSpPr/>
          <p:nvPr/>
        </p:nvSpPr>
        <p:spPr>
          <a:xfrm>
            <a:off x="1408176" y="2889504"/>
            <a:ext cx="233172" cy="233172"/>
          </a:xfrm>
          <a:prstGeom prst="rect">
            <a:avLst/>
          </a:prstGeom>
          <a:solidFill>
            <a:srgbClr val="41D9FF">
              <a:alpha val="80000"/>
            </a:srgbClr>
          </a:solidFill>
          <a:ln w="15240">
            <a:solidFill>
              <a:srgbClr val="41D9FF"/>
            </a:solidFill>
            <a:prstDash val="solid"/>
          </a:ln>
        </p:spPr>
      </p:sp>
      <p:sp>
        <p:nvSpPr>
          <p:cNvPr id="30" name="Shape 28"/>
          <p:cNvSpPr/>
          <p:nvPr/>
        </p:nvSpPr>
        <p:spPr>
          <a:xfrm>
            <a:off x="1655064" y="2889504"/>
            <a:ext cx="233172" cy="233172"/>
          </a:xfrm>
          <a:prstGeom prst="rect">
            <a:avLst/>
          </a:prstGeom>
          <a:solidFill>
            <a:srgbClr val="41D9FF">
              <a:alpha val="80000"/>
            </a:srgbClr>
          </a:solidFill>
          <a:ln w="15240">
            <a:solidFill>
              <a:srgbClr val="41D9FF"/>
            </a:solidFill>
            <a:prstDash val="solid"/>
          </a:ln>
        </p:spPr>
      </p:sp>
      <p:sp>
        <p:nvSpPr>
          <p:cNvPr id="31" name="Shape 29"/>
          <p:cNvSpPr/>
          <p:nvPr/>
        </p:nvSpPr>
        <p:spPr>
          <a:xfrm>
            <a:off x="1901952" y="2889504"/>
            <a:ext cx="233172" cy="233172"/>
          </a:xfrm>
          <a:prstGeom prst="rect">
            <a:avLst/>
          </a:prstGeom>
          <a:solidFill>
            <a:srgbClr val="41D9FF">
              <a:alpha val="80000"/>
            </a:srgbClr>
          </a:solidFill>
          <a:ln w="15240">
            <a:solidFill>
              <a:srgbClr val="41D9FF"/>
            </a:solidFill>
            <a:prstDash val="solid"/>
          </a:ln>
        </p:spPr>
      </p:sp>
      <p:sp>
        <p:nvSpPr>
          <p:cNvPr id="32" name="Shape 30"/>
          <p:cNvSpPr/>
          <p:nvPr/>
        </p:nvSpPr>
        <p:spPr>
          <a:xfrm>
            <a:off x="2148840" y="2889504"/>
            <a:ext cx="233172" cy="233172"/>
          </a:xfrm>
          <a:prstGeom prst="rect">
            <a:avLst/>
          </a:prstGeom>
          <a:solidFill>
            <a:srgbClr val="24303C"/>
          </a:solidFill>
          <a:ln w="6350">
            <a:solidFill>
              <a:srgbClr val="33404E"/>
            </a:solidFill>
            <a:prstDash val="solid"/>
          </a:ln>
        </p:spPr>
      </p:sp>
      <p:sp>
        <p:nvSpPr>
          <p:cNvPr id="33" name="Shape 31"/>
          <p:cNvSpPr/>
          <p:nvPr/>
        </p:nvSpPr>
        <p:spPr>
          <a:xfrm>
            <a:off x="914400" y="3136392"/>
            <a:ext cx="233172" cy="233172"/>
          </a:xfrm>
          <a:prstGeom prst="rect">
            <a:avLst/>
          </a:prstGeom>
          <a:solidFill>
            <a:srgbClr val="24303C"/>
          </a:solidFill>
          <a:ln w="6350">
            <a:solidFill>
              <a:srgbClr val="33404E"/>
            </a:solidFill>
            <a:prstDash val="solid"/>
          </a:ln>
        </p:spPr>
      </p:sp>
      <p:sp>
        <p:nvSpPr>
          <p:cNvPr id="34" name="Shape 32"/>
          <p:cNvSpPr/>
          <p:nvPr/>
        </p:nvSpPr>
        <p:spPr>
          <a:xfrm>
            <a:off x="1161288" y="3136392"/>
            <a:ext cx="233172" cy="233172"/>
          </a:xfrm>
          <a:prstGeom prst="rect">
            <a:avLst/>
          </a:prstGeom>
          <a:solidFill>
            <a:srgbClr val="24303C"/>
          </a:solidFill>
          <a:ln w="6350">
            <a:solidFill>
              <a:srgbClr val="33404E"/>
            </a:solidFill>
            <a:prstDash val="solid"/>
          </a:ln>
        </p:spPr>
      </p:sp>
      <p:sp>
        <p:nvSpPr>
          <p:cNvPr id="35" name="Shape 33"/>
          <p:cNvSpPr/>
          <p:nvPr/>
        </p:nvSpPr>
        <p:spPr>
          <a:xfrm>
            <a:off x="1408176" y="3136392"/>
            <a:ext cx="233172" cy="233172"/>
          </a:xfrm>
          <a:prstGeom prst="rect">
            <a:avLst/>
          </a:prstGeom>
          <a:solidFill>
            <a:srgbClr val="24303C"/>
          </a:solidFill>
          <a:ln w="6350">
            <a:solidFill>
              <a:srgbClr val="33404E"/>
            </a:solidFill>
            <a:prstDash val="solid"/>
          </a:ln>
        </p:spPr>
      </p:sp>
      <p:sp>
        <p:nvSpPr>
          <p:cNvPr id="36" name="Shape 34"/>
          <p:cNvSpPr/>
          <p:nvPr/>
        </p:nvSpPr>
        <p:spPr>
          <a:xfrm>
            <a:off x="1655064" y="3136392"/>
            <a:ext cx="233172" cy="233172"/>
          </a:xfrm>
          <a:prstGeom prst="rect">
            <a:avLst/>
          </a:prstGeom>
          <a:solidFill>
            <a:srgbClr val="24303C"/>
          </a:solidFill>
          <a:ln w="6350">
            <a:solidFill>
              <a:srgbClr val="33404E"/>
            </a:solidFill>
            <a:prstDash val="solid"/>
          </a:ln>
        </p:spPr>
      </p:sp>
      <p:sp>
        <p:nvSpPr>
          <p:cNvPr id="37" name="Shape 35"/>
          <p:cNvSpPr/>
          <p:nvPr/>
        </p:nvSpPr>
        <p:spPr>
          <a:xfrm>
            <a:off x="1901952" y="3136392"/>
            <a:ext cx="233172" cy="233172"/>
          </a:xfrm>
          <a:prstGeom prst="rect">
            <a:avLst/>
          </a:prstGeom>
          <a:solidFill>
            <a:srgbClr val="24303C"/>
          </a:solidFill>
          <a:ln w="6350">
            <a:solidFill>
              <a:srgbClr val="33404E"/>
            </a:solidFill>
            <a:prstDash val="solid"/>
          </a:ln>
        </p:spPr>
      </p:sp>
      <p:sp>
        <p:nvSpPr>
          <p:cNvPr id="38" name="Shape 36"/>
          <p:cNvSpPr/>
          <p:nvPr/>
        </p:nvSpPr>
        <p:spPr>
          <a:xfrm>
            <a:off x="2148840" y="3136392"/>
            <a:ext cx="233172" cy="233172"/>
          </a:xfrm>
          <a:prstGeom prst="rect">
            <a:avLst/>
          </a:prstGeom>
          <a:solidFill>
            <a:srgbClr val="24303C"/>
          </a:solidFill>
          <a:ln w="6350">
            <a:solidFill>
              <a:srgbClr val="33404E"/>
            </a:solidFill>
            <a:prstDash val="solid"/>
          </a:ln>
        </p:spPr>
      </p:sp>
      <p:sp>
        <p:nvSpPr>
          <p:cNvPr id="39" name="Shape 37"/>
          <p:cNvSpPr/>
          <p:nvPr/>
        </p:nvSpPr>
        <p:spPr>
          <a:xfrm>
            <a:off x="914400" y="3383280"/>
            <a:ext cx="233172" cy="233172"/>
          </a:xfrm>
          <a:prstGeom prst="rect">
            <a:avLst/>
          </a:prstGeom>
          <a:solidFill>
            <a:srgbClr val="24303C"/>
          </a:solidFill>
          <a:ln w="6350">
            <a:solidFill>
              <a:srgbClr val="33404E"/>
            </a:solidFill>
            <a:prstDash val="solid"/>
          </a:ln>
        </p:spPr>
      </p:sp>
      <p:sp>
        <p:nvSpPr>
          <p:cNvPr id="40" name="Shape 38"/>
          <p:cNvSpPr/>
          <p:nvPr/>
        </p:nvSpPr>
        <p:spPr>
          <a:xfrm>
            <a:off x="1161288" y="3383280"/>
            <a:ext cx="233172" cy="233172"/>
          </a:xfrm>
          <a:prstGeom prst="rect">
            <a:avLst/>
          </a:prstGeom>
          <a:solidFill>
            <a:srgbClr val="24303C"/>
          </a:solidFill>
          <a:ln w="6350">
            <a:solidFill>
              <a:srgbClr val="33404E"/>
            </a:solidFill>
            <a:prstDash val="solid"/>
          </a:ln>
        </p:spPr>
      </p:sp>
      <p:sp>
        <p:nvSpPr>
          <p:cNvPr id="41" name="Shape 39"/>
          <p:cNvSpPr/>
          <p:nvPr/>
        </p:nvSpPr>
        <p:spPr>
          <a:xfrm>
            <a:off x="1408176" y="3383280"/>
            <a:ext cx="233172" cy="233172"/>
          </a:xfrm>
          <a:prstGeom prst="rect">
            <a:avLst/>
          </a:prstGeom>
          <a:solidFill>
            <a:srgbClr val="24303C"/>
          </a:solidFill>
          <a:ln w="6350">
            <a:solidFill>
              <a:srgbClr val="33404E"/>
            </a:solidFill>
            <a:prstDash val="solid"/>
          </a:ln>
        </p:spPr>
      </p:sp>
      <p:sp>
        <p:nvSpPr>
          <p:cNvPr id="42" name="Shape 40"/>
          <p:cNvSpPr/>
          <p:nvPr/>
        </p:nvSpPr>
        <p:spPr>
          <a:xfrm>
            <a:off x="1655064" y="3383280"/>
            <a:ext cx="233172" cy="233172"/>
          </a:xfrm>
          <a:prstGeom prst="rect">
            <a:avLst/>
          </a:prstGeom>
          <a:solidFill>
            <a:srgbClr val="24303C"/>
          </a:solidFill>
          <a:ln w="6350">
            <a:solidFill>
              <a:srgbClr val="33404E"/>
            </a:solidFill>
            <a:prstDash val="solid"/>
          </a:ln>
        </p:spPr>
      </p:sp>
      <p:sp>
        <p:nvSpPr>
          <p:cNvPr id="43" name="Shape 41"/>
          <p:cNvSpPr/>
          <p:nvPr/>
        </p:nvSpPr>
        <p:spPr>
          <a:xfrm>
            <a:off x="1901952" y="3383280"/>
            <a:ext cx="233172" cy="233172"/>
          </a:xfrm>
          <a:prstGeom prst="rect">
            <a:avLst/>
          </a:prstGeom>
          <a:solidFill>
            <a:srgbClr val="24303C"/>
          </a:solidFill>
          <a:ln w="6350">
            <a:solidFill>
              <a:srgbClr val="33404E"/>
            </a:solidFill>
            <a:prstDash val="solid"/>
          </a:ln>
        </p:spPr>
      </p:sp>
      <p:sp>
        <p:nvSpPr>
          <p:cNvPr id="44" name="Shape 42"/>
          <p:cNvSpPr/>
          <p:nvPr/>
        </p:nvSpPr>
        <p:spPr>
          <a:xfrm>
            <a:off x="2148840" y="3383280"/>
            <a:ext cx="233172" cy="233172"/>
          </a:xfrm>
          <a:prstGeom prst="rect">
            <a:avLst/>
          </a:prstGeom>
          <a:solidFill>
            <a:srgbClr val="24303C"/>
          </a:solidFill>
          <a:ln w="6350">
            <a:solidFill>
              <a:srgbClr val="33404E"/>
            </a:solidFill>
            <a:prstDash val="solid"/>
          </a:ln>
        </p:spPr>
      </p:sp>
      <p:sp>
        <p:nvSpPr>
          <p:cNvPr id="45" name="Text 43"/>
          <p:cNvSpPr/>
          <p:nvPr/>
        </p:nvSpPr>
        <p:spPr>
          <a:xfrm>
            <a:off x="1216152" y="3776472"/>
            <a:ext cx="640080" cy="182880"/>
          </a:xfrm>
          <a:prstGeom prst="rect">
            <a:avLst/>
          </a:prstGeom>
          <a:noFill/>
          <a:ln/>
        </p:spPr>
        <p:txBody>
          <a:bodyPr wrap="square" lIns="0" tIns="0" rIns="0" bIns="0" rtlCol="0" anchor="ctr">
            <a:noAutofit/>
          </a:bodyPr>
          <a:lstStyle/>
          <a:p>
            <a:pPr marL="0" indent="0" algn="ctr">
              <a:buNone/>
            </a:pPr>
            <a:r>
              <a:rPr lang="en-US" sz="1000">
                <a:solidFill>
                  <a:srgbClr val="7E8A97"/>
                </a:solidFill>
              </a:rPr>
              <a:t>28×28</a:t>
            </a:r>
            <a:endParaRPr lang="en-US" sz="1000" dirty="0"/>
          </a:p>
        </p:txBody>
      </p:sp>
      <p:sp>
        <p:nvSpPr>
          <p:cNvPr id="46" name="Shape 44"/>
          <p:cNvSpPr/>
          <p:nvPr/>
        </p:nvSpPr>
        <p:spPr>
          <a:xfrm>
            <a:off x="2542032" y="2852928"/>
            <a:ext cx="612648" cy="0"/>
          </a:xfrm>
          <a:prstGeom prst="line">
            <a:avLst/>
          </a:prstGeom>
          <a:noFill/>
          <a:ln w="27940">
            <a:solidFill>
              <a:srgbClr val="76B900"/>
            </a:solidFill>
            <a:prstDash val="solid"/>
            <a:headEnd type="none"/>
            <a:tailEnd type="triangle"/>
          </a:ln>
        </p:spPr>
      </p:sp>
      <p:sp>
        <p:nvSpPr>
          <p:cNvPr id="47" name="Shape 45"/>
          <p:cNvSpPr/>
          <p:nvPr/>
        </p:nvSpPr>
        <p:spPr>
          <a:xfrm>
            <a:off x="3246120" y="1536192"/>
            <a:ext cx="150876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48" name="Text 46"/>
          <p:cNvSpPr/>
          <p:nvPr/>
        </p:nvSpPr>
        <p:spPr>
          <a:xfrm>
            <a:off x="3246120" y="1613916"/>
            <a:ext cx="15087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2 • CONVOLUTION</a:t>
            </a:r>
            <a:endParaRPr lang="en-US" sz="850" dirty="0"/>
          </a:p>
        </p:txBody>
      </p:sp>
      <p:sp>
        <p:nvSpPr>
          <p:cNvPr id="49" name="Shape 47"/>
          <p:cNvSpPr/>
          <p:nvPr/>
        </p:nvSpPr>
        <p:spPr>
          <a:xfrm>
            <a:off x="3456432" y="2304288"/>
            <a:ext cx="274320" cy="274320"/>
          </a:xfrm>
          <a:prstGeom prst="rect">
            <a:avLst/>
          </a:prstGeom>
          <a:solidFill>
            <a:srgbClr val="76B900">
              <a:alpha val="84000"/>
            </a:srgbClr>
          </a:solidFill>
          <a:ln w="12700">
            <a:solidFill>
              <a:srgbClr val="76B900"/>
            </a:solidFill>
            <a:prstDash val="solid"/>
          </a:ln>
        </p:spPr>
      </p:sp>
      <p:sp>
        <p:nvSpPr>
          <p:cNvPr id="50" name="Shape 48"/>
          <p:cNvSpPr/>
          <p:nvPr/>
        </p:nvSpPr>
        <p:spPr>
          <a:xfrm>
            <a:off x="3767328" y="2304288"/>
            <a:ext cx="274320" cy="274320"/>
          </a:xfrm>
          <a:prstGeom prst="rect">
            <a:avLst/>
          </a:prstGeom>
          <a:solidFill>
            <a:srgbClr val="76B900">
              <a:alpha val="84000"/>
            </a:srgbClr>
          </a:solidFill>
          <a:ln w="12700">
            <a:solidFill>
              <a:srgbClr val="76B900"/>
            </a:solidFill>
            <a:prstDash val="solid"/>
          </a:ln>
        </p:spPr>
      </p:sp>
      <p:sp>
        <p:nvSpPr>
          <p:cNvPr id="51" name="Shape 49"/>
          <p:cNvSpPr/>
          <p:nvPr/>
        </p:nvSpPr>
        <p:spPr>
          <a:xfrm>
            <a:off x="4078224" y="2304288"/>
            <a:ext cx="274320" cy="274320"/>
          </a:xfrm>
          <a:prstGeom prst="rect">
            <a:avLst/>
          </a:prstGeom>
          <a:solidFill>
            <a:srgbClr val="76B900">
              <a:alpha val="84000"/>
            </a:srgbClr>
          </a:solidFill>
          <a:ln w="12700">
            <a:solidFill>
              <a:srgbClr val="76B900"/>
            </a:solidFill>
            <a:prstDash val="solid"/>
          </a:ln>
        </p:spPr>
      </p:sp>
      <p:sp>
        <p:nvSpPr>
          <p:cNvPr id="52" name="Shape 50"/>
          <p:cNvSpPr/>
          <p:nvPr/>
        </p:nvSpPr>
        <p:spPr>
          <a:xfrm>
            <a:off x="3456432" y="2615184"/>
            <a:ext cx="274320" cy="274320"/>
          </a:xfrm>
          <a:prstGeom prst="rect">
            <a:avLst/>
          </a:prstGeom>
          <a:solidFill>
            <a:srgbClr val="76B900">
              <a:alpha val="84000"/>
            </a:srgbClr>
          </a:solidFill>
          <a:ln w="12700">
            <a:solidFill>
              <a:srgbClr val="76B900"/>
            </a:solidFill>
            <a:prstDash val="solid"/>
          </a:ln>
        </p:spPr>
      </p:sp>
      <p:sp>
        <p:nvSpPr>
          <p:cNvPr id="53" name="Shape 51"/>
          <p:cNvSpPr/>
          <p:nvPr/>
        </p:nvSpPr>
        <p:spPr>
          <a:xfrm>
            <a:off x="3767328" y="2615184"/>
            <a:ext cx="274320" cy="274320"/>
          </a:xfrm>
          <a:prstGeom prst="rect">
            <a:avLst/>
          </a:prstGeom>
          <a:solidFill>
            <a:srgbClr val="76B900">
              <a:alpha val="84000"/>
            </a:srgbClr>
          </a:solidFill>
          <a:ln w="12700">
            <a:solidFill>
              <a:srgbClr val="76B900"/>
            </a:solidFill>
            <a:prstDash val="solid"/>
          </a:ln>
        </p:spPr>
      </p:sp>
      <p:sp>
        <p:nvSpPr>
          <p:cNvPr id="54" name="Shape 52"/>
          <p:cNvSpPr/>
          <p:nvPr/>
        </p:nvSpPr>
        <p:spPr>
          <a:xfrm>
            <a:off x="4078224" y="2615184"/>
            <a:ext cx="274320" cy="274320"/>
          </a:xfrm>
          <a:prstGeom prst="rect">
            <a:avLst/>
          </a:prstGeom>
          <a:solidFill>
            <a:srgbClr val="76B900">
              <a:alpha val="84000"/>
            </a:srgbClr>
          </a:solidFill>
          <a:ln w="12700">
            <a:solidFill>
              <a:srgbClr val="76B900"/>
            </a:solidFill>
            <a:prstDash val="solid"/>
          </a:ln>
        </p:spPr>
      </p:sp>
      <p:sp>
        <p:nvSpPr>
          <p:cNvPr id="55" name="Shape 53"/>
          <p:cNvSpPr/>
          <p:nvPr/>
        </p:nvSpPr>
        <p:spPr>
          <a:xfrm>
            <a:off x="3456432" y="2926080"/>
            <a:ext cx="274320" cy="274320"/>
          </a:xfrm>
          <a:prstGeom prst="rect">
            <a:avLst/>
          </a:prstGeom>
          <a:solidFill>
            <a:srgbClr val="76B900">
              <a:alpha val="84000"/>
            </a:srgbClr>
          </a:solidFill>
          <a:ln w="12700">
            <a:solidFill>
              <a:srgbClr val="76B900"/>
            </a:solidFill>
            <a:prstDash val="solid"/>
          </a:ln>
        </p:spPr>
      </p:sp>
      <p:sp>
        <p:nvSpPr>
          <p:cNvPr id="56" name="Shape 54"/>
          <p:cNvSpPr/>
          <p:nvPr/>
        </p:nvSpPr>
        <p:spPr>
          <a:xfrm>
            <a:off x="3767328" y="2926080"/>
            <a:ext cx="274320" cy="274320"/>
          </a:xfrm>
          <a:prstGeom prst="rect">
            <a:avLst/>
          </a:prstGeom>
          <a:solidFill>
            <a:srgbClr val="76B900">
              <a:alpha val="84000"/>
            </a:srgbClr>
          </a:solidFill>
          <a:ln w="12700">
            <a:solidFill>
              <a:srgbClr val="76B900"/>
            </a:solidFill>
            <a:prstDash val="solid"/>
          </a:ln>
        </p:spPr>
      </p:sp>
      <p:sp>
        <p:nvSpPr>
          <p:cNvPr id="57" name="Shape 55"/>
          <p:cNvSpPr/>
          <p:nvPr/>
        </p:nvSpPr>
        <p:spPr>
          <a:xfrm>
            <a:off x="4078224" y="2926080"/>
            <a:ext cx="274320" cy="274320"/>
          </a:xfrm>
          <a:prstGeom prst="rect">
            <a:avLst/>
          </a:prstGeom>
          <a:solidFill>
            <a:srgbClr val="76B900">
              <a:alpha val="84000"/>
            </a:srgbClr>
          </a:solidFill>
          <a:ln w="12700">
            <a:solidFill>
              <a:srgbClr val="76B900"/>
            </a:solidFill>
            <a:prstDash val="solid"/>
          </a:ln>
        </p:spPr>
      </p:sp>
      <p:sp>
        <p:nvSpPr>
          <p:cNvPr id="58" name="Text 56"/>
          <p:cNvSpPr/>
          <p:nvPr/>
        </p:nvSpPr>
        <p:spPr>
          <a:xfrm>
            <a:off x="3246120" y="3429000"/>
            <a:ext cx="1554480" cy="603504"/>
          </a:xfrm>
          <a:prstGeom prst="rect">
            <a:avLst/>
          </a:prstGeom>
          <a:noFill/>
          <a:ln/>
        </p:spPr>
        <p:txBody>
          <a:bodyPr wrap="square" lIns="0" tIns="0" rIns="0" bIns="0" rtlCol="0" anchor="ctr">
            <a:noAutofit/>
          </a:bodyPr>
          <a:lstStyle/>
          <a:p>
            <a:pPr marL="0" indent="0" algn="ctr">
              <a:buNone/>
            </a:pPr>
            <a:r>
              <a:rPr lang="en-US" sz="1150">
                <a:solidFill>
                  <a:srgbClr val="C7D0D9"/>
                </a:solidFill>
              </a:rPr>
              <a:t>4 filters × 3×3</a:t>
            </a:r>
          </a:p>
          <a:p>
            <a:pPr marL="0" indent="0" algn="ctr">
              <a:buNone/>
            </a:pPr>
            <a:r>
              <a:rPr lang="en-US" sz="1150">
                <a:solidFill>
                  <a:srgbClr val="C7D0D9"/>
                </a:solidFill>
              </a:rPr>
              <a:t>26×26 outputs</a:t>
            </a:r>
            <a:endParaRPr lang="en-US" sz="1150" dirty="0"/>
          </a:p>
        </p:txBody>
      </p:sp>
      <p:sp>
        <p:nvSpPr>
          <p:cNvPr id="59" name="Shape 57"/>
          <p:cNvSpPr/>
          <p:nvPr/>
        </p:nvSpPr>
        <p:spPr>
          <a:xfrm>
            <a:off x="5029200" y="2852928"/>
            <a:ext cx="530352" cy="0"/>
          </a:xfrm>
          <a:prstGeom prst="line">
            <a:avLst/>
          </a:prstGeom>
          <a:noFill/>
          <a:ln w="27940">
            <a:solidFill>
              <a:srgbClr val="76B900"/>
            </a:solidFill>
            <a:prstDash val="solid"/>
            <a:headEnd type="none"/>
            <a:tailEnd type="triangle"/>
          </a:ln>
        </p:spPr>
      </p:sp>
      <p:sp>
        <p:nvSpPr>
          <p:cNvPr id="60" name="Shape 58"/>
          <p:cNvSpPr/>
          <p:nvPr/>
        </p:nvSpPr>
        <p:spPr>
          <a:xfrm>
            <a:off x="5623560" y="1536192"/>
            <a:ext cx="1600200" cy="310896"/>
          </a:xfrm>
          <a:prstGeom prst="roundRect">
            <a:avLst>
              <a:gd name="adj" fmla="val 17647"/>
            </a:avLst>
          </a:prstGeom>
          <a:solidFill>
            <a:srgbClr val="A78BFA">
              <a:alpha val="14000"/>
            </a:srgbClr>
          </a:solidFill>
          <a:ln w="12700">
            <a:solidFill>
              <a:srgbClr val="A78BFA">
                <a:alpha val="45000"/>
              </a:srgbClr>
            </a:solidFill>
            <a:prstDash val="solid"/>
          </a:ln>
        </p:spPr>
      </p:sp>
      <p:sp>
        <p:nvSpPr>
          <p:cNvPr id="61" name="Text 59"/>
          <p:cNvSpPr/>
          <p:nvPr/>
        </p:nvSpPr>
        <p:spPr>
          <a:xfrm>
            <a:off x="5623560" y="1613916"/>
            <a:ext cx="160020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A78BFA"/>
                </a:solidFill>
              </a:rPr>
              <a:t>3 • FEATURE MAPS</a:t>
            </a:r>
            <a:endParaRPr lang="en-US" sz="850" dirty="0"/>
          </a:p>
        </p:txBody>
      </p:sp>
      <p:sp>
        <p:nvSpPr>
          <p:cNvPr id="62" name="Shape 60"/>
          <p:cNvSpPr/>
          <p:nvPr/>
        </p:nvSpPr>
        <p:spPr>
          <a:xfrm>
            <a:off x="5833872" y="2240280"/>
            <a:ext cx="960120" cy="960120"/>
          </a:xfrm>
          <a:prstGeom prst="rect">
            <a:avLst/>
          </a:prstGeom>
          <a:solidFill>
            <a:srgbClr val="A78BFA">
              <a:alpha val="35000"/>
            </a:srgbClr>
          </a:solidFill>
          <a:ln w="12700">
            <a:solidFill>
              <a:srgbClr val="A78BFA">
                <a:alpha val="80000"/>
              </a:srgbClr>
            </a:solidFill>
            <a:prstDash val="solid"/>
          </a:ln>
        </p:spPr>
      </p:sp>
      <p:sp>
        <p:nvSpPr>
          <p:cNvPr id="63" name="Shape 61"/>
          <p:cNvSpPr/>
          <p:nvPr/>
        </p:nvSpPr>
        <p:spPr>
          <a:xfrm>
            <a:off x="5998464" y="2404872"/>
            <a:ext cx="960120" cy="960120"/>
          </a:xfrm>
          <a:prstGeom prst="rect">
            <a:avLst/>
          </a:prstGeom>
          <a:solidFill>
            <a:srgbClr val="A78BFA">
              <a:alpha val="47000"/>
            </a:srgbClr>
          </a:solidFill>
          <a:ln w="12700">
            <a:solidFill>
              <a:srgbClr val="A78BFA">
                <a:alpha val="80000"/>
              </a:srgbClr>
            </a:solidFill>
            <a:prstDash val="solid"/>
          </a:ln>
        </p:spPr>
      </p:sp>
      <p:sp>
        <p:nvSpPr>
          <p:cNvPr id="64" name="Shape 62"/>
          <p:cNvSpPr/>
          <p:nvPr/>
        </p:nvSpPr>
        <p:spPr>
          <a:xfrm>
            <a:off x="6163056" y="2569464"/>
            <a:ext cx="960120" cy="960120"/>
          </a:xfrm>
          <a:prstGeom prst="rect">
            <a:avLst/>
          </a:prstGeom>
          <a:solidFill>
            <a:srgbClr val="A78BFA">
              <a:alpha val="59000"/>
            </a:srgbClr>
          </a:solidFill>
          <a:ln w="12700">
            <a:solidFill>
              <a:srgbClr val="A78BFA">
                <a:alpha val="80000"/>
              </a:srgbClr>
            </a:solidFill>
            <a:prstDash val="solid"/>
          </a:ln>
        </p:spPr>
      </p:sp>
      <p:sp>
        <p:nvSpPr>
          <p:cNvPr id="65" name="Text 63"/>
          <p:cNvSpPr/>
          <p:nvPr/>
        </p:nvSpPr>
        <p:spPr>
          <a:xfrm>
            <a:off x="5632704" y="3584448"/>
            <a:ext cx="1691640" cy="457200"/>
          </a:xfrm>
          <a:prstGeom prst="rect">
            <a:avLst/>
          </a:prstGeom>
          <a:noFill/>
          <a:ln/>
        </p:spPr>
        <p:txBody>
          <a:bodyPr wrap="square" lIns="0" tIns="0" rIns="0" bIns="0" rtlCol="0" anchor="ctr">
            <a:noAutofit/>
          </a:bodyPr>
          <a:lstStyle/>
          <a:p>
            <a:pPr marL="0" indent="0" algn="ctr">
              <a:buNone/>
            </a:pPr>
            <a:r>
              <a:rPr lang="en-US" sz="1150">
                <a:solidFill>
                  <a:srgbClr val="C7D0D9"/>
                </a:solidFill>
              </a:rPr>
              <a:t>4 feature maps</a:t>
            </a:r>
          </a:p>
          <a:p>
            <a:pPr marL="0" indent="0" algn="ctr">
              <a:buNone/>
            </a:pPr>
            <a:r>
              <a:rPr lang="en-US" sz="1150">
                <a:solidFill>
                  <a:srgbClr val="C7D0D9"/>
                </a:solidFill>
              </a:rPr>
              <a:t>local patterns</a:t>
            </a:r>
            <a:endParaRPr lang="en-US" sz="1150" dirty="0"/>
          </a:p>
        </p:txBody>
      </p:sp>
      <p:sp>
        <p:nvSpPr>
          <p:cNvPr id="66" name="Shape 64"/>
          <p:cNvSpPr/>
          <p:nvPr/>
        </p:nvSpPr>
        <p:spPr>
          <a:xfrm>
            <a:off x="7498080" y="2852928"/>
            <a:ext cx="530352" cy="0"/>
          </a:xfrm>
          <a:prstGeom prst="line">
            <a:avLst/>
          </a:prstGeom>
          <a:noFill/>
          <a:ln w="27940">
            <a:solidFill>
              <a:srgbClr val="76B900"/>
            </a:solidFill>
            <a:prstDash val="solid"/>
            <a:headEnd type="none"/>
            <a:tailEnd type="triangle"/>
          </a:ln>
        </p:spPr>
      </p:sp>
      <p:sp>
        <p:nvSpPr>
          <p:cNvPr id="67" name="Shape 65"/>
          <p:cNvSpPr/>
          <p:nvPr/>
        </p:nvSpPr>
        <p:spPr>
          <a:xfrm>
            <a:off x="8092440" y="1536192"/>
            <a:ext cx="150876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68" name="Text 66"/>
          <p:cNvSpPr/>
          <p:nvPr/>
        </p:nvSpPr>
        <p:spPr>
          <a:xfrm>
            <a:off x="8092440" y="1613916"/>
            <a:ext cx="15087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B454"/>
                </a:solidFill>
              </a:rPr>
              <a:t>4 • ReLU + POOL</a:t>
            </a:r>
            <a:endParaRPr lang="en-US" sz="850" dirty="0"/>
          </a:p>
        </p:txBody>
      </p:sp>
      <p:sp>
        <p:nvSpPr>
          <p:cNvPr id="69" name="Shape 67"/>
          <p:cNvSpPr/>
          <p:nvPr/>
        </p:nvSpPr>
        <p:spPr>
          <a:xfrm>
            <a:off x="8339328" y="2258568"/>
            <a:ext cx="1005840" cy="475488"/>
          </a:xfrm>
          <a:prstGeom prst="roundRect">
            <a:avLst>
              <a:gd name="adj" fmla="val 9615"/>
            </a:avLst>
          </a:prstGeom>
          <a:solidFill>
            <a:srgbClr val="FFB454">
              <a:alpha val="75000"/>
            </a:srgbClr>
          </a:solidFill>
          <a:ln w="12700">
            <a:solidFill>
              <a:srgbClr val="FFB454"/>
            </a:solidFill>
            <a:prstDash val="solid"/>
          </a:ln>
        </p:spPr>
      </p:sp>
      <p:sp>
        <p:nvSpPr>
          <p:cNvPr id="70" name="Text 68"/>
          <p:cNvSpPr/>
          <p:nvPr/>
        </p:nvSpPr>
        <p:spPr>
          <a:xfrm>
            <a:off x="8339328" y="2395728"/>
            <a:ext cx="1005840" cy="241300"/>
          </a:xfrm>
          <a:prstGeom prst="rect">
            <a:avLst/>
          </a:prstGeom>
          <a:noFill/>
          <a:ln/>
        </p:spPr>
        <p:txBody>
          <a:bodyPr wrap="square" lIns="0" tIns="0" rIns="0" bIns="0" rtlCol="0" anchor="ctr">
            <a:noAutofit/>
          </a:bodyPr>
          <a:lstStyle/>
          <a:p>
            <a:pPr marL="0" indent="0" algn="ctr">
              <a:buNone/>
            </a:pPr>
            <a:r>
              <a:rPr lang="en-US" sz="1400" b="1" dirty="0">
                <a:solidFill>
                  <a:srgbClr val="F4F7FA"/>
                </a:solidFill>
              </a:rPr>
              <a:t>ReLU</a:t>
            </a:r>
            <a:endParaRPr lang="en-US" sz="1400" dirty="0"/>
          </a:p>
        </p:txBody>
      </p:sp>
      <p:sp>
        <p:nvSpPr>
          <p:cNvPr id="71" name="Shape 69"/>
          <p:cNvSpPr/>
          <p:nvPr/>
        </p:nvSpPr>
        <p:spPr>
          <a:xfrm>
            <a:off x="8430768" y="2971800"/>
            <a:ext cx="822960" cy="475488"/>
          </a:xfrm>
          <a:prstGeom prst="roundRect">
            <a:avLst>
              <a:gd name="adj" fmla="val 9615"/>
            </a:avLst>
          </a:prstGeom>
          <a:solidFill>
            <a:srgbClr val="FFB454">
              <a:alpha val="45000"/>
            </a:srgbClr>
          </a:solidFill>
          <a:ln w="12700">
            <a:solidFill>
              <a:srgbClr val="FFB454"/>
            </a:solidFill>
            <a:prstDash val="solid"/>
          </a:ln>
        </p:spPr>
      </p:sp>
      <p:sp>
        <p:nvSpPr>
          <p:cNvPr id="72" name="Text 70"/>
          <p:cNvSpPr/>
          <p:nvPr/>
        </p:nvSpPr>
        <p:spPr>
          <a:xfrm>
            <a:off x="8430768" y="3108960"/>
            <a:ext cx="822960" cy="164592"/>
          </a:xfrm>
          <a:prstGeom prst="rect">
            <a:avLst/>
          </a:prstGeom>
          <a:noFill/>
          <a:ln/>
        </p:spPr>
        <p:txBody>
          <a:bodyPr wrap="square" lIns="0" tIns="0" rIns="0" bIns="0" rtlCol="0" anchor="ctr">
            <a:noAutofit/>
          </a:bodyPr>
          <a:lstStyle/>
          <a:p>
            <a:pPr marL="0" indent="0" algn="ctr">
              <a:buNone/>
            </a:pPr>
            <a:r>
              <a:rPr lang="en-US" sz="1300" b="1" dirty="0">
                <a:solidFill>
                  <a:srgbClr val="F4F7FA"/>
                </a:solidFill>
              </a:rPr>
              <a:t>Pool</a:t>
            </a:r>
            <a:endParaRPr lang="en-US" sz="1300" dirty="0"/>
          </a:p>
        </p:txBody>
      </p:sp>
      <p:sp>
        <p:nvSpPr>
          <p:cNvPr id="73" name="Shape 71"/>
          <p:cNvSpPr/>
          <p:nvPr/>
        </p:nvSpPr>
        <p:spPr>
          <a:xfrm>
            <a:off x="9802368" y="2852928"/>
            <a:ext cx="393192" cy="0"/>
          </a:xfrm>
          <a:prstGeom prst="line">
            <a:avLst/>
          </a:prstGeom>
          <a:noFill/>
          <a:ln w="27940">
            <a:solidFill>
              <a:srgbClr val="76B900"/>
            </a:solidFill>
            <a:prstDash val="solid"/>
            <a:headEnd type="none"/>
            <a:tailEnd type="triangle"/>
          </a:ln>
        </p:spPr>
      </p:sp>
      <p:sp>
        <p:nvSpPr>
          <p:cNvPr id="74" name="Shape 72"/>
          <p:cNvSpPr/>
          <p:nvPr/>
        </p:nvSpPr>
        <p:spPr>
          <a:xfrm>
            <a:off x="10222992" y="1536192"/>
            <a:ext cx="1051560" cy="310896"/>
          </a:xfrm>
          <a:prstGeom prst="roundRect">
            <a:avLst>
              <a:gd name="adj" fmla="val 17647"/>
            </a:avLst>
          </a:prstGeom>
          <a:solidFill>
            <a:srgbClr val="F9D65C">
              <a:alpha val="14000"/>
            </a:srgbClr>
          </a:solidFill>
          <a:ln w="12700">
            <a:solidFill>
              <a:srgbClr val="F9D65C">
                <a:alpha val="45000"/>
              </a:srgbClr>
            </a:solidFill>
            <a:prstDash val="solid"/>
          </a:ln>
        </p:spPr>
      </p:sp>
      <p:sp>
        <p:nvSpPr>
          <p:cNvPr id="75" name="Text 73"/>
          <p:cNvSpPr/>
          <p:nvPr/>
        </p:nvSpPr>
        <p:spPr>
          <a:xfrm>
            <a:off x="10222992" y="1613916"/>
            <a:ext cx="10515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9D65C"/>
                </a:solidFill>
              </a:rPr>
              <a:t>5 • CLASSIFY</a:t>
            </a:r>
            <a:endParaRPr lang="en-US" sz="850" dirty="0"/>
          </a:p>
        </p:txBody>
      </p:sp>
      <p:sp>
        <p:nvSpPr>
          <p:cNvPr id="76" name="Shape 74"/>
          <p:cNvSpPr/>
          <p:nvPr/>
        </p:nvSpPr>
        <p:spPr>
          <a:xfrm>
            <a:off x="10469880" y="2212848"/>
            <a:ext cx="548640" cy="548640"/>
          </a:xfrm>
          <a:prstGeom prst="ellipse">
            <a:avLst/>
          </a:prstGeom>
          <a:solidFill>
            <a:srgbClr val="F9D65C">
              <a:alpha val="78000"/>
            </a:srgbClr>
          </a:solidFill>
          <a:ln w="12700">
            <a:solidFill>
              <a:srgbClr val="F9D65C"/>
            </a:solidFill>
            <a:prstDash val="solid"/>
          </a:ln>
        </p:spPr>
      </p:sp>
      <p:sp>
        <p:nvSpPr>
          <p:cNvPr id="77" name="Shape 75"/>
          <p:cNvSpPr/>
          <p:nvPr/>
        </p:nvSpPr>
        <p:spPr>
          <a:xfrm>
            <a:off x="10469880" y="2880360"/>
            <a:ext cx="548640" cy="548640"/>
          </a:xfrm>
          <a:prstGeom prst="ellipse">
            <a:avLst/>
          </a:prstGeom>
          <a:solidFill>
            <a:srgbClr val="F9D65C">
              <a:alpha val="45000"/>
            </a:srgbClr>
          </a:solidFill>
          <a:ln w="12700">
            <a:solidFill>
              <a:srgbClr val="F9D65C"/>
            </a:solidFill>
            <a:prstDash val="solid"/>
          </a:ln>
        </p:spPr>
      </p:sp>
      <p:sp>
        <p:nvSpPr>
          <p:cNvPr id="78" name="Text 76"/>
          <p:cNvSpPr/>
          <p:nvPr/>
        </p:nvSpPr>
        <p:spPr>
          <a:xfrm>
            <a:off x="10469880" y="2395728"/>
            <a:ext cx="548640" cy="146304"/>
          </a:xfrm>
          <a:prstGeom prst="rect">
            <a:avLst/>
          </a:prstGeom>
          <a:noFill/>
          <a:ln/>
        </p:spPr>
        <p:txBody>
          <a:bodyPr wrap="square" lIns="0" tIns="0" rIns="0" bIns="0" rtlCol="0" anchor="ctr">
            <a:noAutofit/>
          </a:bodyPr>
          <a:lstStyle/>
          <a:p>
            <a:pPr marL="0" indent="0" algn="ctr">
              <a:buNone/>
            </a:pPr>
            <a:r>
              <a:rPr lang="en-US" sz="1100" b="1">
                <a:solidFill>
                  <a:srgbClr val="F4F7FA"/>
                </a:solidFill>
              </a:rPr>
              <a:t>0–4</a:t>
            </a:r>
            <a:endParaRPr lang="en-US" sz="1100" dirty="0"/>
          </a:p>
        </p:txBody>
      </p:sp>
      <p:sp>
        <p:nvSpPr>
          <p:cNvPr id="79" name="Text 77"/>
          <p:cNvSpPr/>
          <p:nvPr/>
        </p:nvSpPr>
        <p:spPr>
          <a:xfrm>
            <a:off x="10469880" y="3063240"/>
            <a:ext cx="548640" cy="146304"/>
          </a:xfrm>
          <a:prstGeom prst="rect">
            <a:avLst/>
          </a:prstGeom>
          <a:noFill/>
          <a:ln/>
        </p:spPr>
        <p:txBody>
          <a:bodyPr wrap="square" lIns="0" tIns="0" rIns="0" bIns="0" rtlCol="0" anchor="ctr">
            <a:noAutofit/>
          </a:bodyPr>
          <a:lstStyle/>
          <a:p>
            <a:pPr marL="0" indent="0" algn="ctr">
              <a:buNone/>
            </a:pPr>
            <a:r>
              <a:rPr lang="en-US" sz="1100" b="1">
                <a:solidFill>
                  <a:srgbClr val="F4F7FA"/>
                </a:solidFill>
              </a:rPr>
              <a:t>5–9</a:t>
            </a:r>
            <a:endParaRPr lang="en-US" sz="1100" dirty="0"/>
          </a:p>
        </p:txBody>
      </p:sp>
      <p:sp>
        <p:nvSpPr>
          <p:cNvPr id="80" name="Text 78"/>
          <p:cNvSpPr/>
          <p:nvPr/>
        </p:nvSpPr>
        <p:spPr>
          <a:xfrm>
            <a:off x="932688" y="5074920"/>
            <a:ext cx="6583680" cy="393192"/>
          </a:xfrm>
          <a:prstGeom prst="rect">
            <a:avLst/>
          </a:prstGeom>
          <a:noFill/>
          <a:ln/>
        </p:spPr>
        <p:txBody>
          <a:bodyPr wrap="square" lIns="0" tIns="0" rIns="0" bIns="0" rtlCol="0" anchor="ctr">
            <a:noAutofit/>
          </a:bodyPr>
          <a:lstStyle/>
          <a:p>
            <a:pPr marL="0" indent="0">
              <a:buNone/>
            </a:pPr>
            <a:r>
              <a:rPr lang="en-US" sz="1550" b="1">
                <a:solidFill>
                  <a:srgbClr val="F4F7FA"/>
                </a:solidFill>
              </a:rPr>
              <a:t>Batch 64 performs 1.56 million multiply–accumulates in this convolution.</a:t>
            </a:r>
            <a:endParaRPr lang="en-US" sz="1550" dirty="0"/>
          </a:p>
        </p:txBody>
      </p:sp>
      <p:sp>
        <p:nvSpPr>
          <p:cNvPr id="81" name="Text 79"/>
          <p:cNvSpPr/>
          <p:nvPr/>
        </p:nvSpPr>
        <p:spPr>
          <a:xfrm>
            <a:off x="7726680" y="5047488"/>
            <a:ext cx="3337560" cy="438912"/>
          </a:xfrm>
          <a:prstGeom prst="rect">
            <a:avLst/>
          </a:prstGeom>
          <a:noFill/>
          <a:ln/>
        </p:spPr>
        <p:txBody>
          <a:bodyPr wrap="square" lIns="0" tIns="0" rIns="0" bIns="0" rtlCol="0" anchor="ctr">
            <a:noAutofit/>
          </a:bodyPr>
          <a:lstStyle/>
          <a:p>
            <a:pPr marL="0" indent="0" algn="r">
              <a:buNone/>
            </a:pPr>
            <a:r>
              <a:rPr lang="en-US" sz="1400" b="1">
                <a:solidFill>
                  <a:srgbClr val="A3E635"/>
                </a:solidFill>
              </a:rPr>
              <a:t>Each output is a separate weighted sum: a natural parallel work item.</a:t>
            </a:r>
            <a:endParaRPr lang="en-US" sz="1400" dirty="0"/>
          </a:p>
        </p:txBody>
      </p:sp>
      <p:sp>
        <p:nvSpPr>
          <p:cNvPr id="82"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Where parallelism helps in a CNN</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Parallelize within a layer and across images. Convolution, pooling and classification still follow data dependencies.</a:t>
            </a:r>
            <a:endParaRPr lang="en-US" sz="1150" dirty="0"/>
          </a:p>
        </p:txBody>
      </p:sp>
      <p:sp>
        <p:nvSpPr>
          <p:cNvPr id="6" name="Shape 4"/>
          <p:cNvSpPr/>
          <p:nvPr/>
        </p:nvSpPr>
        <p:spPr>
          <a:xfrm>
            <a:off x="603504" y="1234440"/>
            <a:ext cx="5257800" cy="4983480"/>
          </a:xfrm>
          <a:prstGeom prst="roundRect">
            <a:avLst>
              <a:gd name="adj" fmla="val 1468"/>
            </a:avLst>
          </a:prstGeom>
          <a:solidFill>
            <a:srgbClr val="121923"/>
          </a:solidFill>
          <a:ln w="12700">
            <a:solidFill>
              <a:srgbClr val="25303D"/>
            </a:solidFill>
            <a:prstDash val="solid"/>
          </a:ln>
        </p:spPr>
      </p:sp>
      <p:sp>
        <p:nvSpPr>
          <p:cNvPr id="7" name="Shape 5"/>
          <p:cNvSpPr/>
          <p:nvPr/>
        </p:nvSpPr>
        <p:spPr>
          <a:xfrm>
            <a:off x="868680" y="1499616"/>
            <a:ext cx="1234440" cy="310896"/>
          </a:xfrm>
          <a:prstGeom prst="roundRect">
            <a:avLst>
              <a:gd name="adj" fmla="val 17647"/>
            </a:avLst>
          </a:prstGeom>
          <a:solidFill>
            <a:srgbClr val="FF6B6B">
              <a:alpha val="14000"/>
            </a:srgbClr>
          </a:solidFill>
          <a:ln w="12700">
            <a:solidFill>
              <a:srgbClr val="FF6B6B">
                <a:alpha val="45000"/>
              </a:srgbClr>
            </a:solidFill>
            <a:prstDash val="solid"/>
          </a:ln>
        </p:spPr>
      </p:sp>
      <p:sp>
        <p:nvSpPr>
          <p:cNvPr id="8" name="Text 6"/>
          <p:cNvSpPr/>
          <p:nvPr/>
        </p:nvSpPr>
        <p:spPr>
          <a:xfrm>
            <a:off x="868680" y="1577340"/>
            <a:ext cx="123444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6B6B"/>
                </a:solidFill>
              </a:rPr>
              <a:t>SEQUENTIAL</a:t>
            </a:r>
            <a:endParaRPr lang="en-US" sz="850" dirty="0"/>
          </a:p>
        </p:txBody>
      </p:sp>
      <p:sp>
        <p:nvSpPr>
          <p:cNvPr id="9" name="Text 7"/>
          <p:cNvSpPr/>
          <p:nvPr/>
        </p:nvSpPr>
        <p:spPr>
          <a:xfrm>
            <a:off x="868680" y="1947672"/>
            <a:ext cx="4480560" cy="329184"/>
          </a:xfrm>
          <a:prstGeom prst="rect">
            <a:avLst/>
          </a:prstGeom>
          <a:noFill/>
          <a:ln/>
        </p:spPr>
        <p:txBody>
          <a:bodyPr wrap="square" lIns="0" tIns="0" rIns="0" bIns="0" rtlCol="0" anchor="ctr">
            <a:noAutofit/>
          </a:bodyPr>
          <a:lstStyle/>
          <a:p>
            <a:pPr marL="0" indent="0">
              <a:buNone/>
            </a:pPr>
            <a:r>
              <a:rPr lang="en-US" sz="1600" b="1" dirty="0">
                <a:solidFill>
                  <a:srgbClr val="F4F7FA"/>
                </a:solidFill>
              </a:rPr>
              <a:t>One worker repeatedly computes output cells</a:t>
            </a:r>
            <a:endParaRPr lang="en-US" sz="1600" dirty="0"/>
          </a:p>
        </p:txBody>
      </p:sp>
      <p:sp>
        <p:nvSpPr>
          <p:cNvPr id="10" name="Shape 8"/>
          <p:cNvSpPr/>
          <p:nvPr/>
        </p:nvSpPr>
        <p:spPr>
          <a:xfrm>
            <a:off x="914400" y="2578608"/>
            <a:ext cx="420624" cy="438912"/>
          </a:xfrm>
          <a:prstGeom prst="roundRect">
            <a:avLst>
              <a:gd name="adj" fmla="val 8696"/>
            </a:avLst>
          </a:prstGeom>
          <a:solidFill>
            <a:srgbClr val="FF6B6B">
              <a:alpha val="95000"/>
            </a:srgbClr>
          </a:solidFill>
          <a:ln w="12700">
            <a:solidFill>
              <a:srgbClr val="FF6B6B"/>
            </a:solidFill>
            <a:prstDash val="solid"/>
          </a:ln>
        </p:spPr>
      </p:sp>
      <p:sp>
        <p:nvSpPr>
          <p:cNvPr id="11" name="Text 9"/>
          <p:cNvSpPr/>
          <p:nvPr/>
        </p:nvSpPr>
        <p:spPr>
          <a:xfrm>
            <a:off x="914400"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1</a:t>
            </a:r>
            <a:endParaRPr lang="en-US" sz="1000" dirty="0"/>
          </a:p>
        </p:txBody>
      </p:sp>
      <p:sp>
        <p:nvSpPr>
          <p:cNvPr id="12" name="Shape 10"/>
          <p:cNvSpPr/>
          <p:nvPr/>
        </p:nvSpPr>
        <p:spPr>
          <a:xfrm>
            <a:off x="1444752" y="2578608"/>
            <a:ext cx="420624" cy="438912"/>
          </a:xfrm>
          <a:prstGeom prst="roundRect">
            <a:avLst>
              <a:gd name="adj" fmla="val 8696"/>
            </a:avLst>
          </a:prstGeom>
          <a:solidFill>
            <a:srgbClr val="27313D"/>
          </a:solidFill>
          <a:ln w="12700">
            <a:solidFill>
              <a:srgbClr val="3A4654"/>
            </a:solidFill>
            <a:prstDash val="solid"/>
          </a:ln>
        </p:spPr>
      </p:sp>
      <p:sp>
        <p:nvSpPr>
          <p:cNvPr id="13" name="Text 11"/>
          <p:cNvSpPr/>
          <p:nvPr/>
        </p:nvSpPr>
        <p:spPr>
          <a:xfrm>
            <a:off x="1444752"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2</a:t>
            </a:r>
            <a:endParaRPr lang="en-US" sz="1000" dirty="0"/>
          </a:p>
        </p:txBody>
      </p:sp>
      <p:sp>
        <p:nvSpPr>
          <p:cNvPr id="14" name="Shape 12"/>
          <p:cNvSpPr/>
          <p:nvPr/>
        </p:nvSpPr>
        <p:spPr>
          <a:xfrm>
            <a:off x="1975104" y="2578608"/>
            <a:ext cx="420624" cy="438912"/>
          </a:xfrm>
          <a:prstGeom prst="roundRect">
            <a:avLst>
              <a:gd name="adj" fmla="val 8696"/>
            </a:avLst>
          </a:prstGeom>
          <a:solidFill>
            <a:srgbClr val="27313D"/>
          </a:solidFill>
          <a:ln w="12700">
            <a:solidFill>
              <a:srgbClr val="3A4654"/>
            </a:solidFill>
            <a:prstDash val="solid"/>
          </a:ln>
        </p:spPr>
      </p:sp>
      <p:sp>
        <p:nvSpPr>
          <p:cNvPr id="15" name="Text 13"/>
          <p:cNvSpPr/>
          <p:nvPr/>
        </p:nvSpPr>
        <p:spPr>
          <a:xfrm>
            <a:off x="1975104"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3</a:t>
            </a:r>
            <a:endParaRPr lang="en-US" sz="1000" dirty="0"/>
          </a:p>
        </p:txBody>
      </p:sp>
      <p:sp>
        <p:nvSpPr>
          <p:cNvPr id="16" name="Shape 14"/>
          <p:cNvSpPr/>
          <p:nvPr/>
        </p:nvSpPr>
        <p:spPr>
          <a:xfrm>
            <a:off x="2505456" y="2578608"/>
            <a:ext cx="420624" cy="438912"/>
          </a:xfrm>
          <a:prstGeom prst="roundRect">
            <a:avLst>
              <a:gd name="adj" fmla="val 8696"/>
            </a:avLst>
          </a:prstGeom>
          <a:solidFill>
            <a:srgbClr val="27313D"/>
          </a:solidFill>
          <a:ln w="12700">
            <a:solidFill>
              <a:srgbClr val="3A4654"/>
            </a:solidFill>
            <a:prstDash val="solid"/>
          </a:ln>
        </p:spPr>
      </p:sp>
      <p:sp>
        <p:nvSpPr>
          <p:cNvPr id="17" name="Text 15"/>
          <p:cNvSpPr/>
          <p:nvPr/>
        </p:nvSpPr>
        <p:spPr>
          <a:xfrm>
            <a:off x="2505456"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4</a:t>
            </a:r>
            <a:endParaRPr lang="en-US" sz="1000" dirty="0"/>
          </a:p>
        </p:txBody>
      </p:sp>
      <p:sp>
        <p:nvSpPr>
          <p:cNvPr id="18" name="Shape 16"/>
          <p:cNvSpPr/>
          <p:nvPr/>
        </p:nvSpPr>
        <p:spPr>
          <a:xfrm>
            <a:off x="3035808" y="2578608"/>
            <a:ext cx="420624" cy="438912"/>
          </a:xfrm>
          <a:prstGeom prst="roundRect">
            <a:avLst>
              <a:gd name="adj" fmla="val 8696"/>
            </a:avLst>
          </a:prstGeom>
          <a:solidFill>
            <a:srgbClr val="27313D"/>
          </a:solidFill>
          <a:ln w="12700">
            <a:solidFill>
              <a:srgbClr val="3A4654"/>
            </a:solidFill>
            <a:prstDash val="solid"/>
          </a:ln>
        </p:spPr>
      </p:sp>
      <p:sp>
        <p:nvSpPr>
          <p:cNvPr id="19" name="Text 17"/>
          <p:cNvSpPr/>
          <p:nvPr/>
        </p:nvSpPr>
        <p:spPr>
          <a:xfrm>
            <a:off x="3035808"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5</a:t>
            </a:r>
            <a:endParaRPr lang="en-US" sz="1000" dirty="0"/>
          </a:p>
        </p:txBody>
      </p:sp>
      <p:sp>
        <p:nvSpPr>
          <p:cNvPr id="20" name="Shape 18"/>
          <p:cNvSpPr/>
          <p:nvPr/>
        </p:nvSpPr>
        <p:spPr>
          <a:xfrm>
            <a:off x="3566160" y="2578608"/>
            <a:ext cx="420624" cy="438912"/>
          </a:xfrm>
          <a:prstGeom prst="roundRect">
            <a:avLst>
              <a:gd name="adj" fmla="val 8696"/>
            </a:avLst>
          </a:prstGeom>
          <a:solidFill>
            <a:srgbClr val="27313D"/>
          </a:solidFill>
          <a:ln w="12700">
            <a:solidFill>
              <a:srgbClr val="3A4654"/>
            </a:solidFill>
            <a:prstDash val="solid"/>
          </a:ln>
        </p:spPr>
      </p:sp>
      <p:sp>
        <p:nvSpPr>
          <p:cNvPr id="21" name="Text 19"/>
          <p:cNvSpPr/>
          <p:nvPr/>
        </p:nvSpPr>
        <p:spPr>
          <a:xfrm>
            <a:off x="3566160"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6</a:t>
            </a:r>
            <a:endParaRPr lang="en-US" sz="1000" dirty="0"/>
          </a:p>
        </p:txBody>
      </p:sp>
      <p:sp>
        <p:nvSpPr>
          <p:cNvPr id="22" name="Shape 20"/>
          <p:cNvSpPr/>
          <p:nvPr/>
        </p:nvSpPr>
        <p:spPr>
          <a:xfrm>
            <a:off x="4096512" y="2578608"/>
            <a:ext cx="420624" cy="438912"/>
          </a:xfrm>
          <a:prstGeom prst="roundRect">
            <a:avLst>
              <a:gd name="adj" fmla="val 8696"/>
            </a:avLst>
          </a:prstGeom>
          <a:solidFill>
            <a:srgbClr val="27313D"/>
          </a:solidFill>
          <a:ln w="12700">
            <a:solidFill>
              <a:srgbClr val="3A4654"/>
            </a:solidFill>
            <a:prstDash val="solid"/>
          </a:ln>
        </p:spPr>
      </p:sp>
      <p:sp>
        <p:nvSpPr>
          <p:cNvPr id="23" name="Text 21"/>
          <p:cNvSpPr/>
          <p:nvPr/>
        </p:nvSpPr>
        <p:spPr>
          <a:xfrm>
            <a:off x="4096512"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7</a:t>
            </a:r>
            <a:endParaRPr lang="en-US" sz="1000" dirty="0"/>
          </a:p>
        </p:txBody>
      </p:sp>
      <p:sp>
        <p:nvSpPr>
          <p:cNvPr id="24" name="Shape 22"/>
          <p:cNvSpPr/>
          <p:nvPr/>
        </p:nvSpPr>
        <p:spPr>
          <a:xfrm>
            <a:off x="4626864" y="2578608"/>
            <a:ext cx="420624" cy="438912"/>
          </a:xfrm>
          <a:prstGeom prst="roundRect">
            <a:avLst>
              <a:gd name="adj" fmla="val 8696"/>
            </a:avLst>
          </a:prstGeom>
          <a:solidFill>
            <a:srgbClr val="27313D"/>
          </a:solidFill>
          <a:ln w="12700">
            <a:solidFill>
              <a:srgbClr val="3A4654"/>
            </a:solidFill>
            <a:prstDash val="solid"/>
          </a:ln>
        </p:spPr>
      </p:sp>
      <p:sp>
        <p:nvSpPr>
          <p:cNvPr id="25" name="Text 23"/>
          <p:cNvSpPr/>
          <p:nvPr/>
        </p:nvSpPr>
        <p:spPr>
          <a:xfrm>
            <a:off x="4626864"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8</a:t>
            </a:r>
            <a:endParaRPr lang="en-US" sz="1000" dirty="0"/>
          </a:p>
        </p:txBody>
      </p:sp>
      <p:sp>
        <p:nvSpPr>
          <p:cNvPr id="26" name="Shape 24"/>
          <p:cNvSpPr/>
          <p:nvPr/>
        </p:nvSpPr>
        <p:spPr>
          <a:xfrm>
            <a:off x="914400" y="3310128"/>
            <a:ext cx="4224528" cy="0"/>
          </a:xfrm>
          <a:prstGeom prst="line">
            <a:avLst/>
          </a:prstGeom>
          <a:noFill/>
          <a:ln w="25400">
            <a:solidFill>
              <a:srgbClr val="FF6B6B"/>
            </a:solidFill>
            <a:prstDash val="solid"/>
            <a:headEnd type="none"/>
            <a:tailEnd type="triangle"/>
          </a:ln>
        </p:spPr>
      </p:sp>
      <p:sp>
        <p:nvSpPr>
          <p:cNvPr id="27" name="Text 25"/>
          <p:cNvSpPr/>
          <p:nvPr/>
        </p:nvSpPr>
        <p:spPr>
          <a:xfrm>
            <a:off x="5010912" y="3456432"/>
            <a:ext cx="457200" cy="182880"/>
          </a:xfrm>
          <a:prstGeom prst="rect">
            <a:avLst/>
          </a:prstGeom>
          <a:noFill/>
          <a:ln/>
        </p:spPr>
        <p:txBody>
          <a:bodyPr wrap="square" lIns="0" tIns="0" rIns="0" bIns="0" rtlCol="0" anchor="ctr">
            <a:noAutofit/>
          </a:bodyPr>
          <a:lstStyle/>
          <a:p>
            <a:pPr marL="0" indent="0">
              <a:buNone/>
            </a:pPr>
            <a:r>
              <a:rPr lang="en-US" sz="1000" dirty="0">
                <a:solidFill>
                  <a:srgbClr val="7E8A97"/>
                </a:solidFill>
              </a:rPr>
              <a:t>time →</a:t>
            </a:r>
            <a:endParaRPr lang="en-US" sz="1000" dirty="0"/>
          </a:p>
        </p:txBody>
      </p:sp>
      <p:sp>
        <p:nvSpPr>
          <p:cNvPr id="28" name="Text 26"/>
          <p:cNvSpPr/>
          <p:nvPr/>
        </p:nvSpPr>
        <p:spPr>
          <a:xfrm>
            <a:off x="914400" y="3858768"/>
            <a:ext cx="4434840" cy="1554480"/>
          </a:xfrm>
          <a:prstGeom prst="rect">
            <a:avLst/>
          </a:prstGeom>
          <a:noFill/>
          <a:ln/>
        </p:spPr>
        <p:txBody>
          <a:bodyPr wrap="square" lIns="381" tIns="381" rIns="381" bIns="381" rtlCol="0" anchor="ctr">
            <a:noAutofit/>
          </a:bodyPr>
          <a:lstStyle/>
          <a:p>
            <a:pPr marL="177800" indent="-177800">
              <a:buSzPct val="100000"/>
              <a:buChar char="•"/>
            </a:pPr>
            <a:r>
              <a:rPr lang="en-US" sz="1400">
                <a:solidFill>
                  <a:srgbClr val="C7D0D9"/>
                </a:solidFill>
              </a:rPr>
              <a:t>Traverse images, filters and output positions</a:t>
            </a:r>
          </a:p>
          <a:p>
            <a:pPr marL="177800" indent="-177800">
              <a:buSzPct val="100000"/>
              <a:buChar char="•"/>
            </a:pPr>
            <a:r>
              <a:rPr lang="en-US" sz="1400">
                <a:solidFill>
                  <a:srgbClr val="C7D0D9"/>
                </a:solidFill>
              </a:rPr>
              <a:t>Multiply and sum each 3×3 patch plus bias</a:t>
            </a:r>
          </a:p>
          <a:p>
            <a:pPr marL="177800" indent="-177800">
              <a:buSzPct val="100000"/>
              <a:buChar char="•"/>
            </a:pPr>
            <a:r>
              <a:rPr lang="en-US" sz="1400">
                <a:solidFill>
                  <a:srgbClr val="C7D0D9"/>
                </a:solidFill>
              </a:rPr>
              <a:t>Store each output in a separate tensor slot</a:t>
            </a:r>
          </a:p>
          <a:p>
            <a:pPr marL="177800" indent="-177800">
              <a:buSzPct val="100000"/>
              <a:buChar char="•"/>
            </a:pPr>
            <a:r>
              <a:rPr lang="en-US" sz="1400">
                <a:solidFill>
                  <a:srgbClr val="C7D0D9"/>
                </a:solidFill>
              </a:rPr>
              <a:t>The next layer needs completed inputs</a:t>
            </a:r>
            <a:endParaRPr lang="en-US" sz="1400" dirty="0"/>
          </a:p>
        </p:txBody>
      </p:sp>
      <p:sp>
        <p:nvSpPr>
          <p:cNvPr id="29" name="Shape 27"/>
          <p:cNvSpPr/>
          <p:nvPr/>
        </p:nvSpPr>
        <p:spPr>
          <a:xfrm>
            <a:off x="6108192" y="1234440"/>
            <a:ext cx="5468112" cy="4983480"/>
          </a:xfrm>
          <a:prstGeom prst="roundRect">
            <a:avLst>
              <a:gd name="adj" fmla="val 1468"/>
            </a:avLst>
          </a:prstGeom>
          <a:solidFill>
            <a:srgbClr val="121923"/>
          </a:solidFill>
          <a:ln w="12700">
            <a:solidFill>
              <a:srgbClr val="25303D"/>
            </a:solidFill>
            <a:prstDash val="solid"/>
          </a:ln>
        </p:spPr>
      </p:sp>
      <p:sp>
        <p:nvSpPr>
          <p:cNvPr id="30" name="Shape 28"/>
          <p:cNvSpPr/>
          <p:nvPr/>
        </p:nvSpPr>
        <p:spPr>
          <a:xfrm>
            <a:off x="6382512" y="1499616"/>
            <a:ext cx="109728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31" name="Text 29"/>
          <p:cNvSpPr/>
          <p:nvPr/>
        </p:nvSpPr>
        <p:spPr>
          <a:xfrm>
            <a:off x="6382512" y="1577340"/>
            <a:ext cx="109728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PARALLEL</a:t>
            </a:r>
            <a:endParaRPr lang="en-US" sz="850" dirty="0"/>
          </a:p>
        </p:txBody>
      </p:sp>
      <p:sp>
        <p:nvSpPr>
          <p:cNvPr id="32" name="Text 30"/>
          <p:cNvSpPr/>
          <p:nvPr/>
        </p:nvSpPr>
        <p:spPr>
          <a:xfrm>
            <a:off x="6382512" y="1947672"/>
            <a:ext cx="4572000" cy="508000"/>
          </a:xfrm>
          <a:prstGeom prst="rect">
            <a:avLst/>
          </a:prstGeom>
          <a:noFill/>
          <a:ln/>
        </p:spPr>
        <p:txBody>
          <a:bodyPr wrap="square" lIns="0" tIns="0" rIns="0" bIns="0" rtlCol="0" anchor="ctr">
            <a:noAutofit/>
          </a:bodyPr>
          <a:lstStyle/>
          <a:p>
            <a:pPr marL="0" indent="0">
              <a:buNone/>
            </a:pPr>
            <a:r>
              <a:rPr lang="en-US" sz="1600" b="1" dirty="0">
                <a:solidFill>
                  <a:srgbClr val="F4F7FA"/>
                </a:solidFill>
              </a:rPr>
              <a:t>Many workers compute independent cells together</a:t>
            </a:r>
            <a:endParaRPr lang="en-US" sz="1600" dirty="0"/>
          </a:p>
        </p:txBody>
      </p:sp>
      <p:sp>
        <p:nvSpPr>
          <p:cNvPr id="33" name="Shape 31"/>
          <p:cNvSpPr/>
          <p:nvPr/>
        </p:nvSpPr>
        <p:spPr>
          <a:xfrm>
            <a:off x="6446520"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34" name="Text 32"/>
          <p:cNvSpPr/>
          <p:nvPr/>
        </p:nvSpPr>
        <p:spPr>
          <a:xfrm>
            <a:off x="6446520"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T1</a:t>
            </a:r>
            <a:endParaRPr lang="en-US" sz="1000" dirty="0"/>
          </a:p>
        </p:txBody>
      </p:sp>
      <p:sp>
        <p:nvSpPr>
          <p:cNvPr id="35" name="Shape 33"/>
          <p:cNvSpPr/>
          <p:nvPr/>
        </p:nvSpPr>
        <p:spPr>
          <a:xfrm>
            <a:off x="7379208"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36" name="Text 34"/>
          <p:cNvSpPr/>
          <p:nvPr/>
        </p:nvSpPr>
        <p:spPr>
          <a:xfrm>
            <a:off x="7379208"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T2</a:t>
            </a:r>
            <a:endParaRPr lang="en-US" sz="1000" dirty="0"/>
          </a:p>
        </p:txBody>
      </p:sp>
      <p:sp>
        <p:nvSpPr>
          <p:cNvPr id="37" name="Shape 35"/>
          <p:cNvSpPr/>
          <p:nvPr/>
        </p:nvSpPr>
        <p:spPr>
          <a:xfrm>
            <a:off x="8311896"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38" name="Text 36"/>
          <p:cNvSpPr/>
          <p:nvPr/>
        </p:nvSpPr>
        <p:spPr>
          <a:xfrm>
            <a:off x="8311896"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T3</a:t>
            </a:r>
            <a:endParaRPr lang="en-US" sz="1000" dirty="0"/>
          </a:p>
        </p:txBody>
      </p:sp>
      <p:sp>
        <p:nvSpPr>
          <p:cNvPr id="39" name="Shape 37"/>
          <p:cNvSpPr/>
          <p:nvPr/>
        </p:nvSpPr>
        <p:spPr>
          <a:xfrm>
            <a:off x="9244584"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40" name="Text 38"/>
          <p:cNvSpPr/>
          <p:nvPr/>
        </p:nvSpPr>
        <p:spPr>
          <a:xfrm>
            <a:off x="9244584"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T4</a:t>
            </a:r>
            <a:endParaRPr lang="en-US" sz="1000" dirty="0"/>
          </a:p>
        </p:txBody>
      </p:sp>
      <p:sp>
        <p:nvSpPr>
          <p:cNvPr id="41" name="Shape 39"/>
          <p:cNvSpPr/>
          <p:nvPr/>
        </p:nvSpPr>
        <p:spPr>
          <a:xfrm>
            <a:off x="6446520"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2" name="Text 40"/>
          <p:cNvSpPr/>
          <p:nvPr/>
        </p:nvSpPr>
        <p:spPr>
          <a:xfrm>
            <a:off x="6446520"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T5</a:t>
            </a:r>
            <a:endParaRPr lang="en-US" sz="1000" dirty="0"/>
          </a:p>
        </p:txBody>
      </p:sp>
      <p:sp>
        <p:nvSpPr>
          <p:cNvPr id="43" name="Shape 41"/>
          <p:cNvSpPr/>
          <p:nvPr/>
        </p:nvSpPr>
        <p:spPr>
          <a:xfrm>
            <a:off x="7379208"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4" name="Text 42"/>
          <p:cNvSpPr/>
          <p:nvPr/>
        </p:nvSpPr>
        <p:spPr>
          <a:xfrm>
            <a:off x="7379208"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T6</a:t>
            </a:r>
            <a:endParaRPr lang="en-US" sz="1000" dirty="0"/>
          </a:p>
        </p:txBody>
      </p:sp>
      <p:sp>
        <p:nvSpPr>
          <p:cNvPr id="45" name="Shape 43"/>
          <p:cNvSpPr/>
          <p:nvPr/>
        </p:nvSpPr>
        <p:spPr>
          <a:xfrm>
            <a:off x="8311896"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6" name="Text 44"/>
          <p:cNvSpPr/>
          <p:nvPr/>
        </p:nvSpPr>
        <p:spPr>
          <a:xfrm>
            <a:off x="8311896"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T7</a:t>
            </a:r>
            <a:endParaRPr lang="en-US" sz="1000" dirty="0"/>
          </a:p>
        </p:txBody>
      </p:sp>
      <p:sp>
        <p:nvSpPr>
          <p:cNvPr id="47" name="Shape 45"/>
          <p:cNvSpPr/>
          <p:nvPr/>
        </p:nvSpPr>
        <p:spPr>
          <a:xfrm>
            <a:off x="9244584"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8" name="Text 46"/>
          <p:cNvSpPr/>
          <p:nvPr/>
        </p:nvSpPr>
        <p:spPr>
          <a:xfrm>
            <a:off x="9244584"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T8</a:t>
            </a:r>
            <a:endParaRPr lang="en-US" sz="1000" dirty="0"/>
          </a:p>
        </p:txBody>
      </p:sp>
      <p:sp>
        <p:nvSpPr>
          <p:cNvPr id="49" name="Text 47"/>
          <p:cNvSpPr/>
          <p:nvPr/>
        </p:nvSpPr>
        <p:spPr>
          <a:xfrm>
            <a:off x="6446520" y="3886200"/>
            <a:ext cx="3474720" cy="219456"/>
          </a:xfrm>
          <a:prstGeom prst="rect">
            <a:avLst/>
          </a:prstGeom>
          <a:noFill/>
          <a:ln/>
        </p:spPr>
        <p:txBody>
          <a:bodyPr wrap="square" lIns="0" tIns="0" rIns="0" bIns="0" rtlCol="0" anchor="ctr">
            <a:noAutofit/>
          </a:bodyPr>
          <a:lstStyle/>
          <a:p>
            <a:pPr marL="0" indent="0">
              <a:buNone/>
            </a:pPr>
            <a:r>
              <a:rPr lang="en-US" sz="1100" dirty="0">
                <a:solidFill>
                  <a:srgbClr val="A3E635"/>
                </a:solidFill>
              </a:rPr>
              <a:t>same time window</a:t>
            </a:r>
            <a:endParaRPr lang="en-US" sz="1100" dirty="0"/>
          </a:p>
        </p:txBody>
      </p:sp>
      <p:sp>
        <p:nvSpPr>
          <p:cNvPr id="50" name="Shape 48"/>
          <p:cNvSpPr/>
          <p:nvPr/>
        </p:nvSpPr>
        <p:spPr>
          <a:xfrm>
            <a:off x="6400800" y="4343400"/>
            <a:ext cx="1691640"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51" name="Text 49"/>
          <p:cNvSpPr/>
          <p:nvPr/>
        </p:nvSpPr>
        <p:spPr>
          <a:xfrm>
            <a:off x="6400800" y="443026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CONV / GEMM</a:t>
            </a:r>
            <a:endParaRPr lang="en-US" sz="900" dirty="0"/>
          </a:p>
        </p:txBody>
      </p:sp>
      <p:sp>
        <p:nvSpPr>
          <p:cNvPr id="52" name="Shape 50"/>
          <p:cNvSpPr/>
          <p:nvPr/>
        </p:nvSpPr>
        <p:spPr>
          <a:xfrm>
            <a:off x="8366760" y="4343400"/>
            <a:ext cx="1691640" cy="347472"/>
          </a:xfrm>
          <a:prstGeom prst="roundRect">
            <a:avLst>
              <a:gd name="adj" fmla="val 13158"/>
            </a:avLst>
          </a:prstGeom>
          <a:solidFill>
            <a:srgbClr val="41D9FF">
              <a:alpha val="18000"/>
            </a:srgbClr>
          </a:solidFill>
          <a:ln w="12700">
            <a:solidFill>
              <a:srgbClr val="41D9FF">
                <a:alpha val="50000"/>
              </a:srgbClr>
            </a:solidFill>
            <a:prstDash val="solid"/>
          </a:ln>
        </p:spPr>
      </p:sp>
      <p:sp>
        <p:nvSpPr>
          <p:cNvPr id="53" name="Text 51"/>
          <p:cNvSpPr/>
          <p:nvPr/>
        </p:nvSpPr>
        <p:spPr>
          <a:xfrm>
            <a:off x="8366760" y="443026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41D9FF"/>
                </a:solidFill>
              </a:rPr>
              <a:t>ACTIVATION</a:t>
            </a:r>
            <a:endParaRPr lang="en-US" sz="900" dirty="0"/>
          </a:p>
        </p:txBody>
      </p:sp>
      <p:sp>
        <p:nvSpPr>
          <p:cNvPr id="54" name="Shape 52"/>
          <p:cNvSpPr/>
          <p:nvPr/>
        </p:nvSpPr>
        <p:spPr>
          <a:xfrm>
            <a:off x="6400800" y="4892040"/>
            <a:ext cx="1691640" cy="347472"/>
          </a:xfrm>
          <a:prstGeom prst="roundRect">
            <a:avLst>
              <a:gd name="adj" fmla="val 13158"/>
            </a:avLst>
          </a:prstGeom>
          <a:solidFill>
            <a:srgbClr val="A78BFA">
              <a:alpha val="18000"/>
            </a:srgbClr>
          </a:solidFill>
          <a:ln w="12700">
            <a:solidFill>
              <a:srgbClr val="A78BFA">
                <a:alpha val="50000"/>
              </a:srgbClr>
            </a:solidFill>
            <a:prstDash val="solid"/>
          </a:ln>
        </p:spPr>
      </p:sp>
      <p:sp>
        <p:nvSpPr>
          <p:cNvPr id="55" name="Text 53"/>
          <p:cNvSpPr/>
          <p:nvPr/>
        </p:nvSpPr>
        <p:spPr>
          <a:xfrm>
            <a:off x="6400800" y="497890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A78BFA"/>
                </a:solidFill>
              </a:rPr>
              <a:t>POOLING</a:t>
            </a:r>
            <a:endParaRPr lang="en-US" sz="900" dirty="0"/>
          </a:p>
        </p:txBody>
      </p:sp>
      <p:sp>
        <p:nvSpPr>
          <p:cNvPr id="56" name="Shape 54"/>
          <p:cNvSpPr/>
          <p:nvPr/>
        </p:nvSpPr>
        <p:spPr>
          <a:xfrm>
            <a:off x="8366760" y="4892040"/>
            <a:ext cx="1691640" cy="347472"/>
          </a:xfrm>
          <a:prstGeom prst="roundRect">
            <a:avLst>
              <a:gd name="adj" fmla="val 13158"/>
            </a:avLst>
          </a:prstGeom>
          <a:solidFill>
            <a:srgbClr val="FFB454">
              <a:alpha val="18000"/>
            </a:srgbClr>
          </a:solidFill>
          <a:ln w="12700">
            <a:solidFill>
              <a:srgbClr val="FFB454">
                <a:alpha val="50000"/>
              </a:srgbClr>
            </a:solidFill>
            <a:prstDash val="solid"/>
          </a:ln>
        </p:spPr>
      </p:sp>
      <p:sp>
        <p:nvSpPr>
          <p:cNvPr id="57" name="Text 55"/>
          <p:cNvSpPr/>
          <p:nvPr/>
        </p:nvSpPr>
        <p:spPr>
          <a:xfrm>
            <a:off x="8366760" y="497890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FFB454"/>
                </a:solidFill>
              </a:rPr>
              <a:t>BATCHES</a:t>
            </a:r>
            <a:endParaRPr lang="en-US" sz="900" dirty="0"/>
          </a:p>
        </p:txBody>
      </p:sp>
      <p:sp>
        <p:nvSpPr>
          <p:cNvPr id="58" name="Text 56"/>
          <p:cNvSpPr/>
          <p:nvPr/>
        </p:nvSpPr>
        <p:spPr>
          <a:xfrm>
            <a:off x="6400800" y="5422900"/>
            <a:ext cx="4389120" cy="482600"/>
          </a:xfrm>
          <a:prstGeom prst="rect">
            <a:avLst/>
          </a:prstGeom>
          <a:noFill/>
          <a:ln/>
        </p:spPr>
        <p:txBody>
          <a:bodyPr wrap="square" lIns="0" tIns="0" rIns="0" bIns="0" rtlCol="0" anchor="ctr">
            <a:noAutofit/>
          </a:bodyPr>
          <a:lstStyle/>
          <a:p>
            <a:pPr marL="0" indent="0">
              <a:buNone/>
            </a:pPr>
            <a:r>
              <a:rPr lang="en-US" sz="1300" b="1">
                <a:solidFill>
                  <a:srgbClr val="F4F7FA"/>
                </a:solidFill>
              </a:rPr>
              <a:t>Forward outputs join in one tensor.</a:t>
            </a:r>
          </a:p>
          <a:p>
            <a:pPr marL="0" indent="0">
              <a:buNone/>
            </a:pPr>
            <a:r>
              <a:rPr lang="en-US" sz="1300" b="1">
                <a:solidFill>
                  <a:srgbClr val="F4F7FA"/>
                </a:solidFill>
              </a:rPr>
              <a:t>Backward sums contributions to shared weights.</a:t>
            </a:r>
            <a:endParaRPr lang="en-US" sz="1300" dirty="0"/>
          </a:p>
        </p:txBody>
      </p:sp>
      <p:sp>
        <p:nvSpPr>
          <p:cNvPr id="59" name="Text 57"/>
          <p:cNvSpPr/>
          <p:nvPr/>
        </p:nvSpPr>
        <p:spPr>
          <a:xfrm>
            <a:off x="6400800" y="5930900"/>
            <a:ext cx="4709160" cy="266700"/>
          </a:xfrm>
          <a:prstGeom prst="rect">
            <a:avLst/>
          </a:prstGeom>
          <a:noFill/>
          <a:ln/>
        </p:spPr>
        <p:txBody>
          <a:bodyPr wrap="square" lIns="0" tIns="0" rIns="0" bIns="0" rtlCol="0" anchor="ctr">
            <a:noAutofit/>
          </a:bodyPr>
          <a:lstStyle/>
          <a:p>
            <a:pPr marL="0" indent="0">
              <a:buNone/>
            </a:pPr>
            <a:r>
              <a:rPr lang="en-US" sz="1150">
                <a:solidFill>
                  <a:srgbClr val="7E8A97"/>
                </a:solidFill>
              </a:rPr>
              <a:t>CPU: loop-end barrier. GPU: kernel / stream dependencies.</a:t>
            </a:r>
            <a:endParaRPr lang="en-US" sz="1150" dirty="0"/>
          </a:p>
        </p:txBody>
      </p:sp>
      <p:sp>
        <p:nvSpPr>
          <p:cNvPr id="60"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How a CPU executes a CNN</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CPU training uses PyTorch. The native OpenMP benchmark illustrates convolution work sharing across four threads.</a:t>
            </a:r>
            <a:endParaRPr lang="en-US" sz="1150" dirty="0"/>
          </a:p>
        </p:txBody>
      </p:sp>
      <p:sp>
        <p:nvSpPr>
          <p:cNvPr id="6" name="Shape 4"/>
          <p:cNvSpPr/>
          <p:nvPr/>
        </p:nvSpPr>
        <p:spPr>
          <a:xfrm>
            <a:off x="603504" y="1207008"/>
            <a:ext cx="6400800" cy="5029200"/>
          </a:xfrm>
          <a:prstGeom prst="roundRect">
            <a:avLst>
              <a:gd name="adj" fmla="val 1455"/>
            </a:avLst>
          </a:prstGeom>
          <a:solidFill>
            <a:srgbClr val="121923"/>
          </a:solidFill>
          <a:ln w="12700">
            <a:solidFill>
              <a:srgbClr val="25303D"/>
            </a:solidFill>
            <a:prstDash val="solid"/>
          </a:ln>
        </p:spPr>
      </p:sp>
      <p:sp>
        <p:nvSpPr>
          <p:cNvPr id="7" name="Shape 5"/>
          <p:cNvSpPr/>
          <p:nvPr/>
        </p:nvSpPr>
        <p:spPr>
          <a:xfrm>
            <a:off x="877824" y="1481328"/>
            <a:ext cx="105156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77824" y="1559052"/>
            <a:ext cx="10515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CPU VIEW</a:t>
            </a:r>
            <a:endParaRPr lang="en-US" sz="850" dirty="0"/>
          </a:p>
        </p:txBody>
      </p:sp>
      <p:sp>
        <p:nvSpPr>
          <p:cNvPr id="9" name="Shape 7"/>
          <p:cNvSpPr/>
          <p:nvPr/>
        </p:nvSpPr>
        <p:spPr>
          <a:xfrm>
            <a:off x="960120" y="1965960"/>
            <a:ext cx="2743200" cy="2560320"/>
          </a:xfrm>
          <a:prstGeom prst="roundRect">
            <a:avLst>
              <a:gd name="adj" fmla="val 2857"/>
            </a:avLst>
          </a:prstGeom>
          <a:solidFill>
            <a:srgbClr val="0D2530"/>
          </a:solidFill>
          <a:ln w="19050">
            <a:solidFill>
              <a:srgbClr val="41D9FF"/>
            </a:solidFill>
            <a:prstDash val="solid"/>
          </a:ln>
        </p:spPr>
      </p:sp>
      <p:sp>
        <p:nvSpPr>
          <p:cNvPr id="10" name="Text 8"/>
          <p:cNvSpPr/>
          <p:nvPr/>
        </p:nvSpPr>
        <p:spPr>
          <a:xfrm>
            <a:off x="1060704" y="2130552"/>
            <a:ext cx="640080" cy="304800"/>
          </a:xfrm>
          <a:prstGeom prst="rect">
            <a:avLst/>
          </a:prstGeom>
          <a:noFill/>
          <a:ln/>
        </p:spPr>
        <p:txBody>
          <a:bodyPr wrap="square" lIns="0" tIns="0" rIns="0" bIns="0" rtlCol="0" anchor="ctr">
            <a:noAutofit/>
          </a:bodyPr>
          <a:lstStyle/>
          <a:p>
            <a:pPr marL="0" indent="0">
              <a:buNone/>
            </a:pPr>
            <a:r>
              <a:rPr lang="en-US" sz="1800" b="1" dirty="0">
                <a:solidFill>
                  <a:srgbClr val="41D9FF"/>
                </a:solidFill>
              </a:rPr>
              <a:t>CPU</a:t>
            </a:r>
            <a:endParaRPr lang="en-US" sz="1800" dirty="0"/>
          </a:p>
        </p:txBody>
      </p:sp>
      <p:sp>
        <p:nvSpPr>
          <p:cNvPr id="11" name="Shape 9"/>
          <p:cNvSpPr/>
          <p:nvPr/>
        </p:nvSpPr>
        <p:spPr>
          <a:xfrm>
            <a:off x="1270000" y="2857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2" name="Text 10"/>
          <p:cNvSpPr/>
          <p:nvPr/>
        </p:nvSpPr>
        <p:spPr>
          <a:xfrm>
            <a:off x="1270000" y="3048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T0</a:t>
            </a:r>
            <a:endParaRPr lang="en-US" sz="900" dirty="0"/>
          </a:p>
        </p:txBody>
      </p:sp>
      <p:sp>
        <p:nvSpPr>
          <p:cNvPr id="13" name="Shape 11"/>
          <p:cNvSpPr/>
          <p:nvPr/>
        </p:nvSpPr>
        <p:spPr>
          <a:xfrm>
            <a:off x="2413000" y="2857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4" name="Text 12"/>
          <p:cNvSpPr/>
          <p:nvPr/>
        </p:nvSpPr>
        <p:spPr>
          <a:xfrm>
            <a:off x="2413000" y="3048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T1</a:t>
            </a:r>
            <a:endParaRPr lang="en-US" sz="900" dirty="0"/>
          </a:p>
        </p:txBody>
      </p:sp>
      <p:sp>
        <p:nvSpPr>
          <p:cNvPr id="15" name="Shape 13"/>
          <p:cNvSpPr/>
          <p:nvPr/>
        </p:nvSpPr>
        <p:spPr>
          <a:xfrm>
            <a:off x="1270000" y="3619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6" name="Text 14"/>
          <p:cNvSpPr/>
          <p:nvPr/>
        </p:nvSpPr>
        <p:spPr>
          <a:xfrm>
            <a:off x="1270000" y="3810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T2</a:t>
            </a:r>
            <a:endParaRPr lang="en-US" sz="900" dirty="0"/>
          </a:p>
        </p:txBody>
      </p:sp>
      <p:sp>
        <p:nvSpPr>
          <p:cNvPr id="17" name="Shape 15"/>
          <p:cNvSpPr/>
          <p:nvPr/>
        </p:nvSpPr>
        <p:spPr>
          <a:xfrm>
            <a:off x="2413000" y="3619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8" name="Text 16"/>
          <p:cNvSpPr/>
          <p:nvPr/>
        </p:nvSpPr>
        <p:spPr>
          <a:xfrm>
            <a:off x="2413000" y="3810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T3</a:t>
            </a:r>
            <a:endParaRPr lang="en-US" sz="900" dirty="0"/>
          </a:p>
        </p:txBody>
      </p:sp>
      <p:sp>
        <p:nvSpPr>
          <p:cNvPr id="27" name="Text 25"/>
          <p:cNvSpPr/>
          <p:nvPr/>
        </p:nvSpPr>
        <p:spPr>
          <a:xfrm>
            <a:off x="4069080" y="2057400"/>
            <a:ext cx="2667000" cy="723900"/>
          </a:xfrm>
          <a:prstGeom prst="rect">
            <a:avLst/>
          </a:prstGeom>
          <a:noFill/>
          <a:ln/>
        </p:spPr>
        <p:txBody>
          <a:bodyPr wrap="square" lIns="0" tIns="0" rIns="0" bIns="0" rtlCol="0" anchor="ctr">
            <a:noAutofit/>
          </a:bodyPr>
          <a:lstStyle/>
          <a:p>
            <a:pPr marL="0" indent="0">
              <a:buNone/>
            </a:pPr>
            <a:r>
              <a:rPr lang="en-US" sz="1250" b="1">
                <a:solidFill>
                  <a:srgbClr val="F4F7FA"/>
                </a:solidFill>
              </a:rPr>
              <a:t>Static ranges across four threads</a:t>
            </a:r>
          </a:p>
          <a:p>
            <a:pPr marL="0" indent="0">
              <a:buNone/>
            </a:pPr>
            <a:r>
              <a:rPr lang="en-US" sz="1250" b="1">
                <a:solidFill>
                  <a:srgbClr val="F4F7FA"/>
                </a:solidFill>
              </a:rPr>
              <a:t>Shared input + weights; private sums</a:t>
            </a:r>
            <a:endParaRPr lang="en-US" sz="1250" dirty="0"/>
          </a:p>
        </p:txBody>
      </p:sp>
      <p:sp>
        <p:nvSpPr>
          <p:cNvPr id="28" name="Shape 26"/>
          <p:cNvSpPr/>
          <p:nvPr/>
        </p:nvSpPr>
        <p:spPr>
          <a:xfrm>
            <a:off x="4160520" y="2816352"/>
            <a:ext cx="384048" cy="384048"/>
          </a:xfrm>
          <a:prstGeom prst="rect">
            <a:avLst/>
          </a:prstGeom>
          <a:solidFill>
            <a:srgbClr val="41D9FF">
              <a:alpha val="72000"/>
            </a:srgbClr>
          </a:solidFill>
          <a:ln w="7620">
            <a:solidFill>
              <a:srgbClr val="536170"/>
            </a:solidFill>
            <a:prstDash val="solid"/>
          </a:ln>
        </p:spPr>
      </p:sp>
      <p:sp>
        <p:nvSpPr>
          <p:cNvPr id="29" name="Shape 27"/>
          <p:cNvSpPr/>
          <p:nvPr/>
        </p:nvSpPr>
        <p:spPr>
          <a:xfrm>
            <a:off x="4654296" y="2816352"/>
            <a:ext cx="384048" cy="384048"/>
          </a:xfrm>
          <a:prstGeom prst="rect">
            <a:avLst/>
          </a:prstGeom>
          <a:solidFill>
            <a:srgbClr val="A78BFA">
              <a:alpha val="72000"/>
            </a:srgbClr>
          </a:solidFill>
          <a:ln w="7620">
            <a:solidFill>
              <a:srgbClr val="536170"/>
            </a:solidFill>
            <a:prstDash val="solid"/>
          </a:ln>
        </p:spPr>
      </p:sp>
      <p:sp>
        <p:nvSpPr>
          <p:cNvPr id="30" name="Shape 28"/>
          <p:cNvSpPr/>
          <p:nvPr/>
        </p:nvSpPr>
        <p:spPr>
          <a:xfrm>
            <a:off x="5148072" y="2816352"/>
            <a:ext cx="384048" cy="384048"/>
          </a:xfrm>
          <a:prstGeom prst="rect">
            <a:avLst/>
          </a:prstGeom>
          <a:solidFill>
            <a:srgbClr val="41D9FF">
              <a:alpha val="72000"/>
            </a:srgbClr>
          </a:solidFill>
          <a:ln w="7620">
            <a:solidFill>
              <a:srgbClr val="536170"/>
            </a:solidFill>
            <a:prstDash val="solid"/>
          </a:ln>
        </p:spPr>
      </p:sp>
      <p:sp>
        <p:nvSpPr>
          <p:cNvPr id="31" name="Shape 29"/>
          <p:cNvSpPr/>
          <p:nvPr/>
        </p:nvSpPr>
        <p:spPr>
          <a:xfrm>
            <a:off x="5641848" y="2816352"/>
            <a:ext cx="384048" cy="384048"/>
          </a:xfrm>
          <a:prstGeom prst="rect">
            <a:avLst/>
          </a:prstGeom>
          <a:solidFill>
            <a:srgbClr val="A78BFA">
              <a:alpha val="72000"/>
            </a:srgbClr>
          </a:solidFill>
          <a:ln w="7620">
            <a:solidFill>
              <a:srgbClr val="536170"/>
            </a:solidFill>
            <a:prstDash val="solid"/>
          </a:ln>
        </p:spPr>
      </p:sp>
      <p:sp>
        <p:nvSpPr>
          <p:cNvPr id="32" name="Shape 30"/>
          <p:cNvSpPr/>
          <p:nvPr/>
        </p:nvSpPr>
        <p:spPr>
          <a:xfrm>
            <a:off x="4160520" y="3346704"/>
            <a:ext cx="384048" cy="384048"/>
          </a:xfrm>
          <a:prstGeom prst="rect">
            <a:avLst/>
          </a:prstGeom>
          <a:solidFill>
            <a:srgbClr val="41D9FF">
              <a:alpha val="72000"/>
            </a:srgbClr>
          </a:solidFill>
          <a:ln w="7620">
            <a:solidFill>
              <a:srgbClr val="536170"/>
            </a:solidFill>
            <a:prstDash val="solid"/>
          </a:ln>
        </p:spPr>
      </p:sp>
      <p:sp>
        <p:nvSpPr>
          <p:cNvPr id="33" name="Shape 31"/>
          <p:cNvSpPr/>
          <p:nvPr/>
        </p:nvSpPr>
        <p:spPr>
          <a:xfrm>
            <a:off x="4654296" y="3346704"/>
            <a:ext cx="384048" cy="384048"/>
          </a:xfrm>
          <a:prstGeom prst="rect">
            <a:avLst/>
          </a:prstGeom>
          <a:solidFill>
            <a:srgbClr val="A78BFA">
              <a:alpha val="72000"/>
            </a:srgbClr>
          </a:solidFill>
          <a:ln w="7620">
            <a:solidFill>
              <a:srgbClr val="536170"/>
            </a:solidFill>
            <a:prstDash val="solid"/>
          </a:ln>
        </p:spPr>
      </p:sp>
      <p:sp>
        <p:nvSpPr>
          <p:cNvPr id="34" name="Shape 32"/>
          <p:cNvSpPr/>
          <p:nvPr/>
        </p:nvSpPr>
        <p:spPr>
          <a:xfrm>
            <a:off x="5148072" y="3346704"/>
            <a:ext cx="384048" cy="384048"/>
          </a:xfrm>
          <a:prstGeom prst="rect">
            <a:avLst/>
          </a:prstGeom>
          <a:solidFill>
            <a:srgbClr val="41D9FF">
              <a:alpha val="72000"/>
            </a:srgbClr>
          </a:solidFill>
          <a:ln w="7620">
            <a:solidFill>
              <a:srgbClr val="536170"/>
            </a:solidFill>
            <a:prstDash val="solid"/>
          </a:ln>
        </p:spPr>
      </p:sp>
      <p:sp>
        <p:nvSpPr>
          <p:cNvPr id="35" name="Shape 33"/>
          <p:cNvSpPr/>
          <p:nvPr/>
        </p:nvSpPr>
        <p:spPr>
          <a:xfrm>
            <a:off x="5641848" y="3346704"/>
            <a:ext cx="384048" cy="384048"/>
          </a:xfrm>
          <a:prstGeom prst="rect">
            <a:avLst/>
          </a:prstGeom>
          <a:solidFill>
            <a:srgbClr val="A78BFA">
              <a:alpha val="72000"/>
            </a:srgbClr>
          </a:solidFill>
          <a:ln w="7620">
            <a:solidFill>
              <a:srgbClr val="536170"/>
            </a:solidFill>
            <a:prstDash val="solid"/>
          </a:ln>
        </p:spPr>
      </p:sp>
      <p:sp>
        <p:nvSpPr>
          <p:cNvPr id="36" name="Shape 34"/>
          <p:cNvSpPr/>
          <p:nvPr/>
        </p:nvSpPr>
        <p:spPr>
          <a:xfrm>
            <a:off x="3694176" y="3227832"/>
            <a:ext cx="365760" cy="0"/>
          </a:xfrm>
          <a:prstGeom prst="line">
            <a:avLst/>
          </a:prstGeom>
          <a:noFill/>
          <a:ln w="25400">
            <a:solidFill>
              <a:srgbClr val="41D9FF"/>
            </a:solidFill>
            <a:prstDash val="solid"/>
            <a:headEnd type="none"/>
            <a:tailEnd type="triangle"/>
          </a:ln>
        </p:spPr>
      </p:sp>
      <p:sp>
        <p:nvSpPr>
          <p:cNvPr id="37" name="Text 35"/>
          <p:cNvSpPr/>
          <p:nvPr/>
        </p:nvSpPr>
        <p:spPr>
          <a:xfrm>
            <a:off x="4069080" y="4025900"/>
            <a:ext cx="2667000" cy="914400"/>
          </a:xfrm>
          <a:prstGeom prst="rect">
            <a:avLst/>
          </a:prstGeom>
          <a:noFill/>
          <a:ln/>
        </p:spPr>
        <p:txBody>
          <a:bodyPr wrap="square" lIns="0" tIns="0" rIns="0" bIns="0" rtlCol="0" anchor="ctr">
            <a:noAutofit/>
          </a:bodyPr>
          <a:lstStyle/>
          <a:p>
            <a:pPr marL="0" indent="0">
              <a:buNone/>
            </a:pPr>
            <a:r>
              <a:rPr lang="en-US" sz="1250">
                <a:solidFill>
                  <a:srgbClr val="C7D0D9"/>
                </a:solidFill>
              </a:rPr>
              <a:t>Read a patch and filter values</a:t>
            </a:r>
          </a:p>
          <a:p>
            <a:pPr marL="0" indent="0">
              <a:buNone/>
            </a:pPr>
            <a:r>
              <a:rPr lang="en-US" sz="1250">
                <a:solidFill>
                  <a:srgbClr val="C7D0D9"/>
                </a:solidFill>
              </a:rPr>
              <a:t>Multiply, sum, add bias; store output</a:t>
            </a:r>
          </a:p>
          <a:p>
            <a:pPr marL="0" indent="0">
              <a:buNone/>
            </a:pPr>
            <a:r>
              <a:rPr lang="en-US" sz="1250">
                <a:solidFill>
                  <a:srgbClr val="C7D0D9"/>
                </a:solidFill>
              </a:rPr>
              <a:t>Loop-end barrier joins the workers</a:t>
            </a:r>
            <a:endParaRPr lang="en-US" sz="1250" dirty="0"/>
          </a:p>
        </p:txBody>
      </p:sp>
      <p:sp>
        <p:nvSpPr>
          <p:cNvPr id="38" name="Shape 36"/>
          <p:cNvSpPr/>
          <p:nvPr/>
        </p:nvSpPr>
        <p:spPr>
          <a:xfrm>
            <a:off x="7242048" y="1207008"/>
            <a:ext cx="4334256" cy="2331720"/>
          </a:xfrm>
          <a:prstGeom prst="roundRect">
            <a:avLst>
              <a:gd name="adj" fmla="val 3137"/>
            </a:avLst>
          </a:prstGeom>
          <a:solidFill>
            <a:srgbClr val="101B1A"/>
          </a:solidFill>
          <a:ln w="12700">
            <a:solidFill>
              <a:srgbClr val="24423A"/>
            </a:solidFill>
            <a:prstDash val="solid"/>
          </a:ln>
        </p:spPr>
      </p:sp>
      <p:sp>
        <p:nvSpPr>
          <p:cNvPr id="39" name="Shape 37"/>
          <p:cNvSpPr/>
          <p:nvPr/>
        </p:nvSpPr>
        <p:spPr>
          <a:xfrm>
            <a:off x="7479792" y="1481328"/>
            <a:ext cx="123444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40" name="Text 38"/>
          <p:cNvSpPr/>
          <p:nvPr/>
        </p:nvSpPr>
        <p:spPr>
          <a:xfrm>
            <a:off x="7479792" y="1559052"/>
            <a:ext cx="123444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ADVANTAGES</a:t>
            </a:r>
            <a:endParaRPr lang="en-US" sz="850" dirty="0"/>
          </a:p>
        </p:txBody>
      </p:sp>
      <p:sp>
        <p:nvSpPr>
          <p:cNvPr id="41" name="Text 39"/>
          <p:cNvSpPr/>
          <p:nvPr/>
        </p:nvSpPr>
        <p:spPr>
          <a:xfrm>
            <a:off x="7479792" y="1993392"/>
            <a:ext cx="3611880" cy="1234440"/>
          </a:xfrm>
          <a:prstGeom prst="rect">
            <a:avLst/>
          </a:prstGeom>
          <a:noFill/>
          <a:ln/>
        </p:spPr>
        <p:txBody>
          <a:bodyPr wrap="square" lIns="381" tIns="381" rIns="381" bIns="381" rtlCol="0" anchor="ctr">
            <a:noAutofit/>
          </a:bodyPr>
          <a:lstStyle/>
          <a:p>
            <a:pPr marL="177800" indent="-177800">
              <a:buSzPct val="100000"/>
              <a:buChar char="•"/>
            </a:pPr>
            <a:r>
              <a:rPr lang="en-US" sz="1400">
                <a:solidFill>
                  <a:srgbClr val="C7D0D9"/>
                </a:solidFill>
              </a:rPr>
              <a:t>Caches reuse overlapping image patches</a:t>
            </a:r>
          </a:p>
          <a:p>
            <a:pPr marL="177800" indent="-177800">
              <a:buSzPct val="100000"/>
              <a:buChar char="•"/>
            </a:pPr>
            <a:r>
              <a:rPr lang="en-US" sz="1400">
                <a:solidFill>
                  <a:srgbClr val="C7D0D9"/>
                </a:solidFill>
              </a:rPr>
              <a:t>SIMD can vectorize inner products</a:t>
            </a:r>
          </a:p>
          <a:p>
            <a:pPr marL="177800" indent="-177800">
              <a:buSzPct val="100000"/>
              <a:buChar char="•"/>
            </a:pPr>
            <a:r>
              <a:rPr lang="en-US" sz="1400">
                <a:solidFill>
                  <a:srgbClr val="C7D0D9"/>
                </a:solidFill>
              </a:rPr>
              <a:t>Shared RAM avoids a GPU upload</a:t>
            </a:r>
            <a:endParaRPr lang="en-US" sz="1400" dirty="0"/>
          </a:p>
        </p:txBody>
      </p:sp>
      <p:sp>
        <p:nvSpPr>
          <p:cNvPr id="42" name="Shape 40"/>
          <p:cNvSpPr/>
          <p:nvPr/>
        </p:nvSpPr>
        <p:spPr>
          <a:xfrm>
            <a:off x="7242048" y="3703320"/>
            <a:ext cx="4334256" cy="2532888"/>
          </a:xfrm>
          <a:prstGeom prst="roundRect">
            <a:avLst>
              <a:gd name="adj" fmla="val 2888"/>
            </a:avLst>
          </a:prstGeom>
          <a:solidFill>
            <a:srgbClr val="211518"/>
          </a:solidFill>
          <a:ln w="12700">
            <a:solidFill>
              <a:srgbClr val="4E2D32"/>
            </a:solidFill>
            <a:prstDash val="solid"/>
          </a:ln>
        </p:spPr>
      </p:sp>
      <p:sp>
        <p:nvSpPr>
          <p:cNvPr id="43" name="Shape 41"/>
          <p:cNvSpPr/>
          <p:nvPr/>
        </p:nvSpPr>
        <p:spPr>
          <a:xfrm>
            <a:off x="7479792" y="3968496"/>
            <a:ext cx="1389888" cy="310896"/>
          </a:xfrm>
          <a:prstGeom prst="roundRect">
            <a:avLst>
              <a:gd name="adj" fmla="val 17647"/>
            </a:avLst>
          </a:prstGeom>
          <a:solidFill>
            <a:srgbClr val="FF6B6B">
              <a:alpha val="14000"/>
            </a:srgbClr>
          </a:solidFill>
          <a:ln w="12700">
            <a:solidFill>
              <a:srgbClr val="FF6B6B">
                <a:alpha val="45000"/>
              </a:srgbClr>
            </a:solidFill>
            <a:prstDash val="solid"/>
          </a:ln>
        </p:spPr>
      </p:sp>
      <p:sp>
        <p:nvSpPr>
          <p:cNvPr id="44" name="Text 42"/>
          <p:cNvSpPr/>
          <p:nvPr/>
        </p:nvSpPr>
        <p:spPr>
          <a:xfrm>
            <a:off x="7479792" y="4046220"/>
            <a:ext cx="1389888"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6B6B"/>
                </a:solidFill>
              </a:rPr>
              <a:t>LIMITS FOR CNNs</a:t>
            </a:r>
            <a:endParaRPr lang="en-US" sz="850" dirty="0"/>
          </a:p>
        </p:txBody>
      </p:sp>
      <p:sp>
        <p:nvSpPr>
          <p:cNvPr id="45" name="Text 43"/>
          <p:cNvSpPr/>
          <p:nvPr/>
        </p:nvSpPr>
        <p:spPr>
          <a:xfrm>
            <a:off x="7479792" y="4480560"/>
            <a:ext cx="3611880" cy="1353312"/>
          </a:xfrm>
          <a:prstGeom prst="rect">
            <a:avLst/>
          </a:prstGeom>
          <a:noFill/>
          <a:ln/>
        </p:spPr>
        <p:txBody>
          <a:bodyPr wrap="square" lIns="381" tIns="381" rIns="381" bIns="381" rtlCol="0" anchor="ctr">
            <a:noAutofit/>
          </a:bodyPr>
          <a:lstStyle/>
          <a:p>
            <a:pPr marL="177800" indent="-177800">
              <a:buSzPct val="100000"/>
              <a:buChar char="•"/>
            </a:pPr>
            <a:r>
              <a:rPr lang="en-US" sz="1400">
                <a:solidFill>
                  <a:srgbClr val="C7D0D9"/>
                </a:solidFill>
              </a:rPr>
              <a:t>Finite cores and shared memory bandwidth</a:t>
            </a:r>
          </a:p>
          <a:p>
            <a:pPr marL="177800" indent="-177800">
              <a:buSzPct val="100000"/>
              <a:buChar char="•"/>
            </a:pPr>
            <a:r>
              <a:rPr lang="en-US" sz="1400">
                <a:solidFill>
                  <a:srgbClr val="C7D0D9"/>
                </a:solidFill>
              </a:rPr>
              <a:t>Barriers and reductions add coordination</a:t>
            </a:r>
          </a:p>
          <a:p>
            <a:pPr marL="177800" indent="-177800">
              <a:buSzPct val="100000"/>
              <a:buChar char="•"/>
            </a:pPr>
            <a:r>
              <a:rPr lang="en-US" sz="1400">
                <a:solidFill>
                  <a:srgbClr val="C7D0D9"/>
                </a:solidFill>
              </a:rPr>
              <a:t>Tiny operators may not justify more threads</a:t>
            </a:r>
            <a:endParaRPr lang="en-US" sz="1400" dirty="0"/>
          </a:p>
        </p:txBody>
      </p:sp>
      <p:sp>
        <p:nvSpPr>
          <p:cNvPr id="46" name="Text 44"/>
          <p:cNvSpPr/>
          <p:nvPr/>
        </p:nvSpPr>
        <p:spPr>
          <a:xfrm>
            <a:off x="1005840" y="5166360"/>
            <a:ext cx="2560320" cy="329184"/>
          </a:xfrm>
          <a:prstGeom prst="rect">
            <a:avLst/>
          </a:prstGeom>
          <a:noFill/>
          <a:ln/>
        </p:spPr>
        <p:txBody>
          <a:bodyPr wrap="square" lIns="0" tIns="0" rIns="0" bIns="0" rtlCol="0" anchor="ctr">
            <a:noAutofit/>
          </a:bodyPr>
          <a:lstStyle/>
          <a:p>
            <a:pPr marL="0" indent="0">
              <a:buNone/>
            </a:pPr>
            <a:r>
              <a:rPr lang="en-US" sz="1600" b="1">
                <a:solidFill>
                  <a:srgbClr val="41D9FF"/>
                </a:solidFill>
              </a:rPr>
              <a:t>OpenMP batch 64: 3.00×</a:t>
            </a:r>
            <a:endParaRPr lang="en-US" sz="1600" dirty="0"/>
          </a:p>
        </p:txBody>
      </p:sp>
      <p:sp>
        <p:nvSpPr>
          <p:cNvPr id="47" name="Text 45"/>
          <p:cNvSpPr/>
          <p:nvPr/>
        </p:nvSpPr>
        <p:spPr>
          <a:xfrm>
            <a:off x="4069080" y="5166360"/>
            <a:ext cx="2743200" cy="457200"/>
          </a:xfrm>
          <a:prstGeom prst="rect">
            <a:avLst/>
          </a:prstGeom>
          <a:noFill/>
          <a:ln/>
        </p:spPr>
        <p:txBody>
          <a:bodyPr wrap="square" lIns="0" tIns="0" rIns="0" bIns="0" rtlCol="0" anchor="ctr">
            <a:noAutofit/>
          </a:bodyPr>
          <a:lstStyle/>
          <a:p>
            <a:pPr marL="0" indent="0">
              <a:buNone/>
            </a:pPr>
            <a:r>
              <a:rPr lang="en-US" sz="1540" b="1">
                <a:solidFill>
                  <a:srgbClr val="A3E635"/>
                </a:solidFill>
              </a:rPr>
              <a:t>Native CPU benchmark: four threads</a:t>
            </a:r>
            <a:endParaRPr lang="en-US" sz="1540" dirty="0"/>
          </a:p>
        </p:txBody>
      </p:sp>
      <p:sp>
        <p:nvSpPr>
          <p:cNvPr id="48"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GPGPU: using the GPU for general computation</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A GPU is not only for graphics. GPGPU uses its many simple compute lanes for data-parallel workloads such as CNNs.</a:t>
            </a:r>
            <a:endParaRPr lang="en-US" sz="1150" dirty="0"/>
          </a:p>
        </p:txBody>
      </p:sp>
      <p:sp>
        <p:nvSpPr>
          <p:cNvPr id="6" name="Shape 4"/>
          <p:cNvSpPr/>
          <p:nvPr/>
        </p:nvSpPr>
        <p:spPr>
          <a:xfrm>
            <a:off x="603504" y="1207008"/>
            <a:ext cx="10972800" cy="5029200"/>
          </a:xfrm>
          <a:prstGeom prst="roundRect">
            <a:avLst>
              <a:gd name="adj" fmla="val 1455"/>
            </a:avLst>
          </a:prstGeom>
          <a:solidFill>
            <a:srgbClr val="121923"/>
          </a:solidFill>
          <a:ln w="12700">
            <a:solidFill>
              <a:srgbClr val="25303D"/>
            </a:solidFill>
            <a:prstDash val="solid"/>
          </a:ln>
        </p:spPr>
      </p:sp>
      <p:sp>
        <p:nvSpPr>
          <p:cNvPr id="7" name="Shape 5"/>
          <p:cNvSpPr/>
          <p:nvPr/>
        </p:nvSpPr>
        <p:spPr>
          <a:xfrm>
            <a:off x="896112" y="1490472"/>
            <a:ext cx="77724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96112" y="1568196"/>
            <a:ext cx="77724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CPU</a:t>
            </a:r>
            <a:endParaRPr lang="en-US" sz="850" dirty="0"/>
          </a:p>
        </p:txBody>
      </p:sp>
      <p:sp>
        <p:nvSpPr>
          <p:cNvPr id="9" name="Text 7"/>
          <p:cNvSpPr/>
          <p:nvPr/>
        </p:nvSpPr>
        <p:spPr>
          <a:xfrm>
            <a:off x="896112" y="1956816"/>
            <a:ext cx="2194560" cy="310896"/>
          </a:xfrm>
          <a:prstGeom prst="rect">
            <a:avLst/>
          </a:prstGeom>
          <a:noFill/>
          <a:ln/>
        </p:spPr>
        <p:txBody>
          <a:bodyPr wrap="square" lIns="0" tIns="0" rIns="0" bIns="0" rtlCol="0" anchor="ctr">
            <a:noAutofit/>
          </a:bodyPr>
          <a:lstStyle/>
          <a:p>
            <a:pPr marL="0" indent="0">
              <a:buNone/>
            </a:pPr>
            <a:r>
              <a:rPr lang="en-US" sz="1600" b="1" dirty="0">
                <a:solidFill>
                  <a:srgbClr val="F4F7FA"/>
                </a:solidFill>
              </a:rPr>
              <a:t>Few complex cores</a:t>
            </a:r>
            <a:endParaRPr lang="en-US" sz="1600" dirty="0"/>
          </a:p>
        </p:txBody>
      </p:sp>
      <p:sp>
        <p:nvSpPr>
          <p:cNvPr id="10" name="Shape 8"/>
          <p:cNvSpPr/>
          <p:nvPr/>
        </p:nvSpPr>
        <p:spPr>
          <a:xfrm>
            <a:off x="93268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1" name="Shape 9"/>
          <p:cNvSpPr/>
          <p:nvPr/>
        </p:nvSpPr>
        <p:spPr>
          <a:xfrm>
            <a:off x="143560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2" name="Shape 10"/>
          <p:cNvSpPr/>
          <p:nvPr/>
        </p:nvSpPr>
        <p:spPr>
          <a:xfrm>
            <a:off x="193852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3" name="Shape 11"/>
          <p:cNvSpPr/>
          <p:nvPr/>
        </p:nvSpPr>
        <p:spPr>
          <a:xfrm>
            <a:off x="244144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4" name="Shape 12"/>
          <p:cNvSpPr/>
          <p:nvPr/>
        </p:nvSpPr>
        <p:spPr>
          <a:xfrm>
            <a:off x="93268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5" name="Shape 13"/>
          <p:cNvSpPr/>
          <p:nvPr/>
        </p:nvSpPr>
        <p:spPr>
          <a:xfrm>
            <a:off x="143560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6" name="Shape 14"/>
          <p:cNvSpPr/>
          <p:nvPr/>
        </p:nvSpPr>
        <p:spPr>
          <a:xfrm>
            <a:off x="193852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7" name="Shape 15"/>
          <p:cNvSpPr/>
          <p:nvPr/>
        </p:nvSpPr>
        <p:spPr>
          <a:xfrm>
            <a:off x="244144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8" name="Text 16"/>
          <p:cNvSpPr/>
          <p:nvPr/>
        </p:nvSpPr>
        <p:spPr>
          <a:xfrm>
            <a:off x="896112" y="3977640"/>
            <a:ext cx="2286000" cy="640080"/>
          </a:xfrm>
          <a:prstGeom prst="rect">
            <a:avLst/>
          </a:prstGeom>
          <a:noFill/>
          <a:ln/>
        </p:spPr>
        <p:txBody>
          <a:bodyPr wrap="square" lIns="0" tIns="0" rIns="0" bIns="0" rtlCol="0" anchor="ctr">
            <a:noAutofit/>
          </a:bodyPr>
          <a:lstStyle/>
          <a:p>
            <a:pPr marL="0" indent="0">
              <a:buNone/>
            </a:pPr>
            <a:r>
              <a:rPr lang="en-US" sz="1250" dirty="0">
                <a:solidFill>
                  <a:srgbClr val="C7D0D9"/>
                </a:solidFill>
              </a:rPr>
              <a:t>Optimized for latency, branching and control</a:t>
            </a:r>
            <a:endParaRPr lang="en-US" sz="1250" dirty="0"/>
          </a:p>
        </p:txBody>
      </p:sp>
      <p:sp>
        <p:nvSpPr>
          <p:cNvPr id="19" name="Shape 17"/>
          <p:cNvSpPr/>
          <p:nvPr/>
        </p:nvSpPr>
        <p:spPr>
          <a:xfrm>
            <a:off x="3703320" y="1490472"/>
            <a:ext cx="96012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0" name="Text 18"/>
          <p:cNvSpPr/>
          <p:nvPr/>
        </p:nvSpPr>
        <p:spPr>
          <a:xfrm>
            <a:off x="3703320" y="1568196"/>
            <a:ext cx="9601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GPGPU</a:t>
            </a:r>
            <a:endParaRPr lang="en-US" sz="850" dirty="0"/>
          </a:p>
        </p:txBody>
      </p:sp>
      <p:sp>
        <p:nvSpPr>
          <p:cNvPr id="21" name="Text 19"/>
          <p:cNvSpPr/>
          <p:nvPr/>
        </p:nvSpPr>
        <p:spPr>
          <a:xfrm>
            <a:off x="3703320" y="1956816"/>
            <a:ext cx="2880360" cy="508000"/>
          </a:xfrm>
          <a:prstGeom prst="rect">
            <a:avLst/>
          </a:prstGeom>
          <a:noFill/>
          <a:ln/>
        </p:spPr>
        <p:txBody>
          <a:bodyPr wrap="square" lIns="0" tIns="0" rIns="0" bIns="0" rtlCol="0" anchor="ctr">
            <a:noAutofit/>
          </a:bodyPr>
          <a:lstStyle/>
          <a:p>
            <a:pPr marL="0" indent="0">
              <a:buNone/>
            </a:pPr>
            <a:r>
              <a:rPr lang="en-US" sz="1600" b="1" dirty="0">
                <a:solidFill>
                  <a:srgbClr val="F4F7FA"/>
                </a:solidFill>
              </a:rPr>
              <a:t>Many lightweight compute lanes</a:t>
            </a:r>
            <a:endParaRPr lang="en-US" sz="1600" dirty="0"/>
          </a:p>
        </p:txBody>
      </p:sp>
      <p:sp>
        <p:nvSpPr>
          <p:cNvPr id="22" name="Shape 20"/>
          <p:cNvSpPr/>
          <p:nvPr/>
        </p:nvSpPr>
        <p:spPr>
          <a:xfrm>
            <a:off x="3730752" y="2542032"/>
            <a:ext cx="146304" cy="146304"/>
          </a:xfrm>
          <a:prstGeom prst="rect">
            <a:avLst/>
          </a:prstGeom>
          <a:solidFill>
            <a:srgbClr val="76B900">
              <a:alpha val="90000"/>
            </a:srgbClr>
          </a:solidFill>
          <a:ln w="12700">
            <a:solidFill>
              <a:srgbClr val="76B900">
                <a:alpha val="0"/>
              </a:srgbClr>
            </a:solidFill>
            <a:prstDash val="solid"/>
          </a:ln>
        </p:spPr>
      </p:sp>
      <p:sp>
        <p:nvSpPr>
          <p:cNvPr id="23" name="Shape 21"/>
          <p:cNvSpPr/>
          <p:nvPr/>
        </p:nvSpPr>
        <p:spPr>
          <a:xfrm>
            <a:off x="3941064" y="2542032"/>
            <a:ext cx="146304" cy="146304"/>
          </a:xfrm>
          <a:prstGeom prst="rect">
            <a:avLst/>
          </a:prstGeom>
          <a:solidFill>
            <a:srgbClr val="76B900">
              <a:alpha val="90000"/>
            </a:srgbClr>
          </a:solidFill>
          <a:ln w="12700">
            <a:solidFill>
              <a:srgbClr val="76B900">
                <a:alpha val="0"/>
              </a:srgbClr>
            </a:solidFill>
            <a:prstDash val="solid"/>
          </a:ln>
        </p:spPr>
      </p:sp>
      <p:sp>
        <p:nvSpPr>
          <p:cNvPr id="24" name="Shape 22"/>
          <p:cNvSpPr/>
          <p:nvPr/>
        </p:nvSpPr>
        <p:spPr>
          <a:xfrm>
            <a:off x="4151376" y="2542032"/>
            <a:ext cx="146304" cy="146304"/>
          </a:xfrm>
          <a:prstGeom prst="rect">
            <a:avLst/>
          </a:prstGeom>
          <a:solidFill>
            <a:srgbClr val="76B900">
              <a:alpha val="90000"/>
            </a:srgbClr>
          </a:solidFill>
          <a:ln w="12700">
            <a:solidFill>
              <a:srgbClr val="76B900">
                <a:alpha val="0"/>
              </a:srgbClr>
            </a:solidFill>
            <a:prstDash val="solid"/>
          </a:ln>
        </p:spPr>
      </p:sp>
      <p:sp>
        <p:nvSpPr>
          <p:cNvPr id="25" name="Shape 23"/>
          <p:cNvSpPr/>
          <p:nvPr/>
        </p:nvSpPr>
        <p:spPr>
          <a:xfrm>
            <a:off x="4361688" y="2542032"/>
            <a:ext cx="146304" cy="146304"/>
          </a:xfrm>
          <a:prstGeom prst="rect">
            <a:avLst/>
          </a:prstGeom>
          <a:solidFill>
            <a:srgbClr val="76B900">
              <a:alpha val="90000"/>
            </a:srgbClr>
          </a:solidFill>
          <a:ln w="12700">
            <a:solidFill>
              <a:srgbClr val="76B900">
                <a:alpha val="0"/>
              </a:srgbClr>
            </a:solidFill>
            <a:prstDash val="solid"/>
          </a:ln>
        </p:spPr>
      </p:sp>
      <p:sp>
        <p:nvSpPr>
          <p:cNvPr id="26" name="Shape 24"/>
          <p:cNvSpPr/>
          <p:nvPr/>
        </p:nvSpPr>
        <p:spPr>
          <a:xfrm>
            <a:off x="4572000" y="2542032"/>
            <a:ext cx="146304" cy="146304"/>
          </a:xfrm>
          <a:prstGeom prst="rect">
            <a:avLst/>
          </a:prstGeom>
          <a:solidFill>
            <a:srgbClr val="76B900">
              <a:alpha val="90000"/>
            </a:srgbClr>
          </a:solidFill>
          <a:ln w="12700">
            <a:solidFill>
              <a:srgbClr val="76B900">
                <a:alpha val="0"/>
              </a:srgbClr>
            </a:solidFill>
            <a:prstDash val="solid"/>
          </a:ln>
        </p:spPr>
      </p:sp>
      <p:sp>
        <p:nvSpPr>
          <p:cNvPr id="27" name="Shape 25"/>
          <p:cNvSpPr/>
          <p:nvPr/>
        </p:nvSpPr>
        <p:spPr>
          <a:xfrm>
            <a:off x="4782312" y="2542032"/>
            <a:ext cx="146304" cy="146304"/>
          </a:xfrm>
          <a:prstGeom prst="rect">
            <a:avLst/>
          </a:prstGeom>
          <a:solidFill>
            <a:srgbClr val="76B900">
              <a:alpha val="90000"/>
            </a:srgbClr>
          </a:solidFill>
          <a:ln w="12700">
            <a:solidFill>
              <a:srgbClr val="76B900">
                <a:alpha val="0"/>
              </a:srgbClr>
            </a:solidFill>
            <a:prstDash val="solid"/>
          </a:ln>
        </p:spPr>
      </p:sp>
      <p:sp>
        <p:nvSpPr>
          <p:cNvPr id="28" name="Shape 26"/>
          <p:cNvSpPr/>
          <p:nvPr/>
        </p:nvSpPr>
        <p:spPr>
          <a:xfrm>
            <a:off x="4992624" y="2542032"/>
            <a:ext cx="146304" cy="146304"/>
          </a:xfrm>
          <a:prstGeom prst="rect">
            <a:avLst/>
          </a:prstGeom>
          <a:solidFill>
            <a:srgbClr val="76B900">
              <a:alpha val="90000"/>
            </a:srgbClr>
          </a:solidFill>
          <a:ln w="12700">
            <a:solidFill>
              <a:srgbClr val="76B900">
                <a:alpha val="0"/>
              </a:srgbClr>
            </a:solidFill>
            <a:prstDash val="solid"/>
          </a:ln>
        </p:spPr>
      </p:sp>
      <p:sp>
        <p:nvSpPr>
          <p:cNvPr id="29" name="Shape 27"/>
          <p:cNvSpPr/>
          <p:nvPr/>
        </p:nvSpPr>
        <p:spPr>
          <a:xfrm>
            <a:off x="5202936" y="2542032"/>
            <a:ext cx="146304" cy="146304"/>
          </a:xfrm>
          <a:prstGeom prst="rect">
            <a:avLst/>
          </a:prstGeom>
          <a:solidFill>
            <a:srgbClr val="76B900">
              <a:alpha val="90000"/>
            </a:srgbClr>
          </a:solidFill>
          <a:ln w="12700">
            <a:solidFill>
              <a:srgbClr val="76B900">
                <a:alpha val="0"/>
              </a:srgbClr>
            </a:solidFill>
            <a:prstDash val="solid"/>
          </a:ln>
        </p:spPr>
      </p:sp>
      <p:sp>
        <p:nvSpPr>
          <p:cNvPr id="30" name="Shape 28"/>
          <p:cNvSpPr/>
          <p:nvPr/>
        </p:nvSpPr>
        <p:spPr>
          <a:xfrm>
            <a:off x="5413248" y="2542032"/>
            <a:ext cx="146304" cy="146304"/>
          </a:xfrm>
          <a:prstGeom prst="rect">
            <a:avLst/>
          </a:prstGeom>
          <a:solidFill>
            <a:srgbClr val="76B900">
              <a:alpha val="90000"/>
            </a:srgbClr>
          </a:solidFill>
          <a:ln w="12700">
            <a:solidFill>
              <a:srgbClr val="76B900">
                <a:alpha val="0"/>
              </a:srgbClr>
            </a:solidFill>
            <a:prstDash val="solid"/>
          </a:ln>
        </p:spPr>
      </p:sp>
      <p:sp>
        <p:nvSpPr>
          <p:cNvPr id="31" name="Shape 29"/>
          <p:cNvSpPr/>
          <p:nvPr/>
        </p:nvSpPr>
        <p:spPr>
          <a:xfrm>
            <a:off x="5623560" y="2542032"/>
            <a:ext cx="146304" cy="146304"/>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5833872" y="2542032"/>
            <a:ext cx="146304" cy="146304"/>
          </a:xfrm>
          <a:prstGeom prst="rect">
            <a:avLst/>
          </a:prstGeom>
          <a:solidFill>
            <a:srgbClr val="76B900">
              <a:alpha val="90000"/>
            </a:srgbClr>
          </a:solidFill>
          <a:ln w="12700">
            <a:solidFill>
              <a:srgbClr val="76B900">
                <a:alpha val="0"/>
              </a:srgbClr>
            </a:solidFill>
            <a:prstDash val="solid"/>
          </a:ln>
        </p:spPr>
      </p:sp>
      <p:sp>
        <p:nvSpPr>
          <p:cNvPr id="33" name="Shape 31"/>
          <p:cNvSpPr/>
          <p:nvPr/>
        </p:nvSpPr>
        <p:spPr>
          <a:xfrm>
            <a:off x="6044184" y="2542032"/>
            <a:ext cx="146304" cy="146304"/>
          </a:xfrm>
          <a:prstGeom prst="rect">
            <a:avLst/>
          </a:prstGeom>
          <a:solidFill>
            <a:srgbClr val="76B900">
              <a:alpha val="90000"/>
            </a:srgbClr>
          </a:solidFill>
          <a:ln w="12700">
            <a:solidFill>
              <a:srgbClr val="76B900">
                <a:alpha val="0"/>
              </a:srgbClr>
            </a:solidFill>
            <a:prstDash val="solid"/>
          </a:ln>
        </p:spPr>
      </p:sp>
      <p:sp>
        <p:nvSpPr>
          <p:cNvPr id="34" name="Shape 32"/>
          <p:cNvSpPr/>
          <p:nvPr/>
        </p:nvSpPr>
        <p:spPr>
          <a:xfrm>
            <a:off x="3730752" y="2852928"/>
            <a:ext cx="146304" cy="146304"/>
          </a:xfrm>
          <a:prstGeom prst="rect">
            <a:avLst/>
          </a:prstGeom>
          <a:solidFill>
            <a:srgbClr val="76B900">
              <a:alpha val="75000"/>
            </a:srgbClr>
          </a:solidFill>
          <a:ln w="12700">
            <a:solidFill>
              <a:srgbClr val="76B900">
                <a:alpha val="0"/>
              </a:srgbClr>
            </a:solidFill>
            <a:prstDash val="solid"/>
          </a:ln>
        </p:spPr>
      </p:sp>
      <p:sp>
        <p:nvSpPr>
          <p:cNvPr id="35" name="Shape 33"/>
          <p:cNvSpPr/>
          <p:nvPr/>
        </p:nvSpPr>
        <p:spPr>
          <a:xfrm>
            <a:off x="3941064" y="2852928"/>
            <a:ext cx="146304" cy="146304"/>
          </a:xfrm>
          <a:prstGeom prst="rect">
            <a:avLst/>
          </a:prstGeom>
          <a:solidFill>
            <a:srgbClr val="76B900">
              <a:alpha val="75000"/>
            </a:srgbClr>
          </a:solidFill>
          <a:ln w="12700">
            <a:solidFill>
              <a:srgbClr val="76B900">
                <a:alpha val="0"/>
              </a:srgbClr>
            </a:solidFill>
            <a:prstDash val="solid"/>
          </a:ln>
        </p:spPr>
      </p:sp>
      <p:sp>
        <p:nvSpPr>
          <p:cNvPr id="36" name="Shape 34"/>
          <p:cNvSpPr/>
          <p:nvPr/>
        </p:nvSpPr>
        <p:spPr>
          <a:xfrm>
            <a:off x="4151376" y="2852928"/>
            <a:ext cx="146304" cy="146304"/>
          </a:xfrm>
          <a:prstGeom prst="rect">
            <a:avLst/>
          </a:prstGeom>
          <a:solidFill>
            <a:srgbClr val="76B900">
              <a:alpha val="75000"/>
            </a:srgbClr>
          </a:solidFill>
          <a:ln w="12700">
            <a:solidFill>
              <a:srgbClr val="76B900">
                <a:alpha val="0"/>
              </a:srgbClr>
            </a:solidFill>
            <a:prstDash val="solid"/>
          </a:ln>
        </p:spPr>
      </p:sp>
      <p:sp>
        <p:nvSpPr>
          <p:cNvPr id="37" name="Shape 35"/>
          <p:cNvSpPr/>
          <p:nvPr/>
        </p:nvSpPr>
        <p:spPr>
          <a:xfrm>
            <a:off x="4361688" y="2852928"/>
            <a:ext cx="146304" cy="146304"/>
          </a:xfrm>
          <a:prstGeom prst="rect">
            <a:avLst/>
          </a:prstGeom>
          <a:solidFill>
            <a:srgbClr val="76B900">
              <a:alpha val="75000"/>
            </a:srgbClr>
          </a:solidFill>
          <a:ln w="12700">
            <a:solidFill>
              <a:srgbClr val="76B900">
                <a:alpha val="0"/>
              </a:srgbClr>
            </a:solidFill>
            <a:prstDash val="solid"/>
          </a:ln>
        </p:spPr>
      </p:sp>
      <p:sp>
        <p:nvSpPr>
          <p:cNvPr id="38" name="Shape 36"/>
          <p:cNvSpPr/>
          <p:nvPr/>
        </p:nvSpPr>
        <p:spPr>
          <a:xfrm>
            <a:off x="4572000" y="2852928"/>
            <a:ext cx="146304" cy="146304"/>
          </a:xfrm>
          <a:prstGeom prst="rect">
            <a:avLst/>
          </a:prstGeom>
          <a:solidFill>
            <a:srgbClr val="76B900">
              <a:alpha val="75000"/>
            </a:srgbClr>
          </a:solidFill>
          <a:ln w="12700">
            <a:solidFill>
              <a:srgbClr val="76B900">
                <a:alpha val="0"/>
              </a:srgbClr>
            </a:solidFill>
            <a:prstDash val="solid"/>
          </a:ln>
        </p:spPr>
      </p:sp>
      <p:sp>
        <p:nvSpPr>
          <p:cNvPr id="39" name="Shape 37"/>
          <p:cNvSpPr/>
          <p:nvPr/>
        </p:nvSpPr>
        <p:spPr>
          <a:xfrm>
            <a:off x="4782312" y="2852928"/>
            <a:ext cx="146304" cy="146304"/>
          </a:xfrm>
          <a:prstGeom prst="rect">
            <a:avLst/>
          </a:prstGeom>
          <a:solidFill>
            <a:srgbClr val="76B900">
              <a:alpha val="75000"/>
            </a:srgbClr>
          </a:solidFill>
          <a:ln w="12700">
            <a:solidFill>
              <a:srgbClr val="76B900">
                <a:alpha val="0"/>
              </a:srgbClr>
            </a:solidFill>
            <a:prstDash val="solid"/>
          </a:ln>
        </p:spPr>
      </p:sp>
      <p:sp>
        <p:nvSpPr>
          <p:cNvPr id="40" name="Shape 38"/>
          <p:cNvSpPr/>
          <p:nvPr/>
        </p:nvSpPr>
        <p:spPr>
          <a:xfrm>
            <a:off x="4992624" y="2852928"/>
            <a:ext cx="146304" cy="146304"/>
          </a:xfrm>
          <a:prstGeom prst="rect">
            <a:avLst/>
          </a:prstGeom>
          <a:solidFill>
            <a:srgbClr val="76B900">
              <a:alpha val="75000"/>
            </a:srgbClr>
          </a:solidFill>
          <a:ln w="12700">
            <a:solidFill>
              <a:srgbClr val="76B900">
                <a:alpha val="0"/>
              </a:srgbClr>
            </a:solidFill>
            <a:prstDash val="solid"/>
          </a:ln>
        </p:spPr>
      </p:sp>
      <p:sp>
        <p:nvSpPr>
          <p:cNvPr id="41" name="Shape 39"/>
          <p:cNvSpPr/>
          <p:nvPr/>
        </p:nvSpPr>
        <p:spPr>
          <a:xfrm>
            <a:off x="5202936" y="2852928"/>
            <a:ext cx="146304" cy="146304"/>
          </a:xfrm>
          <a:prstGeom prst="rect">
            <a:avLst/>
          </a:prstGeom>
          <a:solidFill>
            <a:srgbClr val="76B900">
              <a:alpha val="75000"/>
            </a:srgbClr>
          </a:solidFill>
          <a:ln w="12700">
            <a:solidFill>
              <a:srgbClr val="76B900">
                <a:alpha val="0"/>
              </a:srgbClr>
            </a:solidFill>
            <a:prstDash val="solid"/>
          </a:ln>
        </p:spPr>
      </p:sp>
      <p:sp>
        <p:nvSpPr>
          <p:cNvPr id="42" name="Shape 40"/>
          <p:cNvSpPr/>
          <p:nvPr/>
        </p:nvSpPr>
        <p:spPr>
          <a:xfrm>
            <a:off x="5413248" y="2852928"/>
            <a:ext cx="146304" cy="146304"/>
          </a:xfrm>
          <a:prstGeom prst="rect">
            <a:avLst/>
          </a:prstGeom>
          <a:solidFill>
            <a:srgbClr val="76B900">
              <a:alpha val="75000"/>
            </a:srgbClr>
          </a:solidFill>
          <a:ln w="12700">
            <a:solidFill>
              <a:srgbClr val="76B900">
                <a:alpha val="0"/>
              </a:srgbClr>
            </a:solidFill>
            <a:prstDash val="solid"/>
          </a:ln>
        </p:spPr>
      </p:sp>
      <p:sp>
        <p:nvSpPr>
          <p:cNvPr id="43" name="Shape 41"/>
          <p:cNvSpPr/>
          <p:nvPr/>
        </p:nvSpPr>
        <p:spPr>
          <a:xfrm>
            <a:off x="5623560" y="2852928"/>
            <a:ext cx="146304" cy="146304"/>
          </a:xfrm>
          <a:prstGeom prst="rect">
            <a:avLst/>
          </a:prstGeom>
          <a:solidFill>
            <a:srgbClr val="76B900">
              <a:alpha val="75000"/>
            </a:srgbClr>
          </a:solidFill>
          <a:ln w="12700">
            <a:solidFill>
              <a:srgbClr val="76B900">
                <a:alpha val="0"/>
              </a:srgbClr>
            </a:solidFill>
            <a:prstDash val="solid"/>
          </a:ln>
        </p:spPr>
      </p:sp>
      <p:sp>
        <p:nvSpPr>
          <p:cNvPr id="44" name="Shape 42"/>
          <p:cNvSpPr/>
          <p:nvPr/>
        </p:nvSpPr>
        <p:spPr>
          <a:xfrm>
            <a:off x="5833872" y="2852928"/>
            <a:ext cx="146304" cy="146304"/>
          </a:xfrm>
          <a:prstGeom prst="rect">
            <a:avLst/>
          </a:prstGeom>
          <a:solidFill>
            <a:srgbClr val="76B900">
              <a:alpha val="75000"/>
            </a:srgbClr>
          </a:solidFill>
          <a:ln w="12700">
            <a:solidFill>
              <a:srgbClr val="76B900">
                <a:alpha val="0"/>
              </a:srgbClr>
            </a:solidFill>
            <a:prstDash val="solid"/>
          </a:ln>
        </p:spPr>
      </p:sp>
      <p:sp>
        <p:nvSpPr>
          <p:cNvPr id="45" name="Shape 43"/>
          <p:cNvSpPr/>
          <p:nvPr/>
        </p:nvSpPr>
        <p:spPr>
          <a:xfrm>
            <a:off x="6044184" y="2852928"/>
            <a:ext cx="146304" cy="146304"/>
          </a:xfrm>
          <a:prstGeom prst="rect">
            <a:avLst/>
          </a:prstGeom>
          <a:solidFill>
            <a:srgbClr val="76B900">
              <a:alpha val="75000"/>
            </a:srgbClr>
          </a:solidFill>
          <a:ln w="12700">
            <a:solidFill>
              <a:srgbClr val="76B900">
                <a:alpha val="0"/>
              </a:srgbClr>
            </a:solidFill>
            <a:prstDash val="solid"/>
          </a:ln>
        </p:spPr>
      </p:sp>
      <p:sp>
        <p:nvSpPr>
          <p:cNvPr id="46" name="Shape 44"/>
          <p:cNvSpPr/>
          <p:nvPr/>
        </p:nvSpPr>
        <p:spPr>
          <a:xfrm>
            <a:off x="3730752" y="3163824"/>
            <a:ext cx="146304" cy="146304"/>
          </a:xfrm>
          <a:prstGeom prst="rect">
            <a:avLst/>
          </a:prstGeom>
          <a:solidFill>
            <a:srgbClr val="76B900">
              <a:alpha val="90000"/>
            </a:srgbClr>
          </a:solidFill>
          <a:ln w="12700">
            <a:solidFill>
              <a:srgbClr val="76B900">
                <a:alpha val="0"/>
              </a:srgbClr>
            </a:solidFill>
            <a:prstDash val="solid"/>
          </a:ln>
        </p:spPr>
      </p:sp>
      <p:sp>
        <p:nvSpPr>
          <p:cNvPr id="47" name="Shape 45"/>
          <p:cNvSpPr/>
          <p:nvPr/>
        </p:nvSpPr>
        <p:spPr>
          <a:xfrm>
            <a:off x="3941064" y="3163824"/>
            <a:ext cx="146304" cy="146304"/>
          </a:xfrm>
          <a:prstGeom prst="rect">
            <a:avLst/>
          </a:prstGeom>
          <a:solidFill>
            <a:srgbClr val="76B900">
              <a:alpha val="90000"/>
            </a:srgbClr>
          </a:solidFill>
          <a:ln w="12700">
            <a:solidFill>
              <a:srgbClr val="76B900">
                <a:alpha val="0"/>
              </a:srgbClr>
            </a:solidFill>
            <a:prstDash val="solid"/>
          </a:ln>
        </p:spPr>
      </p:sp>
      <p:sp>
        <p:nvSpPr>
          <p:cNvPr id="48" name="Shape 46"/>
          <p:cNvSpPr/>
          <p:nvPr/>
        </p:nvSpPr>
        <p:spPr>
          <a:xfrm>
            <a:off x="4151376" y="3163824"/>
            <a:ext cx="146304" cy="146304"/>
          </a:xfrm>
          <a:prstGeom prst="rect">
            <a:avLst/>
          </a:prstGeom>
          <a:solidFill>
            <a:srgbClr val="76B900">
              <a:alpha val="90000"/>
            </a:srgbClr>
          </a:solidFill>
          <a:ln w="12700">
            <a:solidFill>
              <a:srgbClr val="76B900">
                <a:alpha val="0"/>
              </a:srgbClr>
            </a:solidFill>
            <a:prstDash val="solid"/>
          </a:ln>
        </p:spPr>
      </p:sp>
      <p:sp>
        <p:nvSpPr>
          <p:cNvPr id="49" name="Shape 47"/>
          <p:cNvSpPr/>
          <p:nvPr/>
        </p:nvSpPr>
        <p:spPr>
          <a:xfrm>
            <a:off x="4361688" y="3163824"/>
            <a:ext cx="146304" cy="146304"/>
          </a:xfrm>
          <a:prstGeom prst="rect">
            <a:avLst/>
          </a:prstGeom>
          <a:solidFill>
            <a:srgbClr val="76B900">
              <a:alpha val="90000"/>
            </a:srgbClr>
          </a:solidFill>
          <a:ln w="12700">
            <a:solidFill>
              <a:srgbClr val="76B900">
                <a:alpha val="0"/>
              </a:srgbClr>
            </a:solidFill>
            <a:prstDash val="solid"/>
          </a:ln>
        </p:spPr>
      </p:sp>
      <p:sp>
        <p:nvSpPr>
          <p:cNvPr id="50" name="Shape 48"/>
          <p:cNvSpPr/>
          <p:nvPr/>
        </p:nvSpPr>
        <p:spPr>
          <a:xfrm>
            <a:off x="4572000" y="3163824"/>
            <a:ext cx="146304" cy="146304"/>
          </a:xfrm>
          <a:prstGeom prst="rect">
            <a:avLst/>
          </a:prstGeom>
          <a:solidFill>
            <a:srgbClr val="76B900">
              <a:alpha val="90000"/>
            </a:srgbClr>
          </a:solidFill>
          <a:ln w="12700">
            <a:solidFill>
              <a:srgbClr val="76B900">
                <a:alpha val="0"/>
              </a:srgbClr>
            </a:solidFill>
            <a:prstDash val="solid"/>
          </a:ln>
        </p:spPr>
      </p:sp>
      <p:sp>
        <p:nvSpPr>
          <p:cNvPr id="51" name="Shape 49"/>
          <p:cNvSpPr/>
          <p:nvPr/>
        </p:nvSpPr>
        <p:spPr>
          <a:xfrm>
            <a:off x="4782312" y="3163824"/>
            <a:ext cx="146304" cy="146304"/>
          </a:xfrm>
          <a:prstGeom prst="rect">
            <a:avLst/>
          </a:prstGeom>
          <a:solidFill>
            <a:srgbClr val="76B900">
              <a:alpha val="90000"/>
            </a:srgbClr>
          </a:solidFill>
          <a:ln w="12700">
            <a:solidFill>
              <a:srgbClr val="76B900">
                <a:alpha val="0"/>
              </a:srgbClr>
            </a:solidFill>
            <a:prstDash val="solid"/>
          </a:ln>
        </p:spPr>
      </p:sp>
      <p:sp>
        <p:nvSpPr>
          <p:cNvPr id="52" name="Shape 50"/>
          <p:cNvSpPr/>
          <p:nvPr/>
        </p:nvSpPr>
        <p:spPr>
          <a:xfrm>
            <a:off x="4992624" y="3163824"/>
            <a:ext cx="146304" cy="146304"/>
          </a:xfrm>
          <a:prstGeom prst="rect">
            <a:avLst/>
          </a:prstGeom>
          <a:solidFill>
            <a:srgbClr val="76B900">
              <a:alpha val="90000"/>
            </a:srgbClr>
          </a:solidFill>
          <a:ln w="12700">
            <a:solidFill>
              <a:srgbClr val="76B900">
                <a:alpha val="0"/>
              </a:srgbClr>
            </a:solidFill>
            <a:prstDash val="solid"/>
          </a:ln>
        </p:spPr>
      </p:sp>
      <p:sp>
        <p:nvSpPr>
          <p:cNvPr id="53" name="Shape 51"/>
          <p:cNvSpPr/>
          <p:nvPr/>
        </p:nvSpPr>
        <p:spPr>
          <a:xfrm>
            <a:off x="5202936" y="3163824"/>
            <a:ext cx="146304" cy="146304"/>
          </a:xfrm>
          <a:prstGeom prst="rect">
            <a:avLst/>
          </a:prstGeom>
          <a:solidFill>
            <a:srgbClr val="76B900">
              <a:alpha val="90000"/>
            </a:srgbClr>
          </a:solidFill>
          <a:ln w="12700">
            <a:solidFill>
              <a:srgbClr val="76B900">
                <a:alpha val="0"/>
              </a:srgbClr>
            </a:solidFill>
            <a:prstDash val="solid"/>
          </a:ln>
        </p:spPr>
      </p:sp>
      <p:sp>
        <p:nvSpPr>
          <p:cNvPr id="54" name="Shape 52"/>
          <p:cNvSpPr/>
          <p:nvPr/>
        </p:nvSpPr>
        <p:spPr>
          <a:xfrm>
            <a:off x="5413248" y="3163824"/>
            <a:ext cx="146304" cy="146304"/>
          </a:xfrm>
          <a:prstGeom prst="rect">
            <a:avLst/>
          </a:prstGeom>
          <a:solidFill>
            <a:srgbClr val="76B900">
              <a:alpha val="90000"/>
            </a:srgbClr>
          </a:solidFill>
          <a:ln w="12700">
            <a:solidFill>
              <a:srgbClr val="76B900">
                <a:alpha val="0"/>
              </a:srgbClr>
            </a:solidFill>
            <a:prstDash val="solid"/>
          </a:ln>
        </p:spPr>
      </p:sp>
      <p:sp>
        <p:nvSpPr>
          <p:cNvPr id="55" name="Shape 53"/>
          <p:cNvSpPr/>
          <p:nvPr/>
        </p:nvSpPr>
        <p:spPr>
          <a:xfrm>
            <a:off x="5623560" y="3163824"/>
            <a:ext cx="146304" cy="146304"/>
          </a:xfrm>
          <a:prstGeom prst="rect">
            <a:avLst/>
          </a:prstGeom>
          <a:solidFill>
            <a:srgbClr val="76B900">
              <a:alpha val="90000"/>
            </a:srgbClr>
          </a:solidFill>
          <a:ln w="12700">
            <a:solidFill>
              <a:srgbClr val="76B900">
                <a:alpha val="0"/>
              </a:srgbClr>
            </a:solidFill>
            <a:prstDash val="solid"/>
          </a:ln>
        </p:spPr>
      </p:sp>
      <p:sp>
        <p:nvSpPr>
          <p:cNvPr id="56" name="Shape 54"/>
          <p:cNvSpPr/>
          <p:nvPr/>
        </p:nvSpPr>
        <p:spPr>
          <a:xfrm>
            <a:off x="5833872" y="3163824"/>
            <a:ext cx="146304" cy="146304"/>
          </a:xfrm>
          <a:prstGeom prst="rect">
            <a:avLst/>
          </a:prstGeom>
          <a:solidFill>
            <a:srgbClr val="76B900">
              <a:alpha val="90000"/>
            </a:srgbClr>
          </a:solidFill>
          <a:ln w="12700">
            <a:solidFill>
              <a:srgbClr val="76B900">
                <a:alpha val="0"/>
              </a:srgbClr>
            </a:solidFill>
            <a:prstDash val="solid"/>
          </a:ln>
        </p:spPr>
      </p:sp>
      <p:sp>
        <p:nvSpPr>
          <p:cNvPr id="57" name="Shape 55"/>
          <p:cNvSpPr/>
          <p:nvPr/>
        </p:nvSpPr>
        <p:spPr>
          <a:xfrm>
            <a:off x="6044184" y="3163824"/>
            <a:ext cx="146304" cy="146304"/>
          </a:xfrm>
          <a:prstGeom prst="rect">
            <a:avLst/>
          </a:prstGeom>
          <a:solidFill>
            <a:srgbClr val="76B900">
              <a:alpha val="90000"/>
            </a:srgbClr>
          </a:solidFill>
          <a:ln w="12700">
            <a:solidFill>
              <a:srgbClr val="76B900">
                <a:alpha val="0"/>
              </a:srgbClr>
            </a:solidFill>
            <a:prstDash val="solid"/>
          </a:ln>
        </p:spPr>
      </p:sp>
      <p:sp>
        <p:nvSpPr>
          <p:cNvPr id="58" name="Shape 56"/>
          <p:cNvSpPr/>
          <p:nvPr/>
        </p:nvSpPr>
        <p:spPr>
          <a:xfrm>
            <a:off x="3730752" y="3474720"/>
            <a:ext cx="146304" cy="146304"/>
          </a:xfrm>
          <a:prstGeom prst="rect">
            <a:avLst/>
          </a:prstGeom>
          <a:solidFill>
            <a:srgbClr val="76B900">
              <a:alpha val="75000"/>
            </a:srgbClr>
          </a:solidFill>
          <a:ln w="12700">
            <a:solidFill>
              <a:srgbClr val="76B900">
                <a:alpha val="0"/>
              </a:srgbClr>
            </a:solidFill>
            <a:prstDash val="solid"/>
          </a:ln>
        </p:spPr>
      </p:sp>
      <p:sp>
        <p:nvSpPr>
          <p:cNvPr id="59" name="Shape 57"/>
          <p:cNvSpPr/>
          <p:nvPr/>
        </p:nvSpPr>
        <p:spPr>
          <a:xfrm>
            <a:off x="3941064" y="3474720"/>
            <a:ext cx="146304" cy="146304"/>
          </a:xfrm>
          <a:prstGeom prst="rect">
            <a:avLst/>
          </a:prstGeom>
          <a:solidFill>
            <a:srgbClr val="76B900">
              <a:alpha val="75000"/>
            </a:srgbClr>
          </a:solidFill>
          <a:ln w="12700">
            <a:solidFill>
              <a:srgbClr val="76B900">
                <a:alpha val="0"/>
              </a:srgbClr>
            </a:solidFill>
            <a:prstDash val="solid"/>
          </a:ln>
        </p:spPr>
      </p:sp>
      <p:sp>
        <p:nvSpPr>
          <p:cNvPr id="60" name="Shape 58"/>
          <p:cNvSpPr/>
          <p:nvPr/>
        </p:nvSpPr>
        <p:spPr>
          <a:xfrm>
            <a:off x="4151376" y="3474720"/>
            <a:ext cx="146304" cy="146304"/>
          </a:xfrm>
          <a:prstGeom prst="rect">
            <a:avLst/>
          </a:prstGeom>
          <a:solidFill>
            <a:srgbClr val="76B900">
              <a:alpha val="75000"/>
            </a:srgbClr>
          </a:solidFill>
          <a:ln w="12700">
            <a:solidFill>
              <a:srgbClr val="76B900">
                <a:alpha val="0"/>
              </a:srgbClr>
            </a:solidFill>
            <a:prstDash val="solid"/>
          </a:ln>
        </p:spPr>
      </p:sp>
      <p:sp>
        <p:nvSpPr>
          <p:cNvPr id="61" name="Shape 59"/>
          <p:cNvSpPr/>
          <p:nvPr/>
        </p:nvSpPr>
        <p:spPr>
          <a:xfrm>
            <a:off x="4361688" y="3474720"/>
            <a:ext cx="146304" cy="146304"/>
          </a:xfrm>
          <a:prstGeom prst="rect">
            <a:avLst/>
          </a:prstGeom>
          <a:solidFill>
            <a:srgbClr val="76B900">
              <a:alpha val="75000"/>
            </a:srgbClr>
          </a:solidFill>
          <a:ln w="12700">
            <a:solidFill>
              <a:srgbClr val="76B900">
                <a:alpha val="0"/>
              </a:srgbClr>
            </a:solidFill>
            <a:prstDash val="solid"/>
          </a:ln>
        </p:spPr>
      </p:sp>
      <p:sp>
        <p:nvSpPr>
          <p:cNvPr id="62" name="Shape 60"/>
          <p:cNvSpPr/>
          <p:nvPr/>
        </p:nvSpPr>
        <p:spPr>
          <a:xfrm>
            <a:off x="4572000" y="3474720"/>
            <a:ext cx="146304" cy="146304"/>
          </a:xfrm>
          <a:prstGeom prst="rect">
            <a:avLst/>
          </a:prstGeom>
          <a:solidFill>
            <a:srgbClr val="76B900">
              <a:alpha val="75000"/>
            </a:srgbClr>
          </a:solidFill>
          <a:ln w="12700">
            <a:solidFill>
              <a:srgbClr val="76B900">
                <a:alpha val="0"/>
              </a:srgbClr>
            </a:solidFill>
            <a:prstDash val="solid"/>
          </a:ln>
        </p:spPr>
      </p:sp>
      <p:sp>
        <p:nvSpPr>
          <p:cNvPr id="63" name="Shape 61"/>
          <p:cNvSpPr/>
          <p:nvPr/>
        </p:nvSpPr>
        <p:spPr>
          <a:xfrm>
            <a:off x="4782312" y="3474720"/>
            <a:ext cx="146304" cy="146304"/>
          </a:xfrm>
          <a:prstGeom prst="rect">
            <a:avLst/>
          </a:prstGeom>
          <a:solidFill>
            <a:srgbClr val="76B900">
              <a:alpha val="75000"/>
            </a:srgbClr>
          </a:solidFill>
          <a:ln w="12700">
            <a:solidFill>
              <a:srgbClr val="76B900">
                <a:alpha val="0"/>
              </a:srgbClr>
            </a:solidFill>
            <a:prstDash val="solid"/>
          </a:ln>
        </p:spPr>
      </p:sp>
      <p:sp>
        <p:nvSpPr>
          <p:cNvPr id="64" name="Shape 62"/>
          <p:cNvSpPr/>
          <p:nvPr/>
        </p:nvSpPr>
        <p:spPr>
          <a:xfrm>
            <a:off x="4992624" y="3474720"/>
            <a:ext cx="146304" cy="146304"/>
          </a:xfrm>
          <a:prstGeom prst="rect">
            <a:avLst/>
          </a:prstGeom>
          <a:solidFill>
            <a:srgbClr val="76B900">
              <a:alpha val="75000"/>
            </a:srgbClr>
          </a:solidFill>
          <a:ln w="12700">
            <a:solidFill>
              <a:srgbClr val="76B900">
                <a:alpha val="0"/>
              </a:srgbClr>
            </a:solidFill>
            <a:prstDash val="solid"/>
          </a:ln>
        </p:spPr>
      </p:sp>
      <p:sp>
        <p:nvSpPr>
          <p:cNvPr id="65" name="Shape 63"/>
          <p:cNvSpPr/>
          <p:nvPr/>
        </p:nvSpPr>
        <p:spPr>
          <a:xfrm>
            <a:off x="5202936" y="3474720"/>
            <a:ext cx="146304" cy="146304"/>
          </a:xfrm>
          <a:prstGeom prst="rect">
            <a:avLst/>
          </a:prstGeom>
          <a:solidFill>
            <a:srgbClr val="76B900">
              <a:alpha val="75000"/>
            </a:srgbClr>
          </a:solidFill>
          <a:ln w="12700">
            <a:solidFill>
              <a:srgbClr val="76B900">
                <a:alpha val="0"/>
              </a:srgbClr>
            </a:solidFill>
            <a:prstDash val="solid"/>
          </a:ln>
        </p:spPr>
      </p:sp>
      <p:sp>
        <p:nvSpPr>
          <p:cNvPr id="66" name="Shape 64"/>
          <p:cNvSpPr/>
          <p:nvPr/>
        </p:nvSpPr>
        <p:spPr>
          <a:xfrm>
            <a:off x="5413248" y="3474720"/>
            <a:ext cx="146304" cy="146304"/>
          </a:xfrm>
          <a:prstGeom prst="rect">
            <a:avLst/>
          </a:prstGeom>
          <a:solidFill>
            <a:srgbClr val="76B900">
              <a:alpha val="75000"/>
            </a:srgbClr>
          </a:solidFill>
          <a:ln w="12700">
            <a:solidFill>
              <a:srgbClr val="76B900">
                <a:alpha val="0"/>
              </a:srgbClr>
            </a:solidFill>
            <a:prstDash val="solid"/>
          </a:ln>
        </p:spPr>
      </p:sp>
      <p:sp>
        <p:nvSpPr>
          <p:cNvPr id="67" name="Shape 65"/>
          <p:cNvSpPr/>
          <p:nvPr/>
        </p:nvSpPr>
        <p:spPr>
          <a:xfrm>
            <a:off x="5623560" y="3474720"/>
            <a:ext cx="146304" cy="146304"/>
          </a:xfrm>
          <a:prstGeom prst="rect">
            <a:avLst/>
          </a:prstGeom>
          <a:solidFill>
            <a:srgbClr val="76B900">
              <a:alpha val="75000"/>
            </a:srgbClr>
          </a:solidFill>
          <a:ln w="12700">
            <a:solidFill>
              <a:srgbClr val="76B900">
                <a:alpha val="0"/>
              </a:srgbClr>
            </a:solidFill>
            <a:prstDash val="solid"/>
          </a:ln>
        </p:spPr>
      </p:sp>
      <p:sp>
        <p:nvSpPr>
          <p:cNvPr id="68" name="Shape 66"/>
          <p:cNvSpPr/>
          <p:nvPr/>
        </p:nvSpPr>
        <p:spPr>
          <a:xfrm>
            <a:off x="5833872" y="3474720"/>
            <a:ext cx="146304" cy="146304"/>
          </a:xfrm>
          <a:prstGeom prst="rect">
            <a:avLst/>
          </a:prstGeom>
          <a:solidFill>
            <a:srgbClr val="76B900">
              <a:alpha val="75000"/>
            </a:srgbClr>
          </a:solidFill>
          <a:ln w="12700">
            <a:solidFill>
              <a:srgbClr val="76B900">
                <a:alpha val="0"/>
              </a:srgbClr>
            </a:solidFill>
            <a:prstDash val="solid"/>
          </a:ln>
        </p:spPr>
      </p:sp>
      <p:sp>
        <p:nvSpPr>
          <p:cNvPr id="69" name="Shape 67"/>
          <p:cNvSpPr/>
          <p:nvPr/>
        </p:nvSpPr>
        <p:spPr>
          <a:xfrm>
            <a:off x="6044184" y="3474720"/>
            <a:ext cx="146304" cy="146304"/>
          </a:xfrm>
          <a:prstGeom prst="rect">
            <a:avLst/>
          </a:prstGeom>
          <a:solidFill>
            <a:srgbClr val="76B900">
              <a:alpha val="75000"/>
            </a:srgbClr>
          </a:solidFill>
          <a:ln w="12700">
            <a:solidFill>
              <a:srgbClr val="76B900">
                <a:alpha val="0"/>
              </a:srgbClr>
            </a:solidFill>
            <a:prstDash val="solid"/>
          </a:ln>
        </p:spPr>
      </p:sp>
      <p:sp>
        <p:nvSpPr>
          <p:cNvPr id="70" name="Text 68"/>
          <p:cNvSpPr/>
          <p:nvPr/>
        </p:nvSpPr>
        <p:spPr>
          <a:xfrm>
            <a:off x="3703320" y="3977640"/>
            <a:ext cx="2743200" cy="640080"/>
          </a:xfrm>
          <a:prstGeom prst="rect">
            <a:avLst/>
          </a:prstGeom>
          <a:noFill/>
          <a:ln/>
        </p:spPr>
        <p:txBody>
          <a:bodyPr wrap="square" lIns="0" tIns="0" rIns="0" bIns="0" rtlCol="0" anchor="ctr">
            <a:noAutofit/>
          </a:bodyPr>
          <a:lstStyle/>
          <a:p>
            <a:pPr marL="0" indent="0">
              <a:buNone/>
            </a:pPr>
            <a:r>
              <a:rPr lang="en-US" sz="1250" dirty="0">
                <a:solidFill>
                  <a:srgbClr val="C7D0D9"/>
                </a:solidFill>
              </a:rPr>
              <a:t>Same operation applied to lots of data at once</a:t>
            </a:r>
            <a:endParaRPr lang="en-US" sz="1250" dirty="0"/>
          </a:p>
        </p:txBody>
      </p:sp>
      <p:sp>
        <p:nvSpPr>
          <p:cNvPr id="71" name="Shape 69"/>
          <p:cNvSpPr/>
          <p:nvPr/>
        </p:nvSpPr>
        <p:spPr>
          <a:xfrm>
            <a:off x="6903720" y="1572768"/>
            <a:ext cx="4160520" cy="4495800"/>
          </a:xfrm>
          <a:prstGeom prst="roundRect">
            <a:avLst>
              <a:gd name="adj" fmla="val 1758"/>
            </a:avLst>
          </a:prstGeom>
          <a:solidFill>
            <a:srgbClr val="18212D"/>
          </a:solidFill>
          <a:ln w="12700">
            <a:solidFill>
              <a:srgbClr val="344252"/>
            </a:solidFill>
            <a:prstDash val="solid"/>
          </a:ln>
        </p:spPr>
      </p:sp>
      <p:sp>
        <p:nvSpPr>
          <p:cNvPr id="72" name="Text 70"/>
          <p:cNvSpPr/>
          <p:nvPr/>
        </p:nvSpPr>
        <p:spPr>
          <a:xfrm>
            <a:off x="7196328" y="1847088"/>
            <a:ext cx="2377440" cy="310896"/>
          </a:xfrm>
          <a:prstGeom prst="rect">
            <a:avLst/>
          </a:prstGeom>
          <a:noFill/>
          <a:ln/>
        </p:spPr>
        <p:txBody>
          <a:bodyPr wrap="square" lIns="0" tIns="0" rIns="0" bIns="0" rtlCol="0" anchor="ctr">
            <a:noAutofit/>
          </a:bodyPr>
          <a:lstStyle/>
          <a:p>
            <a:pPr marL="0" indent="0">
              <a:buNone/>
            </a:pPr>
            <a:r>
              <a:rPr lang="en-US" sz="1800" b="1" dirty="0">
                <a:solidFill>
                  <a:srgbClr val="A3E635"/>
                </a:solidFill>
              </a:rPr>
              <a:t>Why CNNs fit</a:t>
            </a:r>
            <a:endParaRPr lang="en-US" sz="1800" dirty="0"/>
          </a:p>
        </p:txBody>
      </p:sp>
      <p:sp>
        <p:nvSpPr>
          <p:cNvPr id="73" name="Text 71"/>
          <p:cNvSpPr/>
          <p:nvPr/>
        </p:nvSpPr>
        <p:spPr>
          <a:xfrm>
            <a:off x="7223760" y="2404872"/>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Output pixels</a:t>
            </a:r>
            <a:endParaRPr lang="en-US" sz="1350" dirty="0"/>
          </a:p>
        </p:txBody>
      </p:sp>
      <p:sp>
        <p:nvSpPr>
          <p:cNvPr id="74" name="Shape 72"/>
          <p:cNvSpPr/>
          <p:nvPr/>
        </p:nvSpPr>
        <p:spPr>
          <a:xfrm>
            <a:off x="9189720" y="2331720"/>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5" name="Text 73"/>
          <p:cNvSpPr/>
          <p:nvPr/>
        </p:nvSpPr>
        <p:spPr>
          <a:xfrm>
            <a:off x="9189720" y="2418588"/>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76" name="Text 74"/>
          <p:cNvSpPr/>
          <p:nvPr/>
        </p:nvSpPr>
        <p:spPr>
          <a:xfrm>
            <a:off x="7223760" y="3026664"/>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Filters / channels</a:t>
            </a:r>
            <a:endParaRPr lang="en-US" sz="1350" dirty="0"/>
          </a:p>
        </p:txBody>
      </p:sp>
      <p:sp>
        <p:nvSpPr>
          <p:cNvPr id="77" name="Shape 75"/>
          <p:cNvSpPr/>
          <p:nvPr/>
        </p:nvSpPr>
        <p:spPr>
          <a:xfrm>
            <a:off x="9189720" y="2953512"/>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8" name="Text 76"/>
          <p:cNvSpPr/>
          <p:nvPr/>
        </p:nvSpPr>
        <p:spPr>
          <a:xfrm>
            <a:off x="9189720" y="3040380"/>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79" name="Text 77"/>
          <p:cNvSpPr/>
          <p:nvPr/>
        </p:nvSpPr>
        <p:spPr>
          <a:xfrm>
            <a:off x="7223760" y="3648456"/>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Images in batch</a:t>
            </a:r>
            <a:endParaRPr lang="en-US" sz="1350" dirty="0"/>
          </a:p>
        </p:txBody>
      </p:sp>
      <p:sp>
        <p:nvSpPr>
          <p:cNvPr id="80" name="Shape 78"/>
          <p:cNvSpPr/>
          <p:nvPr/>
        </p:nvSpPr>
        <p:spPr>
          <a:xfrm>
            <a:off x="9189720" y="3575304"/>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1" name="Text 79"/>
          <p:cNvSpPr/>
          <p:nvPr/>
        </p:nvSpPr>
        <p:spPr>
          <a:xfrm>
            <a:off x="9189720" y="3662172"/>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82" name="Text 80"/>
          <p:cNvSpPr/>
          <p:nvPr/>
        </p:nvSpPr>
        <p:spPr>
          <a:xfrm>
            <a:off x="7223760" y="4270248"/>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Matrix multiplies</a:t>
            </a:r>
            <a:endParaRPr lang="en-US" sz="1350" dirty="0"/>
          </a:p>
        </p:txBody>
      </p:sp>
      <p:sp>
        <p:nvSpPr>
          <p:cNvPr id="83" name="Shape 81"/>
          <p:cNvSpPr/>
          <p:nvPr/>
        </p:nvSpPr>
        <p:spPr>
          <a:xfrm>
            <a:off x="9189720" y="4197096"/>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4" name="Text 82"/>
          <p:cNvSpPr/>
          <p:nvPr/>
        </p:nvSpPr>
        <p:spPr>
          <a:xfrm>
            <a:off x="9189720" y="4283964"/>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85" name="Text 83"/>
          <p:cNvSpPr/>
          <p:nvPr/>
        </p:nvSpPr>
        <p:spPr>
          <a:xfrm>
            <a:off x="7223760" y="4864100"/>
            <a:ext cx="3291840" cy="457200"/>
          </a:xfrm>
          <a:prstGeom prst="rect">
            <a:avLst/>
          </a:prstGeom>
          <a:noFill/>
          <a:ln/>
        </p:spPr>
        <p:txBody>
          <a:bodyPr wrap="square" lIns="0" tIns="0" rIns="0" bIns="0" rtlCol="0" anchor="ctr">
            <a:noAutofit/>
          </a:bodyPr>
          <a:lstStyle/>
          <a:p>
            <a:pPr marL="0" indent="0">
              <a:buNone/>
            </a:pPr>
            <a:r>
              <a:rPr lang="en-US" sz="1450" b="1">
                <a:solidFill>
                  <a:srgbClr val="F4F7FA"/>
                </a:solidFill>
              </a:rPr>
              <a:t>Batches expose many independent output sums.</a:t>
            </a:r>
            <a:endParaRPr lang="en-US" sz="1450" dirty="0"/>
          </a:p>
        </p:txBody>
      </p:sp>
      <p:sp>
        <p:nvSpPr>
          <p:cNvPr id="86" name="Text 84"/>
          <p:cNvSpPr/>
          <p:nvPr/>
        </p:nvSpPr>
        <p:spPr>
          <a:xfrm>
            <a:off x="7223760" y="5448300"/>
            <a:ext cx="3337560" cy="431800"/>
          </a:xfrm>
          <a:prstGeom prst="rect">
            <a:avLst/>
          </a:prstGeom>
          <a:noFill/>
          <a:ln/>
        </p:spPr>
        <p:txBody>
          <a:bodyPr wrap="square" lIns="0" tIns="0" rIns="0" bIns="0" rtlCol="0" anchor="ctr">
            <a:noAutofit/>
          </a:bodyPr>
          <a:lstStyle/>
          <a:p>
            <a:pPr marL="0" indent="0">
              <a:buNone/>
            </a:pPr>
            <a:r>
              <a:rPr lang="en-US" sz="1230">
                <a:solidFill>
                  <a:srgbClr val="7E8A97"/>
                </a:solidFill>
              </a:rPr>
              <a:t>Useful work must outweigh launch and data-movement costs.</a:t>
            </a:r>
            <a:endParaRPr lang="en-US" sz="1230" dirty="0"/>
          </a:p>
        </p:txBody>
      </p:sp>
      <p:sp>
        <p:nvSpPr>
          <p:cNvPr id="8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dGPU memory, batching and throughput</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PyTorch on one T4: tensors stay in dedicated VRAM; batches share launch costs across more independent images.</a:t>
            </a:r>
            <a:endParaRPr lang="en-US" sz="1150" dirty="0"/>
          </a:p>
        </p:txBody>
      </p:sp>
      <p:sp>
        <p:nvSpPr>
          <p:cNvPr id="6" name="Shape 4"/>
          <p:cNvSpPr/>
          <p:nvPr/>
        </p:nvSpPr>
        <p:spPr>
          <a:xfrm>
            <a:off x="603504" y="1207008"/>
            <a:ext cx="10972800" cy="5029200"/>
          </a:xfrm>
          <a:prstGeom prst="roundRect">
            <a:avLst>
              <a:gd name="adj" fmla="val 1455"/>
            </a:avLst>
          </a:prstGeom>
          <a:solidFill>
            <a:srgbClr val="121923"/>
          </a:solidFill>
          <a:ln w="12700">
            <a:solidFill>
              <a:srgbClr val="25303D"/>
            </a:solidFill>
            <a:prstDash val="solid"/>
          </a:ln>
        </p:spPr>
      </p:sp>
      <p:sp>
        <p:nvSpPr>
          <p:cNvPr id="7" name="Shape 5"/>
          <p:cNvSpPr/>
          <p:nvPr/>
        </p:nvSpPr>
        <p:spPr>
          <a:xfrm>
            <a:off x="896112" y="1490472"/>
            <a:ext cx="77724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96112" y="1568196"/>
            <a:ext cx="777240" cy="128016"/>
          </a:xfrm>
          <a:prstGeom prst="rect">
            <a:avLst/>
          </a:prstGeom>
          <a:noFill/>
          <a:ln/>
        </p:spPr>
        <p:txBody>
          <a:bodyPr wrap="square" lIns="0" tIns="0" rIns="0" bIns="0" rtlCol="0" anchor="ctr">
            <a:noAutofit/>
          </a:bodyPr>
          <a:lstStyle/>
          <a:p>
            <a:pPr marL="0" indent="0" algn="ctr">
              <a:buNone/>
            </a:pPr>
            <a:r>
              <a:rPr lang="en-US" sz="850" b="1" kern="0" spc="100">
                <a:solidFill>
                  <a:srgbClr val="41D9FF"/>
                </a:solidFill>
              </a:rPr>
              <a:t>BATCH 1</a:t>
            </a:r>
            <a:endParaRPr lang="en-US" sz="850" dirty="0"/>
          </a:p>
        </p:txBody>
      </p:sp>
      <p:sp>
        <p:nvSpPr>
          <p:cNvPr id="9" name="Text 7"/>
          <p:cNvSpPr/>
          <p:nvPr/>
        </p:nvSpPr>
        <p:spPr>
          <a:xfrm>
            <a:off x="896112" y="1930400"/>
            <a:ext cx="2489200" cy="546100"/>
          </a:xfrm>
          <a:prstGeom prst="rect">
            <a:avLst/>
          </a:prstGeom>
          <a:noFill/>
          <a:ln/>
        </p:spPr>
        <p:txBody>
          <a:bodyPr wrap="square" lIns="0" tIns="0" rIns="0" bIns="0" rtlCol="0" anchor="ctr">
            <a:noAutofit/>
          </a:bodyPr>
          <a:lstStyle/>
          <a:p>
            <a:pPr marL="0" indent="0">
              <a:buNone/>
            </a:pPr>
            <a:r>
              <a:rPr lang="en-US" sz="1400" b="1">
                <a:solidFill>
                  <a:srgbClr val="F4F7FA"/>
                </a:solidFill>
              </a:rPr>
              <a:t>One image</a:t>
            </a:r>
          </a:p>
          <a:p>
            <a:pPr marL="0" indent="0">
              <a:buNone/>
            </a:pPr>
            <a:r>
              <a:rPr lang="en-US" sz="1400" b="1">
                <a:solidFill>
                  <a:srgbClr val="F4F7FA"/>
                </a:solidFill>
              </a:rPr>
              <a:t>2,704 convolution outputs</a:t>
            </a:r>
            <a:endParaRPr lang="en-US" sz="1400" dirty="0"/>
          </a:p>
        </p:txBody>
      </p:sp>
      <p:sp>
        <p:nvSpPr>
          <p:cNvPr id="10" name="Shape 8"/>
          <p:cNvSpPr/>
          <p:nvPr/>
        </p:nvSpPr>
        <p:spPr>
          <a:xfrm>
            <a:off x="93268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1" name="Shape 9"/>
          <p:cNvSpPr/>
          <p:nvPr/>
        </p:nvSpPr>
        <p:spPr>
          <a:xfrm>
            <a:off x="143560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2" name="Shape 10"/>
          <p:cNvSpPr/>
          <p:nvPr/>
        </p:nvSpPr>
        <p:spPr>
          <a:xfrm>
            <a:off x="193852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3" name="Shape 11"/>
          <p:cNvSpPr/>
          <p:nvPr/>
        </p:nvSpPr>
        <p:spPr>
          <a:xfrm>
            <a:off x="244144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4" name="Shape 12"/>
          <p:cNvSpPr/>
          <p:nvPr/>
        </p:nvSpPr>
        <p:spPr>
          <a:xfrm>
            <a:off x="93268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5" name="Shape 13"/>
          <p:cNvSpPr/>
          <p:nvPr/>
        </p:nvSpPr>
        <p:spPr>
          <a:xfrm>
            <a:off x="143560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6" name="Shape 14"/>
          <p:cNvSpPr/>
          <p:nvPr/>
        </p:nvSpPr>
        <p:spPr>
          <a:xfrm>
            <a:off x="193852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7" name="Shape 15"/>
          <p:cNvSpPr/>
          <p:nvPr/>
        </p:nvSpPr>
        <p:spPr>
          <a:xfrm>
            <a:off x="244144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8" name="Text 16"/>
          <p:cNvSpPr/>
          <p:nvPr/>
        </p:nvSpPr>
        <p:spPr>
          <a:xfrm>
            <a:off x="896112" y="3977640"/>
            <a:ext cx="2286000" cy="762000"/>
          </a:xfrm>
          <a:prstGeom prst="rect">
            <a:avLst/>
          </a:prstGeom>
          <a:noFill/>
          <a:ln/>
        </p:spPr>
        <p:txBody>
          <a:bodyPr wrap="square" lIns="0" tIns="0" rIns="0" bIns="0" rtlCol="0" anchor="ctr">
            <a:noAutofit/>
          </a:bodyPr>
          <a:lstStyle/>
          <a:p>
            <a:pPr marL="0" indent="0">
              <a:buNone/>
            </a:pPr>
            <a:r>
              <a:rPr lang="en-US" sz="1150">
                <a:solidFill>
                  <a:srgbClr val="C7D0D9"/>
                </a:solidFill>
              </a:rPr>
              <a:t>1-digit inference: 347.21 µs</a:t>
            </a:r>
          </a:p>
          <a:p>
            <a:pPr marL="0" indent="0">
              <a:buNone/>
            </a:pPr>
            <a:r>
              <a:rPr lang="en-US" sz="1150">
                <a:solidFill>
                  <a:srgbClr val="C7D0D9"/>
                </a:solidFill>
              </a:rPr>
              <a:t>Few values share each launch cost</a:t>
            </a:r>
            <a:endParaRPr lang="en-US" sz="1150" dirty="0"/>
          </a:p>
        </p:txBody>
      </p:sp>
      <p:sp>
        <p:nvSpPr>
          <p:cNvPr id="19" name="Shape 17"/>
          <p:cNvSpPr/>
          <p:nvPr/>
        </p:nvSpPr>
        <p:spPr>
          <a:xfrm>
            <a:off x="3703320" y="1490472"/>
            <a:ext cx="96012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0" name="Text 18"/>
          <p:cNvSpPr/>
          <p:nvPr/>
        </p:nvSpPr>
        <p:spPr>
          <a:xfrm>
            <a:off x="3703320" y="1568196"/>
            <a:ext cx="960120" cy="128016"/>
          </a:xfrm>
          <a:prstGeom prst="rect">
            <a:avLst/>
          </a:prstGeom>
          <a:noFill/>
          <a:ln/>
        </p:spPr>
        <p:txBody>
          <a:bodyPr wrap="square" lIns="0" tIns="0" rIns="0" bIns="0" rtlCol="0" anchor="ctr">
            <a:noAutofit/>
          </a:bodyPr>
          <a:lstStyle/>
          <a:p>
            <a:pPr marL="0" indent="0" algn="ctr">
              <a:buNone/>
            </a:pPr>
            <a:r>
              <a:rPr lang="en-US" sz="850" b="1" kern="0" spc="100">
                <a:solidFill>
                  <a:srgbClr val="76B900"/>
                </a:solidFill>
              </a:rPr>
              <a:t>BATCH 64</a:t>
            </a:r>
            <a:endParaRPr lang="en-US" sz="850" dirty="0"/>
          </a:p>
        </p:txBody>
      </p:sp>
      <p:sp>
        <p:nvSpPr>
          <p:cNvPr id="21" name="Text 19"/>
          <p:cNvSpPr/>
          <p:nvPr/>
        </p:nvSpPr>
        <p:spPr>
          <a:xfrm>
            <a:off x="3703320" y="1930400"/>
            <a:ext cx="2832100" cy="546100"/>
          </a:xfrm>
          <a:prstGeom prst="rect">
            <a:avLst/>
          </a:prstGeom>
          <a:noFill/>
          <a:ln/>
        </p:spPr>
        <p:txBody>
          <a:bodyPr wrap="square" lIns="0" tIns="0" rIns="0" bIns="0" rtlCol="0" anchor="ctr">
            <a:noAutofit/>
          </a:bodyPr>
          <a:lstStyle/>
          <a:p>
            <a:pPr marL="0" indent="0">
              <a:buNone/>
            </a:pPr>
            <a:r>
              <a:rPr lang="fr-FR" sz="1400" b="1">
                <a:solidFill>
                  <a:srgbClr val="F4F7FA"/>
                </a:solidFill>
              </a:rPr>
              <a:t>64 images</a:t>
            </a:r>
          </a:p>
          <a:p>
            <a:pPr marL="0" indent="0">
              <a:buNone/>
            </a:pPr>
            <a:r>
              <a:rPr lang="fr-FR" sz="1400" b="1">
                <a:solidFill>
                  <a:srgbClr val="F4F7FA"/>
                </a:solidFill>
              </a:rPr>
              <a:t>173,056 convolution outputs</a:t>
            </a:r>
            <a:endParaRPr lang="en-US" sz="1400" dirty="0"/>
          </a:p>
        </p:txBody>
      </p:sp>
      <p:sp>
        <p:nvSpPr>
          <p:cNvPr id="22" name="Shape 20"/>
          <p:cNvSpPr/>
          <p:nvPr/>
        </p:nvSpPr>
        <p:spPr>
          <a:xfrm>
            <a:off x="3730752" y="2542032"/>
            <a:ext cx="146304" cy="146304"/>
          </a:xfrm>
          <a:prstGeom prst="rect">
            <a:avLst/>
          </a:prstGeom>
          <a:solidFill>
            <a:srgbClr val="76B900">
              <a:alpha val="90000"/>
            </a:srgbClr>
          </a:solidFill>
          <a:ln w="12700">
            <a:solidFill>
              <a:srgbClr val="76B900">
                <a:alpha val="0"/>
              </a:srgbClr>
            </a:solidFill>
            <a:prstDash val="solid"/>
          </a:ln>
        </p:spPr>
      </p:sp>
      <p:sp>
        <p:nvSpPr>
          <p:cNvPr id="23" name="Shape 21"/>
          <p:cNvSpPr/>
          <p:nvPr/>
        </p:nvSpPr>
        <p:spPr>
          <a:xfrm>
            <a:off x="3941064" y="2542032"/>
            <a:ext cx="146304" cy="146304"/>
          </a:xfrm>
          <a:prstGeom prst="rect">
            <a:avLst/>
          </a:prstGeom>
          <a:solidFill>
            <a:srgbClr val="76B900">
              <a:alpha val="90000"/>
            </a:srgbClr>
          </a:solidFill>
          <a:ln w="12700">
            <a:solidFill>
              <a:srgbClr val="76B900">
                <a:alpha val="0"/>
              </a:srgbClr>
            </a:solidFill>
            <a:prstDash val="solid"/>
          </a:ln>
        </p:spPr>
      </p:sp>
      <p:sp>
        <p:nvSpPr>
          <p:cNvPr id="24" name="Shape 22"/>
          <p:cNvSpPr/>
          <p:nvPr/>
        </p:nvSpPr>
        <p:spPr>
          <a:xfrm>
            <a:off x="4151376" y="2542032"/>
            <a:ext cx="146304" cy="146304"/>
          </a:xfrm>
          <a:prstGeom prst="rect">
            <a:avLst/>
          </a:prstGeom>
          <a:solidFill>
            <a:srgbClr val="76B900">
              <a:alpha val="90000"/>
            </a:srgbClr>
          </a:solidFill>
          <a:ln w="12700">
            <a:solidFill>
              <a:srgbClr val="76B900">
                <a:alpha val="0"/>
              </a:srgbClr>
            </a:solidFill>
            <a:prstDash val="solid"/>
          </a:ln>
        </p:spPr>
      </p:sp>
      <p:sp>
        <p:nvSpPr>
          <p:cNvPr id="25" name="Shape 23"/>
          <p:cNvSpPr/>
          <p:nvPr/>
        </p:nvSpPr>
        <p:spPr>
          <a:xfrm>
            <a:off x="4361688" y="2542032"/>
            <a:ext cx="146304" cy="146304"/>
          </a:xfrm>
          <a:prstGeom prst="rect">
            <a:avLst/>
          </a:prstGeom>
          <a:solidFill>
            <a:srgbClr val="76B900">
              <a:alpha val="90000"/>
            </a:srgbClr>
          </a:solidFill>
          <a:ln w="12700">
            <a:solidFill>
              <a:srgbClr val="76B900">
                <a:alpha val="0"/>
              </a:srgbClr>
            </a:solidFill>
            <a:prstDash val="solid"/>
          </a:ln>
        </p:spPr>
      </p:sp>
      <p:sp>
        <p:nvSpPr>
          <p:cNvPr id="26" name="Shape 24"/>
          <p:cNvSpPr/>
          <p:nvPr/>
        </p:nvSpPr>
        <p:spPr>
          <a:xfrm>
            <a:off x="4572000" y="2542032"/>
            <a:ext cx="146304" cy="146304"/>
          </a:xfrm>
          <a:prstGeom prst="rect">
            <a:avLst/>
          </a:prstGeom>
          <a:solidFill>
            <a:srgbClr val="76B900">
              <a:alpha val="90000"/>
            </a:srgbClr>
          </a:solidFill>
          <a:ln w="12700">
            <a:solidFill>
              <a:srgbClr val="76B900">
                <a:alpha val="0"/>
              </a:srgbClr>
            </a:solidFill>
            <a:prstDash val="solid"/>
          </a:ln>
        </p:spPr>
      </p:sp>
      <p:sp>
        <p:nvSpPr>
          <p:cNvPr id="27" name="Shape 25"/>
          <p:cNvSpPr/>
          <p:nvPr/>
        </p:nvSpPr>
        <p:spPr>
          <a:xfrm>
            <a:off x="4782312" y="2542032"/>
            <a:ext cx="146304" cy="146304"/>
          </a:xfrm>
          <a:prstGeom prst="rect">
            <a:avLst/>
          </a:prstGeom>
          <a:solidFill>
            <a:srgbClr val="76B900">
              <a:alpha val="90000"/>
            </a:srgbClr>
          </a:solidFill>
          <a:ln w="12700">
            <a:solidFill>
              <a:srgbClr val="76B900">
                <a:alpha val="0"/>
              </a:srgbClr>
            </a:solidFill>
            <a:prstDash val="solid"/>
          </a:ln>
        </p:spPr>
      </p:sp>
      <p:sp>
        <p:nvSpPr>
          <p:cNvPr id="28" name="Shape 26"/>
          <p:cNvSpPr/>
          <p:nvPr/>
        </p:nvSpPr>
        <p:spPr>
          <a:xfrm>
            <a:off x="4992624" y="2542032"/>
            <a:ext cx="146304" cy="146304"/>
          </a:xfrm>
          <a:prstGeom prst="rect">
            <a:avLst/>
          </a:prstGeom>
          <a:solidFill>
            <a:srgbClr val="76B900">
              <a:alpha val="90000"/>
            </a:srgbClr>
          </a:solidFill>
          <a:ln w="12700">
            <a:solidFill>
              <a:srgbClr val="76B900">
                <a:alpha val="0"/>
              </a:srgbClr>
            </a:solidFill>
            <a:prstDash val="solid"/>
          </a:ln>
        </p:spPr>
      </p:sp>
      <p:sp>
        <p:nvSpPr>
          <p:cNvPr id="29" name="Shape 27"/>
          <p:cNvSpPr/>
          <p:nvPr/>
        </p:nvSpPr>
        <p:spPr>
          <a:xfrm>
            <a:off x="5202936" y="2542032"/>
            <a:ext cx="146304" cy="146304"/>
          </a:xfrm>
          <a:prstGeom prst="rect">
            <a:avLst/>
          </a:prstGeom>
          <a:solidFill>
            <a:srgbClr val="76B900">
              <a:alpha val="90000"/>
            </a:srgbClr>
          </a:solidFill>
          <a:ln w="12700">
            <a:solidFill>
              <a:srgbClr val="76B900">
                <a:alpha val="0"/>
              </a:srgbClr>
            </a:solidFill>
            <a:prstDash val="solid"/>
          </a:ln>
        </p:spPr>
      </p:sp>
      <p:sp>
        <p:nvSpPr>
          <p:cNvPr id="30" name="Shape 28"/>
          <p:cNvSpPr/>
          <p:nvPr/>
        </p:nvSpPr>
        <p:spPr>
          <a:xfrm>
            <a:off x="5413248" y="2542032"/>
            <a:ext cx="146304" cy="146304"/>
          </a:xfrm>
          <a:prstGeom prst="rect">
            <a:avLst/>
          </a:prstGeom>
          <a:solidFill>
            <a:srgbClr val="76B900">
              <a:alpha val="90000"/>
            </a:srgbClr>
          </a:solidFill>
          <a:ln w="12700">
            <a:solidFill>
              <a:srgbClr val="76B900">
                <a:alpha val="0"/>
              </a:srgbClr>
            </a:solidFill>
            <a:prstDash val="solid"/>
          </a:ln>
        </p:spPr>
      </p:sp>
      <p:sp>
        <p:nvSpPr>
          <p:cNvPr id="31" name="Shape 29"/>
          <p:cNvSpPr/>
          <p:nvPr/>
        </p:nvSpPr>
        <p:spPr>
          <a:xfrm>
            <a:off x="5623560" y="2542032"/>
            <a:ext cx="146304" cy="146304"/>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5833872" y="2542032"/>
            <a:ext cx="146304" cy="146304"/>
          </a:xfrm>
          <a:prstGeom prst="rect">
            <a:avLst/>
          </a:prstGeom>
          <a:solidFill>
            <a:srgbClr val="76B900">
              <a:alpha val="90000"/>
            </a:srgbClr>
          </a:solidFill>
          <a:ln w="12700">
            <a:solidFill>
              <a:srgbClr val="76B900">
                <a:alpha val="0"/>
              </a:srgbClr>
            </a:solidFill>
            <a:prstDash val="solid"/>
          </a:ln>
        </p:spPr>
      </p:sp>
      <p:sp>
        <p:nvSpPr>
          <p:cNvPr id="33" name="Shape 31"/>
          <p:cNvSpPr/>
          <p:nvPr/>
        </p:nvSpPr>
        <p:spPr>
          <a:xfrm>
            <a:off x="6044184" y="2542032"/>
            <a:ext cx="146304" cy="146304"/>
          </a:xfrm>
          <a:prstGeom prst="rect">
            <a:avLst/>
          </a:prstGeom>
          <a:solidFill>
            <a:srgbClr val="76B900">
              <a:alpha val="90000"/>
            </a:srgbClr>
          </a:solidFill>
          <a:ln w="12700">
            <a:solidFill>
              <a:srgbClr val="76B900">
                <a:alpha val="0"/>
              </a:srgbClr>
            </a:solidFill>
            <a:prstDash val="solid"/>
          </a:ln>
        </p:spPr>
      </p:sp>
      <p:sp>
        <p:nvSpPr>
          <p:cNvPr id="34" name="Shape 32"/>
          <p:cNvSpPr/>
          <p:nvPr/>
        </p:nvSpPr>
        <p:spPr>
          <a:xfrm>
            <a:off x="3730752" y="2852928"/>
            <a:ext cx="146304" cy="146304"/>
          </a:xfrm>
          <a:prstGeom prst="rect">
            <a:avLst/>
          </a:prstGeom>
          <a:solidFill>
            <a:srgbClr val="76B900">
              <a:alpha val="75000"/>
            </a:srgbClr>
          </a:solidFill>
          <a:ln w="12700">
            <a:solidFill>
              <a:srgbClr val="76B900">
                <a:alpha val="0"/>
              </a:srgbClr>
            </a:solidFill>
            <a:prstDash val="solid"/>
          </a:ln>
        </p:spPr>
      </p:sp>
      <p:sp>
        <p:nvSpPr>
          <p:cNvPr id="35" name="Shape 33"/>
          <p:cNvSpPr/>
          <p:nvPr/>
        </p:nvSpPr>
        <p:spPr>
          <a:xfrm>
            <a:off x="3941064" y="2852928"/>
            <a:ext cx="146304" cy="146304"/>
          </a:xfrm>
          <a:prstGeom prst="rect">
            <a:avLst/>
          </a:prstGeom>
          <a:solidFill>
            <a:srgbClr val="76B900">
              <a:alpha val="75000"/>
            </a:srgbClr>
          </a:solidFill>
          <a:ln w="12700">
            <a:solidFill>
              <a:srgbClr val="76B900">
                <a:alpha val="0"/>
              </a:srgbClr>
            </a:solidFill>
            <a:prstDash val="solid"/>
          </a:ln>
        </p:spPr>
      </p:sp>
      <p:sp>
        <p:nvSpPr>
          <p:cNvPr id="36" name="Shape 34"/>
          <p:cNvSpPr/>
          <p:nvPr/>
        </p:nvSpPr>
        <p:spPr>
          <a:xfrm>
            <a:off x="4151376" y="2852928"/>
            <a:ext cx="146304" cy="146304"/>
          </a:xfrm>
          <a:prstGeom prst="rect">
            <a:avLst/>
          </a:prstGeom>
          <a:solidFill>
            <a:srgbClr val="76B900">
              <a:alpha val="75000"/>
            </a:srgbClr>
          </a:solidFill>
          <a:ln w="12700">
            <a:solidFill>
              <a:srgbClr val="76B900">
                <a:alpha val="0"/>
              </a:srgbClr>
            </a:solidFill>
            <a:prstDash val="solid"/>
          </a:ln>
        </p:spPr>
      </p:sp>
      <p:sp>
        <p:nvSpPr>
          <p:cNvPr id="37" name="Shape 35"/>
          <p:cNvSpPr/>
          <p:nvPr/>
        </p:nvSpPr>
        <p:spPr>
          <a:xfrm>
            <a:off x="4361688" y="2852928"/>
            <a:ext cx="146304" cy="146304"/>
          </a:xfrm>
          <a:prstGeom prst="rect">
            <a:avLst/>
          </a:prstGeom>
          <a:solidFill>
            <a:srgbClr val="76B900">
              <a:alpha val="75000"/>
            </a:srgbClr>
          </a:solidFill>
          <a:ln w="12700">
            <a:solidFill>
              <a:srgbClr val="76B900">
                <a:alpha val="0"/>
              </a:srgbClr>
            </a:solidFill>
            <a:prstDash val="solid"/>
          </a:ln>
        </p:spPr>
      </p:sp>
      <p:sp>
        <p:nvSpPr>
          <p:cNvPr id="38" name="Shape 36"/>
          <p:cNvSpPr/>
          <p:nvPr/>
        </p:nvSpPr>
        <p:spPr>
          <a:xfrm>
            <a:off x="4572000" y="2852928"/>
            <a:ext cx="146304" cy="146304"/>
          </a:xfrm>
          <a:prstGeom prst="rect">
            <a:avLst/>
          </a:prstGeom>
          <a:solidFill>
            <a:srgbClr val="76B900">
              <a:alpha val="75000"/>
            </a:srgbClr>
          </a:solidFill>
          <a:ln w="12700">
            <a:solidFill>
              <a:srgbClr val="76B900">
                <a:alpha val="0"/>
              </a:srgbClr>
            </a:solidFill>
            <a:prstDash val="solid"/>
          </a:ln>
        </p:spPr>
      </p:sp>
      <p:sp>
        <p:nvSpPr>
          <p:cNvPr id="39" name="Shape 37"/>
          <p:cNvSpPr/>
          <p:nvPr/>
        </p:nvSpPr>
        <p:spPr>
          <a:xfrm>
            <a:off x="4782312" y="2852928"/>
            <a:ext cx="146304" cy="146304"/>
          </a:xfrm>
          <a:prstGeom prst="rect">
            <a:avLst/>
          </a:prstGeom>
          <a:solidFill>
            <a:srgbClr val="76B900">
              <a:alpha val="75000"/>
            </a:srgbClr>
          </a:solidFill>
          <a:ln w="12700">
            <a:solidFill>
              <a:srgbClr val="76B900">
                <a:alpha val="0"/>
              </a:srgbClr>
            </a:solidFill>
            <a:prstDash val="solid"/>
          </a:ln>
        </p:spPr>
      </p:sp>
      <p:sp>
        <p:nvSpPr>
          <p:cNvPr id="40" name="Shape 38"/>
          <p:cNvSpPr/>
          <p:nvPr/>
        </p:nvSpPr>
        <p:spPr>
          <a:xfrm>
            <a:off x="4992624" y="2852928"/>
            <a:ext cx="146304" cy="146304"/>
          </a:xfrm>
          <a:prstGeom prst="rect">
            <a:avLst/>
          </a:prstGeom>
          <a:solidFill>
            <a:srgbClr val="76B900">
              <a:alpha val="75000"/>
            </a:srgbClr>
          </a:solidFill>
          <a:ln w="12700">
            <a:solidFill>
              <a:srgbClr val="76B900">
                <a:alpha val="0"/>
              </a:srgbClr>
            </a:solidFill>
            <a:prstDash val="solid"/>
          </a:ln>
        </p:spPr>
      </p:sp>
      <p:sp>
        <p:nvSpPr>
          <p:cNvPr id="41" name="Shape 39"/>
          <p:cNvSpPr/>
          <p:nvPr/>
        </p:nvSpPr>
        <p:spPr>
          <a:xfrm>
            <a:off x="5202936" y="2852928"/>
            <a:ext cx="146304" cy="146304"/>
          </a:xfrm>
          <a:prstGeom prst="rect">
            <a:avLst/>
          </a:prstGeom>
          <a:solidFill>
            <a:srgbClr val="76B900">
              <a:alpha val="75000"/>
            </a:srgbClr>
          </a:solidFill>
          <a:ln w="12700">
            <a:solidFill>
              <a:srgbClr val="76B900">
                <a:alpha val="0"/>
              </a:srgbClr>
            </a:solidFill>
            <a:prstDash val="solid"/>
          </a:ln>
        </p:spPr>
      </p:sp>
      <p:sp>
        <p:nvSpPr>
          <p:cNvPr id="42" name="Shape 40"/>
          <p:cNvSpPr/>
          <p:nvPr/>
        </p:nvSpPr>
        <p:spPr>
          <a:xfrm>
            <a:off x="5413248" y="2852928"/>
            <a:ext cx="146304" cy="146304"/>
          </a:xfrm>
          <a:prstGeom prst="rect">
            <a:avLst/>
          </a:prstGeom>
          <a:solidFill>
            <a:srgbClr val="76B900">
              <a:alpha val="75000"/>
            </a:srgbClr>
          </a:solidFill>
          <a:ln w="12700">
            <a:solidFill>
              <a:srgbClr val="76B900">
                <a:alpha val="0"/>
              </a:srgbClr>
            </a:solidFill>
            <a:prstDash val="solid"/>
          </a:ln>
        </p:spPr>
      </p:sp>
      <p:sp>
        <p:nvSpPr>
          <p:cNvPr id="43" name="Shape 41"/>
          <p:cNvSpPr/>
          <p:nvPr/>
        </p:nvSpPr>
        <p:spPr>
          <a:xfrm>
            <a:off x="5623560" y="2852928"/>
            <a:ext cx="146304" cy="146304"/>
          </a:xfrm>
          <a:prstGeom prst="rect">
            <a:avLst/>
          </a:prstGeom>
          <a:solidFill>
            <a:srgbClr val="76B900">
              <a:alpha val="75000"/>
            </a:srgbClr>
          </a:solidFill>
          <a:ln w="12700">
            <a:solidFill>
              <a:srgbClr val="76B900">
                <a:alpha val="0"/>
              </a:srgbClr>
            </a:solidFill>
            <a:prstDash val="solid"/>
          </a:ln>
        </p:spPr>
      </p:sp>
      <p:sp>
        <p:nvSpPr>
          <p:cNvPr id="44" name="Shape 42"/>
          <p:cNvSpPr/>
          <p:nvPr/>
        </p:nvSpPr>
        <p:spPr>
          <a:xfrm>
            <a:off x="5833872" y="2852928"/>
            <a:ext cx="146304" cy="146304"/>
          </a:xfrm>
          <a:prstGeom prst="rect">
            <a:avLst/>
          </a:prstGeom>
          <a:solidFill>
            <a:srgbClr val="76B900">
              <a:alpha val="75000"/>
            </a:srgbClr>
          </a:solidFill>
          <a:ln w="12700">
            <a:solidFill>
              <a:srgbClr val="76B900">
                <a:alpha val="0"/>
              </a:srgbClr>
            </a:solidFill>
            <a:prstDash val="solid"/>
          </a:ln>
        </p:spPr>
      </p:sp>
      <p:sp>
        <p:nvSpPr>
          <p:cNvPr id="45" name="Shape 43"/>
          <p:cNvSpPr/>
          <p:nvPr/>
        </p:nvSpPr>
        <p:spPr>
          <a:xfrm>
            <a:off x="6044184" y="2852928"/>
            <a:ext cx="146304" cy="146304"/>
          </a:xfrm>
          <a:prstGeom prst="rect">
            <a:avLst/>
          </a:prstGeom>
          <a:solidFill>
            <a:srgbClr val="76B900">
              <a:alpha val="75000"/>
            </a:srgbClr>
          </a:solidFill>
          <a:ln w="12700">
            <a:solidFill>
              <a:srgbClr val="76B900">
                <a:alpha val="0"/>
              </a:srgbClr>
            </a:solidFill>
            <a:prstDash val="solid"/>
          </a:ln>
        </p:spPr>
      </p:sp>
      <p:sp>
        <p:nvSpPr>
          <p:cNvPr id="46" name="Shape 44"/>
          <p:cNvSpPr/>
          <p:nvPr/>
        </p:nvSpPr>
        <p:spPr>
          <a:xfrm>
            <a:off x="3730752" y="3163824"/>
            <a:ext cx="146304" cy="146304"/>
          </a:xfrm>
          <a:prstGeom prst="rect">
            <a:avLst/>
          </a:prstGeom>
          <a:solidFill>
            <a:srgbClr val="76B900">
              <a:alpha val="90000"/>
            </a:srgbClr>
          </a:solidFill>
          <a:ln w="12700">
            <a:solidFill>
              <a:srgbClr val="76B900">
                <a:alpha val="0"/>
              </a:srgbClr>
            </a:solidFill>
            <a:prstDash val="solid"/>
          </a:ln>
        </p:spPr>
      </p:sp>
      <p:sp>
        <p:nvSpPr>
          <p:cNvPr id="47" name="Shape 45"/>
          <p:cNvSpPr/>
          <p:nvPr/>
        </p:nvSpPr>
        <p:spPr>
          <a:xfrm>
            <a:off x="3941064" y="3163824"/>
            <a:ext cx="146304" cy="146304"/>
          </a:xfrm>
          <a:prstGeom prst="rect">
            <a:avLst/>
          </a:prstGeom>
          <a:solidFill>
            <a:srgbClr val="76B900">
              <a:alpha val="90000"/>
            </a:srgbClr>
          </a:solidFill>
          <a:ln w="12700">
            <a:solidFill>
              <a:srgbClr val="76B900">
                <a:alpha val="0"/>
              </a:srgbClr>
            </a:solidFill>
            <a:prstDash val="solid"/>
          </a:ln>
        </p:spPr>
      </p:sp>
      <p:sp>
        <p:nvSpPr>
          <p:cNvPr id="48" name="Shape 46"/>
          <p:cNvSpPr/>
          <p:nvPr/>
        </p:nvSpPr>
        <p:spPr>
          <a:xfrm>
            <a:off x="4151376" y="3163824"/>
            <a:ext cx="146304" cy="146304"/>
          </a:xfrm>
          <a:prstGeom prst="rect">
            <a:avLst/>
          </a:prstGeom>
          <a:solidFill>
            <a:srgbClr val="76B900">
              <a:alpha val="90000"/>
            </a:srgbClr>
          </a:solidFill>
          <a:ln w="12700">
            <a:solidFill>
              <a:srgbClr val="76B900">
                <a:alpha val="0"/>
              </a:srgbClr>
            </a:solidFill>
            <a:prstDash val="solid"/>
          </a:ln>
        </p:spPr>
      </p:sp>
      <p:sp>
        <p:nvSpPr>
          <p:cNvPr id="49" name="Shape 47"/>
          <p:cNvSpPr/>
          <p:nvPr/>
        </p:nvSpPr>
        <p:spPr>
          <a:xfrm>
            <a:off x="4361688" y="3163824"/>
            <a:ext cx="146304" cy="146304"/>
          </a:xfrm>
          <a:prstGeom prst="rect">
            <a:avLst/>
          </a:prstGeom>
          <a:solidFill>
            <a:srgbClr val="76B900">
              <a:alpha val="90000"/>
            </a:srgbClr>
          </a:solidFill>
          <a:ln w="12700">
            <a:solidFill>
              <a:srgbClr val="76B900">
                <a:alpha val="0"/>
              </a:srgbClr>
            </a:solidFill>
            <a:prstDash val="solid"/>
          </a:ln>
        </p:spPr>
      </p:sp>
      <p:sp>
        <p:nvSpPr>
          <p:cNvPr id="50" name="Shape 48"/>
          <p:cNvSpPr/>
          <p:nvPr/>
        </p:nvSpPr>
        <p:spPr>
          <a:xfrm>
            <a:off x="4572000" y="3163824"/>
            <a:ext cx="146304" cy="146304"/>
          </a:xfrm>
          <a:prstGeom prst="rect">
            <a:avLst/>
          </a:prstGeom>
          <a:solidFill>
            <a:srgbClr val="76B900">
              <a:alpha val="90000"/>
            </a:srgbClr>
          </a:solidFill>
          <a:ln w="12700">
            <a:solidFill>
              <a:srgbClr val="76B900">
                <a:alpha val="0"/>
              </a:srgbClr>
            </a:solidFill>
            <a:prstDash val="solid"/>
          </a:ln>
        </p:spPr>
      </p:sp>
      <p:sp>
        <p:nvSpPr>
          <p:cNvPr id="51" name="Shape 49"/>
          <p:cNvSpPr/>
          <p:nvPr/>
        </p:nvSpPr>
        <p:spPr>
          <a:xfrm>
            <a:off x="4782312" y="3163824"/>
            <a:ext cx="146304" cy="146304"/>
          </a:xfrm>
          <a:prstGeom prst="rect">
            <a:avLst/>
          </a:prstGeom>
          <a:solidFill>
            <a:srgbClr val="76B900">
              <a:alpha val="90000"/>
            </a:srgbClr>
          </a:solidFill>
          <a:ln w="12700">
            <a:solidFill>
              <a:srgbClr val="76B900">
                <a:alpha val="0"/>
              </a:srgbClr>
            </a:solidFill>
            <a:prstDash val="solid"/>
          </a:ln>
        </p:spPr>
      </p:sp>
      <p:sp>
        <p:nvSpPr>
          <p:cNvPr id="52" name="Shape 50"/>
          <p:cNvSpPr/>
          <p:nvPr/>
        </p:nvSpPr>
        <p:spPr>
          <a:xfrm>
            <a:off x="4992624" y="3163824"/>
            <a:ext cx="146304" cy="146304"/>
          </a:xfrm>
          <a:prstGeom prst="rect">
            <a:avLst/>
          </a:prstGeom>
          <a:solidFill>
            <a:srgbClr val="76B900">
              <a:alpha val="90000"/>
            </a:srgbClr>
          </a:solidFill>
          <a:ln w="12700">
            <a:solidFill>
              <a:srgbClr val="76B900">
                <a:alpha val="0"/>
              </a:srgbClr>
            </a:solidFill>
            <a:prstDash val="solid"/>
          </a:ln>
        </p:spPr>
      </p:sp>
      <p:sp>
        <p:nvSpPr>
          <p:cNvPr id="53" name="Shape 51"/>
          <p:cNvSpPr/>
          <p:nvPr/>
        </p:nvSpPr>
        <p:spPr>
          <a:xfrm>
            <a:off x="5202936" y="3163824"/>
            <a:ext cx="146304" cy="146304"/>
          </a:xfrm>
          <a:prstGeom prst="rect">
            <a:avLst/>
          </a:prstGeom>
          <a:solidFill>
            <a:srgbClr val="76B900">
              <a:alpha val="90000"/>
            </a:srgbClr>
          </a:solidFill>
          <a:ln w="12700">
            <a:solidFill>
              <a:srgbClr val="76B900">
                <a:alpha val="0"/>
              </a:srgbClr>
            </a:solidFill>
            <a:prstDash val="solid"/>
          </a:ln>
        </p:spPr>
      </p:sp>
      <p:sp>
        <p:nvSpPr>
          <p:cNvPr id="54" name="Shape 52"/>
          <p:cNvSpPr/>
          <p:nvPr/>
        </p:nvSpPr>
        <p:spPr>
          <a:xfrm>
            <a:off x="5413248" y="3163824"/>
            <a:ext cx="146304" cy="146304"/>
          </a:xfrm>
          <a:prstGeom prst="rect">
            <a:avLst/>
          </a:prstGeom>
          <a:solidFill>
            <a:srgbClr val="76B900">
              <a:alpha val="90000"/>
            </a:srgbClr>
          </a:solidFill>
          <a:ln w="12700">
            <a:solidFill>
              <a:srgbClr val="76B900">
                <a:alpha val="0"/>
              </a:srgbClr>
            </a:solidFill>
            <a:prstDash val="solid"/>
          </a:ln>
        </p:spPr>
      </p:sp>
      <p:sp>
        <p:nvSpPr>
          <p:cNvPr id="55" name="Shape 53"/>
          <p:cNvSpPr/>
          <p:nvPr/>
        </p:nvSpPr>
        <p:spPr>
          <a:xfrm>
            <a:off x="5623560" y="3163824"/>
            <a:ext cx="146304" cy="146304"/>
          </a:xfrm>
          <a:prstGeom prst="rect">
            <a:avLst/>
          </a:prstGeom>
          <a:solidFill>
            <a:srgbClr val="76B900">
              <a:alpha val="90000"/>
            </a:srgbClr>
          </a:solidFill>
          <a:ln w="12700">
            <a:solidFill>
              <a:srgbClr val="76B900">
                <a:alpha val="0"/>
              </a:srgbClr>
            </a:solidFill>
            <a:prstDash val="solid"/>
          </a:ln>
        </p:spPr>
      </p:sp>
      <p:sp>
        <p:nvSpPr>
          <p:cNvPr id="56" name="Shape 54"/>
          <p:cNvSpPr/>
          <p:nvPr/>
        </p:nvSpPr>
        <p:spPr>
          <a:xfrm>
            <a:off x="5833872" y="3163824"/>
            <a:ext cx="146304" cy="146304"/>
          </a:xfrm>
          <a:prstGeom prst="rect">
            <a:avLst/>
          </a:prstGeom>
          <a:solidFill>
            <a:srgbClr val="76B900">
              <a:alpha val="90000"/>
            </a:srgbClr>
          </a:solidFill>
          <a:ln w="12700">
            <a:solidFill>
              <a:srgbClr val="76B900">
                <a:alpha val="0"/>
              </a:srgbClr>
            </a:solidFill>
            <a:prstDash val="solid"/>
          </a:ln>
        </p:spPr>
      </p:sp>
      <p:sp>
        <p:nvSpPr>
          <p:cNvPr id="57" name="Shape 55"/>
          <p:cNvSpPr/>
          <p:nvPr/>
        </p:nvSpPr>
        <p:spPr>
          <a:xfrm>
            <a:off x="6044184" y="3163824"/>
            <a:ext cx="146304" cy="146304"/>
          </a:xfrm>
          <a:prstGeom prst="rect">
            <a:avLst/>
          </a:prstGeom>
          <a:solidFill>
            <a:srgbClr val="76B900">
              <a:alpha val="90000"/>
            </a:srgbClr>
          </a:solidFill>
          <a:ln w="12700">
            <a:solidFill>
              <a:srgbClr val="76B900">
                <a:alpha val="0"/>
              </a:srgbClr>
            </a:solidFill>
            <a:prstDash val="solid"/>
          </a:ln>
        </p:spPr>
      </p:sp>
      <p:sp>
        <p:nvSpPr>
          <p:cNvPr id="58" name="Shape 56"/>
          <p:cNvSpPr/>
          <p:nvPr/>
        </p:nvSpPr>
        <p:spPr>
          <a:xfrm>
            <a:off x="3730752" y="3474720"/>
            <a:ext cx="146304" cy="146304"/>
          </a:xfrm>
          <a:prstGeom prst="rect">
            <a:avLst/>
          </a:prstGeom>
          <a:solidFill>
            <a:srgbClr val="76B900">
              <a:alpha val="75000"/>
            </a:srgbClr>
          </a:solidFill>
          <a:ln w="12700">
            <a:solidFill>
              <a:srgbClr val="76B900">
                <a:alpha val="0"/>
              </a:srgbClr>
            </a:solidFill>
            <a:prstDash val="solid"/>
          </a:ln>
        </p:spPr>
      </p:sp>
      <p:sp>
        <p:nvSpPr>
          <p:cNvPr id="59" name="Shape 57"/>
          <p:cNvSpPr/>
          <p:nvPr/>
        </p:nvSpPr>
        <p:spPr>
          <a:xfrm>
            <a:off x="3941064" y="3474720"/>
            <a:ext cx="146304" cy="146304"/>
          </a:xfrm>
          <a:prstGeom prst="rect">
            <a:avLst/>
          </a:prstGeom>
          <a:solidFill>
            <a:srgbClr val="76B900">
              <a:alpha val="75000"/>
            </a:srgbClr>
          </a:solidFill>
          <a:ln w="12700">
            <a:solidFill>
              <a:srgbClr val="76B900">
                <a:alpha val="0"/>
              </a:srgbClr>
            </a:solidFill>
            <a:prstDash val="solid"/>
          </a:ln>
        </p:spPr>
      </p:sp>
      <p:sp>
        <p:nvSpPr>
          <p:cNvPr id="60" name="Shape 58"/>
          <p:cNvSpPr/>
          <p:nvPr/>
        </p:nvSpPr>
        <p:spPr>
          <a:xfrm>
            <a:off x="4151376" y="3474720"/>
            <a:ext cx="146304" cy="146304"/>
          </a:xfrm>
          <a:prstGeom prst="rect">
            <a:avLst/>
          </a:prstGeom>
          <a:solidFill>
            <a:srgbClr val="76B900">
              <a:alpha val="75000"/>
            </a:srgbClr>
          </a:solidFill>
          <a:ln w="12700">
            <a:solidFill>
              <a:srgbClr val="76B900">
                <a:alpha val="0"/>
              </a:srgbClr>
            </a:solidFill>
            <a:prstDash val="solid"/>
          </a:ln>
        </p:spPr>
      </p:sp>
      <p:sp>
        <p:nvSpPr>
          <p:cNvPr id="61" name="Shape 59"/>
          <p:cNvSpPr/>
          <p:nvPr/>
        </p:nvSpPr>
        <p:spPr>
          <a:xfrm>
            <a:off x="4361688" y="3474720"/>
            <a:ext cx="146304" cy="146304"/>
          </a:xfrm>
          <a:prstGeom prst="rect">
            <a:avLst/>
          </a:prstGeom>
          <a:solidFill>
            <a:srgbClr val="76B900">
              <a:alpha val="75000"/>
            </a:srgbClr>
          </a:solidFill>
          <a:ln w="12700">
            <a:solidFill>
              <a:srgbClr val="76B900">
                <a:alpha val="0"/>
              </a:srgbClr>
            </a:solidFill>
            <a:prstDash val="solid"/>
          </a:ln>
        </p:spPr>
      </p:sp>
      <p:sp>
        <p:nvSpPr>
          <p:cNvPr id="62" name="Shape 60"/>
          <p:cNvSpPr/>
          <p:nvPr/>
        </p:nvSpPr>
        <p:spPr>
          <a:xfrm>
            <a:off x="4572000" y="3474720"/>
            <a:ext cx="146304" cy="146304"/>
          </a:xfrm>
          <a:prstGeom prst="rect">
            <a:avLst/>
          </a:prstGeom>
          <a:solidFill>
            <a:srgbClr val="76B900">
              <a:alpha val="75000"/>
            </a:srgbClr>
          </a:solidFill>
          <a:ln w="12700">
            <a:solidFill>
              <a:srgbClr val="76B900">
                <a:alpha val="0"/>
              </a:srgbClr>
            </a:solidFill>
            <a:prstDash val="solid"/>
          </a:ln>
        </p:spPr>
      </p:sp>
      <p:sp>
        <p:nvSpPr>
          <p:cNvPr id="63" name="Shape 61"/>
          <p:cNvSpPr/>
          <p:nvPr/>
        </p:nvSpPr>
        <p:spPr>
          <a:xfrm>
            <a:off x="4782312" y="3474720"/>
            <a:ext cx="146304" cy="146304"/>
          </a:xfrm>
          <a:prstGeom prst="rect">
            <a:avLst/>
          </a:prstGeom>
          <a:solidFill>
            <a:srgbClr val="76B900">
              <a:alpha val="75000"/>
            </a:srgbClr>
          </a:solidFill>
          <a:ln w="12700">
            <a:solidFill>
              <a:srgbClr val="76B900">
                <a:alpha val="0"/>
              </a:srgbClr>
            </a:solidFill>
            <a:prstDash val="solid"/>
          </a:ln>
        </p:spPr>
      </p:sp>
      <p:sp>
        <p:nvSpPr>
          <p:cNvPr id="64" name="Shape 62"/>
          <p:cNvSpPr/>
          <p:nvPr/>
        </p:nvSpPr>
        <p:spPr>
          <a:xfrm>
            <a:off x="4992624" y="3474720"/>
            <a:ext cx="146304" cy="146304"/>
          </a:xfrm>
          <a:prstGeom prst="rect">
            <a:avLst/>
          </a:prstGeom>
          <a:solidFill>
            <a:srgbClr val="76B900">
              <a:alpha val="75000"/>
            </a:srgbClr>
          </a:solidFill>
          <a:ln w="12700">
            <a:solidFill>
              <a:srgbClr val="76B900">
                <a:alpha val="0"/>
              </a:srgbClr>
            </a:solidFill>
            <a:prstDash val="solid"/>
          </a:ln>
        </p:spPr>
      </p:sp>
      <p:sp>
        <p:nvSpPr>
          <p:cNvPr id="65" name="Shape 63"/>
          <p:cNvSpPr/>
          <p:nvPr/>
        </p:nvSpPr>
        <p:spPr>
          <a:xfrm>
            <a:off x="5202936" y="3474720"/>
            <a:ext cx="146304" cy="146304"/>
          </a:xfrm>
          <a:prstGeom prst="rect">
            <a:avLst/>
          </a:prstGeom>
          <a:solidFill>
            <a:srgbClr val="76B900">
              <a:alpha val="75000"/>
            </a:srgbClr>
          </a:solidFill>
          <a:ln w="12700">
            <a:solidFill>
              <a:srgbClr val="76B900">
                <a:alpha val="0"/>
              </a:srgbClr>
            </a:solidFill>
            <a:prstDash val="solid"/>
          </a:ln>
        </p:spPr>
      </p:sp>
      <p:sp>
        <p:nvSpPr>
          <p:cNvPr id="66" name="Shape 64"/>
          <p:cNvSpPr/>
          <p:nvPr/>
        </p:nvSpPr>
        <p:spPr>
          <a:xfrm>
            <a:off x="5413248" y="3474720"/>
            <a:ext cx="146304" cy="146304"/>
          </a:xfrm>
          <a:prstGeom prst="rect">
            <a:avLst/>
          </a:prstGeom>
          <a:solidFill>
            <a:srgbClr val="76B900">
              <a:alpha val="75000"/>
            </a:srgbClr>
          </a:solidFill>
          <a:ln w="12700">
            <a:solidFill>
              <a:srgbClr val="76B900">
                <a:alpha val="0"/>
              </a:srgbClr>
            </a:solidFill>
            <a:prstDash val="solid"/>
          </a:ln>
        </p:spPr>
      </p:sp>
      <p:sp>
        <p:nvSpPr>
          <p:cNvPr id="67" name="Shape 65"/>
          <p:cNvSpPr/>
          <p:nvPr/>
        </p:nvSpPr>
        <p:spPr>
          <a:xfrm>
            <a:off x="5623560" y="3474720"/>
            <a:ext cx="146304" cy="146304"/>
          </a:xfrm>
          <a:prstGeom prst="rect">
            <a:avLst/>
          </a:prstGeom>
          <a:solidFill>
            <a:srgbClr val="76B900">
              <a:alpha val="75000"/>
            </a:srgbClr>
          </a:solidFill>
          <a:ln w="12700">
            <a:solidFill>
              <a:srgbClr val="76B900">
                <a:alpha val="0"/>
              </a:srgbClr>
            </a:solidFill>
            <a:prstDash val="solid"/>
          </a:ln>
        </p:spPr>
      </p:sp>
      <p:sp>
        <p:nvSpPr>
          <p:cNvPr id="68" name="Shape 66"/>
          <p:cNvSpPr/>
          <p:nvPr/>
        </p:nvSpPr>
        <p:spPr>
          <a:xfrm>
            <a:off x="5833872" y="3474720"/>
            <a:ext cx="146304" cy="146304"/>
          </a:xfrm>
          <a:prstGeom prst="rect">
            <a:avLst/>
          </a:prstGeom>
          <a:solidFill>
            <a:srgbClr val="76B900">
              <a:alpha val="75000"/>
            </a:srgbClr>
          </a:solidFill>
          <a:ln w="12700">
            <a:solidFill>
              <a:srgbClr val="76B900">
                <a:alpha val="0"/>
              </a:srgbClr>
            </a:solidFill>
            <a:prstDash val="solid"/>
          </a:ln>
        </p:spPr>
      </p:sp>
      <p:sp>
        <p:nvSpPr>
          <p:cNvPr id="69" name="Shape 67"/>
          <p:cNvSpPr/>
          <p:nvPr/>
        </p:nvSpPr>
        <p:spPr>
          <a:xfrm>
            <a:off x="6044184" y="3474720"/>
            <a:ext cx="146304" cy="146304"/>
          </a:xfrm>
          <a:prstGeom prst="rect">
            <a:avLst/>
          </a:prstGeom>
          <a:solidFill>
            <a:srgbClr val="76B900">
              <a:alpha val="75000"/>
            </a:srgbClr>
          </a:solidFill>
          <a:ln w="12700">
            <a:solidFill>
              <a:srgbClr val="76B900">
                <a:alpha val="0"/>
              </a:srgbClr>
            </a:solidFill>
            <a:prstDash val="solid"/>
          </a:ln>
        </p:spPr>
      </p:sp>
      <p:sp>
        <p:nvSpPr>
          <p:cNvPr id="70" name="Text 68"/>
          <p:cNvSpPr/>
          <p:nvPr/>
        </p:nvSpPr>
        <p:spPr>
          <a:xfrm>
            <a:off x="3703320" y="3977640"/>
            <a:ext cx="2743200" cy="762000"/>
          </a:xfrm>
          <a:prstGeom prst="rect">
            <a:avLst/>
          </a:prstGeom>
          <a:noFill/>
          <a:ln/>
        </p:spPr>
        <p:txBody>
          <a:bodyPr wrap="square" lIns="0" tIns="0" rIns="0" bIns="0" rtlCol="0" anchor="ctr">
            <a:noAutofit/>
          </a:bodyPr>
          <a:lstStyle/>
          <a:p>
            <a:pPr marL="0" indent="0">
              <a:buNone/>
            </a:pPr>
            <a:r>
              <a:rPr lang="en-US" sz="1150">
                <a:solidFill>
                  <a:srgbClr val="C7D0D9"/>
                </a:solidFill>
              </a:rPr>
              <a:t>64-digit inference: 354.24 µs</a:t>
            </a:r>
          </a:p>
          <a:p>
            <a:pPr marL="0" indent="0">
              <a:buNone/>
            </a:pPr>
            <a:r>
              <a:rPr lang="en-US" sz="1150">
                <a:solidFill>
                  <a:srgbClr val="C7D0D9"/>
                </a:solidFill>
              </a:rPr>
              <a:t>180,668 images/s</a:t>
            </a:r>
            <a:endParaRPr lang="en-US" sz="1150" dirty="0"/>
          </a:p>
        </p:txBody>
      </p:sp>
      <p:sp>
        <p:nvSpPr>
          <p:cNvPr id="71" name="Shape 69"/>
          <p:cNvSpPr/>
          <p:nvPr/>
        </p:nvSpPr>
        <p:spPr>
          <a:xfrm>
            <a:off x="6903720" y="1572768"/>
            <a:ext cx="4160520" cy="4495800"/>
          </a:xfrm>
          <a:prstGeom prst="roundRect">
            <a:avLst>
              <a:gd name="adj" fmla="val 1758"/>
            </a:avLst>
          </a:prstGeom>
          <a:solidFill>
            <a:srgbClr val="18212D"/>
          </a:solidFill>
          <a:ln w="12700">
            <a:solidFill>
              <a:srgbClr val="344252"/>
            </a:solidFill>
            <a:prstDash val="solid"/>
          </a:ln>
        </p:spPr>
      </p:sp>
      <p:sp>
        <p:nvSpPr>
          <p:cNvPr id="72" name="Text 70"/>
          <p:cNvSpPr/>
          <p:nvPr/>
        </p:nvSpPr>
        <p:spPr>
          <a:xfrm>
            <a:off x="7196328" y="1847088"/>
            <a:ext cx="2377440" cy="310896"/>
          </a:xfrm>
          <a:prstGeom prst="rect">
            <a:avLst/>
          </a:prstGeom>
          <a:noFill/>
          <a:ln/>
        </p:spPr>
        <p:txBody>
          <a:bodyPr wrap="square" lIns="0" tIns="0" rIns="0" bIns="0" rtlCol="0" anchor="ctr">
            <a:noAutofit/>
          </a:bodyPr>
          <a:lstStyle/>
          <a:p>
            <a:pPr marL="0" indent="0">
              <a:buNone/>
            </a:pPr>
            <a:r>
              <a:rPr lang="en-US" sz="1800" b="1">
                <a:solidFill>
                  <a:srgbClr val="A3E635"/>
                </a:solidFill>
              </a:rPr>
              <a:t>Batching and VRAM</a:t>
            </a:r>
            <a:endParaRPr lang="en-US" sz="1800" dirty="0"/>
          </a:p>
        </p:txBody>
      </p:sp>
      <p:sp>
        <p:nvSpPr>
          <p:cNvPr id="73" name="Text 71"/>
          <p:cNvSpPr/>
          <p:nvPr/>
        </p:nvSpPr>
        <p:spPr>
          <a:xfrm>
            <a:off x="7223760" y="2404872"/>
            <a:ext cx="1828800" cy="228600"/>
          </a:xfrm>
          <a:prstGeom prst="rect">
            <a:avLst/>
          </a:prstGeom>
          <a:noFill/>
          <a:ln/>
        </p:spPr>
        <p:txBody>
          <a:bodyPr wrap="square" lIns="0" tIns="0" rIns="0" bIns="0" rtlCol="0" anchor="ctr">
            <a:noAutofit/>
          </a:bodyPr>
          <a:lstStyle/>
          <a:p>
            <a:pPr marL="0" indent="0">
              <a:buNone/>
            </a:pPr>
            <a:r>
              <a:rPr lang="en-US" sz="1350">
                <a:solidFill>
                  <a:srgbClr val="C7D0D9"/>
                </a:solidFill>
              </a:rPr>
              <a:t>Independent work</a:t>
            </a:r>
            <a:endParaRPr lang="en-US" sz="1350" dirty="0"/>
          </a:p>
        </p:txBody>
      </p:sp>
      <p:sp>
        <p:nvSpPr>
          <p:cNvPr id="74" name="Shape 72"/>
          <p:cNvSpPr/>
          <p:nvPr/>
        </p:nvSpPr>
        <p:spPr>
          <a:xfrm>
            <a:off x="9189720" y="2331720"/>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5" name="Text 73"/>
          <p:cNvSpPr/>
          <p:nvPr/>
        </p:nvSpPr>
        <p:spPr>
          <a:xfrm>
            <a:off x="9189720" y="2418588"/>
            <a:ext cx="1207008"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64×</a:t>
            </a:r>
            <a:endParaRPr lang="en-US" sz="900" dirty="0"/>
          </a:p>
        </p:txBody>
      </p:sp>
      <p:sp>
        <p:nvSpPr>
          <p:cNvPr id="76" name="Text 74"/>
          <p:cNvSpPr/>
          <p:nvPr/>
        </p:nvSpPr>
        <p:spPr>
          <a:xfrm>
            <a:off x="7223760" y="3026664"/>
            <a:ext cx="1828800" cy="228600"/>
          </a:xfrm>
          <a:prstGeom prst="rect">
            <a:avLst/>
          </a:prstGeom>
          <a:noFill/>
          <a:ln/>
        </p:spPr>
        <p:txBody>
          <a:bodyPr wrap="square" lIns="0" tIns="0" rIns="0" bIns="0" rtlCol="0" anchor="ctr">
            <a:noAutofit/>
          </a:bodyPr>
          <a:lstStyle/>
          <a:p>
            <a:pPr marL="0" indent="0">
              <a:buNone/>
            </a:pPr>
            <a:r>
              <a:rPr lang="en-US" sz="1350">
                <a:solidFill>
                  <a:srgbClr val="C7D0D9"/>
                </a:solidFill>
              </a:rPr>
              <a:t>Filter-weight reuse</a:t>
            </a:r>
            <a:endParaRPr lang="en-US" sz="1350" dirty="0"/>
          </a:p>
        </p:txBody>
      </p:sp>
      <p:sp>
        <p:nvSpPr>
          <p:cNvPr id="77" name="Shape 75"/>
          <p:cNvSpPr/>
          <p:nvPr/>
        </p:nvSpPr>
        <p:spPr>
          <a:xfrm>
            <a:off x="9189720" y="2953512"/>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8" name="Text 76"/>
          <p:cNvSpPr/>
          <p:nvPr/>
        </p:nvSpPr>
        <p:spPr>
          <a:xfrm>
            <a:off x="9189720" y="3040380"/>
            <a:ext cx="1207008"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same weights</a:t>
            </a:r>
            <a:endParaRPr lang="en-US" sz="900" dirty="0"/>
          </a:p>
        </p:txBody>
      </p:sp>
      <p:sp>
        <p:nvSpPr>
          <p:cNvPr id="79" name="Text 77"/>
          <p:cNvSpPr/>
          <p:nvPr/>
        </p:nvSpPr>
        <p:spPr>
          <a:xfrm>
            <a:off x="7223760" y="3648456"/>
            <a:ext cx="1828800" cy="228600"/>
          </a:xfrm>
          <a:prstGeom prst="rect">
            <a:avLst/>
          </a:prstGeom>
          <a:noFill/>
          <a:ln/>
        </p:spPr>
        <p:txBody>
          <a:bodyPr wrap="square" lIns="0" tIns="0" rIns="0" bIns="0" rtlCol="0" anchor="ctr">
            <a:noAutofit/>
          </a:bodyPr>
          <a:lstStyle/>
          <a:p>
            <a:pPr marL="0" indent="0">
              <a:buNone/>
            </a:pPr>
            <a:r>
              <a:rPr lang="en-US" sz="1350">
                <a:solidFill>
                  <a:srgbClr val="C7D0D9"/>
                </a:solidFill>
              </a:rPr>
              <a:t>VRAM footprint</a:t>
            </a:r>
            <a:endParaRPr lang="en-US" sz="1350" dirty="0"/>
          </a:p>
        </p:txBody>
      </p:sp>
      <p:sp>
        <p:nvSpPr>
          <p:cNvPr id="80" name="Shape 78"/>
          <p:cNvSpPr/>
          <p:nvPr/>
        </p:nvSpPr>
        <p:spPr>
          <a:xfrm>
            <a:off x="9189720" y="3575304"/>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1" name="Text 79"/>
          <p:cNvSpPr/>
          <p:nvPr/>
        </p:nvSpPr>
        <p:spPr>
          <a:xfrm>
            <a:off x="9189720" y="3662172"/>
            <a:ext cx="1207008"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grows</a:t>
            </a:r>
            <a:endParaRPr lang="en-US" sz="900" dirty="0"/>
          </a:p>
        </p:txBody>
      </p:sp>
      <p:sp>
        <p:nvSpPr>
          <p:cNvPr id="82" name="Text 80"/>
          <p:cNvSpPr/>
          <p:nvPr/>
        </p:nvSpPr>
        <p:spPr>
          <a:xfrm>
            <a:off x="7223760" y="4270248"/>
            <a:ext cx="1828800" cy="228600"/>
          </a:xfrm>
          <a:prstGeom prst="rect">
            <a:avLst/>
          </a:prstGeom>
          <a:noFill/>
          <a:ln/>
        </p:spPr>
        <p:txBody>
          <a:bodyPr wrap="square" lIns="0" tIns="0" rIns="0" bIns="0" rtlCol="0" anchor="ctr">
            <a:noAutofit/>
          </a:bodyPr>
          <a:lstStyle/>
          <a:p>
            <a:pPr marL="0" indent="0">
              <a:buNone/>
            </a:pPr>
            <a:r>
              <a:rPr lang="en-US" sz="1350">
                <a:solidFill>
                  <a:srgbClr val="C7D0D9"/>
                </a:solidFill>
              </a:rPr>
              <a:t>Launch cost / image</a:t>
            </a:r>
            <a:endParaRPr lang="en-US" sz="1350" dirty="0"/>
          </a:p>
        </p:txBody>
      </p:sp>
      <p:sp>
        <p:nvSpPr>
          <p:cNvPr id="83" name="Shape 81"/>
          <p:cNvSpPr/>
          <p:nvPr/>
        </p:nvSpPr>
        <p:spPr>
          <a:xfrm>
            <a:off x="9189720" y="4197096"/>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4" name="Text 82"/>
          <p:cNvSpPr/>
          <p:nvPr/>
        </p:nvSpPr>
        <p:spPr>
          <a:xfrm>
            <a:off x="9189720" y="4283964"/>
            <a:ext cx="1207008"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amortized</a:t>
            </a:r>
            <a:endParaRPr lang="en-US" sz="900" dirty="0"/>
          </a:p>
        </p:txBody>
      </p:sp>
      <p:sp>
        <p:nvSpPr>
          <p:cNvPr id="85" name="Text 83"/>
          <p:cNvSpPr/>
          <p:nvPr/>
        </p:nvSpPr>
        <p:spPr>
          <a:xfrm>
            <a:off x="7223760" y="4864100"/>
            <a:ext cx="3291840" cy="533400"/>
          </a:xfrm>
          <a:prstGeom prst="rect">
            <a:avLst/>
          </a:prstGeom>
          <a:noFill/>
          <a:ln/>
        </p:spPr>
        <p:txBody>
          <a:bodyPr wrap="square" lIns="0" tIns="0" rIns="0" bIns="0" rtlCol="0" anchor="ctr">
            <a:noAutofit/>
          </a:bodyPr>
          <a:lstStyle/>
          <a:p>
            <a:pPr marL="0" indent="0">
              <a:buNone/>
            </a:pPr>
            <a:r>
              <a:rPr lang="en-US" sz="1400" b="1">
                <a:solidFill>
                  <a:srgbClr val="F4F7FA"/>
                </a:solidFill>
              </a:rPr>
              <a:t>VRAM holds weights, activations, gradients and library workspace.</a:t>
            </a:r>
            <a:endParaRPr lang="en-US" sz="1400" dirty="0"/>
          </a:p>
        </p:txBody>
      </p:sp>
      <p:sp>
        <p:nvSpPr>
          <p:cNvPr id="86" name="Text 84"/>
          <p:cNvSpPr/>
          <p:nvPr/>
        </p:nvSpPr>
        <p:spPr>
          <a:xfrm>
            <a:off x="7223760" y="5473700"/>
            <a:ext cx="3337560" cy="508000"/>
          </a:xfrm>
          <a:prstGeom prst="rect">
            <a:avLst/>
          </a:prstGeom>
          <a:noFill/>
          <a:ln/>
        </p:spPr>
        <p:txBody>
          <a:bodyPr wrap="square" lIns="0" tIns="0" rIns="0" bIns="0" rtlCol="0" anchor="ctr">
            <a:noAutofit/>
          </a:bodyPr>
          <a:lstStyle/>
          <a:p>
            <a:pPr marL="0" indent="0">
              <a:buNone/>
            </a:pPr>
            <a:r>
              <a:rPr lang="en-US" sz="1200">
                <a:solidFill>
                  <a:srgbClr val="7E8A97"/>
                </a:solidFill>
              </a:rPr>
              <a:t>CPU batch 64: 60,449 images/s.</a:t>
            </a:r>
          </a:p>
          <a:p>
            <a:pPr marL="0" indent="0">
              <a:buNone/>
            </a:pPr>
            <a:r>
              <a:rPr lang="en-US" sz="1200">
                <a:solidFill>
                  <a:srgbClr val="7E8A97"/>
                </a:solidFill>
              </a:rPr>
              <a:t>Measured batches: 1 and 64; no sweep.</a:t>
            </a:r>
            <a:endParaRPr lang="en-US" sz="1200" dirty="0"/>
          </a:p>
        </p:txBody>
      </p:sp>
      <p:sp>
        <p:nvSpPr>
          <p:cNvPr id="8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6</a:t>
            </a:r>
            <a:endParaRPr lang="en-US"/>
          </a:p>
        </p:txBody>
      </p:sp>
    </p:spTree>
    <p:extLst>
      <p:ext uri="{BB962C8B-B14F-4D97-AF65-F5344CB8AC3E}">
        <p14:creationId xmlns:p14="http://schemas.microsoft.com/office/powerpoint/2010/main" val="2717752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How CUDA turns a GPU into a parallel program</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CUDA lets the CPU launch GPU kernels as a hierarchy of grids, blocks and threads.</a:t>
            </a:r>
            <a:endParaRPr lang="en-US" sz="1150" dirty="0"/>
          </a:p>
        </p:txBody>
      </p:sp>
      <p:sp>
        <p:nvSpPr>
          <p:cNvPr id="6" name="Shape 4"/>
          <p:cNvSpPr/>
          <p:nvPr/>
        </p:nvSpPr>
        <p:spPr>
          <a:xfrm>
            <a:off x="603504" y="1225296"/>
            <a:ext cx="3703320" cy="4983480"/>
          </a:xfrm>
          <a:prstGeom prst="roundRect">
            <a:avLst>
              <a:gd name="adj" fmla="val 1975"/>
            </a:avLst>
          </a:prstGeom>
          <a:solidFill>
            <a:srgbClr val="121923"/>
          </a:solidFill>
          <a:ln w="12700">
            <a:solidFill>
              <a:srgbClr val="25303D"/>
            </a:solidFill>
            <a:prstDash val="solid"/>
          </a:ln>
        </p:spPr>
      </p:sp>
      <p:sp>
        <p:nvSpPr>
          <p:cNvPr id="7" name="Shape 5"/>
          <p:cNvSpPr/>
          <p:nvPr/>
        </p:nvSpPr>
        <p:spPr>
          <a:xfrm>
            <a:off x="868680" y="1499616"/>
            <a:ext cx="114300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68680" y="1577340"/>
            <a:ext cx="114300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HOST / CPU</a:t>
            </a:r>
            <a:endParaRPr lang="en-US" sz="850" dirty="0"/>
          </a:p>
        </p:txBody>
      </p:sp>
      <p:sp>
        <p:nvSpPr>
          <p:cNvPr id="9" name="Shape 7"/>
          <p:cNvSpPr/>
          <p:nvPr/>
        </p:nvSpPr>
        <p:spPr>
          <a:xfrm>
            <a:off x="896112" y="2011680"/>
            <a:ext cx="2880360" cy="566928"/>
          </a:xfrm>
          <a:prstGeom prst="roundRect">
            <a:avLst>
              <a:gd name="adj" fmla="val 8065"/>
            </a:avLst>
          </a:prstGeom>
          <a:solidFill>
            <a:srgbClr val="172633"/>
          </a:solidFill>
          <a:ln w="12700">
            <a:solidFill>
              <a:srgbClr val="41D9FF">
                <a:alpha val="45000"/>
              </a:srgbClr>
            </a:solidFill>
            <a:prstDash val="solid"/>
          </a:ln>
        </p:spPr>
      </p:sp>
      <p:sp>
        <p:nvSpPr>
          <p:cNvPr id="10" name="Shape 8"/>
          <p:cNvSpPr/>
          <p:nvPr/>
        </p:nvSpPr>
        <p:spPr>
          <a:xfrm>
            <a:off x="1024128" y="2139696"/>
            <a:ext cx="301752" cy="301752"/>
          </a:xfrm>
          <a:prstGeom prst="ellipse">
            <a:avLst/>
          </a:prstGeom>
          <a:solidFill>
            <a:srgbClr val="41D9FF"/>
          </a:solidFill>
          <a:ln w="12700">
            <a:solidFill>
              <a:srgbClr val="41D9FF"/>
            </a:solidFill>
            <a:prstDash val="solid"/>
          </a:ln>
        </p:spPr>
      </p:sp>
      <p:sp>
        <p:nvSpPr>
          <p:cNvPr id="11" name="Text 9"/>
          <p:cNvSpPr/>
          <p:nvPr/>
        </p:nvSpPr>
        <p:spPr>
          <a:xfrm>
            <a:off x="1024128" y="2212848"/>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1</a:t>
            </a:r>
            <a:endParaRPr lang="en-US" sz="900" dirty="0"/>
          </a:p>
        </p:txBody>
      </p:sp>
      <p:sp>
        <p:nvSpPr>
          <p:cNvPr id="12" name="Text 10"/>
          <p:cNvSpPr/>
          <p:nvPr/>
        </p:nvSpPr>
        <p:spPr>
          <a:xfrm>
            <a:off x="1463040" y="2176272"/>
            <a:ext cx="2057400" cy="219456"/>
          </a:xfrm>
          <a:prstGeom prst="rect">
            <a:avLst/>
          </a:prstGeom>
          <a:noFill/>
          <a:ln/>
        </p:spPr>
        <p:txBody>
          <a:bodyPr wrap="square" lIns="0" tIns="0" rIns="0" bIns="0" rtlCol="0" anchor="ctr">
            <a:noAutofit/>
          </a:bodyPr>
          <a:lstStyle/>
          <a:p>
            <a:pPr marL="0" indent="0">
              <a:buNone/>
            </a:pPr>
            <a:r>
              <a:rPr lang="en-US" sz="1260" b="1">
                <a:solidFill>
                  <a:srgbClr val="F4F7FA"/>
                </a:solidFill>
              </a:rPr>
              <a:t>Upload tensors once</a:t>
            </a:r>
            <a:endParaRPr lang="en-US" sz="1260" dirty="0"/>
          </a:p>
        </p:txBody>
      </p:sp>
      <p:sp>
        <p:nvSpPr>
          <p:cNvPr id="13" name="Shape 11"/>
          <p:cNvSpPr/>
          <p:nvPr/>
        </p:nvSpPr>
        <p:spPr>
          <a:xfrm>
            <a:off x="896112" y="2816352"/>
            <a:ext cx="2880360" cy="566928"/>
          </a:xfrm>
          <a:prstGeom prst="roundRect">
            <a:avLst>
              <a:gd name="adj" fmla="val 8065"/>
            </a:avLst>
          </a:prstGeom>
          <a:solidFill>
            <a:srgbClr val="172633"/>
          </a:solidFill>
          <a:ln w="12700">
            <a:solidFill>
              <a:srgbClr val="41D9FF">
                <a:alpha val="45000"/>
              </a:srgbClr>
            </a:solidFill>
            <a:prstDash val="solid"/>
          </a:ln>
        </p:spPr>
      </p:sp>
      <p:sp>
        <p:nvSpPr>
          <p:cNvPr id="14" name="Shape 12"/>
          <p:cNvSpPr/>
          <p:nvPr/>
        </p:nvSpPr>
        <p:spPr>
          <a:xfrm>
            <a:off x="1024128" y="2944368"/>
            <a:ext cx="301752" cy="301752"/>
          </a:xfrm>
          <a:prstGeom prst="ellipse">
            <a:avLst/>
          </a:prstGeom>
          <a:solidFill>
            <a:srgbClr val="41D9FF"/>
          </a:solidFill>
          <a:ln w="12700">
            <a:solidFill>
              <a:srgbClr val="41D9FF"/>
            </a:solidFill>
            <a:prstDash val="solid"/>
          </a:ln>
        </p:spPr>
      </p:sp>
      <p:sp>
        <p:nvSpPr>
          <p:cNvPr id="15" name="Text 13"/>
          <p:cNvSpPr/>
          <p:nvPr/>
        </p:nvSpPr>
        <p:spPr>
          <a:xfrm>
            <a:off x="1024128" y="3017520"/>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2</a:t>
            </a:r>
            <a:endParaRPr lang="en-US" sz="900" dirty="0"/>
          </a:p>
        </p:txBody>
      </p:sp>
      <p:sp>
        <p:nvSpPr>
          <p:cNvPr id="16" name="Text 14"/>
          <p:cNvSpPr/>
          <p:nvPr/>
        </p:nvSpPr>
        <p:spPr>
          <a:xfrm>
            <a:off x="1463040" y="2980944"/>
            <a:ext cx="2057400" cy="219456"/>
          </a:xfrm>
          <a:prstGeom prst="rect">
            <a:avLst/>
          </a:prstGeom>
          <a:noFill/>
          <a:ln/>
        </p:spPr>
        <p:txBody>
          <a:bodyPr wrap="square" lIns="0" tIns="0" rIns="0" bIns="0" rtlCol="0" anchor="ctr">
            <a:noAutofit/>
          </a:bodyPr>
          <a:lstStyle/>
          <a:p>
            <a:pPr marL="0" indent="0">
              <a:buNone/>
            </a:pPr>
            <a:r>
              <a:rPr lang="en-US" sz="1260" b="1" dirty="0">
                <a:solidFill>
                  <a:srgbClr val="F4F7FA"/>
                </a:solidFill>
              </a:rPr>
              <a:t>Choose grid &amp; block</a:t>
            </a:r>
            <a:endParaRPr lang="en-US" sz="1260" dirty="0"/>
          </a:p>
        </p:txBody>
      </p:sp>
      <p:sp>
        <p:nvSpPr>
          <p:cNvPr id="17" name="Shape 15"/>
          <p:cNvSpPr/>
          <p:nvPr/>
        </p:nvSpPr>
        <p:spPr>
          <a:xfrm>
            <a:off x="896112" y="3621024"/>
            <a:ext cx="2880360" cy="566928"/>
          </a:xfrm>
          <a:prstGeom prst="roundRect">
            <a:avLst>
              <a:gd name="adj" fmla="val 8065"/>
            </a:avLst>
          </a:prstGeom>
          <a:solidFill>
            <a:srgbClr val="172633"/>
          </a:solidFill>
          <a:ln w="12700">
            <a:solidFill>
              <a:srgbClr val="41D9FF">
                <a:alpha val="45000"/>
              </a:srgbClr>
            </a:solidFill>
            <a:prstDash val="solid"/>
          </a:ln>
        </p:spPr>
      </p:sp>
      <p:sp>
        <p:nvSpPr>
          <p:cNvPr id="18" name="Shape 16"/>
          <p:cNvSpPr/>
          <p:nvPr/>
        </p:nvSpPr>
        <p:spPr>
          <a:xfrm>
            <a:off x="1024128" y="3749040"/>
            <a:ext cx="301752" cy="301752"/>
          </a:xfrm>
          <a:prstGeom prst="ellipse">
            <a:avLst/>
          </a:prstGeom>
          <a:solidFill>
            <a:srgbClr val="41D9FF"/>
          </a:solidFill>
          <a:ln w="12700">
            <a:solidFill>
              <a:srgbClr val="41D9FF"/>
            </a:solidFill>
            <a:prstDash val="solid"/>
          </a:ln>
        </p:spPr>
      </p:sp>
      <p:sp>
        <p:nvSpPr>
          <p:cNvPr id="19" name="Text 17"/>
          <p:cNvSpPr/>
          <p:nvPr/>
        </p:nvSpPr>
        <p:spPr>
          <a:xfrm>
            <a:off x="1024128" y="3822192"/>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3</a:t>
            </a:r>
            <a:endParaRPr lang="en-US" sz="900" dirty="0"/>
          </a:p>
        </p:txBody>
      </p:sp>
      <p:sp>
        <p:nvSpPr>
          <p:cNvPr id="20" name="Text 18"/>
          <p:cNvSpPr/>
          <p:nvPr/>
        </p:nvSpPr>
        <p:spPr>
          <a:xfrm>
            <a:off x="1463040" y="3785616"/>
            <a:ext cx="2057400" cy="219456"/>
          </a:xfrm>
          <a:prstGeom prst="rect">
            <a:avLst/>
          </a:prstGeom>
          <a:noFill/>
          <a:ln/>
        </p:spPr>
        <p:txBody>
          <a:bodyPr wrap="square" lIns="0" tIns="0" rIns="0" bIns="0" rtlCol="0" anchor="ctr">
            <a:noAutofit/>
          </a:bodyPr>
          <a:lstStyle/>
          <a:p>
            <a:pPr marL="0" indent="0">
              <a:buNone/>
            </a:pPr>
            <a:r>
              <a:rPr lang="en-US" sz="1260" b="1" dirty="0">
                <a:solidFill>
                  <a:srgbClr val="F4F7FA"/>
                </a:solidFill>
              </a:rPr>
              <a:t>Launch kernel</a:t>
            </a:r>
            <a:endParaRPr lang="en-US" sz="1260" dirty="0"/>
          </a:p>
        </p:txBody>
      </p:sp>
      <p:sp>
        <p:nvSpPr>
          <p:cNvPr id="21" name="Shape 19"/>
          <p:cNvSpPr/>
          <p:nvPr/>
        </p:nvSpPr>
        <p:spPr>
          <a:xfrm>
            <a:off x="896112" y="4425696"/>
            <a:ext cx="2880360" cy="566928"/>
          </a:xfrm>
          <a:prstGeom prst="roundRect">
            <a:avLst>
              <a:gd name="adj" fmla="val 8065"/>
            </a:avLst>
          </a:prstGeom>
          <a:solidFill>
            <a:srgbClr val="172633"/>
          </a:solidFill>
          <a:ln w="12700">
            <a:solidFill>
              <a:srgbClr val="41D9FF">
                <a:alpha val="45000"/>
              </a:srgbClr>
            </a:solidFill>
            <a:prstDash val="solid"/>
          </a:ln>
        </p:spPr>
      </p:sp>
      <p:sp>
        <p:nvSpPr>
          <p:cNvPr id="22" name="Shape 20"/>
          <p:cNvSpPr/>
          <p:nvPr/>
        </p:nvSpPr>
        <p:spPr>
          <a:xfrm>
            <a:off x="1024128" y="4553712"/>
            <a:ext cx="301752" cy="301752"/>
          </a:xfrm>
          <a:prstGeom prst="ellipse">
            <a:avLst/>
          </a:prstGeom>
          <a:solidFill>
            <a:srgbClr val="41D9FF"/>
          </a:solidFill>
          <a:ln w="12700">
            <a:solidFill>
              <a:srgbClr val="41D9FF"/>
            </a:solidFill>
            <a:prstDash val="solid"/>
          </a:ln>
        </p:spPr>
      </p:sp>
      <p:sp>
        <p:nvSpPr>
          <p:cNvPr id="23" name="Text 21"/>
          <p:cNvSpPr/>
          <p:nvPr/>
        </p:nvSpPr>
        <p:spPr>
          <a:xfrm>
            <a:off x="1024128" y="4626864"/>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4</a:t>
            </a:r>
            <a:endParaRPr lang="en-US" sz="900" dirty="0"/>
          </a:p>
        </p:txBody>
      </p:sp>
      <p:sp>
        <p:nvSpPr>
          <p:cNvPr id="24" name="Text 22"/>
          <p:cNvSpPr/>
          <p:nvPr/>
        </p:nvSpPr>
        <p:spPr>
          <a:xfrm>
            <a:off x="1463040" y="4590288"/>
            <a:ext cx="2057400" cy="219456"/>
          </a:xfrm>
          <a:prstGeom prst="rect">
            <a:avLst/>
          </a:prstGeom>
          <a:noFill/>
          <a:ln/>
        </p:spPr>
        <p:txBody>
          <a:bodyPr wrap="square" lIns="0" tIns="0" rIns="0" bIns="0" rtlCol="0" anchor="ctr">
            <a:noAutofit/>
          </a:bodyPr>
          <a:lstStyle/>
          <a:p>
            <a:pPr marL="0" indent="0">
              <a:buNone/>
            </a:pPr>
            <a:r>
              <a:rPr lang="en-US" sz="1260" b="1">
                <a:solidFill>
                  <a:srgbClr val="F4F7FA"/>
                </a:solidFill>
              </a:rPr>
              <a:t>Wait for completion</a:t>
            </a:r>
            <a:endParaRPr lang="en-US" sz="1260" dirty="0"/>
          </a:p>
        </p:txBody>
      </p:sp>
      <p:sp>
        <p:nvSpPr>
          <p:cNvPr id="25" name="Shape 23"/>
          <p:cNvSpPr/>
          <p:nvPr/>
        </p:nvSpPr>
        <p:spPr>
          <a:xfrm>
            <a:off x="4553712" y="1225296"/>
            <a:ext cx="7022592" cy="4983480"/>
          </a:xfrm>
          <a:prstGeom prst="roundRect">
            <a:avLst>
              <a:gd name="adj" fmla="val 1468"/>
            </a:avLst>
          </a:prstGeom>
          <a:solidFill>
            <a:srgbClr val="121923"/>
          </a:solidFill>
          <a:ln w="12700">
            <a:solidFill>
              <a:srgbClr val="25303D"/>
            </a:solidFill>
            <a:prstDash val="solid"/>
          </a:ln>
        </p:spPr>
      </p:sp>
      <p:sp>
        <p:nvSpPr>
          <p:cNvPr id="26" name="Shape 24"/>
          <p:cNvSpPr/>
          <p:nvPr/>
        </p:nvSpPr>
        <p:spPr>
          <a:xfrm>
            <a:off x="4828032" y="1499616"/>
            <a:ext cx="114300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7" name="Text 25"/>
          <p:cNvSpPr/>
          <p:nvPr/>
        </p:nvSpPr>
        <p:spPr>
          <a:xfrm>
            <a:off x="4828032" y="1577340"/>
            <a:ext cx="114300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DEVICE / GPU</a:t>
            </a:r>
            <a:endParaRPr lang="en-US" sz="850" dirty="0"/>
          </a:p>
        </p:txBody>
      </p:sp>
      <p:sp>
        <p:nvSpPr>
          <p:cNvPr id="28" name="Text 26"/>
          <p:cNvSpPr/>
          <p:nvPr/>
        </p:nvSpPr>
        <p:spPr>
          <a:xfrm>
            <a:off x="4846320" y="1947672"/>
            <a:ext cx="594360" cy="228600"/>
          </a:xfrm>
          <a:prstGeom prst="rect">
            <a:avLst/>
          </a:prstGeom>
          <a:noFill/>
          <a:ln/>
        </p:spPr>
        <p:txBody>
          <a:bodyPr wrap="square" lIns="0" tIns="0" rIns="0" bIns="0" rtlCol="0" anchor="ctr">
            <a:noAutofit/>
          </a:bodyPr>
          <a:lstStyle/>
          <a:p>
            <a:pPr marL="0" indent="0">
              <a:buNone/>
            </a:pPr>
            <a:r>
              <a:rPr lang="en-US" sz="1500" b="1" dirty="0">
                <a:solidFill>
                  <a:srgbClr val="A3E635"/>
                </a:solidFill>
              </a:rPr>
              <a:t>Grid</a:t>
            </a:r>
            <a:endParaRPr lang="en-US" sz="1500" dirty="0"/>
          </a:p>
        </p:txBody>
      </p:sp>
      <p:sp>
        <p:nvSpPr>
          <p:cNvPr id="29" name="Shape 27"/>
          <p:cNvSpPr/>
          <p:nvPr/>
        </p:nvSpPr>
        <p:spPr>
          <a:xfrm>
            <a:off x="4892040" y="2395728"/>
            <a:ext cx="2057400" cy="1024128"/>
          </a:xfrm>
          <a:prstGeom prst="roundRect">
            <a:avLst>
              <a:gd name="adj" fmla="val 3571"/>
            </a:avLst>
          </a:prstGeom>
          <a:solidFill>
            <a:srgbClr val="14241A"/>
          </a:solidFill>
          <a:ln w="12700">
            <a:solidFill>
              <a:srgbClr val="76B900"/>
            </a:solidFill>
            <a:prstDash val="solid"/>
          </a:ln>
        </p:spPr>
      </p:sp>
      <p:sp>
        <p:nvSpPr>
          <p:cNvPr id="30" name="Text 28"/>
          <p:cNvSpPr/>
          <p:nvPr/>
        </p:nvSpPr>
        <p:spPr>
          <a:xfrm>
            <a:off x="5001768" y="2505456"/>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0</a:t>
            </a:r>
            <a:endParaRPr lang="en-US" sz="1050" dirty="0"/>
          </a:p>
        </p:txBody>
      </p:sp>
      <p:sp>
        <p:nvSpPr>
          <p:cNvPr id="31" name="Shape 29"/>
          <p:cNvSpPr/>
          <p:nvPr/>
        </p:nvSpPr>
        <p:spPr>
          <a:xfrm>
            <a:off x="5038344" y="2779776"/>
            <a:ext cx="201168" cy="182880"/>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5321808" y="2779776"/>
            <a:ext cx="201168" cy="182880"/>
          </a:xfrm>
          <a:prstGeom prst="rect">
            <a:avLst/>
          </a:prstGeom>
          <a:solidFill>
            <a:srgbClr val="76B900">
              <a:alpha val="74000"/>
            </a:srgbClr>
          </a:solidFill>
          <a:ln w="12700">
            <a:solidFill>
              <a:srgbClr val="76B900">
                <a:alpha val="0"/>
              </a:srgbClr>
            </a:solidFill>
            <a:prstDash val="solid"/>
          </a:ln>
        </p:spPr>
      </p:sp>
      <p:sp>
        <p:nvSpPr>
          <p:cNvPr id="33" name="Shape 31"/>
          <p:cNvSpPr/>
          <p:nvPr/>
        </p:nvSpPr>
        <p:spPr>
          <a:xfrm>
            <a:off x="5605272" y="2779776"/>
            <a:ext cx="201168" cy="182880"/>
          </a:xfrm>
          <a:prstGeom prst="rect">
            <a:avLst/>
          </a:prstGeom>
          <a:solidFill>
            <a:srgbClr val="76B900">
              <a:alpha val="58000"/>
            </a:srgbClr>
          </a:solidFill>
          <a:ln w="12700">
            <a:solidFill>
              <a:srgbClr val="76B900">
                <a:alpha val="0"/>
              </a:srgbClr>
            </a:solidFill>
            <a:prstDash val="solid"/>
          </a:ln>
        </p:spPr>
      </p:sp>
      <p:sp>
        <p:nvSpPr>
          <p:cNvPr id="34" name="Shape 32"/>
          <p:cNvSpPr/>
          <p:nvPr/>
        </p:nvSpPr>
        <p:spPr>
          <a:xfrm>
            <a:off x="5888736" y="2779776"/>
            <a:ext cx="201168" cy="182880"/>
          </a:xfrm>
          <a:prstGeom prst="rect">
            <a:avLst/>
          </a:prstGeom>
          <a:solidFill>
            <a:srgbClr val="76B900">
              <a:alpha val="90000"/>
            </a:srgbClr>
          </a:solidFill>
          <a:ln w="12700">
            <a:solidFill>
              <a:srgbClr val="76B900">
                <a:alpha val="0"/>
              </a:srgbClr>
            </a:solidFill>
            <a:prstDash val="solid"/>
          </a:ln>
        </p:spPr>
      </p:sp>
      <p:sp>
        <p:nvSpPr>
          <p:cNvPr id="35" name="Shape 33"/>
          <p:cNvSpPr/>
          <p:nvPr/>
        </p:nvSpPr>
        <p:spPr>
          <a:xfrm>
            <a:off x="6172200" y="2779776"/>
            <a:ext cx="201168" cy="182880"/>
          </a:xfrm>
          <a:prstGeom prst="rect">
            <a:avLst/>
          </a:prstGeom>
          <a:solidFill>
            <a:srgbClr val="76B900">
              <a:alpha val="74000"/>
            </a:srgbClr>
          </a:solidFill>
          <a:ln w="12700">
            <a:solidFill>
              <a:srgbClr val="76B900">
                <a:alpha val="0"/>
              </a:srgbClr>
            </a:solidFill>
            <a:prstDash val="solid"/>
          </a:ln>
        </p:spPr>
      </p:sp>
      <p:sp>
        <p:nvSpPr>
          <p:cNvPr id="36" name="Shape 34"/>
          <p:cNvSpPr/>
          <p:nvPr/>
        </p:nvSpPr>
        <p:spPr>
          <a:xfrm>
            <a:off x="6455664" y="2779776"/>
            <a:ext cx="201168" cy="182880"/>
          </a:xfrm>
          <a:prstGeom prst="rect">
            <a:avLst/>
          </a:prstGeom>
          <a:solidFill>
            <a:srgbClr val="76B900">
              <a:alpha val="58000"/>
            </a:srgbClr>
          </a:solidFill>
          <a:ln w="12700">
            <a:solidFill>
              <a:srgbClr val="76B900">
                <a:alpha val="0"/>
              </a:srgbClr>
            </a:solidFill>
            <a:prstDash val="solid"/>
          </a:ln>
        </p:spPr>
      </p:sp>
      <p:sp>
        <p:nvSpPr>
          <p:cNvPr id="37" name="Shape 35"/>
          <p:cNvSpPr/>
          <p:nvPr/>
        </p:nvSpPr>
        <p:spPr>
          <a:xfrm>
            <a:off x="5038344" y="3044952"/>
            <a:ext cx="201168" cy="182880"/>
          </a:xfrm>
          <a:prstGeom prst="rect">
            <a:avLst/>
          </a:prstGeom>
          <a:solidFill>
            <a:srgbClr val="76B900">
              <a:alpha val="90000"/>
            </a:srgbClr>
          </a:solidFill>
          <a:ln w="12700">
            <a:solidFill>
              <a:srgbClr val="76B900">
                <a:alpha val="0"/>
              </a:srgbClr>
            </a:solidFill>
            <a:prstDash val="solid"/>
          </a:ln>
        </p:spPr>
      </p:sp>
      <p:sp>
        <p:nvSpPr>
          <p:cNvPr id="38" name="Shape 36"/>
          <p:cNvSpPr/>
          <p:nvPr/>
        </p:nvSpPr>
        <p:spPr>
          <a:xfrm>
            <a:off x="5321808" y="3044952"/>
            <a:ext cx="201168" cy="182880"/>
          </a:xfrm>
          <a:prstGeom prst="rect">
            <a:avLst/>
          </a:prstGeom>
          <a:solidFill>
            <a:srgbClr val="76B900">
              <a:alpha val="74000"/>
            </a:srgbClr>
          </a:solidFill>
          <a:ln w="12700">
            <a:solidFill>
              <a:srgbClr val="76B900">
                <a:alpha val="0"/>
              </a:srgbClr>
            </a:solidFill>
            <a:prstDash val="solid"/>
          </a:ln>
        </p:spPr>
      </p:sp>
      <p:sp>
        <p:nvSpPr>
          <p:cNvPr id="39" name="Shape 37"/>
          <p:cNvSpPr/>
          <p:nvPr/>
        </p:nvSpPr>
        <p:spPr>
          <a:xfrm>
            <a:off x="5605272" y="3044952"/>
            <a:ext cx="201168" cy="182880"/>
          </a:xfrm>
          <a:prstGeom prst="rect">
            <a:avLst/>
          </a:prstGeom>
          <a:solidFill>
            <a:srgbClr val="76B900">
              <a:alpha val="58000"/>
            </a:srgbClr>
          </a:solidFill>
          <a:ln w="12700">
            <a:solidFill>
              <a:srgbClr val="76B900">
                <a:alpha val="0"/>
              </a:srgbClr>
            </a:solidFill>
            <a:prstDash val="solid"/>
          </a:ln>
        </p:spPr>
      </p:sp>
      <p:sp>
        <p:nvSpPr>
          <p:cNvPr id="40" name="Shape 38"/>
          <p:cNvSpPr/>
          <p:nvPr/>
        </p:nvSpPr>
        <p:spPr>
          <a:xfrm>
            <a:off x="5888736" y="3044952"/>
            <a:ext cx="201168" cy="182880"/>
          </a:xfrm>
          <a:prstGeom prst="rect">
            <a:avLst/>
          </a:prstGeom>
          <a:solidFill>
            <a:srgbClr val="76B900">
              <a:alpha val="90000"/>
            </a:srgbClr>
          </a:solidFill>
          <a:ln w="12700">
            <a:solidFill>
              <a:srgbClr val="76B900">
                <a:alpha val="0"/>
              </a:srgbClr>
            </a:solidFill>
            <a:prstDash val="solid"/>
          </a:ln>
        </p:spPr>
      </p:sp>
      <p:sp>
        <p:nvSpPr>
          <p:cNvPr id="41" name="Shape 39"/>
          <p:cNvSpPr/>
          <p:nvPr/>
        </p:nvSpPr>
        <p:spPr>
          <a:xfrm>
            <a:off x="6172200" y="3044952"/>
            <a:ext cx="201168" cy="182880"/>
          </a:xfrm>
          <a:prstGeom prst="rect">
            <a:avLst/>
          </a:prstGeom>
          <a:solidFill>
            <a:srgbClr val="76B900">
              <a:alpha val="74000"/>
            </a:srgbClr>
          </a:solidFill>
          <a:ln w="12700">
            <a:solidFill>
              <a:srgbClr val="76B900">
                <a:alpha val="0"/>
              </a:srgbClr>
            </a:solidFill>
            <a:prstDash val="solid"/>
          </a:ln>
        </p:spPr>
      </p:sp>
      <p:sp>
        <p:nvSpPr>
          <p:cNvPr id="42" name="Shape 40"/>
          <p:cNvSpPr/>
          <p:nvPr/>
        </p:nvSpPr>
        <p:spPr>
          <a:xfrm>
            <a:off x="6455664" y="3044952"/>
            <a:ext cx="201168" cy="182880"/>
          </a:xfrm>
          <a:prstGeom prst="rect">
            <a:avLst/>
          </a:prstGeom>
          <a:solidFill>
            <a:srgbClr val="76B900">
              <a:alpha val="58000"/>
            </a:srgbClr>
          </a:solidFill>
          <a:ln w="12700">
            <a:solidFill>
              <a:srgbClr val="76B900">
                <a:alpha val="0"/>
              </a:srgbClr>
            </a:solidFill>
            <a:prstDash val="solid"/>
          </a:ln>
        </p:spPr>
      </p:sp>
      <p:sp>
        <p:nvSpPr>
          <p:cNvPr id="43" name="Shape 41"/>
          <p:cNvSpPr/>
          <p:nvPr/>
        </p:nvSpPr>
        <p:spPr>
          <a:xfrm>
            <a:off x="7315200" y="2395728"/>
            <a:ext cx="2057400" cy="1024128"/>
          </a:xfrm>
          <a:prstGeom prst="roundRect">
            <a:avLst>
              <a:gd name="adj" fmla="val 3571"/>
            </a:avLst>
          </a:prstGeom>
          <a:solidFill>
            <a:srgbClr val="14241A"/>
          </a:solidFill>
          <a:ln w="12700">
            <a:solidFill>
              <a:srgbClr val="76B900"/>
            </a:solidFill>
            <a:prstDash val="solid"/>
          </a:ln>
        </p:spPr>
      </p:sp>
      <p:sp>
        <p:nvSpPr>
          <p:cNvPr id="44" name="Text 42"/>
          <p:cNvSpPr/>
          <p:nvPr/>
        </p:nvSpPr>
        <p:spPr>
          <a:xfrm>
            <a:off x="7424928" y="2505456"/>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1</a:t>
            </a:r>
            <a:endParaRPr lang="en-US" sz="1050" dirty="0"/>
          </a:p>
        </p:txBody>
      </p:sp>
      <p:sp>
        <p:nvSpPr>
          <p:cNvPr id="45" name="Shape 43"/>
          <p:cNvSpPr/>
          <p:nvPr/>
        </p:nvSpPr>
        <p:spPr>
          <a:xfrm>
            <a:off x="7461504" y="2779776"/>
            <a:ext cx="201168" cy="182880"/>
          </a:xfrm>
          <a:prstGeom prst="rect">
            <a:avLst/>
          </a:prstGeom>
          <a:solidFill>
            <a:srgbClr val="76B900">
              <a:alpha val="90000"/>
            </a:srgbClr>
          </a:solidFill>
          <a:ln w="12700">
            <a:solidFill>
              <a:srgbClr val="76B900">
                <a:alpha val="0"/>
              </a:srgbClr>
            </a:solidFill>
            <a:prstDash val="solid"/>
          </a:ln>
        </p:spPr>
      </p:sp>
      <p:sp>
        <p:nvSpPr>
          <p:cNvPr id="46" name="Shape 44"/>
          <p:cNvSpPr/>
          <p:nvPr/>
        </p:nvSpPr>
        <p:spPr>
          <a:xfrm>
            <a:off x="7744968" y="2779776"/>
            <a:ext cx="201168" cy="182880"/>
          </a:xfrm>
          <a:prstGeom prst="rect">
            <a:avLst/>
          </a:prstGeom>
          <a:solidFill>
            <a:srgbClr val="76B900">
              <a:alpha val="74000"/>
            </a:srgbClr>
          </a:solidFill>
          <a:ln w="12700">
            <a:solidFill>
              <a:srgbClr val="76B900">
                <a:alpha val="0"/>
              </a:srgbClr>
            </a:solidFill>
            <a:prstDash val="solid"/>
          </a:ln>
        </p:spPr>
      </p:sp>
      <p:sp>
        <p:nvSpPr>
          <p:cNvPr id="47" name="Shape 45"/>
          <p:cNvSpPr/>
          <p:nvPr/>
        </p:nvSpPr>
        <p:spPr>
          <a:xfrm>
            <a:off x="8028432" y="2779776"/>
            <a:ext cx="201168" cy="182880"/>
          </a:xfrm>
          <a:prstGeom prst="rect">
            <a:avLst/>
          </a:prstGeom>
          <a:solidFill>
            <a:srgbClr val="76B900">
              <a:alpha val="58000"/>
            </a:srgbClr>
          </a:solidFill>
          <a:ln w="12700">
            <a:solidFill>
              <a:srgbClr val="76B900">
                <a:alpha val="0"/>
              </a:srgbClr>
            </a:solidFill>
            <a:prstDash val="solid"/>
          </a:ln>
        </p:spPr>
      </p:sp>
      <p:sp>
        <p:nvSpPr>
          <p:cNvPr id="48" name="Shape 46"/>
          <p:cNvSpPr/>
          <p:nvPr/>
        </p:nvSpPr>
        <p:spPr>
          <a:xfrm>
            <a:off x="8311896" y="2779776"/>
            <a:ext cx="201168" cy="182880"/>
          </a:xfrm>
          <a:prstGeom prst="rect">
            <a:avLst/>
          </a:prstGeom>
          <a:solidFill>
            <a:srgbClr val="76B900">
              <a:alpha val="90000"/>
            </a:srgbClr>
          </a:solidFill>
          <a:ln w="12700">
            <a:solidFill>
              <a:srgbClr val="76B900">
                <a:alpha val="0"/>
              </a:srgbClr>
            </a:solidFill>
            <a:prstDash val="solid"/>
          </a:ln>
        </p:spPr>
      </p:sp>
      <p:sp>
        <p:nvSpPr>
          <p:cNvPr id="49" name="Shape 47"/>
          <p:cNvSpPr/>
          <p:nvPr/>
        </p:nvSpPr>
        <p:spPr>
          <a:xfrm>
            <a:off x="8595360" y="2779776"/>
            <a:ext cx="201168" cy="182880"/>
          </a:xfrm>
          <a:prstGeom prst="rect">
            <a:avLst/>
          </a:prstGeom>
          <a:solidFill>
            <a:srgbClr val="76B900">
              <a:alpha val="74000"/>
            </a:srgbClr>
          </a:solidFill>
          <a:ln w="12700">
            <a:solidFill>
              <a:srgbClr val="76B900">
                <a:alpha val="0"/>
              </a:srgbClr>
            </a:solidFill>
            <a:prstDash val="solid"/>
          </a:ln>
        </p:spPr>
      </p:sp>
      <p:sp>
        <p:nvSpPr>
          <p:cNvPr id="50" name="Shape 48"/>
          <p:cNvSpPr/>
          <p:nvPr/>
        </p:nvSpPr>
        <p:spPr>
          <a:xfrm>
            <a:off x="8878824" y="2779776"/>
            <a:ext cx="201168" cy="182880"/>
          </a:xfrm>
          <a:prstGeom prst="rect">
            <a:avLst/>
          </a:prstGeom>
          <a:solidFill>
            <a:srgbClr val="76B900">
              <a:alpha val="58000"/>
            </a:srgbClr>
          </a:solidFill>
          <a:ln w="12700">
            <a:solidFill>
              <a:srgbClr val="76B900">
                <a:alpha val="0"/>
              </a:srgbClr>
            </a:solidFill>
            <a:prstDash val="solid"/>
          </a:ln>
        </p:spPr>
      </p:sp>
      <p:sp>
        <p:nvSpPr>
          <p:cNvPr id="51" name="Shape 49"/>
          <p:cNvSpPr/>
          <p:nvPr/>
        </p:nvSpPr>
        <p:spPr>
          <a:xfrm>
            <a:off x="7461504" y="3044952"/>
            <a:ext cx="201168" cy="182880"/>
          </a:xfrm>
          <a:prstGeom prst="rect">
            <a:avLst/>
          </a:prstGeom>
          <a:solidFill>
            <a:srgbClr val="76B900">
              <a:alpha val="90000"/>
            </a:srgbClr>
          </a:solidFill>
          <a:ln w="12700">
            <a:solidFill>
              <a:srgbClr val="76B900">
                <a:alpha val="0"/>
              </a:srgbClr>
            </a:solidFill>
            <a:prstDash val="solid"/>
          </a:ln>
        </p:spPr>
      </p:sp>
      <p:sp>
        <p:nvSpPr>
          <p:cNvPr id="52" name="Shape 50"/>
          <p:cNvSpPr/>
          <p:nvPr/>
        </p:nvSpPr>
        <p:spPr>
          <a:xfrm>
            <a:off x="7744968" y="3044952"/>
            <a:ext cx="201168" cy="182880"/>
          </a:xfrm>
          <a:prstGeom prst="rect">
            <a:avLst/>
          </a:prstGeom>
          <a:solidFill>
            <a:srgbClr val="76B900">
              <a:alpha val="74000"/>
            </a:srgbClr>
          </a:solidFill>
          <a:ln w="12700">
            <a:solidFill>
              <a:srgbClr val="76B900">
                <a:alpha val="0"/>
              </a:srgbClr>
            </a:solidFill>
            <a:prstDash val="solid"/>
          </a:ln>
        </p:spPr>
      </p:sp>
      <p:sp>
        <p:nvSpPr>
          <p:cNvPr id="53" name="Shape 51"/>
          <p:cNvSpPr/>
          <p:nvPr/>
        </p:nvSpPr>
        <p:spPr>
          <a:xfrm>
            <a:off x="8028432" y="3044952"/>
            <a:ext cx="201168" cy="182880"/>
          </a:xfrm>
          <a:prstGeom prst="rect">
            <a:avLst/>
          </a:prstGeom>
          <a:solidFill>
            <a:srgbClr val="76B900">
              <a:alpha val="58000"/>
            </a:srgbClr>
          </a:solidFill>
          <a:ln w="12700">
            <a:solidFill>
              <a:srgbClr val="76B900">
                <a:alpha val="0"/>
              </a:srgbClr>
            </a:solidFill>
            <a:prstDash val="solid"/>
          </a:ln>
        </p:spPr>
      </p:sp>
      <p:sp>
        <p:nvSpPr>
          <p:cNvPr id="54" name="Shape 52"/>
          <p:cNvSpPr/>
          <p:nvPr/>
        </p:nvSpPr>
        <p:spPr>
          <a:xfrm>
            <a:off x="8311896" y="3044952"/>
            <a:ext cx="201168" cy="182880"/>
          </a:xfrm>
          <a:prstGeom prst="rect">
            <a:avLst/>
          </a:prstGeom>
          <a:solidFill>
            <a:srgbClr val="76B900">
              <a:alpha val="90000"/>
            </a:srgbClr>
          </a:solidFill>
          <a:ln w="12700">
            <a:solidFill>
              <a:srgbClr val="76B900">
                <a:alpha val="0"/>
              </a:srgbClr>
            </a:solidFill>
            <a:prstDash val="solid"/>
          </a:ln>
        </p:spPr>
      </p:sp>
      <p:sp>
        <p:nvSpPr>
          <p:cNvPr id="55" name="Shape 53"/>
          <p:cNvSpPr/>
          <p:nvPr/>
        </p:nvSpPr>
        <p:spPr>
          <a:xfrm>
            <a:off x="8595360" y="3044952"/>
            <a:ext cx="201168" cy="182880"/>
          </a:xfrm>
          <a:prstGeom prst="rect">
            <a:avLst/>
          </a:prstGeom>
          <a:solidFill>
            <a:srgbClr val="76B900">
              <a:alpha val="74000"/>
            </a:srgbClr>
          </a:solidFill>
          <a:ln w="12700">
            <a:solidFill>
              <a:srgbClr val="76B900">
                <a:alpha val="0"/>
              </a:srgbClr>
            </a:solidFill>
            <a:prstDash val="solid"/>
          </a:ln>
        </p:spPr>
      </p:sp>
      <p:sp>
        <p:nvSpPr>
          <p:cNvPr id="56" name="Shape 54"/>
          <p:cNvSpPr/>
          <p:nvPr/>
        </p:nvSpPr>
        <p:spPr>
          <a:xfrm>
            <a:off x="8878824" y="3044952"/>
            <a:ext cx="201168" cy="182880"/>
          </a:xfrm>
          <a:prstGeom prst="rect">
            <a:avLst/>
          </a:prstGeom>
          <a:solidFill>
            <a:srgbClr val="76B900">
              <a:alpha val="58000"/>
            </a:srgbClr>
          </a:solidFill>
          <a:ln w="12700">
            <a:solidFill>
              <a:srgbClr val="76B900">
                <a:alpha val="0"/>
              </a:srgbClr>
            </a:solidFill>
            <a:prstDash val="solid"/>
          </a:ln>
        </p:spPr>
      </p:sp>
      <p:sp>
        <p:nvSpPr>
          <p:cNvPr id="57" name="Shape 55"/>
          <p:cNvSpPr/>
          <p:nvPr/>
        </p:nvSpPr>
        <p:spPr>
          <a:xfrm>
            <a:off x="4892040" y="3730752"/>
            <a:ext cx="2057400" cy="1024128"/>
          </a:xfrm>
          <a:prstGeom prst="roundRect">
            <a:avLst>
              <a:gd name="adj" fmla="val 3571"/>
            </a:avLst>
          </a:prstGeom>
          <a:solidFill>
            <a:srgbClr val="14241A"/>
          </a:solidFill>
          <a:ln w="12700">
            <a:solidFill>
              <a:srgbClr val="76B900"/>
            </a:solidFill>
            <a:prstDash val="solid"/>
          </a:ln>
        </p:spPr>
      </p:sp>
      <p:sp>
        <p:nvSpPr>
          <p:cNvPr id="58" name="Text 56"/>
          <p:cNvSpPr/>
          <p:nvPr/>
        </p:nvSpPr>
        <p:spPr>
          <a:xfrm>
            <a:off x="5001768" y="3840480"/>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2</a:t>
            </a:r>
            <a:endParaRPr lang="en-US" sz="1050" dirty="0"/>
          </a:p>
        </p:txBody>
      </p:sp>
      <p:sp>
        <p:nvSpPr>
          <p:cNvPr id="59" name="Shape 57"/>
          <p:cNvSpPr/>
          <p:nvPr/>
        </p:nvSpPr>
        <p:spPr>
          <a:xfrm>
            <a:off x="5038344" y="4114800"/>
            <a:ext cx="201168" cy="182880"/>
          </a:xfrm>
          <a:prstGeom prst="rect">
            <a:avLst/>
          </a:prstGeom>
          <a:solidFill>
            <a:srgbClr val="76B900">
              <a:alpha val="90000"/>
            </a:srgbClr>
          </a:solidFill>
          <a:ln w="12700">
            <a:solidFill>
              <a:srgbClr val="76B900">
                <a:alpha val="0"/>
              </a:srgbClr>
            </a:solidFill>
            <a:prstDash val="solid"/>
          </a:ln>
        </p:spPr>
      </p:sp>
      <p:sp>
        <p:nvSpPr>
          <p:cNvPr id="60" name="Shape 58"/>
          <p:cNvSpPr/>
          <p:nvPr/>
        </p:nvSpPr>
        <p:spPr>
          <a:xfrm>
            <a:off x="5321808" y="4114800"/>
            <a:ext cx="201168" cy="182880"/>
          </a:xfrm>
          <a:prstGeom prst="rect">
            <a:avLst/>
          </a:prstGeom>
          <a:solidFill>
            <a:srgbClr val="76B900">
              <a:alpha val="74000"/>
            </a:srgbClr>
          </a:solidFill>
          <a:ln w="12700">
            <a:solidFill>
              <a:srgbClr val="76B900">
                <a:alpha val="0"/>
              </a:srgbClr>
            </a:solidFill>
            <a:prstDash val="solid"/>
          </a:ln>
        </p:spPr>
      </p:sp>
      <p:sp>
        <p:nvSpPr>
          <p:cNvPr id="61" name="Shape 59"/>
          <p:cNvSpPr/>
          <p:nvPr/>
        </p:nvSpPr>
        <p:spPr>
          <a:xfrm>
            <a:off x="5605272" y="4114800"/>
            <a:ext cx="201168" cy="182880"/>
          </a:xfrm>
          <a:prstGeom prst="rect">
            <a:avLst/>
          </a:prstGeom>
          <a:solidFill>
            <a:srgbClr val="76B900">
              <a:alpha val="58000"/>
            </a:srgbClr>
          </a:solidFill>
          <a:ln w="12700">
            <a:solidFill>
              <a:srgbClr val="76B900">
                <a:alpha val="0"/>
              </a:srgbClr>
            </a:solidFill>
            <a:prstDash val="solid"/>
          </a:ln>
        </p:spPr>
      </p:sp>
      <p:sp>
        <p:nvSpPr>
          <p:cNvPr id="62" name="Shape 60"/>
          <p:cNvSpPr/>
          <p:nvPr/>
        </p:nvSpPr>
        <p:spPr>
          <a:xfrm>
            <a:off x="5888736" y="4114800"/>
            <a:ext cx="201168" cy="182880"/>
          </a:xfrm>
          <a:prstGeom prst="rect">
            <a:avLst/>
          </a:prstGeom>
          <a:solidFill>
            <a:srgbClr val="76B900">
              <a:alpha val="90000"/>
            </a:srgbClr>
          </a:solidFill>
          <a:ln w="12700">
            <a:solidFill>
              <a:srgbClr val="76B900">
                <a:alpha val="0"/>
              </a:srgbClr>
            </a:solidFill>
            <a:prstDash val="solid"/>
          </a:ln>
        </p:spPr>
      </p:sp>
      <p:sp>
        <p:nvSpPr>
          <p:cNvPr id="63" name="Shape 61"/>
          <p:cNvSpPr/>
          <p:nvPr/>
        </p:nvSpPr>
        <p:spPr>
          <a:xfrm>
            <a:off x="6172200" y="4114800"/>
            <a:ext cx="201168" cy="182880"/>
          </a:xfrm>
          <a:prstGeom prst="rect">
            <a:avLst/>
          </a:prstGeom>
          <a:solidFill>
            <a:srgbClr val="76B900">
              <a:alpha val="74000"/>
            </a:srgbClr>
          </a:solidFill>
          <a:ln w="12700">
            <a:solidFill>
              <a:srgbClr val="76B900">
                <a:alpha val="0"/>
              </a:srgbClr>
            </a:solidFill>
            <a:prstDash val="solid"/>
          </a:ln>
        </p:spPr>
      </p:sp>
      <p:sp>
        <p:nvSpPr>
          <p:cNvPr id="64" name="Shape 62"/>
          <p:cNvSpPr/>
          <p:nvPr/>
        </p:nvSpPr>
        <p:spPr>
          <a:xfrm>
            <a:off x="6455664" y="4114800"/>
            <a:ext cx="201168" cy="182880"/>
          </a:xfrm>
          <a:prstGeom prst="rect">
            <a:avLst/>
          </a:prstGeom>
          <a:solidFill>
            <a:srgbClr val="76B900">
              <a:alpha val="58000"/>
            </a:srgbClr>
          </a:solidFill>
          <a:ln w="12700">
            <a:solidFill>
              <a:srgbClr val="76B900">
                <a:alpha val="0"/>
              </a:srgbClr>
            </a:solidFill>
            <a:prstDash val="solid"/>
          </a:ln>
        </p:spPr>
      </p:sp>
      <p:sp>
        <p:nvSpPr>
          <p:cNvPr id="65" name="Shape 63"/>
          <p:cNvSpPr/>
          <p:nvPr/>
        </p:nvSpPr>
        <p:spPr>
          <a:xfrm>
            <a:off x="5038344" y="4379976"/>
            <a:ext cx="201168" cy="182880"/>
          </a:xfrm>
          <a:prstGeom prst="rect">
            <a:avLst/>
          </a:prstGeom>
          <a:solidFill>
            <a:srgbClr val="76B900">
              <a:alpha val="90000"/>
            </a:srgbClr>
          </a:solidFill>
          <a:ln w="12700">
            <a:solidFill>
              <a:srgbClr val="76B900">
                <a:alpha val="0"/>
              </a:srgbClr>
            </a:solidFill>
            <a:prstDash val="solid"/>
          </a:ln>
        </p:spPr>
      </p:sp>
      <p:sp>
        <p:nvSpPr>
          <p:cNvPr id="66" name="Shape 64"/>
          <p:cNvSpPr/>
          <p:nvPr/>
        </p:nvSpPr>
        <p:spPr>
          <a:xfrm>
            <a:off x="5321808" y="4379976"/>
            <a:ext cx="201168" cy="182880"/>
          </a:xfrm>
          <a:prstGeom prst="rect">
            <a:avLst/>
          </a:prstGeom>
          <a:solidFill>
            <a:srgbClr val="76B900">
              <a:alpha val="74000"/>
            </a:srgbClr>
          </a:solidFill>
          <a:ln w="12700">
            <a:solidFill>
              <a:srgbClr val="76B900">
                <a:alpha val="0"/>
              </a:srgbClr>
            </a:solidFill>
            <a:prstDash val="solid"/>
          </a:ln>
        </p:spPr>
      </p:sp>
      <p:sp>
        <p:nvSpPr>
          <p:cNvPr id="67" name="Shape 65"/>
          <p:cNvSpPr/>
          <p:nvPr/>
        </p:nvSpPr>
        <p:spPr>
          <a:xfrm>
            <a:off x="5605272" y="4379976"/>
            <a:ext cx="201168" cy="182880"/>
          </a:xfrm>
          <a:prstGeom prst="rect">
            <a:avLst/>
          </a:prstGeom>
          <a:solidFill>
            <a:srgbClr val="76B900">
              <a:alpha val="58000"/>
            </a:srgbClr>
          </a:solidFill>
          <a:ln w="12700">
            <a:solidFill>
              <a:srgbClr val="76B900">
                <a:alpha val="0"/>
              </a:srgbClr>
            </a:solidFill>
            <a:prstDash val="solid"/>
          </a:ln>
        </p:spPr>
      </p:sp>
      <p:sp>
        <p:nvSpPr>
          <p:cNvPr id="68" name="Shape 66"/>
          <p:cNvSpPr/>
          <p:nvPr/>
        </p:nvSpPr>
        <p:spPr>
          <a:xfrm>
            <a:off x="5888736" y="4379976"/>
            <a:ext cx="201168" cy="182880"/>
          </a:xfrm>
          <a:prstGeom prst="rect">
            <a:avLst/>
          </a:prstGeom>
          <a:solidFill>
            <a:srgbClr val="76B900">
              <a:alpha val="90000"/>
            </a:srgbClr>
          </a:solidFill>
          <a:ln w="12700">
            <a:solidFill>
              <a:srgbClr val="76B900">
                <a:alpha val="0"/>
              </a:srgbClr>
            </a:solidFill>
            <a:prstDash val="solid"/>
          </a:ln>
        </p:spPr>
      </p:sp>
      <p:sp>
        <p:nvSpPr>
          <p:cNvPr id="69" name="Shape 67"/>
          <p:cNvSpPr/>
          <p:nvPr/>
        </p:nvSpPr>
        <p:spPr>
          <a:xfrm>
            <a:off x="6172200" y="4379976"/>
            <a:ext cx="201168" cy="182880"/>
          </a:xfrm>
          <a:prstGeom prst="rect">
            <a:avLst/>
          </a:prstGeom>
          <a:solidFill>
            <a:srgbClr val="76B900">
              <a:alpha val="74000"/>
            </a:srgbClr>
          </a:solidFill>
          <a:ln w="12700">
            <a:solidFill>
              <a:srgbClr val="76B900">
                <a:alpha val="0"/>
              </a:srgbClr>
            </a:solidFill>
            <a:prstDash val="solid"/>
          </a:ln>
        </p:spPr>
      </p:sp>
      <p:sp>
        <p:nvSpPr>
          <p:cNvPr id="70" name="Shape 68"/>
          <p:cNvSpPr/>
          <p:nvPr/>
        </p:nvSpPr>
        <p:spPr>
          <a:xfrm>
            <a:off x="6455664" y="4379976"/>
            <a:ext cx="201168" cy="182880"/>
          </a:xfrm>
          <a:prstGeom prst="rect">
            <a:avLst/>
          </a:prstGeom>
          <a:solidFill>
            <a:srgbClr val="76B900">
              <a:alpha val="58000"/>
            </a:srgbClr>
          </a:solidFill>
          <a:ln w="12700">
            <a:solidFill>
              <a:srgbClr val="76B900">
                <a:alpha val="0"/>
              </a:srgbClr>
            </a:solidFill>
            <a:prstDash val="solid"/>
          </a:ln>
        </p:spPr>
      </p:sp>
      <p:sp>
        <p:nvSpPr>
          <p:cNvPr id="71" name="Shape 69"/>
          <p:cNvSpPr/>
          <p:nvPr/>
        </p:nvSpPr>
        <p:spPr>
          <a:xfrm>
            <a:off x="7315200" y="3730752"/>
            <a:ext cx="2057400" cy="1024128"/>
          </a:xfrm>
          <a:prstGeom prst="roundRect">
            <a:avLst>
              <a:gd name="adj" fmla="val 3571"/>
            </a:avLst>
          </a:prstGeom>
          <a:solidFill>
            <a:srgbClr val="14241A"/>
          </a:solidFill>
          <a:ln w="12700">
            <a:solidFill>
              <a:srgbClr val="76B900"/>
            </a:solidFill>
            <a:prstDash val="solid"/>
          </a:ln>
        </p:spPr>
      </p:sp>
      <p:sp>
        <p:nvSpPr>
          <p:cNvPr id="72" name="Text 70"/>
          <p:cNvSpPr/>
          <p:nvPr/>
        </p:nvSpPr>
        <p:spPr>
          <a:xfrm>
            <a:off x="7424928" y="3840480"/>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3</a:t>
            </a:r>
            <a:endParaRPr lang="en-US" sz="1050" dirty="0"/>
          </a:p>
        </p:txBody>
      </p:sp>
      <p:sp>
        <p:nvSpPr>
          <p:cNvPr id="73" name="Shape 71"/>
          <p:cNvSpPr/>
          <p:nvPr/>
        </p:nvSpPr>
        <p:spPr>
          <a:xfrm>
            <a:off x="7461504" y="4114800"/>
            <a:ext cx="201168" cy="182880"/>
          </a:xfrm>
          <a:prstGeom prst="rect">
            <a:avLst/>
          </a:prstGeom>
          <a:solidFill>
            <a:srgbClr val="76B900">
              <a:alpha val="90000"/>
            </a:srgbClr>
          </a:solidFill>
          <a:ln w="12700">
            <a:solidFill>
              <a:srgbClr val="76B900">
                <a:alpha val="0"/>
              </a:srgbClr>
            </a:solidFill>
            <a:prstDash val="solid"/>
          </a:ln>
        </p:spPr>
      </p:sp>
      <p:sp>
        <p:nvSpPr>
          <p:cNvPr id="74" name="Shape 72"/>
          <p:cNvSpPr/>
          <p:nvPr/>
        </p:nvSpPr>
        <p:spPr>
          <a:xfrm>
            <a:off x="7744968" y="4114800"/>
            <a:ext cx="201168" cy="182880"/>
          </a:xfrm>
          <a:prstGeom prst="rect">
            <a:avLst/>
          </a:prstGeom>
          <a:solidFill>
            <a:srgbClr val="76B900">
              <a:alpha val="74000"/>
            </a:srgbClr>
          </a:solidFill>
          <a:ln w="12700">
            <a:solidFill>
              <a:srgbClr val="76B900">
                <a:alpha val="0"/>
              </a:srgbClr>
            </a:solidFill>
            <a:prstDash val="solid"/>
          </a:ln>
        </p:spPr>
      </p:sp>
      <p:sp>
        <p:nvSpPr>
          <p:cNvPr id="75" name="Shape 73"/>
          <p:cNvSpPr/>
          <p:nvPr/>
        </p:nvSpPr>
        <p:spPr>
          <a:xfrm>
            <a:off x="8028432" y="4114800"/>
            <a:ext cx="201168" cy="182880"/>
          </a:xfrm>
          <a:prstGeom prst="rect">
            <a:avLst/>
          </a:prstGeom>
          <a:solidFill>
            <a:srgbClr val="76B900">
              <a:alpha val="58000"/>
            </a:srgbClr>
          </a:solidFill>
          <a:ln w="12700">
            <a:solidFill>
              <a:srgbClr val="76B900">
                <a:alpha val="0"/>
              </a:srgbClr>
            </a:solidFill>
            <a:prstDash val="solid"/>
          </a:ln>
        </p:spPr>
      </p:sp>
      <p:sp>
        <p:nvSpPr>
          <p:cNvPr id="76" name="Shape 74"/>
          <p:cNvSpPr/>
          <p:nvPr/>
        </p:nvSpPr>
        <p:spPr>
          <a:xfrm>
            <a:off x="8311896" y="4114800"/>
            <a:ext cx="201168" cy="182880"/>
          </a:xfrm>
          <a:prstGeom prst="rect">
            <a:avLst/>
          </a:prstGeom>
          <a:solidFill>
            <a:srgbClr val="76B900">
              <a:alpha val="90000"/>
            </a:srgbClr>
          </a:solidFill>
          <a:ln w="12700">
            <a:solidFill>
              <a:srgbClr val="76B900">
                <a:alpha val="0"/>
              </a:srgbClr>
            </a:solidFill>
            <a:prstDash val="solid"/>
          </a:ln>
        </p:spPr>
      </p:sp>
      <p:sp>
        <p:nvSpPr>
          <p:cNvPr id="77" name="Shape 75"/>
          <p:cNvSpPr/>
          <p:nvPr/>
        </p:nvSpPr>
        <p:spPr>
          <a:xfrm>
            <a:off x="8595360" y="4114800"/>
            <a:ext cx="201168" cy="182880"/>
          </a:xfrm>
          <a:prstGeom prst="rect">
            <a:avLst/>
          </a:prstGeom>
          <a:solidFill>
            <a:srgbClr val="76B900">
              <a:alpha val="74000"/>
            </a:srgbClr>
          </a:solidFill>
          <a:ln w="12700">
            <a:solidFill>
              <a:srgbClr val="76B900">
                <a:alpha val="0"/>
              </a:srgbClr>
            </a:solidFill>
            <a:prstDash val="solid"/>
          </a:ln>
        </p:spPr>
      </p:sp>
      <p:sp>
        <p:nvSpPr>
          <p:cNvPr id="78" name="Shape 76"/>
          <p:cNvSpPr/>
          <p:nvPr/>
        </p:nvSpPr>
        <p:spPr>
          <a:xfrm>
            <a:off x="8878824" y="4114800"/>
            <a:ext cx="201168" cy="182880"/>
          </a:xfrm>
          <a:prstGeom prst="rect">
            <a:avLst/>
          </a:prstGeom>
          <a:solidFill>
            <a:srgbClr val="76B900">
              <a:alpha val="58000"/>
            </a:srgbClr>
          </a:solidFill>
          <a:ln w="12700">
            <a:solidFill>
              <a:srgbClr val="76B900">
                <a:alpha val="0"/>
              </a:srgbClr>
            </a:solidFill>
            <a:prstDash val="solid"/>
          </a:ln>
        </p:spPr>
      </p:sp>
      <p:sp>
        <p:nvSpPr>
          <p:cNvPr id="79" name="Shape 77"/>
          <p:cNvSpPr/>
          <p:nvPr/>
        </p:nvSpPr>
        <p:spPr>
          <a:xfrm>
            <a:off x="7461504" y="4379976"/>
            <a:ext cx="201168" cy="182880"/>
          </a:xfrm>
          <a:prstGeom prst="rect">
            <a:avLst/>
          </a:prstGeom>
          <a:solidFill>
            <a:srgbClr val="76B900">
              <a:alpha val="90000"/>
            </a:srgbClr>
          </a:solidFill>
          <a:ln w="12700">
            <a:solidFill>
              <a:srgbClr val="76B900">
                <a:alpha val="0"/>
              </a:srgbClr>
            </a:solidFill>
            <a:prstDash val="solid"/>
          </a:ln>
        </p:spPr>
      </p:sp>
      <p:sp>
        <p:nvSpPr>
          <p:cNvPr id="80" name="Shape 78"/>
          <p:cNvSpPr/>
          <p:nvPr/>
        </p:nvSpPr>
        <p:spPr>
          <a:xfrm>
            <a:off x="7744968" y="4379976"/>
            <a:ext cx="201168" cy="182880"/>
          </a:xfrm>
          <a:prstGeom prst="rect">
            <a:avLst/>
          </a:prstGeom>
          <a:solidFill>
            <a:srgbClr val="76B900">
              <a:alpha val="74000"/>
            </a:srgbClr>
          </a:solidFill>
          <a:ln w="12700">
            <a:solidFill>
              <a:srgbClr val="76B900">
                <a:alpha val="0"/>
              </a:srgbClr>
            </a:solidFill>
            <a:prstDash val="solid"/>
          </a:ln>
        </p:spPr>
      </p:sp>
      <p:sp>
        <p:nvSpPr>
          <p:cNvPr id="81" name="Shape 79"/>
          <p:cNvSpPr/>
          <p:nvPr/>
        </p:nvSpPr>
        <p:spPr>
          <a:xfrm>
            <a:off x="8028432" y="4379976"/>
            <a:ext cx="201168" cy="182880"/>
          </a:xfrm>
          <a:prstGeom prst="rect">
            <a:avLst/>
          </a:prstGeom>
          <a:solidFill>
            <a:srgbClr val="76B900">
              <a:alpha val="58000"/>
            </a:srgbClr>
          </a:solidFill>
          <a:ln w="12700">
            <a:solidFill>
              <a:srgbClr val="76B900">
                <a:alpha val="0"/>
              </a:srgbClr>
            </a:solidFill>
            <a:prstDash val="solid"/>
          </a:ln>
        </p:spPr>
      </p:sp>
      <p:sp>
        <p:nvSpPr>
          <p:cNvPr id="82" name="Shape 80"/>
          <p:cNvSpPr/>
          <p:nvPr/>
        </p:nvSpPr>
        <p:spPr>
          <a:xfrm>
            <a:off x="8311896" y="4379976"/>
            <a:ext cx="201168" cy="182880"/>
          </a:xfrm>
          <a:prstGeom prst="rect">
            <a:avLst/>
          </a:prstGeom>
          <a:solidFill>
            <a:srgbClr val="76B900">
              <a:alpha val="90000"/>
            </a:srgbClr>
          </a:solidFill>
          <a:ln w="12700">
            <a:solidFill>
              <a:srgbClr val="76B900">
                <a:alpha val="0"/>
              </a:srgbClr>
            </a:solidFill>
            <a:prstDash val="solid"/>
          </a:ln>
        </p:spPr>
      </p:sp>
      <p:sp>
        <p:nvSpPr>
          <p:cNvPr id="83" name="Shape 81"/>
          <p:cNvSpPr/>
          <p:nvPr/>
        </p:nvSpPr>
        <p:spPr>
          <a:xfrm>
            <a:off x="8595360" y="4379976"/>
            <a:ext cx="201168" cy="182880"/>
          </a:xfrm>
          <a:prstGeom prst="rect">
            <a:avLst/>
          </a:prstGeom>
          <a:solidFill>
            <a:srgbClr val="76B900">
              <a:alpha val="74000"/>
            </a:srgbClr>
          </a:solidFill>
          <a:ln w="12700">
            <a:solidFill>
              <a:srgbClr val="76B900">
                <a:alpha val="0"/>
              </a:srgbClr>
            </a:solidFill>
            <a:prstDash val="solid"/>
          </a:ln>
        </p:spPr>
      </p:sp>
      <p:sp>
        <p:nvSpPr>
          <p:cNvPr id="84" name="Shape 82"/>
          <p:cNvSpPr/>
          <p:nvPr/>
        </p:nvSpPr>
        <p:spPr>
          <a:xfrm>
            <a:off x="8878824" y="4379976"/>
            <a:ext cx="201168" cy="182880"/>
          </a:xfrm>
          <a:prstGeom prst="rect">
            <a:avLst/>
          </a:prstGeom>
          <a:solidFill>
            <a:srgbClr val="76B900">
              <a:alpha val="58000"/>
            </a:srgbClr>
          </a:solidFill>
          <a:ln w="12700">
            <a:solidFill>
              <a:srgbClr val="76B900">
                <a:alpha val="0"/>
              </a:srgbClr>
            </a:solidFill>
            <a:prstDash val="solid"/>
          </a:ln>
        </p:spPr>
      </p:sp>
      <p:sp>
        <p:nvSpPr>
          <p:cNvPr id="85" name="Text 83"/>
          <p:cNvSpPr/>
          <p:nvPr/>
        </p:nvSpPr>
        <p:spPr>
          <a:xfrm>
            <a:off x="4892040" y="5175504"/>
            <a:ext cx="4114800" cy="274320"/>
          </a:xfrm>
          <a:prstGeom prst="rect">
            <a:avLst/>
          </a:prstGeom>
          <a:noFill/>
          <a:ln/>
        </p:spPr>
        <p:txBody>
          <a:bodyPr wrap="square" lIns="0" tIns="0" rIns="0" bIns="0" rtlCol="0" anchor="ctr">
            <a:noAutofit/>
          </a:bodyPr>
          <a:lstStyle/>
          <a:p>
            <a:pPr marL="0" indent="0">
              <a:buNone/>
            </a:pPr>
            <a:r>
              <a:rPr lang="en-US" sz="1350" b="1">
                <a:solidFill>
                  <a:srgbClr val="F4F7FA"/>
                </a:solidFill>
              </a:rPr>
              <a:t>Libraries choose the thread/block mapping.</a:t>
            </a:r>
            <a:endParaRPr lang="en-US" sz="1350" dirty="0"/>
          </a:p>
        </p:txBody>
      </p:sp>
      <p:sp>
        <p:nvSpPr>
          <p:cNvPr id="86" name="Text 84"/>
          <p:cNvSpPr/>
          <p:nvPr/>
        </p:nvSpPr>
        <p:spPr>
          <a:xfrm>
            <a:off x="9464040" y="2029968"/>
            <a:ext cx="1234440" cy="219456"/>
          </a:xfrm>
          <a:prstGeom prst="rect">
            <a:avLst/>
          </a:prstGeom>
          <a:noFill/>
          <a:ln/>
        </p:spPr>
        <p:txBody>
          <a:bodyPr wrap="square" lIns="0" tIns="0" rIns="0" bIns="0" rtlCol="0" anchor="ctr">
            <a:noAutofit/>
          </a:bodyPr>
          <a:lstStyle/>
          <a:p>
            <a:pPr marL="0" indent="0">
              <a:buNone/>
            </a:pPr>
            <a:r>
              <a:rPr lang="en-US" sz="1350" b="1" dirty="0">
                <a:solidFill>
                  <a:srgbClr val="F4F7FA"/>
                </a:solidFill>
              </a:rPr>
              <a:t>Memory</a:t>
            </a:r>
            <a:endParaRPr lang="en-US" sz="1350" dirty="0"/>
          </a:p>
        </p:txBody>
      </p:sp>
      <p:sp>
        <p:nvSpPr>
          <p:cNvPr id="87" name="Shape 85"/>
          <p:cNvSpPr/>
          <p:nvPr/>
        </p:nvSpPr>
        <p:spPr>
          <a:xfrm>
            <a:off x="9464040" y="2487168"/>
            <a:ext cx="1463040" cy="530352"/>
          </a:xfrm>
          <a:prstGeom prst="roundRect">
            <a:avLst>
              <a:gd name="adj" fmla="val 6897"/>
            </a:avLst>
          </a:prstGeom>
          <a:solidFill>
            <a:srgbClr val="76B900">
              <a:alpha val="58000"/>
            </a:srgbClr>
          </a:solidFill>
          <a:ln w="12700">
            <a:solidFill>
              <a:srgbClr val="76B900"/>
            </a:solidFill>
            <a:prstDash val="solid"/>
          </a:ln>
        </p:spPr>
      </p:sp>
      <p:sp>
        <p:nvSpPr>
          <p:cNvPr id="88" name="Text 86"/>
          <p:cNvSpPr/>
          <p:nvPr/>
        </p:nvSpPr>
        <p:spPr>
          <a:xfrm>
            <a:off x="9573768" y="2615184"/>
            <a:ext cx="731520" cy="146304"/>
          </a:xfrm>
          <a:prstGeom prst="rect">
            <a:avLst/>
          </a:prstGeom>
          <a:noFill/>
          <a:ln/>
        </p:spPr>
        <p:txBody>
          <a:bodyPr wrap="square" lIns="0" tIns="0" rIns="0" bIns="0" rtlCol="0" anchor="ctr">
            <a:noAutofit/>
          </a:bodyPr>
          <a:lstStyle/>
          <a:p>
            <a:pPr marL="0" indent="0">
              <a:buNone/>
            </a:pPr>
            <a:r>
              <a:rPr lang="en-US" sz="1100" b="1" dirty="0">
                <a:solidFill>
                  <a:srgbClr val="F4F7FA"/>
                </a:solidFill>
              </a:rPr>
              <a:t>Registers</a:t>
            </a:r>
            <a:endParaRPr lang="en-US" sz="1100" dirty="0"/>
          </a:p>
        </p:txBody>
      </p:sp>
      <p:sp>
        <p:nvSpPr>
          <p:cNvPr id="89" name="Text 87"/>
          <p:cNvSpPr/>
          <p:nvPr/>
        </p:nvSpPr>
        <p:spPr>
          <a:xfrm>
            <a:off x="10204704" y="2615184"/>
            <a:ext cx="594360" cy="146304"/>
          </a:xfrm>
          <a:prstGeom prst="rect">
            <a:avLst/>
          </a:prstGeom>
          <a:noFill/>
          <a:ln/>
        </p:spPr>
        <p:txBody>
          <a:bodyPr wrap="square" lIns="0" tIns="0" rIns="0" bIns="0" rtlCol="0" anchor="ctr">
            <a:noAutofit/>
          </a:bodyPr>
          <a:lstStyle/>
          <a:p>
            <a:pPr marL="0" indent="0" algn="r">
              <a:buNone/>
            </a:pPr>
            <a:r>
              <a:rPr lang="en-US" sz="950" dirty="0">
                <a:solidFill>
                  <a:srgbClr val="7E8A97"/>
                </a:solidFill>
              </a:rPr>
              <a:t>fastest</a:t>
            </a:r>
            <a:endParaRPr lang="en-US" sz="950" dirty="0"/>
          </a:p>
        </p:txBody>
      </p:sp>
      <p:sp>
        <p:nvSpPr>
          <p:cNvPr id="90" name="Shape 88"/>
          <p:cNvSpPr/>
          <p:nvPr/>
        </p:nvSpPr>
        <p:spPr>
          <a:xfrm>
            <a:off x="9464040" y="3273552"/>
            <a:ext cx="1463040" cy="530352"/>
          </a:xfrm>
          <a:prstGeom prst="roundRect">
            <a:avLst>
              <a:gd name="adj" fmla="val 6897"/>
            </a:avLst>
          </a:prstGeom>
          <a:solidFill>
            <a:srgbClr val="A78BFA">
              <a:alpha val="58000"/>
            </a:srgbClr>
          </a:solidFill>
          <a:ln w="12700">
            <a:solidFill>
              <a:srgbClr val="A78BFA"/>
            </a:solidFill>
            <a:prstDash val="solid"/>
          </a:ln>
        </p:spPr>
      </p:sp>
      <p:sp>
        <p:nvSpPr>
          <p:cNvPr id="91" name="Text 89"/>
          <p:cNvSpPr/>
          <p:nvPr/>
        </p:nvSpPr>
        <p:spPr>
          <a:xfrm>
            <a:off x="9573768" y="3401568"/>
            <a:ext cx="731520" cy="146304"/>
          </a:xfrm>
          <a:prstGeom prst="rect">
            <a:avLst/>
          </a:prstGeom>
          <a:noFill/>
          <a:ln/>
        </p:spPr>
        <p:txBody>
          <a:bodyPr wrap="square" lIns="0" tIns="0" rIns="0" bIns="0" rtlCol="0" anchor="ctr">
            <a:noAutofit/>
          </a:bodyPr>
          <a:lstStyle/>
          <a:p>
            <a:pPr marL="0" indent="0">
              <a:buNone/>
            </a:pPr>
            <a:r>
              <a:rPr lang="en-US" sz="1100" b="1" dirty="0">
                <a:solidFill>
                  <a:srgbClr val="F4F7FA"/>
                </a:solidFill>
              </a:rPr>
              <a:t>Shared</a:t>
            </a:r>
            <a:endParaRPr lang="en-US" sz="1100" dirty="0"/>
          </a:p>
        </p:txBody>
      </p:sp>
      <p:sp>
        <p:nvSpPr>
          <p:cNvPr id="92" name="Text 90"/>
          <p:cNvSpPr/>
          <p:nvPr/>
        </p:nvSpPr>
        <p:spPr>
          <a:xfrm>
            <a:off x="10204704" y="3401568"/>
            <a:ext cx="594360" cy="146304"/>
          </a:xfrm>
          <a:prstGeom prst="rect">
            <a:avLst/>
          </a:prstGeom>
          <a:noFill/>
          <a:ln/>
        </p:spPr>
        <p:txBody>
          <a:bodyPr wrap="square" lIns="0" tIns="0" rIns="0" bIns="0" rtlCol="0" anchor="ctr">
            <a:noAutofit/>
          </a:bodyPr>
          <a:lstStyle/>
          <a:p>
            <a:pPr marL="0" indent="0" algn="r">
              <a:buNone/>
            </a:pPr>
            <a:r>
              <a:rPr lang="en-US" sz="950" dirty="0">
                <a:solidFill>
                  <a:srgbClr val="7E8A97"/>
                </a:solidFill>
              </a:rPr>
              <a:t>per block</a:t>
            </a:r>
            <a:endParaRPr lang="en-US" sz="950" dirty="0"/>
          </a:p>
        </p:txBody>
      </p:sp>
      <p:sp>
        <p:nvSpPr>
          <p:cNvPr id="93" name="Shape 91"/>
          <p:cNvSpPr/>
          <p:nvPr/>
        </p:nvSpPr>
        <p:spPr>
          <a:xfrm>
            <a:off x="9464040" y="4059936"/>
            <a:ext cx="1463040" cy="530352"/>
          </a:xfrm>
          <a:prstGeom prst="roundRect">
            <a:avLst>
              <a:gd name="adj" fmla="val 6897"/>
            </a:avLst>
          </a:prstGeom>
          <a:solidFill>
            <a:srgbClr val="FFB454">
              <a:alpha val="58000"/>
            </a:srgbClr>
          </a:solidFill>
          <a:ln w="12700">
            <a:solidFill>
              <a:srgbClr val="FFB454"/>
            </a:solidFill>
            <a:prstDash val="solid"/>
          </a:ln>
        </p:spPr>
      </p:sp>
      <p:sp>
        <p:nvSpPr>
          <p:cNvPr id="94" name="Text 92"/>
          <p:cNvSpPr/>
          <p:nvPr/>
        </p:nvSpPr>
        <p:spPr>
          <a:xfrm>
            <a:off x="9573768" y="4187952"/>
            <a:ext cx="731520" cy="146304"/>
          </a:xfrm>
          <a:prstGeom prst="rect">
            <a:avLst/>
          </a:prstGeom>
          <a:noFill/>
          <a:ln/>
        </p:spPr>
        <p:txBody>
          <a:bodyPr wrap="square" lIns="0" tIns="0" rIns="0" bIns="0" rtlCol="0" anchor="ctr">
            <a:noAutofit/>
          </a:bodyPr>
          <a:lstStyle/>
          <a:p>
            <a:pPr marL="0" indent="0">
              <a:buNone/>
            </a:pPr>
            <a:r>
              <a:rPr lang="en-US" sz="1100" b="1" dirty="0">
                <a:solidFill>
                  <a:srgbClr val="F4F7FA"/>
                </a:solidFill>
              </a:rPr>
              <a:t>Global</a:t>
            </a:r>
            <a:endParaRPr lang="en-US" sz="1100" dirty="0"/>
          </a:p>
        </p:txBody>
      </p:sp>
      <p:sp>
        <p:nvSpPr>
          <p:cNvPr id="95" name="Text 93"/>
          <p:cNvSpPr/>
          <p:nvPr/>
        </p:nvSpPr>
        <p:spPr>
          <a:xfrm>
            <a:off x="10204704" y="4187952"/>
            <a:ext cx="594360" cy="146304"/>
          </a:xfrm>
          <a:prstGeom prst="rect">
            <a:avLst/>
          </a:prstGeom>
          <a:noFill/>
          <a:ln/>
        </p:spPr>
        <p:txBody>
          <a:bodyPr wrap="square" lIns="0" tIns="0" rIns="0" bIns="0" rtlCol="0" anchor="ctr">
            <a:noAutofit/>
          </a:bodyPr>
          <a:lstStyle/>
          <a:p>
            <a:pPr marL="0" indent="0" algn="r">
              <a:buNone/>
            </a:pPr>
            <a:r>
              <a:rPr lang="en-US" sz="950" dirty="0">
                <a:solidFill>
                  <a:srgbClr val="7E8A97"/>
                </a:solidFill>
              </a:rPr>
              <a:t>large</a:t>
            </a:r>
            <a:endParaRPr lang="en-US" sz="950" dirty="0"/>
          </a:p>
        </p:txBody>
      </p:sp>
      <p:sp>
        <p:nvSpPr>
          <p:cNvPr id="96" name="Text 94"/>
          <p:cNvSpPr/>
          <p:nvPr/>
        </p:nvSpPr>
        <p:spPr>
          <a:xfrm>
            <a:off x="4892040" y="5623560"/>
            <a:ext cx="5943600" cy="420624"/>
          </a:xfrm>
          <a:prstGeom prst="rect">
            <a:avLst/>
          </a:prstGeom>
          <a:noFill/>
          <a:ln/>
        </p:spPr>
        <p:txBody>
          <a:bodyPr wrap="square" lIns="0" tIns="0" rIns="0" bIns="0" rtlCol="0" anchor="ctr">
            <a:noAutofit/>
          </a:bodyPr>
          <a:lstStyle/>
          <a:p>
            <a:pPr marL="0" indent="0">
              <a:buNone/>
            </a:pPr>
            <a:r>
              <a:rPr lang="en-US" sz="1450" b="1">
                <a:solidFill>
                  <a:srgbClr val="A3E635"/>
                </a:solidFill>
              </a:rPr>
              <a:t>cuDNN maps convolution onto CUDA kernels with concurrent work and data reuse.</a:t>
            </a:r>
            <a:endParaRPr lang="en-US" sz="1450" dirty="0"/>
          </a:p>
        </p:txBody>
      </p:sp>
      <p:sp>
        <p:nvSpPr>
          <p:cNvPr id="9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CUDA kernels in the CNN program</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A kernel is the GPU function executed by many threads. We map CNN operations to kernels, then choose how much control to keep.</a:t>
            </a:r>
            <a:endParaRPr lang="en-US" sz="1150" dirty="0"/>
          </a:p>
        </p:txBody>
      </p:sp>
      <p:sp>
        <p:nvSpPr>
          <p:cNvPr id="6" name="Shape 4"/>
          <p:cNvSpPr/>
          <p:nvPr/>
        </p:nvSpPr>
        <p:spPr>
          <a:xfrm>
            <a:off x="603504" y="1225296"/>
            <a:ext cx="10972800" cy="1883664"/>
          </a:xfrm>
          <a:prstGeom prst="roundRect">
            <a:avLst>
              <a:gd name="adj" fmla="val 3883"/>
            </a:avLst>
          </a:prstGeom>
          <a:solidFill>
            <a:srgbClr val="121923"/>
          </a:solidFill>
          <a:ln w="12700">
            <a:solidFill>
              <a:srgbClr val="25303D"/>
            </a:solidFill>
            <a:prstDash val="solid"/>
          </a:ln>
        </p:spPr>
      </p:sp>
      <p:sp>
        <p:nvSpPr>
          <p:cNvPr id="7" name="Shape 5"/>
          <p:cNvSpPr/>
          <p:nvPr/>
        </p:nvSpPr>
        <p:spPr>
          <a:xfrm>
            <a:off x="868680" y="1755648"/>
            <a:ext cx="1243584" cy="658368"/>
          </a:xfrm>
          <a:prstGeom prst="roundRect">
            <a:avLst>
              <a:gd name="adj" fmla="val 8333"/>
            </a:avLst>
          </a:prstGeom>
          <a:solidFill>
            <a:srgbClr val="41D9FF">
              <a:alpha val="70000"/>
            </a:srgbClr>
          </a:solidFill>
          <a:ln w="15240">
            <a:solidFill>
              <a:srgbClr val="41D9FF"/>
            </a:solidFill>
            <a:prstDash val="solid"/>
          </a:ln>
        </p:spPr>
      </p:sp>
      <p:sp>
        <p:nvSpPr>
          <p:cNvPr id="8" name="Text 6"/>
          <p:cNvSpPr/>
          <p:nvPr/>
        </p:nvSpPr>
        <p:spPr>
          <a:xfrm>
            <a:off x="868680"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INPUT</a:t>
            </a:r>
            <a:endParaRPr lang="en-US" sz="1200" dirty="0"/>
          </a:p>
        </p:txBody>
      </p:sp>
      <p:sp>
        <p:nvSpPr>
          <p:cNvPr id="9" name="Shape 7"/>
          <p:cNvSpPr/>
          <p:nvPr/>
        </p:nvSpPr>
        <p:spPr>
          <a:xfrm>
            <a:off x="2157984" y="2084832"/>
            <a:ext cx="338328" cy="0"/>
          </a:xfrm>
          <a:prstGeom prst="line">
            <a:avLst/>
          </a:prstGeom>
          <a:noFill/>
          <a:ln w="19050">
            <a:solidFill>
              <a:srgbClr val="7E8A97"/>
            </a:solidFill>
            <a:prstDash val="solid"/>
            <a:headEnd type="none"/>
            <a:tailEnd type="triangle"/>
          </a:ln>
        </p:spPr>
      </p:sp>
      <p:sp>
        <p:nvSpPr>
          <p:cNvPr id="10" name="Shape 8"/>
          <p:cNvSpPr/>
          <p:nvPr/>
        </p:nvSpPr>
        <p:spPr>
          <a:xfrm>
            <a:off x="2624328" y="1755648"/>
            <a:ext cx="1243584" cy="658368"/>
          </a:xfrm>
          <a:prstGeom prst="roundRect">
            <a:avLst>
              <a:gd name="adj" fmla="val 8333"/>
            </a:avLst>
          </a:prstGeom>
          <a:solidFill>
            <a:srgbClr val="76B900">
              <a:alpha val="70000"/>
            </a:srgbClr>
          </a:solidFill>
          <a:ln w="15240">
            <a:solidFill>
              <a:srgbClr val="76B900"/>
            </a:solidFill>
            <a:prstDash val="solid"/>
          </a:ln>
        </p:spPr>
      </p:sp>
      <p:sp>
        <p:nvSpPr>
          <p:cNvPr id="11" name="Text 9"/>
          <p:cNvSpPr/>
          <p:nvPr/>
        </p:nvSpPr>
        <p:spPr>
          <a:xfrm>
            <a:off x="2624328"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CONV</a:t>
            </a:r>
            <a:endParaRPr lang="en-US" sz="1200" dirty="0"/>
          </a:p>
        </p:txBody>
      </p:sp>
      <p:sp>
        <p:nvSpPr>
          <p:cNvPr id="12" name="Shape 10"/>
          <p:cNvSpPr/>
          <p:nvPr/>
        </p:nvSpPr>
        <p:spPr>
          <a:xfrm>
            <a:off x="3913632" y="2084832"/>
            <a:ext cx="338328" cy="0"/>
          </a:xfrm>
          <a:prstGeom prst="line">
            <a:avLst/>
          </a:prstGeom>
          <a:noFill/>
          <a:ln w="19050">
            <a:solidFill>
              <a:srgbClr val="7E8A97"/>
            </a:solidFill>
            <a:prstDash val="solid"/>
            <a:headEnd type="none"/>
            <a:tailEnd type="triangle"/>
          </a:ln>
        </p:spPr>
      </p:sp>
      <p:sp>
        <p:nvSpPr>
          <p:cNvPr id="13" name="Shape 11"/>
          <p:cNvSpPr/>
          <p:nvPr/>
        </p:nvSpPr>
        <p:spPr>
          <a:xfrm>
            <a:off x="4379976" y="1755648"/>
            <a:ext cx="1243584" cy="658368"/>
          </a:xfrm>
          <a:prstGeom prst="roundRect">
            <a:avLst>
              <a:gd name="adj" fmla="val 8333"/>
            </a:avLst>
          </a:prstGeom>
          <a:solidFill>
            <a:srgbClr val="A78BFA">
              <a:alpha val="70000"/>
            </a:srgbClr>
          </a:solidFill>
          <a:ln w="15240">
            <a:solidFill>
              <a:srgbClr val="A78BFA"/>
            </a:solidFill>
            <a:prstDash val="solid"/>
          </a:ln>
        </p:spPr>
      </p:sp>
      <p:sp>
        <p:nvSpPr>
          <p:cNvPr id="14" name="Text 12"/>
          <p:cNvSpPr/>
          <p:nvPr/>
        </p:nvSpPr>
        <p:spPr>
          <a:xfrm>
            <a:off x="4379976"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ReLU</a:t>
            </a:r>
            <a:endParaRPr lang="en-US" sz="1200" dirty="0"/>
          </a:p>
        </p:txBody>
      </p:sp>
      <p:sp>
        <p:nvSpPr>
          <p:cNvPr id="15" name="Shape 13"/>
          <p:cNvSpPr/>
          <p:nvPr/>
        </p:nvSpPr>
        <p:spPr>
          <a:xfrm>
            <a:off x="5669280" y="2084832"/>
            <a:ext cx="338328" cy="0"/>
          </a:xfrm>
          <a:prstGeom prst="line">
            <a:avLst/>
          </a:prstGeom>
          <a:noFill/>
          <a:ln w="19050">
            <a:solidFill>
              <a:srgbClr val="7E8A97"/>
            </a:solidFill>
            <a:prstDash val="solid"/>
            <a:headEnd type="none"/>
            <a:tailEnd type="triangle"/>
          </a:ln>
        </p:spPr>
      </p:sp>
      <p:sp>
        <p:nvSpPr>
          <p:cNvPr id="16" name="Shape 14"/>
          <p:cNvSpPr/>
          <p:nvPr/>
        </p:nvSpPr>
        <p:spPr>
          <a:xfrm>
            <a:off x="6135624" y="1755648"/>
            <a:ext cx="1243584" cy="658368"/>
          </a:xfrm>
          <a:prstGeom prst="roundRect">
            <a:avLst>
              <a:gd name="adj" fmla="val 8333"/>
            </a:avLst>
          </a:prstGeom>
          <a:solidFill>
            <a:srgbClr val="FFB454">
              <a:alpha val="70000"/>
            </a:srgbClr>
          </a:solidFill>
          <a:ln w="15240">
            <a:solidFill>
              <a:srgbClr val="FFB454"/>
            </a:solidFill>
            <a:prstDash val="solid"/>
          </a:ln>
        </p:spPr>
      </p:sp>
      <p:sp>
        <p:nvSpPr>
          <p:cNvPr id="17" name="Text 15"/>
          <p:cNvSpPr/>
          <p:nvPr/>
        </p:nvSpPr>
        <p:spPr>
          <a:xfrm>
            <a:off x="6135624"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POOL</a:t>
            </a:r>
            <a:endParaRPr lang="en-US" sz="1200" dirty="0"/>
          </a:p>
        </p:txBody>
      </p:sp>
      <p:sp>
        <p:nvSpPr>
          <p:cNvPr id="18" name="Shape 16"/>
          <p:cNvSpPr/>
          <p:nvPr/>
        </p:nvSpPr>
        <p:spPr>
          <a:xfrm>
            <a:off x="7424928" y="2084832"/>
            <a:ext cx="338328" cy="0"/>
          </a:xfrm>
          <a:prstGeom prst="line">
            <a:avLst/>
          </a:prstGeom>
          <a:noFill/>
          <a:ln w="19050">
            <a:solidFill>
              <a:srgbClr val="7E8A97"/>
            </a:solidFill>
            <a:prstDash val="solid"/>
            <a:headEnd type="none"/>
            <a:tailEnd type="triangle"/>
          </a:ln>
        </p:spPr>
      </p:sp>
      <p:sp>
        <p:nvSpPr>
          <p:cNvPr id="19" name="Shape 17"/>
          <p:cNvSpPr/>
          <p:nvPr/>
        </p:nvSpPr>
        <p:spPr>
          <a:xfrm>
            <a:off x="7891272" y="1755648"/>
            <a:ext cx="1243584" cy="658368"/>
          </a:xfrm>
          <a:prstGeom prst="roundRect">
            <a:avLst>
              <a:gd name="adj" fmla="val 8333"/>
            </a:avLst>
          </a:prstGeom>
          <a:solidFill>
            <a:srgbClr val="F9D65C">
              <a:alpha val="70000"/>
            </a:srgbClr>
          </a:solidFill>
          <a:ln w="15240">
            <a:solidFill>
              <a:srgbClr val="F9D65C"/>
            </a:solidFill>
            <a:prstDash val="solid"/>
          </a:ln>
        </p:spPr>
      </p:sp>
      <p:sp>
        <p:nvSpPr>
          <p:cNvPr id="20" name="Text 18"/>
          <p:cNvSpPr/>
          <p:nvPr/>
        </p:nvSpPr>
        <p:spPr>
          <a:xfrm>
            <a:off x="7891272"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FC</a:t>
            </a:r>
            <a:endParaRPr lang="en-US" sz="1200" dirty="0"/>
          </a:p>
        </p:txBody>
      </p:sp>
      <p:sp>
        <p:nvSpPr>
          <p:cNvPr id="21" name="Shape 19"/>
          <p:cNvSpPr/>
          <p:nvPr/>
        </p:nvSpPr>
        <p:spPr>
          <a:xfrm>
            <a:off x="9180576" y="2084832"/>
            <a:ext cx="338328" cy="0"/>
          </a:xfrm>
          <a:prstGeom prst="line">
            <a:avLst/>
          </a:prstGeom>
          <a:noFill/>
          <a:ln w="19050">
            <a:solidFill>
              <a:srgbClr val="7E8A97"/>
            </a:solidFill>
            <a:prstDash val="solid"/>
            <a:headEnd type="none"/>
            <a:tailEnd type="triangle"/>
          </a:ln>
        </p:spPr>
      </p:sp>
      <p:sp>
        <p:nvSpPr>
          <p:cNvPr id="22" name="Shape 20"/>
          <p:cNvSpPr/>
          <p:nvPr/>
        </p:nvSpPr>
        <p:spPr>
          <a:xfrm>
            <a:off x="9646920" y="1755648"/>
            <a:ext cx="1243584" cy="658368"/>
          </a:xfrm>
          <a:prstGeom prst="roundRect">
            <a:avLst>
              <a:gd name="adj" fmla="val 8333"/>
            </a:avLst>
          </a:prstGeom>
          <a:solidFill>
            <a:srgbClr val="41D9FF">
              <a:alpha val="70000"/>
            </a:srgbClr>
          </a:solidFill>
          <a:ln w="15240">
            <a:solidFill>
              <a:srgbClr val="41D9FF"/>
            </a:solidFill>
            <a:prstDash val="solid"/>
          </a:ln>
        </p:spPr>
      </p:sp>
      <p:sp>
        <p:nvSpPr>
          <p:cNvPr id="23" name="Text 21"/>
          <p:cNvSpPr/>
          <p:nvPr/>
        </p:nvSpPr>
        <p:spPr>
          <a:xfrm>
            <a:off x="9646920"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OUTPUT</a:t>
            </a:r>
            <a:endParaRPr lang="en-US" sz="1200" dirty="0"/>
          </a:p>
        </p:txBody>
      </p:sp>
      <p:sp>
        <p:nvSpPr>
          <p:cNvPr id="24" name="Text 22"/>
          <p:cNvSpPr/>
          <p:nvPr/>
        </p:nvSpPr>
        <p:spPr>
          <a:xfrm>
            <a:off x="886968" y="2633472"/>
            <a:ext cx="7589520" cy="274320"/>
          </a:xfrm>
          <a:prstGeom prst="rect">
            <a:avLst/>
          </a:prstGeom>
          <a:noFill/>
          <a:ln/>
        </p:spPr>
        <p:txBody>
          <a:bodyPr wrap="square" lIns="0" tIns="0" rIns="0" bIns="0" rtlCol="0" anchor="ctr">
            <a:noAutofit/>
          </a:bodyPr>
          <a:lstStyle/>
          <a:p>
            <a:pPr marL="0" indent="0">
              <a:buNone/>
            </a:pPr>
            <a:r>
              <a:rPr lang="en-US" sz="1160">
                <a:solidFill>
                  <a:srgbClr val="7E8A97"/>
                </a:solidFill>
              </a:rPr>
              <a:t>Same CNN, data, loss and SGD. Convolution runs through CPU PyTorch, direct cuDNN or GPU PyTorch.</a:t>
            </a:r>
            <a:endParaRPr lang="en-US" sz="1160" dirty="0"/>
          </a:p>
        </p:txBody>
      </p:sp>
      <p:sp>
        <p:nvSpPr>
          <p:cNvPr id="25" name="Shape 23"/>
          <p:cNvSpPr/>
          <p:nvPr/>
        </p:nvSpPr>
        <p:spPr>
          <a:xfrm>
            <a:off x="603504" y="3346704"/>
            <a:ext cx="5074920" cy="2871216"/>
          </a:xfrm>
          <a:prstGeom prst="roundRect">
            <a:avLst>
              <a:gd name="adj" fmla="val 2548"/>
            </a:avLst>
          </a:prstGeom>
          <a:solidFill>
            <a:srgbClr val="121923"/>
          </a:solidFill>
          <a:ln w="12700">
            <a:solidFill>
              <a:srgbClr val="25303D"/>
            </a:solidFill>
            <a:prstDash val="solid"/>
          </a:ln>
        </p:spPr>
      </p:sp>
      <p:sp>
        <p:nvSpPr>
          <p:cNvPr id="26" name="Shape 24"/>
          <p:cNvSpPr/>
          <p:nvPr/>
        </p:nvSpPr>
        <p:spPr>
          <a:xfrm>
            <a:off x="868680" y="3621024"/>
            <a:ext cx="169164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7" name="Text 25"/>
          <p:cNvSpPr/>
          <p:nvPr/>
        </p:nvSpPr>
        <p:spPr>
          <a:xfrm>
            <a:off x="868680" y="3698748"/>
            <a:ext cx="1691640" cy="128016"/>
          </a:xfrm>
          <a:prstGeom prst="rect">
            <a:avLst/>
          </a:prstGeom>
          <a:noFill/>
          <a:ln/>
        </p:spPr>
        <p:txBody>
          <a:bodyPr wrap="square" lIns="0" tIns="0" rIns="0" bIns="0" rtlCol="0" anchor="ctr">
            <a:noAutofit/>
          </a:bodyPr>
          <a:lstStyle/>
          <a:p>
            <a:pPr marL="0" indent="0" algn="ctr">
              <a:buNone/>
            </a:pPr>
            <a:r>
              <a:rPr lang="en-US" sz="850" b="1" kern="0" spc="100">
                <a:solidFill>
                  <a:srgbClr val="76B900"/>
                </a:solidFill>
              </a:rPr>
              <a:t>LIBRARY KERNEL DESIGN</a:t>
            </a:r>
            <a:endParaRPr lang="en-US" sz="850" dirty="0"/>
          </a:p>
        </p:txBody>
      </p:sp>
      <p:sp>
        <p:nvSpPr>
          <p:cNvPr id="28" name="Text 26"/>
          <p:cNvSpPr/>
          <p:nvPr/>
        </p:nvSpPr>
        <p:spPr>
          <a:xfrm>
            <a:off x="868680" y="4087368"/>
            <a:ext cx="4191000" cy="317500"/>
          </a:xfrm>
          <a:prstGeom prst="rect">
            <a:avLst/>
          </a:prstGeom>
          <a:noFill/>
          <a:ln/>
        </p:spPr>
        <p:txBody>
          <a:bodyPr wrap="square" lIns="0" tIns="0" rIns="0" bIns="0" rtlCol="0" anchor="ctr">
            <a:noAutofit/>
          </a:bodyPr>
          <a:lstStyle/>
          <a:p>
            <a:pPr marL="0" indent="0">
              <a:buNone/>
            </a:pPr>
            <a:r>
              <a:rPr lang="en-US" sz="1550" b="1">
                <a:solidFill>
                  <a:srgbClr val="F4F7FA"/>
                </a:solidFill>
              </a:rPr>
              <a:t>cuDNN implicit GEMM</a:t>
            </a:r>
            <a:endParaRPr lang="en-US" sz="1550" dirty="0"/>
          </a:p>
        </p:txBody>
      </p:sp>
      <p:sp>
        <p:nvSpPr>
          <p:cNvPr id="29" name="Text 27"/>
          <p:cNvSpPr/>
          <p:nvPr/>
        </p:nvSpPr>
        <p:spPr>
          <a:xfrm>
            <a:off x="868680" y="4480560"/>
            <a:ext cx="4160520" cy="1371600"/>
          </a:xfrm>
          <a:prstGeom prst="rect">
            <a:avLst/>
          </a:prstGeom>
          <a:noFill/>
          <a:ln/>
        </p:spPr>
        <p:txBody>
          <a:bodyPr wrap="square" lIns="381" tIns="381" rIns="381" bIns="381" rtlCol="0" anchor="ctr">
            <a:noAutofit/>
          </a:bodyPr>
          <a:lstStyle/>
          <a:p>
            <a:pPr marL="177800" indent="-177800">
              <a:buSzPct val="100000"/>
              <a:buChar char="•"/>
            </a:pPr>
            <a:r>
              <a:rPr lang="en-US" sz="1380">
                <a:solidFill>
                  <a:srgbClr val="C7D0D9"/>
                </a:solidFill>
              </a:rPr>
              <a:t>43,264 image patches × 9 values per patch</a:t>
            </a:r>
          </a:p>
          <a:p>
            <a:pPr marL="177800" indent="-177800">
              <a:buSzPct val="100000"/>
              <a:buChar char="•"/>
            </a:pPr>
            <a:r>
              <a:rPr lang="en-US" sz="1380">
                <a:solidFill>
                  <a:srgbClr val="C7D0D9"/>
                </a:solidFill>
              </a:rPr>
              <a:t>9×4 filter matrix → 43,264×4 output matrix</a:t>
            </a:r>
          </a:p>
          <a:p>
            <a:pPr marL="177800" indent="-177800">
              <a:buSzPct val="100000"/>
              <a:buChar char="•"/>
            </a:pPr>
            <a:r>
              <a:rPr lang="en-US" sz="1380">
                <a:solidFill>
                  <a:srgbClr val="C7D0D9"/>
                </a:solidFill>
              </a:rPr>
              <a:t>cuDNN computes implicit GEMM on CUDA</a:t>
            </a:r>
            <a:endParaRPr lang="en-US" sz="1380" dirty="0"/>
          </a:p>
        </p:txBody>
      </p:sp>
      <p:sp>
        <p:nvSpPr>
          <p:cNvPr id="30" name="Text 28"/>
          <p:cNvSpPr/>
          <p:nvPr/>
        </p:nvSpPr>
        <p:spPr>
          <a:xfrm>
            <a:off x="868680" y="5638800"/>
            <a:ext cx="4297680" cy="508000"/>
          </a:xfrm>
          <a:prstGeom prst="rect">
            <a:avLst/>
          </a:prstGeom>
          <a:noFill/>
          <a:ln/>
        </p:spPr>
        <p:txBody>
          <a:bodyPr wrap="square" lIns="0" tIns="0" rIns="0" bIns="0" rtlCol="0" anchor="ctr">
            <a:noAutofit/>
          </a:bodyPr>
          <a:lstStyle/>
          <a:p>
            <a:pPr marL="0" indent="0">
              <a:buNone/>
            </a:pPr>
            <a:r>
              <a:rPr lang="en-US" sz="1250" b="1">
                <a:solidFill>
                  <a:srgbClr val="A3E635"/>
                </a:solidFill>
              </a:rPr>
              <a:t>Library kernels compute gradients; DataParallel sums replica contributions.</a:t>
            </a:r>
            <a:endParaRPr lang="en-US" sz="1250" dirty="0"/>
          </a:p>
        </p:txBody>
      </p:sp>
      <p:sp>
        <p:nvSpPr>
          <p:cNvPr id="31" name="Shape 29"/>
          <p:cNvSpPr/>
          <p:nvPr/>
        </p:nvSpPr>
        <p:spPr>
          <a:xfrm>
            <a:off x="5897880" y="3346704"/>
            <a:ext cx="5678424" cy="2871216"/>
          </a:xfrm>
          <a:prstGeom prst="roundRect">
            <a:avLst>
              <a:gd name="adj" fmla="val 2548"/>
            </a:avLst>
          </a:prstGeom>
          <a:solidFill>
            <a:srgbClr val="121923"/>
          </a:solidFill>
          <a:ln w="12700">
            <a:solidFill>
              <a:srgbClr val="25303D"/>
            </a:solidFill>
            <a:prstDash val="solid"/>
          </a:ln>
        </p:spPr>
      </p:sp>
      <p:sp>
        <p:nvSpPr>
          <p:cNvPr id="32" name="Shape 30"/>
          <p:cNvSpPr/>
          <p:nvPr/>
        </p:nvSpPr>
        <p:spPr>
          <a:xfrm>
            <a:off x="6172200" y="3621024"/>
            <a:ext cx="141732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33" name="Text 31"/>
          <p:cNvSpPr/>
          <p:nvPr/>
        </p:nvSpPr>
        <p:spPr>
          <a:xfrm>
            <a:off x="6172200" y="3698748"/>
            <a:ext cx="14173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PROGRAM DESIGN</a:t>
            </a:r>
            <a:endParaRPr lang="en-US" sz="850" dirty="0"/>
          </a:p>
        </p:txBody>
      </p:sp>
      <p:sp>
        <p:nvSpPr>
          <p:cNvPr id="34" name="Shape 32"/>
          <p:cNvSpPr/>
          <p:nvPr/>
        </p:nvSpPr>
        <p:spPr>
          <a:xfrm>
            <a:off x="6236208" y="4050792"/>
            <a:ext cx="4754880" cy="493776"/>
          </a:xfrm>
          <a:prstGeom prst="roundRect">
            <a:avLst>
              <a:gd name="adj" fmla="val 9259"/>
            </a:avLst>
          </a:prstGeom>
          <a:solidFill>
            <a:srgbClr val="41D9FF">
              <a:alpha val="23000"/>
            </a:srgbClr>
          </a:solidFill>
          <a:ln w="12700">
            <a:solidFill>
              <a:srgbClr val="41D9FF">
                <a:alpha val="75000"/>
              </a:srgbClr>
            </a:solidFill>
            <a:prstDash val="solid"/>
          </a:ln>
        </p:spPr>
      </p:sp>
      <p:sp>
        <p:nvSpPr>
          <p:cNvPr id="35" name="Text 33"/>
          <p:cNvSpPr/>
          <p:nvPr/>
        </p:nvSpPr>
        <p:spPr>
          <a:xfrm>
            <a:off x="6419088" y="4178808"/>
            <a:ext cx="777240" cy="164592"/>
          </a:xfrm>
          <a:prstGeom prst="rect">
            <a:avLst/>
          </a:prstGeom>
          <a:noFill/>
          <a:ln/>
        </p:spPr>
        <p:txBody>
          <a:bodyPr wrap="square" lIns="0" tIns="0" rIns="0" bIns="0" rtlCol="0" anchor="ctr">
            <a:noAutofit/>
          </a:bodyPr>
          <a:lstStyle/>
          <a:p>
            <a:pPr marL="0" indent="0">
              <a:buNone/>
            </a:pPr>
            <a:r>
              <a:rPr lang="en-US" sz="1200" b="1" dirty="0">
                <a:solidFill>
                  <a:srgbClr val="41D9FF"/>
                </a:solidFill>
              </a:rPr>
              <a:t>PyTorch</a:t>
            </a:r>
            <a:endParaRPr lang="en-US" sz="1200" dirty="0"/>
          </a:p>
        </p:txBody>
      </p:sp>
      <p:sp>
        <p:nvSpPr>
          <p:cNvPr id="36" name="Text 34"/>
          <p:cNvSpPr/>
          <p:nvPr/>
        </p:nvSpPr>
        <p:spPr>
          <a:xfrm>
            <a:off x="7269480" y="4178808"/>
            <a:ext cx="2194560" cy="164592"/>
          </a:xfrm>
          <a:prstGeom prst="rect">
            <a:avLst/>
          </a:prstGeom>
          <a:noFill/>
          <a:ln/>
        </p:spPr>
        <p:txBody>
          <a:bodyPr wrap="square" lIns="0" tIns="0" rIns="0" bIns="0" rtlCol="0" anchor="ctr">
            <a:noAutofit/>
          </a:bodyPr>
          <a:lstStyle/>
          <a:p>
            <a:pPr marL="0" indent="0">
              <a:buNone/>
            </a:pPr>
            <a:r>
              <a:rPr lang="en-US" sz="1070">
                <a:solidFill>
                  <a:srgbClr val="F4F7FA"/>
                </a:solidFill>
              </a:rPr>
              <a:t>Layers, loss, autograd, SGD</a:t>
            </a:r>
            <a:endParaRPr lang="en-US" sz="1070" dirty="0"/>
          </a:p>
        </p:txBody>
      </p:sp>
      <p:sp>
        <p:nvSpPr>
          <p:cNvPr id="37" name="Text 35"/>
          <p:cNvSpPr/>
          <p:nvPr/>
        </p:nvSpPr>
        <p:spPr>
          <a:xfrm>
            <a:off x="9528048" y="4178808"/>
            <a:ext cx="1234440" cy="164592"/>
          </a:xfrm>
          <a:prstGeom prst="rect">
            <a:avLst/>
          </a:prstGeom>
          <a:noFill/>
          <a:ln/>
        </p:spPr>
        <p:txBody>
          <a:bodyPr wrap="square" lIns="0" tIns="0" rIns="0" bIns="0" rtlCol="0" anchor="ctr">
            <a:noAutofit/>
          </a:bodyPr>
          <a:lstStyle/>
          <a:p>
            <a:pPr marL="0" indent="0" algn="r">
              <a:buNone/>
            </a:pPr>
            <a:r>
              <a:rPr lang="en-US" sz="970">
                <a:solidFill>
                  <a:srgbClr val="7E8A97"/>
                </a:solidFill>
              </a:rPr>
              <a:t>shared wrapper</a:t>
            </a:r>
            <a:endParaRPr lang="en-US" sz="970" dirty="0"/>
          </a:p>
        </p:txBody>
      </p:sp>
      <p:sp>
        <p:nvSpPr>
          <p:cNvPr id="38" name="Shape 36"/>
          <p:cNvSpPr/>
          <p:nvPr/>
        </p:nvSpPr>
        <p:spPr>
          <a:xfrm>
            <a:off x="6236208" y="4690872"/>
            <a:ext cx="4754880" cy="493776"/>
          </a:xfrm>
          <a:prstGeom prst="roundRect">
            <a:avLst>
              <a:gd name="adj" fmla="val 9259"/>
            </a:avLst>
          </a:prstGeom>
          <a:solidFill>
            <a:srgbClr val="FFB454">
              <a:alpha val="23000"/>
            </a:srgbClr>
          </a:solidFill>
          <a:ln w="12700">
            <a:solidFill>
              <a:srgbClr val="FFB454">
                <a:alpha val="75000"/>
              </a:srgbClr>
            </a:solidFill>
            <a:prstDash val="solid"/>
          </a:ln>
        </p:spPr>
      </p:sp>
      <p:sp>
        <p:nvSpPr>
          <p:cNvPr id="39" name="Text 37"/>
          <p:cNvSpPr/>
          <p:nvPr/>
        </p:nvSpPr>
        <p:spPr>
          <a:xfrm>
            <a:off x="6419088" y="4818888"/>
            <a:ext cx="777240" cy="164592"/>
          </a:xfrm>
          <a:prstGeom prst="rect">
            <a:avLst/>
          </a:prstGeom>
          <a:noFill/>
          <a:ln/>
        </p:spPr>
        <p:txBody>
          <a:bodyPr wrap="square" lIns="0" tIns="0" rIns="0" bIns="0" rtlCol="0" anchor="ctr">
            <a:noAutofit/>
          </a:bodyPr>
          <a:lstStyle/>
          <a:p>
            <a:pPr marL="0" indent="0">
              <a:buNone/>
            </a:pPr>
            <a:r>
              <a:rPr lang="en-US" sz="1200" b="1" dirty="0">
                <a:solidFill>
                  <a:srgbClr val="FFB454"/>
                </a:solidFill>
              </a:rPr>
              <a:t>cuDNN</a:t>
            </a:r>
            <a:endParaRPr lang="en-US" sz="1200" dirty="0"/>
          </a:p>
        </p:txBody>
      </p:sp>
      <p:sp>
        <p:nvSpPr>
          <p:cNvPr id="40" name="Text 38"/>
          <p:cNvSpPr/>
          <p:nvPr/>
        </p:nvSpPr>
        <p:spPr>
          <a:xfrm>
            <a:off x="7269480" y="4818888"/>
            <a:ext cx="2194560" cy="164592"/>
          </a:xfrm>
          <a:prstGeom prst="rect">
            <a:avLst/>
          </a:prstGeom>
          <a:noFill/>
          <a:ln/>
        </p:spPr>
        <p:txBody>
          <a:bodyPr wrap="square" lIns="0" tIns="0" rIns="0" bIns="0" rtlCol="0" anchor="ctr">
            <a:noAutofit/>
          </a:bodyPr>
          <a:lstStyle/>
          <a:p>
            <a:pPr marL="0" indent="0">
              <a:buNone/>
            </a:pPr>
            <a:r>
              <a:rPr lang="en-US" sz="1070">
                <a:solidFill>
                  <a:srgbClr val="F4F7FA"/>
                </a:solidFill>
              </a:rPr>
              <a:t>Direct library convolution</a:t>
            </a:r>
            <a:endParaRPr lang="en-US" sz="1070" dirty="0"/>
          </a:p>
        </p:txBody>
      </p:sp>
      <p:sp>
        <p:nvSpPr>
          <p:cNvPr id="41" name="Text 39"/>
          <p:cNvSpPr/>
          <p:nvPr/>
        </p:nvSpPr>
        <p:spPr>
          <a:xfrm>
            <a:off x="9528048" y="4818888"/>
            <a:ext cx="1234440" cy="164592"/>
          </a:xfrm>
          <a:prstGeom prst="rect">
            <a:avLst/>
          </a:prstGeom>
          <a:noFill/>
          <a:ln/>
        </p:spPr>
        <p:txBody>
          <a:bodyPr wrap="square" lIns="0" tIns="0" rIns="0" bIns="0" rtlCol="0" anchor="ctr">
            <a:noAutofit/>
          </a:bodyPr>
          <a:lstStyle/>
          <a:p>
            <a:pPr marL="0" indent="0" algn="r">
              <a:buNone/>
            </a:pPr>
            <a:r>
              <a:rPr lang="en-US" sz="970">
                <a:solidFill>
                  <a:srgbClr val="7E8A97"/>
                </a:solidFill>
              </a:rPr>
              <a:t>fixed algorithms</a:t>
            </a:r>
            <a:endParaRPr lang="en-US" sz="970" dirty="0"/>
          </a:p>
        </p:txBody>
      </p:sp>
      <p:sp>
        <p:nvSpPr>
          <p:cNvPr id="42" name="Shape 40"/>
          <p:cNvSpPr/>
          <p:nvPr/>
        </p:nvSpPr>
        <p:spPr>
          <a:xfrm>
            <a:off x="6236208" y="5330952"/>
            <a:ext cx="4754880" cy="493776"/>
          </a:xfrm>
          <a:prstGeom prst="roundRect">
            <a:avLst>
              <a:gd name="adj" fmla="val 9259"/>
            </a:avLst>
          </a:prstGeom>
          <a:solidFill>
            <a:srgbClr val="76B900">
              <a:alpha val="23000"/>
            </a:srgbClr>
          </a:solidFill>
          <a:ln w="12700">
            <a:solidFill>
              <a:srgbClr val="76B900">
                <a:alpha val="75000"/>
              </a:srgbClr>
            </a:solidFill>
            <a:prstDash val="solid"/>
          </a:ln>
        </p:spPr>
      </p:sp>
      <p:sp>
        <p:nvSpPr>
          <p:cNvPr id="43" name="Text 41"/>
          <p:cNvSpPr/>
          <p:nvPr/>
        </p:nvSpPr>
        <p:spPr>
          <a:xfrm>
            <a:off x="6419088" y="5458968"/>
            <a:ext cx="777240" cy="164592"/>
          </a:xfrm>
          <a:prstGeom prst="rect">
            <a:avLst/>
          </a:prstGeom>
          <a:noFill/>
          <a:ln/>
        </p:spPr>
        <p:txBody>
          <a:bodyPr wrap="square" lIns="0" tIns="0" rIns="0" bIns="0" rtlCol="0" anchor="ctr">
            <a:noAutofit/>
          </a:bodyPr>
          <a:lstStyle/>
          <a:p>
            <a:pPr marL="0" indent="0">
              <a:buNone/>
            </a:pPr>
            <a:r>
              <a:rPr lang="en-US" sz="1200" b="1" dirty="0">
                <a:solidFill>
                  <a:srgbClr val="76B900"/>
                </a:solidFill>
              </a:rPr>
              <a:t>CUDA</a:t>
            </a:r>
            <a:endParaRPr lang="en-US" sz="1200" dirty="0"/>
          </a:p>
        </p:txBody>
      </p:sp>
      <p:sp>
        <p:nvSpPr>
          <p:cNvPr id="44" name="Text 42"/>
          <p:cNvSpPr/>
          <p:nvPr/>
        </p:nvSpPr>
        <p:spPr>
          <a:xfrm>
            <a:off x="7269480" y="5458968"/>
            <a:ext cx="2194560" cy="164592"/>
          </a:xfrm>
          <a:prstGeom prst="rect">
            <a:avLst/>
          </a:prstGeom>
          <a:noFill/>
          <a:ln/>
        </p:spPr>
        <p:txBody>
          <a:bodyPr wrap="square" lIns="0" tIns="0" rIns="0" bIns="0" rtlCol="0" anchor="ctr">
            <a:noAutofit/>
          </a:bodyPr>
          <a:lstStyle/>
          <a:p>
            <a:pPr marL="0" indent="0">
              <a:buNone/>
            </a:pPr>
            <a:r>
              <a:rPr lang="en-US" sz="1070">
                <a:solidFill>
                  <a:srgbClr val="F4F7FA"/>
                </a:solidFill>
              </a:rPr>
              <a:t>Memory and kernel launches</a:t>
            </a:r>
            <a:endParaRPr lang="en-US" sz="1070" dirty="0"/>
          </a:p>
        </p:txBody>
      </p:sp>
      <p:sp>
        <p:nvSpPr>
          <p:cNvPr id="45" name="Text 43"/>
          <p:cNvSpPr/>
          <p:nvPr/>
        </p:nvSpPr>
        <p:spPr>
          <a:xfrm>
            <a:off x="9528048" y="5458968"/>
            <a:ext cx="1234440" cy="164592"/>
          </a:xfrm>
          <a:prstGeom prst="rect">
            <a:avLst/>
          </a:prstGeom>
          <a:noFill/>
          <a:ln/>
        </p:spPr>
        <p:txBody>
          <a:bodyPr wrap="square" lIns="0" tIns="0" rIns="0" bIns="0" rtlCol="0" anchor="ctr">
            <a:noAutofit/>
          </a:bodyPr>
          <a:lstStyle/>
          <a:p>
            <a:pPr marL="0" indent="0" algn="r">
              <a:buNone/>
            </a:pPr>
            <a:r>
              <a:rPr lang="en-US" sz="970">
                <a:solidFill>
                  <a:srgbClr val="7E8A97"/>
                </a:solidFill>
              </a:rPr>
              <a:t>execution layer</a:t>
            </a:r>
            <a:endParaRPr lang="en-US" sz="970" dirty="0"/>
          </a:p>
        </p:txBody>
      </p:sp>
      <p:sp>
        <p:nvSpPr>
          <p:cNvPr id="46" name="Text 44"/>
          <p:cNvSpPr/>
          <p:nvPr/>
        </p:nvSpPr>
        <p:spPr>
          <a:xfrm>
            <a:off x="6236208" y="5918200"/>
            <a:ext cx="4800600" cy="342900"/>
          </a:xfrm>
          <a:prstGeom prst="rect">
            <a:avLst/>
          </a:prstGeom>
          <a:noFill/>
          <a:ln/>
        </p:spPr>
        <p:txBody>
          <a:bodyPr wrap="square" lIns="0" tIns="0" rIns="0" bIns="0" rtlCol="0" anchor="ctr">
            <a:noAutofit/>
          </a:bodyPr>
          <a:lstStyle/>
          <a:p>
            <a:pPr marL="0" indent="0">
              <a:buNone/>
            </a:pPr>
            <a:r>
              <a:rPr lang="en-US" sz="1070">
                <a:solidFill>
                  <a:srgbClr val="C7D0D9"/>
                </a:solidFill>
              </a:rPr>
              <a:t>All paths use the same CNN. PyTorch GPU also invokes cuDNN.</a:t>
            </a:r>
            <a:endParaRPr lang="en-US" sz="1070" dirty="0"/>
          </a:p>
        </p:txBody>
      </p:sp>
      <p:sp>
        <p:nvSpPr>
          <p:cNvPr id="4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How DataParallel works across two GPUs</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Two replicas overlap their computation, then join for one global loss, gradient reduction and optimizer update.</a:t>
            </a:r>
            <a:endParaRPr lang="en-US" sz="1150" dirty="0"/>
          </a:p>
        </p:txBody>
      </p:sp>
      <p:sp>
        <p:nvSpPr>
          <p:cNvPr id="6" name="Shape 4"/>
          <p:cNvSpPr/>
          <p:nvPr/>
        </p:nvSpPr>
        <p:spPr>
          <a:xfrm>
            <a:off x="603504" y="1225296"/>
            <a:ext cx="10972800" cy="5010912"/>
          </a:xfrm>
          <a:prstGeom prst="roundRect">
            <a:avLst>
              <a:gd name="adj" fmla="val 1460"/>
            </a:avLst>
          </a:prstGeom>
          <a:solidFill>
            <a:srgbClr val="121923"/>
          </a:solidFill>
          <a:ln w="12700">
            <a:solidFill>
              <a:srgbClr val="25303D"/>
            </a:solidFill>
            <a:prstDash val="solid"/>
          </a:ln>
        </p:spPr>
      </p:sp>
      <p:sp>
        <p:nvSpPr>
          <p:cNvPr id="7" name="Shape 5"/>
          <p:cNvSpPr/>
          <p:nvPr/>
        </p:nvSpPr>
        <p:spPr>
          <a:xfrm>
            <a:off x="877824" y="1490472"/>
            <a:ext cx="187452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8" name="Text 6"/>
          <p:cNvSpPr/>
          <p:nvPr/>
        </p:nvSpPr>
        <p:spPr>
          <a:xfrm>
            <a:off x="877824" y="1568196"/>
            <a:ext cx="18745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FORWARD + BACKWARD FLOW</a:t>
            </a:r>
            <a:endParaRPr lang="en-US" sz="850" dirty="0"/>
          </a:p>
        </p:txBody>
      </p:sp>
      <p:sp>
        <p:nvSpPr>
          <p:cNvPr id="9" name="Shape 7"/>
          <p:cNvSpPr/>
          <p:nvPr/>
        </p:nvSpPr>
        <p:spPr>
          <a:xfrm>
            <a:off x="950976" y="2359152"/>
            <a:ext cx="1325880" cy="960120"/>
          </a:xfrm>
          <a:prstGeom prst="roundRect">
            <a:avLst>
              <a:gd name="adj" fmla="val 5714"/>
            </a:avLst>
          </a:prstGeom>
          <a:solidFill>
            <a:srgbClr val="41D9FF">
              <a:alpha val="70000"/>
            </a:srgbClr>
          </a:solidFill>
          <a:ln w="12700">
            <a:solidFill>
              <a:srgbClr val="41D9FF"/>
            </a:solidFill>
            <a:prstDash val="solid"/>
          </a:ln>
        </p:spPr>
      </p:sp>
      <p:sp>
        <p:nvSpPr>
          <p:cNvPr id="10" name="Text 8"/>
          <p:cNvSpPr/>
          <p:nvPr/>
        </p:nvSpPr>
        <p:spPr>
          <a:xfrm>
            <a:off x="950976" y="2587752"/>
            <a:ext cx="1325880" cy="457200"/>
          </a:xfrm>
          <a:prstGeom prst="rect">
            <a:avLst/>
          </a:prstGeom>
          <a:noFill/>
          <a:ln/>
        </p:spPr>
        <p:txBody>
          <a:bodyPr wrap="square" lIns="0" tIns="0" rIns="0" bIns="0" rtlCol="0" anchor="ctr">
            <a:noAutofit/>
          </a:bodyPr>
          <a:lstStyle/>
          <a:p>
            <a:pPr marL="0" indent="0" algn="ctr">
              <a:buNone/>
            </a:pPr>
            <a:r>
              <a:rPr lang="en-US" sz="1500" b="1">
                <a:solidFill>
                  <a:srgbClr val="F4F7FA"/>
                </a:solidFill>
              </a:rPr>
              <a:t>BATCH</a:t>
            </a:r>
          </a:p>
          <a:p>
            <a:pPr marL="0" indent="0" algn="ctr">
              <a:buNone/>
            </a:pPr>
            <a:r>
              <a:rPr lang="en-US" sz="1500" b="1">
                <a:solidFill>
                  <a:srgbClr val="F4F7FA"/>
                </a:solidFill>
              </a:rPr>
              <a:t>64 images</a:t>
            </a:r>
            <a:endParaRPr lang="en-US" sz="1500" dirty="0"/>
          </a:p>
        </p:txBody>
      </p:sp>
      <p:sp>
        <p:nvSpPr>
          <p:cNvPr id="11" name="Shape 9"/>
          <p:cNvSpPr/>
          <p:nvPr/>
        </p:nvSpPr>
        <p:spPr>
          <a:xfrm>
            <a:off x="2331720" y="2834640"/>
            <a:ext cx="640080" cy="0"/>
          </a:xfrm>
          <a:prstGeom prst="line">
            <a:avLst/>
          </a:prstGeom>
          <a:noFill/>
          <a:ln w="25400">
            <a:solidFill>
              <a:srgbClr val="7E8A97"/>
            </a:solidFill>
            <a:prstDash val="solid"/>
            <a:headEnd type="none"/>
            <a:tailEnd type="triangle"/>
          </a:ln>
        </p:spPr>
      </p:sp>
      <p:sp>
        <p:nvSpPr>
          <p:cNvPr id="12" name="Text 10"/>
          <p:cNvSpPr/>
          <p:nvPr/>
        </p:nvSpPr>
        <p:spPr>
          <a:xfrm>
            <a:off x="2423160" y="2468880"/>
            <a:ext cx="548640" cy="201168"/>
          </a:xfrm>
          <a:prstGeom prst="rect">
            <a:avLst/>
          </a:prstGeom>
          <a:noFill/>
          <a:ln/>
        </p:spPr>
        <p:txBody>
          <a:bodyPr wrap="square" lIns="0" tIns="0" rIns="0" bIns="0" rtlCol="0" anchor="ctr">
            <a:noAutofit/>
          </a:bodyPr>
          <a:lstStyle/>
          <a:p>
            <a:pPr marL="0" indent="0" algn="ctr">
              <a:buNone/>
            </a:pPr>
            <a:r>
              <a:rPr lang="en-US" sz="1000" dirty="0">
                <a:solidFill>
                  <a:srgbClr val="7E8A97"/>
                </a:solidFill>
              </a:rPr>
              <a:t>scatter</a:t>
            </a:r>
            <a:endParaRPr lang="en-US" sz="1000" dirty="0"/>
          </a:p>
        </p:txBody>
      </p:sp>
      <p:sp>
        <p:nvSpPr>
          <p:cNvPr id="13" name="Shape 11"/>
          <p:cNvSpPr/>
          <p:nvPr/>
        </p:nvSpPr>
        <p:spPr>
          <a:xfrm>
            <a:off x="3063240" y="1965960"/>
            <a:ext cx="1965960" cy="1417320"/>
          </a:xfrm>
          <a:prstGeom prst="roundRect">
            <a:avLst>
              <a:gd name="adj" fmla="val 4516"/>
            </a:avLst>
          </a:prstGeom>
          <a:solidFill>
            <a:srgbClr val="76B900">
              <a:alpha val="25000"/>
            </a:srgbClr>
          </a:solidFill>
          <a:ln w="16510">
            <a:solidFill>
              <a:srgbClr val="76B900"/>
            </a:solidFill>
            <a:prstDash val="solid"/>
          </a:ln>
        </p:spPr>
      </p:sp>
      <p:sp>
        <p:nvSpPr>
          <p:cNvPr id="14" name="Text 12"/>
          <p:cNvSpPr/>
          <p:nvPr/>
        </p:nvSpPr>
        <p:spPr>
          <a:xfrm>
            <a:off x="3246120" y="2130552"/>
            <a:ext cx="731520" cy="201168"/>
          </a:xfrm>
          <a:prstGeom prst="rect">
            <a:avLst/>
          </a:prstGeom>
          <a:noFill/>
          <a:ln/>
        </p:spPr>
        <p:txBody>
          <a:bodyPr wrap="square" lIns="0" tIns="0" rIns="0" bIns="0" rtlCol="0" anchor="ctr">
            <a:noAutofit/>
          </a:bodyPr>
          <a:lstStyle/>
          <a:p>
            <a:pPr marL="0" indent="0">
              <a:buNone/>
            </a:pPr>
            <a:r>
              <a:rPr lang="en-US" sz="1300" b="1" dirty="0">
                <a:solidFill>
                  <a:srgbClr val="A3E635"/>
                </a:solidFill>
              </a:rPr>
              <a:t>GPU 0</a:t>
            </a:r>
            <a:endParaRPr lang="en-US" sz="1300" dirty="0"/>
          </a:p>
        </p:txBody>
      </p:sp>
      <p:sp>
        <p:nvSpPr>
          <p:cNvPr id="15" name="Text 13"/>
          <p:cNvSpPr/>
          <p:nvPr/>
        </p:nvSpPr>
        <p:spPr>
          <a:xfrm>
            <a:off x="3246120" y="2468880"/>
            <a:ext cx="1325880" cy="201168"/>
          </a:xfrm>
          <a:prstGeom prst="rect">
            <a:avLst/>
          </a:prstGeom>
          <a:noFill/>
          <a:ln/>
        </p:spPr>
        <p:txBody>
          <a:bodyPr wrap="square" lIns="0" tIns="0" rIns="0" bIns="0" rtlCol="0" anchor="ctr">
            <a:noAutofit/>
          </a:bodyPr>
          <a:lstStyle/>
          <a:p>
            <a:pPr marL="0" indent="0">
              <a:buNone/>
            </a:pPr>
            <a:r>
              <a:rPr lang="en-US" sz="1140">
                <a:solidFill>
                  <a:srgbClr val="F4F7FA"/>
                </a:solidFill>
              </a:rPr>
              <a:t>same weights</a:t>
            </a:r>
            <a:endParaRPr lang="en-US" sz="1140" dirty="0"/>
          </a:p>
        </p:txBody>
      </p:sp>
      <p:sp>
        <p:nvSpPr>
          <p:cNvPr id="16" name="Text 14"/>
          <p:cNvSpPr/>
          <p:nvPr/>
        </p:nvSpPr>
        <p:spPr>
          <a:xfrm>
            <a:off x="3246120" y="2825496"/>
            <a:ext cx="1325880" cy="201168"/>
          </a:xfrm>
          <a:prstGeom prst="rect">
            <a:avLst/>
          </a:prstGeom>
          <a:noFill/>
          <a:ln/>
        </p:spPr>
        <p:txBody>
          <a:bodyPr wrap="square" lIns="0" tIns="0" rIns="0" bIns="0" rtlCol="0" anchor="ctr">
            <a:noAutofit/>
          </a:bodyPr>
          <a:lstStyle/>
          <a:p>
            <a:pPr marL="0" indent="0">
              <a:buNone/>
            </a:pPr>
            <a:r>
              <a:rPr lang="en-US" sz="1050">
                <a:solidFill>
                  <a:srgbClr val="7E8A97"/>
                </a:solidFill>
              </a:rPr>
              <a:t>32 images per step</a:t>
            </a:r>
            <a:endParaRPr lang="en-US" sz="1050" dirty="0"/>
          </a:p>
        </p:txBody>
      </p:sp>
      <p:sp>
        <p:nvSpPr>
          <p:cNvPr id="17" name="Shape 15"/>
          <p:cNvSpPr/>
          <p:nvPr/>
        </p:nvSpPr>
        <p:spPr>
          <a:xfrm flipV="1">
            <a:off x="2267712" y="2679192"/>
            <a:ext cx="768096" cy="155448"/>
          </a:xfrm>
          <a:prstGeom prst="line">
            <a:avLst/>
          </a:prstGeom>
          <a:noFill/>
          <a:ln w="19050">
            <a:solidFill>
              <a:srgbClr val="76B900"/>
            </a:solidFill>
            <a:prstDash val="solid"/>
            <a:headEnd type="none"/>
            <a:tailEnd type="triangle"/>
          </a:ln>
        </p:spPr>
      </p:sp>
      <p:sp>
        <p:nvSpPr>
          <p:cNvPr id="18" name="Shape 16"/>
          <p:cNvSpPr/>
          <p:nvPr/>
        </p:nvSpPr>
        <p:spPr>
          <a:xfrm>
            <a:off x="3063240" y="3977640"/>
            <a:ext cx="1965960" cy="1417320"/>
          </a:xfrm>
          <a:prstGeom prst="roundRect">
            <a:avLst>
              <a:gd name="adj" fmla="val 4516"/>
            </a:avLst>
          </a:prstGeom>
          <a:solidFill>
            <a:srgbClr val="76B900">
              <a:alpha val="25000"/>
            </a:srgbClr>
          </a:solidFill>
          <a:ln w="16510">
            <a:solidFill>
              <a:srgbClr val="76B900"/>
            </a:solidFill>
            <a:prstDash val="solid"/>
          </a:ln>
        </p:spPr>
      </p:sp>
      <p:sp>
        <p:nvSpPr>
          <p:cNvPr id="19" name="Text 17"/>
          <p:cNvSpPr/>
          <p:nvPr/>
        </p:nvSpPr>
        <p:spPr>
          <a:xfrm>
            <a:off x="3246120" y="4142232"/>
            <a:ext cx="731520" cy="201168"/>
          </a:xfrm>
          <a:prstGeom prst="rect">
            <a:avLst/>
          </a:prstGeom>
          <a:noFill/>
          <a:ln/>
        </p:spPr>
        <p:txBody>
          <a:bodyPr wrap="square" lIns="0" tIns="0" rIns="0" bIns="0" rtlCol="0" anchor="ctr">
            <a:noAutofit/>
          </a:bodyPr>
          <a:lstStyle/>
          <a:p>
            <a:pPr marL="0" indent="0">
              <a:buNone/>
            </a:pPr>
            <a:r>
              <a:rPr lang="en-US" sz="1300" b="1" dirty="0">
                <a:solidFill>
                  <a:srgbClr val="A3E635"/>
                </a:solidFill>
              </a:rPr>
              <a:t>GPU 1</a:t>
            </a:r>
            <a:endParaRPr lang="en-US" sz="1300" dirty="0"/>
          </a:p>
        </p:txBody>
      </p:sp>
      <p:sp>
        <p:nvSpPr>
          <p:cNvPr id="20" name="Text 18"/>
          <p:cNvSpPr/>
          <p:nvPr/>
        </p:nvSpPr>
        <p:spPr>
          <a:xfrm>
            <a:off x="3246120" y="4480560"/>
            <a:ext cx="1325880" cy="201168"/>
          </a:xfrm>
          <a:prstGeom prst="rect">
            <a:avLst/>
          </a:prstGeom>
          <a:noFill/>
          <a:ln/>
        </p:spPr>
        <p:txBody>
          <a:bodyPr wrap="square" lIns="0" tIns="0" rIns="0" bIns="0" rtlCol="0" anchor="ctr">
            <a:noAutofit/>
          </a:bodyPr>
          <a:lstStyle/>
          <a:p>
            <a:pPr marL="0" indent="0">
              <a:buNone/>
            </a:pPr>
            <a:r>
              <a:rPr lang="en-US" sz="1140">
                <a:solidFill>
                  <a:srgbClr val="F4F7FA"/>
                </a:solidFill>
              </a:rPr>
              <a:t>same weights</a:t>
            </a:r>
            <a:endParaRPr lang="en-US" sz="1140" dirty="0"/>
          </a:p>
        </p:txBody>
      </p:sp>
      <p:sp>
        <p:nvSpPr>
          <p:cNvPr id="21" name="Text 19"/>
          <p:cNvSpPr/>
          <p:nvPr/>
        </p:nvSpPr>
        <p:spPr>
          <a:xfrm>
            <a:off x="3246120" y="4837176"/>
            <a:ext cx="1325880" cy="201168"/>
          </a:xfrm>
          <a:prstGeom prst="rect">
            <a:avLst/>
          </a:prstGeom>
          <a:noFill/>
          <a:ln/>
        </p:spPr>
        <p:txBody>
          <a:bodyPr wrap="square" lIns="0" tIns="0" rIns="0" bIns="0" rtlCol="0" anchor="ctr">
            <a:noAutofit/>
          </a:bodyPr>
          <a:lstStyle/>
          <a:p>
            <a:pPr marL="0" indent="0">
              <a:buNone/>
            </a:pPr>
            <a:r>
              <a:rPr lang="en-US" sz="1050">
                <a:solidFill>
                  <a:srgbClr val="7E8A97"/>
                </a:solidFill>
              </a:rPr>
              <a:t>32 images per step</a:t>
            </a:r>
            <a:endParaRPr lang="en-US" sz="1050" dirty="0"/>
          </a:p>
        </p:txBody>
      </p:sp>
      <p:sp>
        <p:nvSpPr>
          <p:cNvPr id="22" name="Shape 20"/>
          <p:cNvSpPr/>
          <p:nvPr/>
        </p:nvSpPr>
        <p:spPr>
          <a:xfrm>
            <a:off x="2267712" y="2834640"/>
            <a:ext cx="768096" cy="1856232"/>
          </a:xfrm>
          <a:prstGeom prst="line">
            <a:avLst/>
          </a:prstGeom>
          <a:noFill/>
          <a:ln w="19050">
            <a:solidFill>
              <a:srgbClr val="76B900"/>
            </a:solidFill>
            <a:prstDash val="solid"/>
            <a:headEnd type="none"/>
            <a:tailEnd type="triangle"/>
          </a:ln>
        </p:spPr>
      </p:sp>
      <p:sp>
        <p:nvSpPr>
          <p:cNvPr id="23" name="Shape 21"/>
          <p:cNvSpPr/>
          <p:nvPr/>
        </p:nvSpPr>
        <p:spPr>
          <a:xfrm>
            <a:off x="5047488" y="2697480"/>
            <a:ext cx="822960" cy="594360"/>
          </a:xfrm>
          <a:prstGeom prst="line">
            <a:avLst/>
          </a:prstGeom>
          <a:noFill/>
          <a:ln w="22860">
            <a:solidFill>
              <a:srgbClr val="FFB454"/>
            </a:solidFill>
            <a:prstDash val="solid"/>
            <a:headEnd type="none"/>
            <a:tailEnd type="triangle"/>
          </a:ln>
        </p:spPr>
      </p:sp>
      <p:sp>
        <p:nvSpPr>
          <p:cNvPr id="24" name="Shape 22"/>
          <p:cNvSpPr/>
          <p:nvPr/>
        </p:nvSpPr>
        <p:spPr>
          <a:xfrm flipV="1">
            <a:off x="5047488" y="3621024"/>
            <a:ext cx="822960" cy="1060704"/>
          </a:xfrm>
          <a:prstGeom prst="line">
            <a:avLst/>
          </a:prstGeom>
          <a:noFill/>
          <a:ln w="22860">
            <a:solidFill>
              <a:srgbClr val="FFB454"/>
            </a:solidFill>
            <a:prstDash val="solid"/>
            <a:headEnd type="none"/>
            <a:tailEnd type="triangle"/>
          </a:ln>
        </p:spPr>
      </p:sp>
      <p:sp>
        <p:nvSpPr>
          <p:cNvPr id="25" name="Shape 23"/>
          <p:cNvSpPr/>
          <p:nvPr/>
        </p:nvSpPr>
        <p:spPr>
          <a:xfrm>
            <a:off x="5925312" y="2944368"/>
            <a:ext cx="1828800" cy="1069848"/>
          </a:xfrm>
          <a:prstGeom prst="roundRect">
            <a:avLst>
              <a:gd name="adj" fmla="val 5128"/>
            </a:avLst>
          </a:prstGeom>
          <a:solidFill>
            <a:srgbClr val="FFB454">
              <a:alpha val="22000"/>
            </a:srgbClr>
          </a:solidFill>
          <a:ln w="12700">
            <a:solidFill>
              <a:srgbClr val="FFB454"/>
            </a:solidFill>
            <a:prstDash val="solid"/>
          </a:ln>
        </p:spPr>
      </p:sp>
      <p:sp>
        <p:nvSpPr>
          <p:cNvPr id="26" name="Text 24"/>
          <p:cNvSpPr/>
          <p:nvPr/>
        </p:nvSpPr>
        <p:spPr>
          <a:xfrm>
            <a:off x="5925312" y="3111500"/>
            <a:ext cx="1828800" cy="787400"/>
          </a:xfrm>
          <a:prstGeom prst="rect">
            <a:avLst/>
          </a:prstGeom>
          <a:noFill/>
          <a:ln/>
        </p:spPr>
        <p:txBody>
          <a:bodyPr wrap="square" lIns="0" tIns="0" rIns="0" bIns="0" rtlCol="0" anchor="ctr">
            <a:noAutofit/>
          </a:bodyPr>
          <a:lstStyle/>
          <a:p>
            <a:pPr marL="0" indent="0" algn="ctr">
              <a:buNone/>
            </a:pPr>
            <a:r>
              <a:rPr lang="en-US" sz="1300" b="1">
                <a:solidFill>
                  <a:srgbClr val="F4F7FA"/>
                </a:solidFill>
              </a:rPr>
              <a:t>GPU 0</a:t>
            </a:r>
          </a:p>
          <a:p>
            <a:pPr marL="0" indent="0" algn="ctr">
              <a:buNone/>
            </a:pPr>
            <a:r>
              <a:rPr lang="en-US" sz="1300" b="1">
                <a:solidFill>
                  <a:srgbClr val="F4F7FA"/>
                </a:solidFill>
              </a:rPr>
              <a:t>Gather logits</a:t>
            </a:r>
          </a:p>
          <a:p>
            <a:pPr marL="0" indent="0" algn="ctr">
              <a:buNone/>
            </a:pPr>
            <a:r>
              <a:rPr lang="en-US" sz="1300" b="1">
                <a:solidFill>
                  <a:srgbClr val="F4F7FA"/>
                </a:solidFill>
              </a:rPr>
              <a:t>Sum gradients</a:t>
            </a:r>
            <a:endParaRPr lang="en-US" sz="1300" dirty="0"/>
          </a:p>
        </p:txBody>
      </p:sp>
      <p:sp>
        <p:nvSpPr>
          <p:cNvPr id="27" name="Shape 25"/>
          <p:cNvSpPr/>
          <p:nvPr/>
        </p:nvSpPr>
        <p:spPr>
          <a:xfrm>
            <a:off x="7790688" y="3493008"/>
            <a:ext cx="603504" cy="0"/>
          </a:xfrm>
          <a:prstGeom prst="line">
            <a:avLst/>
          </a:prstGeom>
          <a:noFill/>
          <a:ln w="25400">
            <a:solidFill>
              <a:srgbClr val="FFB454"/>
            </a:solidFill>
            <a:prstDash val="solid"/>
            <a:headEnd type="none"/>
            <a:tailEnd type="triangle"/>
          </a:ln>
        </p:spPr>
      </p:sp>
      <p:sp>
        <p:nvSpPr>
          <p:cNvPr id="28" name="Shape 26"/>
          <p:cNvSpPr/>
          <p:nvPr/>
        </p:nvSpPr>
        <p:spPr>
          <a:xfrm>
            <a:off x="8458200" y="2971800"/>
            <a:ext cx="1920240" cy="1024128"/>
          </a:xfrm>
          <a:prstGeom prst="roundRect">
            <a:avLst>
              <a:gd name="adj" fmla="val 5357"/>
            </a:avLst>
          </a:prstGeom>
          <a:solidFill>
            <a:srgbClr val="A78BFA">
              <a:alpha val="24000"/>
            </a:srgbClr>
          </a:solidFill>
          <a:ln w="12700">
            <a:solidFill>
              <a:srgbClr val="A78BFA"/>
            </a:solidFill>
            <a:prstDash val="solid"/>
          </a:ln>
        </p:spPr>
      </p:sp>
      <p:sp>
        <p:nvSpPr>
          <p:cNvPr id="29" name="Text 27"/>
          <p:cNvSpPr/>
          <p:nvPr/>
        </p:nvSpPr>
        <p:spPr>
          <a:xfrm>
            <a:off x="8458200" y="3218688"/>
            <a:ext cx="1920240" cy="438912"/>
          </a:xfrm>
          <a:prstGeom prst="rect">
            <a:avLst/>
          </a:prstGeom>
          <a:noFill/>
          <a:ln/>
        </p:spPr>
        <p:txBody>
          <a:bodyPr wrap="square" lIns="0" tIns="0" rIns="0" bIns="0" rtlCol="0" anchor="ctr">
            <a:noAutofit/>
          </a:bodyPr>
          <a:lstStyle/>
          <a:p>
            <a:pPr marL="0" indent="0" algn="ctr">
              <a:buNone/>
            </a:pPr>
            <a:r>
              <a:rPr lang="en-US" sz="1300" b="1">
                <a:solidFill>
                  <a:srgbClr val="F4F7FA"/>
                </a:solidFill>
              </a:rPr>
              <a:t>one SGD step</a:t>
            </a:r>
          </a:p>
          <a:p>
            <a:pPr marL="0" indent="0" algn="ctr">
              <a:buNone/>
            </a:pPr>
            <a:r>
              <a:rPr lang="en-US" sz="1300" b="1">
                <a:solidFill>
                  <a:srgbClr val="F4F7FA"/>
                </a:solidFill>
              </a:rPr>
              <a:t>on GPU 0</a:t>
            </a:r>
            <a:endParaRPr lang="en-US" sz="1300" dirty="0"/>
          </a:p>
        </p:txBody>
      </p:sp>
      <p:sp>
        <p:nvSpPr>
          <p:cNvPr id="30" name="Shape 28"/>
          <p:cNvSpPr/>
          <p:nvPr/>
        </p:nvSpPr>
        <p:spPr>
          <a:xfrm>
            <a:off x="8119872" y="1572768"/>
            <a:ext cx="3175000" cy="1397000"/>
          </a:xfrm>
          <a:prstGeom prst="roundRect">
            <a:avLst>
              <a:gd name="adj" fmla="val 7080"/>
            </a:avLst>
          </a:prstGeom>
          <a:solidFill>
            <a:srgbClr val="151C25"/>
          </a:solidFill>
          <a:ln w="12700">
            <a:solidFill>
              <a:srgbClr val="344252"/>
            </a:solidFill>
            <a:prstDash val="solid"/>
          </a:ln>
        </p:spPr>
      </p:sp>
      <p:sp>
        <p:nvSpPr>
          <p:cNvPr id="31" name="Text 29"/>
          <p:cNvSpPr/>
          <p:nvPr/>
        </p:nvSpPr>
        <p:spPr>
          <a:xfrm>
            <a:off x="8302752" y="1773936"/>
            <a:ext cx="2857500" cy="228600"/>
          </a:xfrm>
          <a:prstGeom prst="rect">
            <a:avLst/>
          </a:prstGeom>
          <a:noFill/>
          <a:ln/>
        </p:spPr>
        <p:txBody>
          <a:bodyPr wrap="square" lIns="0" tIns="0" rIns="0" bIns="0" rtlCol="0" anchor="ctr">
            <a:noAutofit/>
          </a:bodyPr>
          <a:lstStyle/>
          <a:p>
            <a:pPr marL="0" indent="0">
              <a:buNone/>
            </a:pPr>
            <a:r>
              <a:rPr lang="en-US" sz="1330" b="1">
                <a:solidFill>
                  <a:srgbClr val="F4F7FA"/>
                </a:solidFill>
              </a:rPr>
              <a:t>One global training step</a:t>
            </a:r>
            <a:endParaRPr lang="en-US" sz="1330" dirty="0"/>
          </a:p>
        </p:txBody>
      </p:sp>
      <p:sp>
        <p:nvSpPr>
          <p:cNvPr id="32" name="Text 30"/>
          <p:cNvSpPr/>
          <p:nvPr/>
        </p:nvSpPr>
        <p:spPr>
          <a:xfrm>
            <a:off x="8302752" y="2070100"/>
            <a:ext cx="2794000" cy="787400"/>
          </a:xfrm>
          <a:prstGeom prst="rect">
            <a:avLst/>
          </a:prstGeom>
          <a:noFill/>
          <a:ln/>
        </p:spPr>
        <p:txBody>
          <a:bodyPr wrap="square" lIns="0" tIns="0" rIns="0" bIns="0" rtlCol="0" anchor="ctr">
            <a:noAutofit/>
          </a:bodyPr>
          <a:lstStyle/>
          <a:p>
            <a:pPr marL="0" indent="0">
              <a:buNone/>
            </a:pPr>
            <a:r>
              <a:rPr lang="en-US" sz="1100">
                <a:solidFill>
                  <a:srgbClr val="7E8A97"/>
                </a:solidFill>
              </a:rPr>
              <a:t>Replicate model; scatter 32 + 32</a:t>
            </a:r>
          </a:p>
          <a:p>
            <a:pPr marL="0" indent="0">
              <a:buNone/>
            </a:pPr>
            <a:r>
              <a:rPr lang="en-US" sz="1100">
                <a:solidFill>
                  <a:srgbClr val="7E8A97"/>
                </a:solidFill>
              </a:rPr>
              <a:t>Gather logits → global mean loss</a:t>
            </a:r>
          </a:p>
          <a:p>
            <a:pPr marL="0" indent="0">
              <a:buNone/>
            </a:pPr>
            <a:r>
              <a:rPr lang="en-US" sz="1100">
                <a:solidFill>
                  <a:srgbClr val="7E8A97"/>
                </a:solidFill>
              </a:rPr>
              <a:t>Sum replica gradients on GPU 0</a:t>
            </a:r>
          </a:p>
          <a:p>
            <a:pPr marL="0" indent="0">
              <a:buNone/>
            </a:pPr>
            <a:r>
              <a:rPr lang="en-US" sz="1100">
                <a:solidFill>
                  <a:srgbClr val="7E8A97"/>
                </a:solidFill>
              </a:rPr>
              <a:t>One SGD update; next batch repeats</a:t>
            </a:r>
            <a:endParaRPr lang="en-US" sz="1100" dirty="0"/>
          </a:p>
        </p:txBody>
      </p:sp>
      <p:sp>
        <p:nvSpPr>
          <p:cNvPr id="33" name="Text 31"/>
          <p:cNvSpPr/>
          <p:nvPr/>
        </p:nvSpPr>
        <p:spPr>
          <a:xfrm>
            <a:off x="969264" y="5461000"/>
            <a:ext cx="640080" cy="201168"/>
          </a:xfrm>
          <a:prstGeom prst="rect">
            <a:avLst/>
          </a:prstGeom>
          <a:noFill/>
          <a:ln/>
        </p:spPr>
        <p:txBody>
          <a:bodyPr wrap="square" lIns="0" tIns="0" rIns="0" bIns="0" rtlCol="0" anchor="ctr">
            <a:noAutofit/>
          </a:bodyPr>
          <a:lstStyle/>
          <a:p>
            <a:pPr marL="0" indent="0">
              <a:buNone/>
            </a:pPr>
            <a:r>
              <a:rPr lang="en-US" sz="1200" b="1" dirty="0">
                <a:solidFill>
                  <a:srgbClr val="A3E635"/>
                </a:solidFill>
              </a:rPr>
              <a:t>Benefit</a:t>
            </a:r>
            <a:endParaRPr lang="en-US" sz="1200" dirty="0"/>
          </a:p>
        </p:txBody>
      </p:sp>
      <p:sp>
        <p:nvSpPr>
          <p:cNvPr id="34" name="Text 32"/>
          <p:cNvSpPr/>
          <p:nvPr/>
        </p:nvSpPr>
        <p:spPr>
          <a:xfrm>
            <a:off x="1572768" y="5461000"/>
            <a:ext cx="2331720" cy="201168"/>
          </a:xfrm>
          <a:prstGeom prst="rect">
            <a:avLst/>
          </a:prstGeom>
          <a:noFill/>
          <a:ln/>
        </p:spPr>
        <p:txBody>
          <a:bodyPr wrap="square" lIns="0" tIns="0" rIns="0" bIns="0" rtlCol="0" anchor="ctr">
            <a:noAutofit/>
          </a:bodyPr>
          <a:lstStyle/>
          <a:p>
            <a:pPr marL="0" indent="0">
              <a:buNone/>
            </a:pPr>
            <a:r>
              <a:rPr lang="en-US" sz="1100">
                <a:solidFill>
                  <a:srgbClr val="C7D0D9"/>
                </a:solidFill>
              </a:rPr>
              <a:t>replicas compute at the same time</a:t>
            </a:r>
            <a:endParaRPr lang="en-US" sz="1100" dirty="0"/>
          </a:p>
        </p:txBody>
      </p:sp>
      <p:sp>
        <p:nvSpPr>
          <p:cNvPr id="35" name="Text 33"/>
          <p:cNvSpPr/>
          <p:nvPr/>
        </p:nvSpPr>
        <p:spPr>
          <a:xfrm>
            <a:off x="4160520" y="5461000"/>
            <a:ext cx="457200" cy="201168"/>
          </a:xfrm>
          <a:prstGeom prst="rect">
            <a:avLst/>
          </a:prstGeom>
          <a:noFill/>
          <a:ln/>
        </p:spPr>
        <p:txBody>
          <a:bodyPr wrap="square" lIns="0" tIns="0" rIns="0" bIns="0" rtlCol="0" anchor="ctr">
            <a:noAutofit/>
          </a:bodyPr>
          <a:lstStyle/>
          <a:p>
            <a:pPr marL="0" indent="0">
              <a:buNone/>
            </a:pPr>
            <a:r>
              <a:rPr lang="en-US" sz="1200" b="1" dirty="0">
                <a:solidFill>
                  <a:srgbClr val="FFB454"/>
                </a:solidFill>
              </a:rPr>
              <a:t>Cost</a:t>
            </a:r>
            <a:endParaRPr lang="en-US" sz="1200" dirty="0"/>
          </a:p>
        </p:txBody>
      </p:sp>
      <p:sp>
        <p:nvSpPr>
          <p:cNvPr id="36" name="Text 34"/>
          <p:cNvSpPr/>
          <p:nvPr/>
        </p:nvSpPr>
        <p:spPr>
          <a:xfrm>
            <a:off x="4590288" y="5461000"/>
            <a:ext cx="2880360" cy="201168"/>
          </a:xfrm>
          <a:prstGeom prst="rect">
            <a:avLst/>
          </a:prstGeom>
          <a:noFill/>
          <a:ln/>
        </p:spPr>
        <p:txBody>
          <a:bodyPr wrap="square" lIns="0" tIns="0" rIns="0" bIns="0" rtlCol="0" anchor="ctr">
            <a:noAutofit/>
          </a:bodyPr>
          <a:lstStyle/>
          <a:p>
            <a:pPr marL="0" indent="0">
              <a:buNone/>
            </a:pPr>
            <a:r>
              <a:rPr lang="en-US" sz="1150">
                <a:solidFill>
                  <a:srgbClr val="C7D0D9"/>
                </a:solidFill>
              </a:rPr>
              <a:t>replication, copies + gradient sums</a:t>
            </a:r>
            <a:endParaRPr lang="en-US" sz="1150" dirty="0"/>
          </a:p>
        </p:txBody>
      </p:sp>
      <p:sp>
        <p:nvSpPr>
          <p:cNvPr id="37" name="Text 35"/>
          <p:cNvSpPr/>
          <p:nvPr/>
        </p:nvSpPr>
        <p:spPr>
          <a:xfrm>
            <a:off x="969264" y="5715000"/>
            <a:ext cx="7863840" cy="444500"/>
          </a:xfrm>
          <a:prstGeom prst="rect">
            <a:avLst/>
          </a:prstGeom>
          <a:noFill/>
          <a:ln/>
        </p:spPr>
        <p:txBody>
          <a:bodyPr wrap="square" lIns="0" tIns="0" rIns="0" bIns="0" rtlCol="0" anchor="ctr">
            <a:noAutofit/>
          </a:bodyPr>
          <a:lstStyle/>
          <a:p>
            <a:pPr marL="0" indent="0">
              <a:buNone/>
            </a:pPr>
            <a:r>
              <a:rPr lang="en-US" sz="1430" b="1">
                <a:solidFill>
                  <a:srgbClr val="F4F7FA"/>
                </a:solidFill>
              </a:rPr>
              <a:t>Gather and gradient reduction wait for both replicas; then GPU 0 updates the model.</a:t>
            </a:r>
            <a:endParaRPr lang="en-US" sz="1430" dirty="0"/>
          </a:p>
        </p:txBody>
      </p:sp>
      <p:sp>
        <p:nvSpPr>
          <p:cNvPr id="38"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1/4 — One GPU beats CPU at batch 64</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Same CNN, full MNIST, 50 epochs: compare completed training time and batched inference throughput.</a:t>
            </a:r>
            <a:endParaRPr lang="en-US" sz="1150" dirty="0"/>
          </a:p>
        </p:txBody>
      </p:sp>
      <p:sp>
        <p:nvSpPr>
          <p:cNvPr id="6" name="Shape 4"/>
          <p:cNvSpPr/>
          <p:nvPr/>
        </p:nvSpPr>
        <p:spPr>
          <a:xfrm>
            <a:off x="603504" y="1225296"/>
            <a:ext cx="10972800" cy="4983480"/>
          </a:xfrm>
          <a:prstGeom prst="roundRect">
            <a:avLst>
              <a:gd name="adj" fmla="val 1468"/>
            </a:avLst>
          </a:prstGeom>
          <a:solidFill>
            <a:srgbClr val="121923"/>
          </a:solidFill>
          <a:ln w="12700">
            <a:solidFill>
              <a:srgbClr val="25303D"/>
            </a:solidFill>
            <a:prstDash val="solid"/>
          </a:ln>
        </p:spPr>
      </p:sp>
      <p:sp>
        <p:nvSpPr>
          <p:cNvPr id="34" name="Shape 32"/>
          <p:cNvSpPr/>
          <p:nvPr/>
        </p:nvSpPr>
        <p:spPr>
          <a:xfrm>
            <a:off x="8641080" y="1828800"/>
            <a:ext cx="2468880" cy="1847088"/>
          </a:xfrm>
          <a:prstGeom prst="roundRect">
            <a:avLst>
              <a:gd name="adj" fmla="val 3960"/>
            </a:avLst>
          </a:prstGeom>
          <a:solidFill>
            <a:srgbClr val="18212D"/>
          </a:solidFill>
          <a:ln w="12700">
            <a:solidFill>
              <a:srgbClr val="3D4B5C"/>
            </a:solidFill>
            <a:prstDash val="solid"/>
          </a:ln>
        </p:spPr>
      </p:sp>
      <p:sp>
        <p:nvSpPr>
          <p:cNvPr id="35" name="Text 33"/>
          <p:cNvSpPr/>
          <p:nvPr/>
        </p:nvSpPr>
        <p:spPr>
          <a:xfrm>
            <a:off x="8869680" y="2075688"/>
            <a:ext cx="2032000" cy="228600"/>
          </a:xfrm>
          <a:prstGeom prst="rect">
            <a:avLst/>
          </a:prstGeom>
          <a:noFill/>
          <a:ln/>
        </p:spPr>
        <p:txBody>
          <a:bodyPr wrap="square" lIns="0" tIns="0" rIns="0" bIns="0" rtlCol="0" anchor="ctr">
            <a:noAutofit/>
          </a:bodyPr>
          <a:lstStyle/>
          <a:p>
            <a:pPr marL="0" indent="0">
              <a:buNone/>
            </a:pPr>
            <a:r>
              <a:rPr lang="en-US" sz="1200" b="1">
                <a:solidFill>
                  <a:srgbClr val="A3E635"/>
                </a:solidFill>
              </a:rPr>
              <a:t>ONE T4 vs CPU</a:t>
            </a:r>
            <a:endParaRPr lang="en-US" sz="1200" dirty="0"/>
          </a:p>
        </p:txBody>
      </p:sp>
      <p:sp>
        <p:nvSpPr>
          <p:cNvPr id="36" name="Text 34"/>
          <p:cNvSpPr/>
          <p:nvPr/>
        </p:nvSpPr>
        <p:spPr>
          <a:xfrm>
            <a:off x="8890000" y="2438400"/>
            <a:ext cx="2032000" cy="609600"/>
          </a:xfrm>
          <a:prstGeom prst="rect">
            <a:avLst/>
          </a:prstGeom>
          <a:noFill/>
          <a:ln/>
        </p:spPr>
        <p:txBody>
          <a:bodyPr wrap="square" lIns="0" tIns="0" rIns="0" bIns="0" rtlCol="0" anchor="ctr">
            <a:noAutofit/>
          </a:bodyPr>
          <a:lstStyle/>
          <a:p>
            <a:pPr marL="0" indent="0" algn="ctr">
              <a:buNone/>
            </a:pPr>
            <a:r>
              <a:rPr lang="en-US" sz="2600" b="1">
                <a:solidFill>
                  <a:srgbClr val="F4F7FA"/>
                </a:solidFill>
              </a:rPr>
              <a:t>1.86× faster</a:t>
            </a:r>
            <a:endParaRPr lang="en-US" sz="2600" dirty="0"/>
          </a:p>
        </p:txBody>
      </p:sp>
      <p:sp>
        <p:nvSpPr>
          <p:cNvPr id="38" name="Text 36"/>
          <p:cNvSpPr/>
          <p:nvPr/>
        </p:nvSpPr>
        <p:spPr>
          <a:xfrm>
            <a:off x="8890000" y="3149600"/>
            <a:ext cx="2032000" cy="431800"/>
          </a:xfrm>
          <a:prstGeom prst="rect">
            <a:avLst/>
          </a:prstGeom>
          <a:noFill/>
          <a:ln/>
        </p:spPr>
        <p:txBody>
          <a:bodyPr wrap="square" lIns="0" tIns="0" rIns="0" bIns="0" rtlCol="0" anchor="ctr">
            <a:noAutofit/>
          </a:bodyPr>
          <a:lstStyle/>
          <a:p>
            <a:pPr marL="0" indent="0" algn="ctr">
              <a:buNone/>
            </a:pPr>
            <a:r>
              <a:rPr lang="en-US" sz="1050">
                <a:solidFill>
                  <a:srgbClr val="7E8A97"/>
                </a:solidFill>
              </a:rPr>
              <a:t>PyTorch training: 50.80 vs 94.59 s</a:t>
            </a:r>
          </a:p>
          <a:p>
            <a:pPr marL="0" indent="0" algn="ctr">
              <a:buNone/>
            </a:pPr>
            <a:r>
              <a:rPr lang="en-US" sz="1050">
                <a:solidFill>
                  <a:srgbClr val="7E8A97"/>
                </a:solidFill>
              </a:rPr>
              <a:t>46.3% less training time</a:t>
            </a:r>
            <a:endParaRPr lang="en-US" sz="1050" dirty="0"/>
          </a:p>
        </p:txBody>
      </p:sp>
      <p:sp>
        <p:nvSpPr>
          <p:cNvPr id="39" name="Text 37"/>
          <p:cNvSpPr/>
          <p:nvPr/>
        </p:nvSpPr>
        <p:spPr>
          <a:xfrm>
            <a:off x="8668512" y="4114800"/>
            <a:ext cx="2298700" cy="228600"/>
          </a:xfrm>
          <a:prstGeom prst="rect">
            <a:avLst/>
          </a:prstGeom>
          <a:noFill/>
          <a:ln/>
        </p:spPr>
        <p:txBody>
          <a:bodyPr wrap="square" lIns="0" tIns="0" rIns="0" bIns="0" rtlCol="0" anchor="ctr">
            <a:noAutofit/>
          </a:bodyPr>
          <a:lstStyle/>
          <a:p>
            <a:pPr marL="0" indent="0">
              <a:buNone/>
            </a:pPr>
            <a:r>
              <a:rPr lang="en-US" sz="1300" b="1">
                <a:solidFill>
                  <a:srgbClr val="FFB454"/>
                </a:solidFill>
              </a:rPr>
              <a:t>2.99× batch throughput</a:t>
            </a:r>
            <a:endParaRPr lang="en-US" sz="1300" dirty="0"/>
          </a:p>
        </p:txBody>
      </p:sp>
      <p:sp>
        <p:nvSpPr>
          <p:cNvPr id="40" name="Text 38"/>
          <p:cNvSpPr/>
          <p:nvPr/>
        </p:nvSpPr>
        <p:spPr>
          <a:xfrm>
            <a:off x="8668512" y="4462272"/>
            <a:ext cx="2286000" cy="1005840"/>
          </a:xfrm>
          <a:prstGeom prst="rect">
            <a:avLst/>
          </a:prstGeom>
          <a:noFill/>
          <a:ln/>
        </p:spPr>
        <p:txBody>
          <a:bodyPr wrap="square" lIns="0" tIns="0" rIns="0" bIns="0" rtlCol="0" anchor="ctr">
            <a:noAutofit/>
          </a:bodyPr>
          <a:lstStyle/>
          <a:p>
            <a:pPr marL="0" indent="0">
              <a:buNone/>
            </a:pPr>
            <a:r>
              <a:rPr lang="en-US" sz="1150">
                <a:solidFill>
                  <a:srgbClr val="C7D0D9"/>
                </a:solidFill>
              </a:rPr>
              <a:t>PyTorch: 180,668 vs 60,449 img/s.</a:t>
            </a:r>
          </a:p>
          <a:p>
            <a:pPr marL="0" indent="0">
              <a:buNone/>
            </a:pPr>
            <a:r>
              <a:rPr lang="en-US" sz="1150">
                <a:solidFill>
                  <a:srgbClr val="C7D0D9"/>
                </a:solidFill>
              </a:rPr>
              <a:t>cuDNN: 1.51× faster training;</a:t>
            </a:r>
          </a:p>
          <a:p>
            <a:pPr marL="0" indent="0">
              <a:buNone/>
            </a:pPr>
            <a:r>
              <a:rPr lang="en-US" sz="1150">
                <a:solidFill>
                  <a:srgbClr val="C7D0D9"/>
                </a:solidFill>
              </a:rPr>
              <a:t>2.31× CPU batch throughput.</a:t>
            </a:r>
            <a:endParaRPr lang="en-US" sz="1150" dirty="0"/>
          </a:p>
        </p:txBody>
      </p:sp>
      <p:sp>
        <p:nvSpPr>
          <p:cNvPr id="41" name="Text 39"/>
          <p:cNvSpPr/>
          <p:nvPr/>
        </p:nvSpPr>
        <p:spPr>
          <a:xfrm>
            <a:off x="914400" y="5486400"/>
            <a:ext cx="7223760" cy="571500"/>
          </a:xfrm>
          <a:prstGeom prst="rect">
            <a:avLst/>
          </a:prstGeom>
          <a:noFill/>
          <a:ln/>
        </p:spPr>
        <p:txBody>
          <a:bodyPr wrap="square" lIns="0" tIns="0" rIns="0" bIns="0" rtlCol="0" anchor="ctr">
            <a:noAutofit/>
          </a:bodyPr>
          <a:lstStyle/>
          <a:p>
            <a:pPr marL="0" indent="0">
              <a:buNone/>
            </a:pPr>
            <a:r>
              <a:rPr lang="en-US" sz="1150" b="1">
                <a:solidFill>
                  <a:srgbClr val="F4F7FA"/>
                </a:solidFill>
              </a:rPr>
              <a:t>Batch/s uses 64 images; Conv/Infer are one-digit µs. CPU wins tiny-call latency.</a:t>
            </a:r>
          </a:p>
          <a:p>
            <a:pPr marL="0" indent="0">
              <a:buNone/>
            </a:pPr>
            <a:r>
              <a:rPr lang="en-US" sz="1150" b="1">
                <a:solidFill>
                  <a:srgbClr val="F4F7FA"/>
                </a:solidFill>
              </a:rPr>
              <a:t>GPU speedup comes from enough work per launch; all five configurations are shown.</a:t>
            </a:r>
            <a:endParaRPr lang="en-US" sz="1150" dirty="0"/>
          </a:p>
        </p:txBody>
      </p:sp>
      <p:sp>
        <p:nvSpPr>
          <p:cNvPr id="42"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10</a:t>
            </a:r>
            <a:endParaRPr lang="en-US"/>
          </a:p>
        </p:txBody>
      </p:sp>
      <p:graphicFrame>
        <p:nvGraphicFramePr>
          <p:cNvPr id="43" name="Table 42">
            <a:extLst>
              <a:ext uri="{FF2B5EF4-FFF2-40B4-BE49-F238E27FC236}">
                <a16:creationId xmlns:a16="http://schemas.microsoft.com/office/drawing/2014/main" id="{D32F8CF6-66A7-D6A7-65C9-9CD8C82CA7BA}"/>
              </a:ext>
            </a:extLst>
          </p:cNvPr>
          <p:cNvGraphicFramePr>
            <a:graphicFrameLocks noGrp="1"/>
          </p:cNvGraphicFramePr>
          <p:nvPr>
            <p:extLst>
              <p:ext uri="{D42A27DB-BD31-4B8C-83A1-F6EECF244321}">
                <p14:modId xmlns:p14="http://schemas.microsoft.com/office/powerpoint/2010/main" val="671858407"/>
              </p:ext>
            </p:extLst>
          </p:nvPr>
        </p:nvGraphicFramePr>
        <p:xfrm>
          <a:off x="863600" y="1879600"/>
          <a:ext cx="7340600" cy="312420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418121413"/>
                    </a:ext>
                  </a:extLst>
                </a:gridCol>
                <a:gridCol w="990600">
                  <a:extLst>
                    <a:ext uri="{9D8B030D-6E8A-4147-A177-3AD203B41FA5}">
                      <a16:colId xmlns:a16="http://schemas.microsoft.com/office/drawing/2014/main" val="2410174412"/>
                    </a:ext>
                  </a:extLst>
                </a:gridCol>
                <a:gridCol w="990600">
                  <a:extLst>
                    <a:ext uri="{9D8B030D-6E8A-4147-A177-3AD203B41FA5}">
                      <a16:colId xmlns:a16="http://schemas.microsoft.com/office/drawing/2014/main" val="1241685515"/>
                    </a:ext>
                  </a:extLst>
                </a:gridCol>
                <a:gridCol w="990600">
                  <a:extLst>
                    <a:ext uri="{9D8B030D-6E8A-4147-A177-3AD203B41FA5}">
                      <a16:colId xmlns:a16="http://schemas.microsoft.com/office/drawing/2014/main" val="3826764011"/>
                    </a:ext>
                  </a:extLst>
                </a:gridCol>
                <a:gridCol w="1498600">
                  <a:extLst>
                    <a:ext uri="{9D8B030D-6E8A-4147-A177-3AD203B41FA5}">
                      <a16:colId xmlns:a16="http://schemas.microsoft.com/office/drawing/2014/main" val="3345259614"/>
                    </a:ext>
                  </a:extLst>
                </a:gridCol>
              </a:tblGrid>
              <a:tr h="520700">
                <a:tc>
                  <a:txBody>
                    <a:bodyPr/>
                    <a:lstStyle/>
                    <a:p>
                      <a:pPr>
                        <a:spcAft>
                          <a:spcPts val="0"/>
                        </a:spcAft>
                        <a:buFontTx/>
                        <a:buNone/>
                      </a:pPr>
                      <a:r>
                        <a:rPr lang="en-US" sz="1150" b="1">
                          <a:solidFill>
                            <a:srgbClr val="C7D0D9"/>
                          </a:solidFill>
                          <a:latin typeface="Aptos" panose="020B0004020202020204" pitchFamily="34" charset="0"/>
                        </a:rPr>
                        <a:t>Implementation</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Train (s)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Conv (µs)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Infer (µs)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Batch/s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extLst>
                  <a:ext uri="{0D108BD9-81ED-4DB2-BD59-A6C34878D82A}">
                    <a16:rowId xmlns:a16="http://schemas.microsoft.com/office/drawing/2014/main" val="1327228823"/>
                  </a:ext>
                </a:extLst>
              </a:tr>
              <a:tr h="520700">
                <a:tc>
                  <a:txBody>
                    <a:bodyPr/>
                    <a:lstStyle/>
                    <a:p>
                      <a:pPr>
                        <a:spcAft>
                          <a:spcPts val="0"/>
                        </a:spcAft>
                        <a:buFontTx/>
                        <a:buNone/>
                      </a:pPr>
                      <a:r>
                        <a:rPr lang="en-US" sz="1400" b="0">
                          <a:solidFill>
                            <a:srgbClr val="41D9FF"/>
                          </a:solidFill>
                          <a:latin typeface="Aptos" panose="020B0004020202020204" pitchFamily="34" charset="0"/>
                        </a:rPr>
                        <a:t>PyTorch CPU</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94.59</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22.65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88.96</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60,449</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1174037687"/>
                  </a:ext>
                </a:extLst>
              </a:tr>
              <a:tr h="520700">
                <a:tc>
                  <a:txBody>
                    <a:bodyPr/>
                    <a:lstStyle/>
                    <a:p>
                      <a:pPr>
                        <a:spcAft>
                          <a:spcPts val="0"/>
                        </a:spcAft>
                        <a:buFontTx/>
                        <a:buNone/>
                      </a:pPr>
                      <a:r>
                        <a:rPr lang="en-US" sz="1400" b="0">
                          <a:solidFill>
                            <a:srgbClr val="A7B8FA"/>
                          </a:solidFill>
                          <a:latin typeface="Aptos" panose="020B0004020202020204" pitchFamily="34" charset="0"/>
                        </a:rPr>
                        <a:t>cuDNN · 1 GPU</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62.49</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140.33</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452.48</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139,617</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85205690"/>
                  </a:ext>
                </a:extLst>
              </a:tr>
              <a:tr h="520700">
                <a:tc>
                  <a:txBody>
                    <a:bodyPr/>
                    <a:lstStyle/>
                    <a:p>
                      <a:pPr>
                        <a:spcAft>
                          <a:spcPts val="0"/>
                        </a:spcAft>
                        <a:buFontTx/>
                        <a:buNone/>
                      </a:pPr>
                      <a:r>
                        <a:rPr lang="en-US" sz="1400" b="0">
                          <a:solidFill>
                            <a:srgbClr val="FFB454"/>
                          </a:solidFill>
                          <a:latin typeface="Aptos" panose="020B0004020202020204" pitchFamily="34" charset="0"/>
                        </a:rPr>
                        <a:t>cuDNN · 2 GPUs (DP)</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165.78</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632.60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961.70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28,295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364607179"/>
                  </a:ext>
                </a:extLst>
              </a:tr>
              <a:tr h="520700">
                <a:tc>
                  <a:txBody>
                    <a:bodyPr/>
                    <a:lstStyle/>
                    <a:p>
                      <a:pPr>
                        <a:spcAft>
                          <a:spcPts val="0"/>
                        </a:spcAft>
                        <a:buFontTx/>
                        <a:buNone/>
                      </a:pPr>
                      <a:r>
                        <a:rPr lang="en-US" sz="1400" b="0">
                          <a:solidFill>
                            <a:srgbClr val="76B900"/>
                          </a:solidFill>
                          <a:latin typeface="Aptos" panose="020B0004020202020204" pitchFamily="34" charset="0"/>
                        </a:rPr>
                        <a:t>PyTorch · 1 GPU</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50.80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43.05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347.21</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180,668</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1842148501"/>
                  </a:ext>
                </a:extLst>
              </a:tr>
              <a:tr h="520700">
                <a:tc>
                  <a:txBody>
                    <a:bodyPr/>
                    <a:lstStyle/>
                    <a:p>
                      <a:pPr>
                        <a:spcAft>
                          <a:spcPts val="0"/>
                        </a:spcAft>
                        <a:buFontTx/>
                        <a:buNone/>
                      </a:pPr>
                      <a:r>
                        <a:rPr lang="en-US" sz="1400" b="0">
                          <a:solidFill>
                            <a:srgbClr val="FFB454"/>
                          </a:solidFill>
                          <a:latin typeface="Aptos" panose="020B0004020202020204" pitchFamily="34" charset="0"/>
                        </a:rPr>
                        <a:t>PyTorch · 2 GPUs (DP)</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181.97</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529.62</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851.90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21,055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2925468081"/>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2/4 — Two GPUs: more hardware, more overhead</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One T4 beats CPU; two T4s lose here. Global batch 64 leaves only 32 images of work on each replica.</a:t>
            </a:r>
            <a:endParaRPr lang="en-US" sz="1150" dirty="0"/>
          </a:p>
        </p:txBody>
      </p:sp>
      <p:sp>
        <p:nvSpPr>
          <p:cNvPr id="6" name="Shape 4"/>
          <p:cNvSpPr/>
          <p:nvPr/>
        </p:nvSpPr>
        <p:spPr>
          <a:xfrm>
            <a:off x="603504" y="1225296"/>
            <a:ext cx="6537960" cy="4992624"/>
          </a:xfrm>
          <a:prstGeom prst="roundRect">
            <a:avLst>
              <a:gd name="adj" fmla="val 1465"/>
            </a:avLst>
          </a:prstGeom>
          <a:solidFill>
            <a:srgbClr val="121923"/>
          </a:solidFill>
          <a:ln w="12700">
            <a:solidFill>
              <a:srgbClr val="25303D"/>
            </a:solidFill>
            <a:prstDash val="solid"/>
          </a:ln>
        </p:spPr>
      </p:sp>
      <p:sp>
        <p:nvSpPr>
          <p:cNvPr id="7" name="Shape 5"/>
          <p:cNvSpPr/>
          <p:nvPr/>
        </p:nvSpPr>
        <p:spPr>
          <a:xfrm>
            <a:off x="868680" y="1499616"/>
            <a:ext cx="160020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8" name="Text 6"/>
          <p:cNvSpPr/>
          <p:nvPr/>
        </p:nvSpPr>
        <p:spPr>
          <a:xfrm>
            <a:off x="868680" y="1577340"/>
            <a:ext cx="1600200" cy="128016"/>
          </a:xfrm>
          <a:prstGeom prst="rect">
            <a:avLst/>
          </a:prstGeom>
          <a:noFill/>
          <a:ln/>
        </p:spPr>
        <p:txBody>
          <a:bodyPr wrap="square" lIns="0" tIns="0" rIns="0" bIns="0" rtlCol="0" anchor="ctr">
            <a:noAutofit/>
          </a:bodyPr>
          <a:lstStyle/>
          <a:p>
            <a:pPr marL="0" indent="0" algn="ctr">
              <a:buNone/>
            </a:pPr>
            <a:r>
              <a:rPr lang="en-US" sz="850" b="1" kern="0" spc="100">
                <a:solidFill>
                  <a:srgbClr val="FFB454"/>
                </a:solidFill>
              </a:rPr>
              <a:t>TRAINING TIME</a:t>
            </a:r>
            <a:endParaRPr lang="en-US" sz="850" dirty="0"/>
          </a:p>
        </p:txBody>
      </p:sp>
      <p:sp>
        <p:nvSpPr>
          <p:cNvPr id="9" name="Shape 7"/>
          <p:cNvSpPr/>
          <p:nvPr/>
        </p:nvSpPr>
        <p:spPr>
          <a:xfrm>
            <a:off x="1143000" y="5303520"/>
            <a:ext cx="5257800" cy="0"/>
          </a:xfrm>
          <a:prstGeom prst="line">
            <a:avLst/>
          </a:prstGeom>
          <a:noFill/>
          <a:ln w="15240">
            <a:solidFill>
              <a:srgbClr val="556271"/>
            </a:solidFill>
            <a:prstDash val="solid"/>
          </a:ln>
        </p:spPr>
      </p:sp>
      <p:sp>
        <p:nvSpPr>
          <p:cNvPr id="10" name="Shape 8"/>
          <p:cNvSpPr/>
          <p:nvPr/>
        </p:nvSpPr>
        <p:spPr>
          <a:xfrm>
            <a:off x="1143000" y="2057400"/>
            <a:ext cx="0" cy="3246120"/>
          </a:xfrm>
          <a:prstGeom prst="line">
            <a:avLst/>
          </a:prstGeom>
          <a:noFill/>
          <a:ln w="15240">
            <a:solidFill>
              <a:srgbClr val="556271"/>
            </a:solidFill>
            <a:prstDash val="solid"/>
          </a:ln>
        </p:spPr>
      </p:sp>
      <p:sp>
        <p:nvSpPr>
          <p:cNvPr id="11" name="Shape 9"/>
          <p:cNvSpPr/>
          <p:nvPr/>
        </p:nvSpPr>
        <p:spPr>
          <a:xfrm>
            <a:off x="2286000" y="4435621"/>
            <a:ext cx="411480" cy="872979"/>
          </a:xfrm>
          <a:prstGeom prst="rect">
            <a:avLst/>
          </a:prstGeom>
          <a:solidFill>
            <a:srgbClr val="76B900">
              <a:alpha val="30000"/>
            </a:srgbClr>
          </a:solidFill>
          <a:ln w="16510">
            <a:solidFill>
              <a:srgbClr val="76B900"/>
            </a:solidFill>
            <a:prstDash val="solid"/>
          </a:ln>
        </p:spPr>
      </p:sp>
      <p:sp>
        <p:nvSpPr>
          <p:cNvPr id="12" name="Shape 10"/>
          <p:cNvSpPr/>
          <p:nvPr/>
        </p:nvSpPr>
        <p:spPr>
          <a:xfrm>
            <a:off x="2857500" y="2992612"/>
            <a:ext cx="411480" cy="2315988"/>
          </a:xfrm>
          <a:prstGeom prst="rect">
            <a:avLst/>
          </a:prstGeom>
          <a:solidFill>
            <a:srgbClr val="FFB454">
              <a:alpha val="30000"/>
            </a:srgbClr>
          </a:solidFill>
          <a:ln w="16510">
            <a:solidFill>
              <a:srgbClr val="FFB454"/>
            </a:solidFill>
            <a:prstDash val="solid"/>
          </a:ln>
        </p:spPr>
      </p:sp>
      <p:sp>
        <p:nvSpPr>
          <p:cNvPr id="13" name="Text 11"/>
          <p:cNvSpPr/>
          <p:nvPr/>
        </p:nvSpPr>
        <p:spPr>
          <a:xfrm>
            <a:off x="2159000" y="5431536"/>
            <a:ext cx="1524000" cy="182880"/>
          </a:xfrm>
          <a:prstGeom prst="rect">
            <a:avLst/>
          </a:prstGeom>
          <a:noFill/>
          <a:ln/>
        </p:spPr>
        <p:txBody>
          <a:bodyPr wrap="square" lIns="0" tIns="0" rIns="0" bIns="0" rtlCol="0" anchor="ctr">
            <a:noAutofit/>
          </a:bodyPr>
          <a:lstStyle/>
          <a:p>
            <a:pPr marL="0" indent="0" algn="ctr">
              <a:buNone/>
            </a:pPr>
            <a:r>
              <a:rPr lang="en-US" sz="1050">
                <a:solidFill>
                  <a:srgbClr val="C7D0D9"/>
                </a:solidFill>
              </a:rPr>
              <a:t>cuDNN</a:t>
            </a:r>
            <a:endParaRPr lang="en-US" sz="1050" dirty="0"/>
          </a:p>
        </p:txBody>
      </p:sp>
      <p:sp>
        <p:nvSpPr>
          <p:cNvPr id="14" name="Shape 12"/>
          <p:cNvSpPr/>
          <p:nvPr/>
        </p:nvSpPr>
        <p:spPr>
          <a:xfrm>
            <a:off x="4381500" y="4598933"/>
            <a:ext cx="411480" cy="709667"/>
          </a:xfrm>
          <a:prstGeom prst="rect">
            <a:avLst/>
          </a:prstGeom>
          <a:solidFill>
            <a:srgbClr val="76B900">
              <a:alpha val="30000"/>
            </a:srgbClr>
          </a:solidFill>
          <a:ln w="16510">
            <a:solidFill>
              <a:srgbClr val="76B900"/>
            </a:solidFill>
            <a:prstDash val="solid"/>
          </a:ln>
        </p:spPr>
      </p:sp>
      <p:sp>
        <p:nvSpPr>
          <p:cNvPr id="15" name="Shape 13"/>
          <p:cNvSpPr/>
          <p:nvPr/>
        </p:nvSpPr>
        <p:spPr>
          <a:xfrm>
            <a:off x="4953000" y="2766467"/>
            <a:ext cx="411480" cy="2542133"/>
          </a:xfrm>
          <a:prstGeom prst="rect">
            <a:avLst/>
          </a:prstGeom>
          <a:solidFill>
            <a:srgbClr val="FFB454">
              <a:alpha val="30000"/>
            </a:srgbClr>
          </a:solidFill>
          <a:ln w="16510">
            <a:solidFill>
              <a:srgbClr val="FFB454"/>
            </a:solidFill>
            <a:prstDash val="solid"/>
          </a:ln>
        </p:spPr>
      </p:sp>
      <p:sp>
        <p:nvSpPr>
          <p:cNvPr id="16" name="Text 14"/>
          <p:cNvSpPr/>
          <p:nvPr/>
        </p:nvSpPr>
        <p:spPr>
          <a:xfrm>
            <a:off x="4254500" y="5431536"/>
            <a:ext cx="1524000" cy="182880"/>
          </a:xfrm>
          <a:prstGeom prst="rect">
            <a:avLst/>
          </a:prstGeom>
          <a:noFill/>
          <a:ln/>
        </p:spPr>
        <p:txBody>
          <a:bodyPr wrap="square" lIns="0" tIns="0" rIns="0" bIns="0" rtlCol="0" anchor="ctr">
            <a:noAutofit/>
          </a:bodyPr>
          <a:lstStyle/>
          <a:p>
            <a:pPr marL="0" indent="0" algn="ctr">
              <a:buNone/>
            </a:pPr>
            <a:r>
              <a:rPr lang="en-US" sz="1050">
                <a:solidFill>
                  <a:srgbClr val="C7D0D9"/>
                </a:solidFill>
              </a:rPr>
              <a:t>PyTorch</a:t>
            </a:r>
            <a:endParaRPr lang="en-US" sz="1050" dirty="0"/>
          </a:p>
        </p:txBody>
      </p:sp>
      <p:sp>
        <p:nvSpPr>
          <p:cNvPr id="20" name="Text 18"/>
          <p:cNvSpPr/>
          <p:nvPr/>
        </p:nvSpPr>
        <p:spPr>
          <a:xfrm rot="16200000">
            <a:off x="749808" y="1938528"/>
            <a:ext cx="1417320" cy="182880"/>
          </a:xfrm>
          <a:prstGeom prst="rect">
            <a:avLst/>
          </a:prstGeom>
          <a:noFill/>
          <a:ln/>
        </p:spPr>
        <p:txBody>
          <a:bodyPr wrap="square" lIns="0" tIns="0" rIns="0" bIns="0" rtlCol="0" anchor="ctr">
            <a:noAutofit/>
          </a:bodyPr>
          <a:lstStyle/>
          <a:p>
            <a:pPr marL="0" indent="0">
              <a:buNone/>
            </a:pPr>
            <a:r>
              <a:rPr lang="en-US" sz="950">
                <a:solidFill>
                  <a:srgbClr val="7E8A97"/>
                </a:solidFill>
              </a:rPr>
              <a:t>Training time (s)</a:t>
            </a:r>
            <a:endParaRPr lang="en-US" sz="950" dirty="0"/>
          </a:p>
        </p:txBody>
      </p:sp>
      <p:sp>
        <p:nvSpPr>
          <p:cNvPr id="21" name="Text 19"/>
          <p:cNvSpPr/>
          <p:nvPr/>
        </p:nvSpPr>
        <p:spPr>
          <a:xfrm>
            <a:off x="2476500" y="5742432"/>
            <a:ext cx="3302000" cy="182880"/>
          </a:xfrm>
          <a:prstGeom prst="rect">
            <a:avLst/>
          </a:prstGeom>
          <a:noFill/>
          <a:ln/>
        </p:spPr>
        <p:txBody>
          <a:bodyPr wrap="square" lIns="0" tIns="0" rIns="0" bIns="0" rtlCol="0" anchor="ctr">
            <a:noAutofit/>
          </a:bodyPr>
          <a:lstStyle/>
          <a:p>
            <a:pPr marL="0" indent="0" algn="ctr">
              <a:buNone/>
            </a:pPr>
            <a:r>
              <a:rPr lang="en-US" sz="1020">
                <a:solidFill>
                  <a:srgbClr val="7E8A97"/>
                </a:solidFill>
              </a:rPr>
              <a:t>Same batch 64; lower is better</a:t>
            </a:r>
            <a:endParaRPr lang="en-US" sz="1020" dirty="0"/>
          </a:p>
        </p:txBody>
      </p:sp>
      <p:sp>
        <p:nvSpPr>
          <p:cNvPr id="22" name="Shape 20"/>
          <p:cNvSpPr/>
          <p:nvPr/>
        </p:nvSpPr>
        <p:spPr>
          <a:xfrm>
            <a:off x="4251960" y="1572768"/>
            <a:ext cx="960120"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23" name="Text 21"/>
          <p:cNvSpPr/>
          <p:nvPr/>
        </p:nvSpPr>
        <p:spPr>
          <a:xfrm>
            <a:off x="4251960" y="1659636"/>
            <a:ext cx="960120"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1 GPU</a:t>
            </a:r>
            <a:endParaRPr lang="en-US" sz="900" dirty="0"/>
          </a:p>
        </p:txBody>
      </p:sp>
      <p:sp>
        <p:nvSpPr>
          <p:cNvPr id="24" name="Shape 22"/>
          <p:cNvSpPr/>
          <p:nvPr/>
        </p:nvSpPr>
        <p:spPr>
          <a:xfrm>
            <a:off x="5349240" y="1572768"/>
            <a:ext cx="1234440" cy="347472"/>
          </a:xfrm>
          <a:prstGeom prst="roundRect">
            <a:avLst>
              <a:gd name="adj" fmla="val 13158"/>
            </a:avLst>
          </a:prstGeom>
          <a:solidFill>
            <a:srgbClr val="FFB454">
              <a:alpha val="18000"/>
            </a:srgbClr>
          </a:solidFill>
          <a:ln w="12700">
            <a:solidFill>
              <a:srgbClr val="FFB454">
                <a:alpha val="50000"/>
              </a:srgbClr>
            </a:solidFill>
            <a:prstDash val="solid"/>
          </a:ln>
        </p:spPr>
      </p:sp>
      <p:sp>
        <p:nvSpPr>
          <p:cNvPr id="25" name="Text 23"/>
          <p:cNvSpPr/>
          <p:nvPr/>
        </p:nvSpPr>
        <p:spPr>
          <a:xfrm>
            <a:off x="5349240" y="1659636"/>
            <a:ext cx="1234440" cy="137160"/>
          </a:xfrm>
          <a:prstGeom prst="rect">
            <a:avLst/>
          </a:prstGeom>
          <a:noFill/>
          <a:ln/>
        </p:spPr>
        <p:txBody>
          <a:bodyPr wrap="square" lIns="0" tIns="0" rIns="0" bIns="0" rtlCol="0" anchor="ctr">
            <a:noAutofit/>
          </a:bodyPr>
          <a:lstStyle/>
          <a:p>
            <a:pPr marL="0" indent="0" algn="ctr">
              <a:buNone/>
            </a:pPr>
            <a:r>
              <a:rPr lang="en-US" sz="900" b="1" dirty="0">
                <a:solidFill>
                  <a:srgbClr val="FFB454"/>
                </a:solidFill>
              </a:rPr>
              <a:t>2 GPU DP</a:t>
            </a:r>
            <a:endParaRPr lang="en-US" sz="900" dirty="0"/>
          </a:p>
        </p:txBody>
      </p:sp>
      <p:sp>
        <p:nvSpPr>
          <p:cNvPr id="26" name="Text 24"/>
          <p:cNvSpPr/>
          <p:nvPr/>
        </p:nvSpPr>
        <p:spPr>
          <a:xfrm>
            <a:off x="1417320" y="2148840"/>
            <a:ext cx="4389120" cy="256032"/>
          </a:xfrm>
          <a:prstGeom prst="rect">
            <a:avLst/>
          </a:prstGeom>
          <a:noFill/>
          <a:ln/>
        </p:spPr>
        <p:txBody>
          <a:bodyPr wrap="square" lIns="0" tIns="0" rIns="0" bIns="0" rtlCol="0" anchor="ctr">
            <a:noAutofit/>
          </a:bodyPr>
          <a:lstStyle/>
          <a:p>
            <a:pPr marL="0" indent="0" algn="ctr">
              <a:buNone/>
            </a:pPr>
            <a:r>
              <a:rPr lang="en-US" sz="1250" b="1">
                <a:solidFill>
                  <a:srgbClr val="F4F7FA"/>
                </a:solidFill>
              </a:rPr>
              <a:t>CPU reference: 94.59 s for 50 epochs</a:t>
            </a:r>
            <a:endParaRPr lang="en-US" sz="1250" dirty="0"/>
          </a:p>
        </p:txBody>
      </p:sp>
      <p:sp>
        <p:nvSpPr>
          <p:cNvPr id="27" name="Shape 25"/>
          <p:cNvSpPr/>
          <p:nvPr/>
        </p:nvSpPr>
        <p:spPr>
          <a:xfrm>
            <a:off x="7370064" y="1225296"/>
            <a:ext cx="4206240" cy="2240280"/>
          </a:xfrm>
          <a:prstGeom prst="roundRect">
            <a:avLst>
              <a:gd name="adj" fmla="val 3265"/>
            </a:avLst>
          </a:prstGeom>
          <a:solidFill>
            <a:srgbClr val="121923"/>
          </a:solidFill>
          <a:ln w="12700">
            <a:solidFill>
              <a:srgbClr val="25303D"/>
            </a:solidFill>
            <a:prstDash val="solid"/>
          </a:ln>
        </p:spPr>
      </p:sp>
      <p:sp>
        <p:nvSpPr>
          <p:cNvPr id="28" name="Shape 26"/>
          <p:cNvSpPr/>
          <p:nvPr/>
        </p:nvSpPr>
        <p:spPr>
          <a:xfrm>
            <a:off x="7644384" y="1499616"/>
            <a:ext cx="254000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9" name="Text 27"/>
          <p:cNvSpPr/>
          <p:nvPr/>
        </p:nvSpPr>
        <p:spPr>
          <a:xfrm>
            <a:off x="7644384" y="1577340"/>
            <a:ext cx="2540000" cy="128016"/>
          </a:xfrm>
          <a:prstGeom prst="rect">
            <a:avLst/>
          </a:prstGeom>
          <a:noFill/>
          <a:ln/>
        </p:spPr>
        <p:txBody>
          <a:bodyPr wrap="square" lIns="0" tIns="0" rIns="0" bIns="0" rtlCol="0" anchor="ctr">
            <a:noAutofit/>
          </a:bodyPr>
          <a:lstStyle/>
          <a:p>
            <a:pPr marL="0" indent="0" algn="ctr">
              <a:buNone/>
            </a:pPr>
            <a:r>
              <a:rPr lang="en-US" sz="850" b="1" kern="0" spc="100">
                <a:solidFill>
                  <a:srgbClr val="76B900"/>
                </a:solidFill>
              </a:rPr>
              <a:t>WHY TWO GPUs LOST HERE</a:t>
            </a:r>
            <a:endParaRPr lang="en-US" sz="850" dirty="0"/>
          </a:p>
        </p:txBody>
      </p:sp>
      <p:sp>
        <p:nvSpPr>
          <p:cNvPr id="30" name="Text 28"/>
          <p:cNvSpPr/>
          <p:nvPr/>
        </p:nvSpPr>
        <p:spPr>
          <a:xfrm>
            <a:off x="7680960" y="2112264"/>
            <a:ext cx="2921000" cy="182880"/>
          </a:xfrm>
          <a:prstGeom prst="rect">
            <a:avLst/>
          </a:prstGeom>
          <a:noFill/>
          <a:ln/>
        </p:spPr>
        <p:txBody>
          <a:bodyPr wrap="square" lIns="0" tIns="0" rIns="0" bIns="0" rtlCol="0" anchor="ctr">
            <a:noAutofit/>
          </a:bodyPr>
          <a:lstStyle/>
          <a:p>
            <a:pPr marL="0" indent="0">
              <a:buNone/>
            </a:pPr>
            <a:r>
              <a:rPr lang="en-US" sz="1150" b="1">
                <a:solidFill>
                  <a:srgbClr val="F4F7FA"/>
                </a:solidFill>
              </a:rPr>
              <a:t>Training time relative to CPU</a:t>
            </a:r>
            <a:endParaRPr lang="en-US" sz="1150" dirty="0"/>
          </a:p>
        </p:txBody>
      </p:sp>
      <p:sp>
        <p:nvSpPr>
          <p:cNvPr id="33" name="Text 31"/>
          <p:cNvSpPr/>
          <p:nvPr/>
        </p:nvSpPr>
        <p:spPr>
          <a:xfrm>
            <a:off x="7683500" y="2336800"/>
            <a:ext cx="3251200" cy="381000"/>
          </a:xfrm>
          <a:prstGeom prst="rect">
            <a:avLst/>
          </a:prstGeom>
          <a:noFill/>
          <a:ln/>
        </p:spPr>
        <p:txBody>
          <a:bodyPr wrap="square" lIns="0" tIns="0" rIns="0" bIns="0" rtlCol="0" anchor="ctr">
            <a:noAutofit/>
          </a:bodyPr>
          <a:lstStyle/>
          <a:p>
            <a:pPr marL="0" indent="0" algn="ctr">
              <a:buNone/>
            </a:pPr>
            <a:r>
              <a:rPr lang="en-US" sz="2200" b="1">
                <a:solidFill>
                  <a:srgbClr val="76B900"/>
                </a:solidFill>
              </a:rPr>
              <a:t>1.75–1.92× slower</a:t>
            </a:r>
            <a:endParaRPr lang="en-US" sz="2200" dirty="0">
              <a:solidFill>
                <a:srgbClr val="76B900"/>
              </a:solidFill>
            </a:endParaRPr>
          </a:p>
        </p:txBody>
      </p:sp>
      <p:sp>
        <p:nvSpPr>
          <p:cNvPr id="34" name="Text 32"/>
          <p:cNvSpPr/>
          <p:nvPr/>
        </p:nvSpPr>
        <p:spPr>
          <a:xfrm>
            <a:off x="7680960" y="2819400"/>
            <a:ext cx="2921000" cy="182880"/>
          </a:xfrm>
          <a:prstGeom prst="rect">
            <a:avLst/>
          </a:prstGeom>
          <a:noFill/>
          <a:ln/>
        </p:spPr>
        <p:txBody>
          <a:bodyPr wrap="square" lIns="0" tIns="0" rIns="0" bIns="0" rtlCol="0" anchor="ctr">
            <a:noAutofit/>
          </a:bodyPr>
          <a:lstStyle/>
          <a:p>
            <a:pPr marL="0" indent="0">
              <a:buNone/>
            </a:pPr>
            <a:r>
              <a:rPr lang="en-US" sz="1150" b="1">
                <a:solidFill>
                  <a:srgbClr val="F4F7FA"/>
                </a:solidFill>
              </a:rPr>
              <a:t>Two GPUs vs one: scaling efficiency</a:t>
            </a:r>
            <a:endParaRPr lang="en-US" sz="1150" dirty="0"/>
          </a:p>
        </p:txBody>
      </p:sp>
      <p:sp>
        <p:nvSpPr>
          <p:cNvPr id="37" name="Text 35"/>
          <p:cNvSpPr/>
          <p:nvPr/>
        </p:nvSpPr>
        <p:spPr>
          <a:xfrm>
            <a:off x="7683500" y="3073400"/>
            <a:ext cx="3251200" cy="330200"/>
          </a:xfrm>
          <a:prstGeom prst="rect">
            <a:avLst/>
          </a:prstGeom>
          <a:noFill/>
          <a:ln/>
        </p:spPr>
        <p:txBody>
          <a:bodyPr wrap="square" lIns="0" tIns="0" rIns="0" bIns="0" rtlCol="0" anchor="ctr">
            <a:noAutofit/>
          </a:bodyPr>
          <a:lstStyle/>
          <a:p>
            <a:pPr marL="0" indent="0" algn="ctr">
              <a:buNone/>
            </a:pPr>
            <a:r>
              <a:rPr lang="en-US" sz="2000" b="1">
                <a:solidFill>
                  <a:srgbClr val="FFB454"/>
                </a:solidFill>
              </a:rPr>
              <a:t>14.0–18.8%</a:t>
            </a:r>
            <a:endParaRPr lang="en-US" sz="2000" dirty="0">
              <a:solidFill>
                <a:srgbClr val="FFB454"/>
              </a:solidFill>
            </a:endParaRPr>
          </a:p>
        </p:txBody>
      </p:sp>
      <p:sp>
        <p:nvSpPr>
          <p:cNvPr id="39" name="Shape 37"/>
          <p:cNvSpPr/>
          <p:nvPr/>
        </p:nvSpPr>
        <p:spPr>
          <a:xfrm>
            <a:off x="7370064" y="3703320"/>
            <a:ext cx="4206240" cy="2514600"/>
          </a:xfrm>
          <a:prstGeom prst="roundRect">
            <a:avLst>
              <a:gd name="adj" fmla="val 2909"/>
            </a:avLst>
          </a:prstGeom>
          <a:solidFill>
            <a:srgbClr val="121923"/>
          </a:solidFill>
          <a:ln w="12700">
            <a:solidFill>
              <a:srgbClr val="25303D"/>
            </a:solidFill>
            <a:prstDash val="solid"/>
          </a:ln>
        </p:spPr>
      </p:sp>
      <p:sp>
        <p:nvSpPr>
          <p:cNvPr id="40" name="Shape 38"/>
          <p:cNvSpPr/>
          <p:nvPr/>
        </p:nvSpPr>
        <p:spPr>
          <a:xfrm>
            <a:off x="7644384" y="3968496"/>
            <a:ext cx="190500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41" name="Text 39"/>
          <p:cNvSpPr/>
          <p:nvPr/>
        </p:nvSpPr>
        <p:spPr>
          <a:xfrm>
            <a:off x="7644384" y="4046220"/>
            <a:ext cx="3048000" cy="128016"/>
          </a:xfrm>
          <a:prstGeom prst="rect">
            <a:avLst/>
          </a:prstGeom>
          <a:noFill/>
          <a:ln/>
        </p:spPr>
        <p:txBody>
          <a:bodyPr wrap="square" lIns="0" tIns="0" rIns="0" bIns="0" rtlCol="0" anchor="ctr">
            <a:noAutofit/>
          </a:bodyPr>
          <a:lstStyle/>
          <a:p>
            <a:pPr marL="0" indent="0" algn="ctr">
              <a:buNone/>
            </a:pPr>
            <a:r>
              <a:rPr lang="en-US" sz="850" b="1" kern="0" spc="100">
                <a:solidFill>
                  <a:srgbClr val="FFB454"/>
                </a:solidFill>
              </a:rPr>
              <a:t>WORK vs COORDINATION</a:t>
            </a:r>
            <a:endParaRPr lang="en-US" sz="850" dirty="0"/>
          </a:p>
        </p:txBody>
      </p:sp>
      <p:sp>
        <p:nvSpPr>
          <p:cNvPr id="42" name="Text 40"/>
          <p:cNvSpPr/>
          <p:nvPr/>
        </p:nvSpPr>
        <p:spPr>
          <a:xfrm>
            <a:off x="7644384" y="4462272"/>
            <a:ext cx="3429000" cy="1417320"/>
          </a:xfrm>
          <a:prstGeom prst="rect">
            <a:avLst/>
          </a:prstGeom>
          <a:noFill/>
          <a:ln/>
        </p:spPr>
        <p:txBody>
          <a:bodyPr wrap="square" lIns="381" tIns="381" rIns="381" bIns="381" rtlCol="0" anchor="ctr">
            <a:noAutofit/>
          </a:bodyPr>
          <a:lstStyle/>
          <a:p>
            <a:pPr marL="177800" indent="-177800">
              <a:buSzPct val="100000"/>
              <a:buChar char="•"/>
            </a:pPr>
            <a:r>
              <a:rPr lang="en-US" sz="1200">
                <a:solidFill>
                  <a:srgbClr val="C7D0D9"/>
                </a:solidFill>
              </a:rPr>
              <a:t>32 images/GPU: too little useful work</a:t>
            </a:r>
          </a:p>
          <a:p>
            <a:pPr marL="177800" indent="-177800">
              <a:buSzPct val="100000"/>
              <a:buChar char="•"/>
            </a:pPr>
            <a:r>
              <a:rPr lang="en-US" sz="1200">
                <a:solidFill>
                  <a:srgbClr val="C7D0D9"/>
                </a:solidFill>
              </a:rPr>
              <a:t>Replicate + copy + gather + gradient sums</a:t>
            </a:r>
          </a:p>
          <a:p>
            <a:pPr marL="177800" indent="-177800">
              <a:buSzPct val="100000"/>
              <a:buChar char="•"/>
            </a:pPr>
            <a:r>
              <a:rPr lang="en-US" sz="1200">
                <a:solidFill>
                  <a:srgbClr val="C7D0D9"/>
                </a:solidFill>
              </a:rPr>
              <a:t>GPU-time cost: 5.31–7.16× one GPU</a:t>
            </a:r>
          </a:p>
          <a:p>
            <a:pPr marL="177800" indent="-177800">
              <a:buSzPct val="100000"/>
              <a:buChar char="•"/>
            </a:pPr>
            <a:r>
              <a:rPr lang="en-US" sz="1200">
                <a:solidFill>
                  <a:srgbClr val="C7D0D9"/>
                </a:solidFill>
              </a:rPr>
              <a:t>Larger per-GPU work may amortize costs</a:t>
            </a:r>
            <a:endParaRPr lang="en-US" sz="1200" dirty="0"/>
          </a:p>
        </p:txBody>
      </p:sp>
      <p:sp>
        <p:nvSpPr>
          <p:cNvPr id="43"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11</a:t>
            </a:r>
            <a:endParaRPr lang="en-US"/>
          </a:p>
        </p:txBody>
      </p:sp>
      <p:sp>
        <p:nvSpPr>
          <p:cNvPr id="44" name="TextBox 43">
            <a:extLst>
              <a:ext uri="{FF2B5EF4-FFF2-40B4-BE49-F238E27FC236}">
                <a16:creationId xmlns:a16="http://schemas.microsoft.com/office/drawing/2014/main" id="{32E537C1-B1C1-3159-B01A-825A02F82745}"/>
              </a:ext>
            </a:extLst>
          </p:cNvPr>
          <p:cNvSpPr txBox="1"/>
          <p:nvPr/>
        </p:nvSpPr>
        <p:spPr>
          <a:xfrm>
            <a:off x="2159000" y="4181621"/>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62.49</a:t>
            </a:r>
          </a:p>
        </p:txBody>
      </p:sp>
      <p:sp>
        <p:nvSpPr>
          <p:cNvPr id="45" name="TextBox 44">
            <a:extLst>
              <a:ext uri="{FF2B5EF4-FFF2-40B4-BE49-F238E27FC236}">
                <a16:creationId xmlns:a16="http://schemas.microsoft.com/office/drawing/2014/main" id="{72ED4E8F-704A-0FA5-C72E-A9818856E34A}"/>
              </a:ext>
            </a:extLst>
          </p:cNvPr>
          <p:cNvSpPr txBox="1"/>
          <p:nvPr/>
        </p:nvSpPr>
        <p:spPr>
          <a:xfrm>
            <a:off x="2730500" y="2738612"/>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165.78</a:t>
            </a:r>
          </a:p>
        </p:txBody>
      </p:sp>
      <p:sp>
        <p:nvSpPr>
          <p:cNvPr id="46" name="TextBox 45">
            <a:extLst>
              <a:ext uri="{FF2B5EF4-FFF2-40B4-BE49-F238E27FC236}">
                <a16:creationId xmlns:a16="http://schemas.microsoft.com/office/drawing/2014/main" id="{65BE3236-F9DA-BE1F-3293-05C450909434}"/>
              </a:ext>
            </a:extLst>
          </p:cNvPr>
          <p:cNvSpPr txBox="1"/>
          <p:nvPr/>
        </p:nvSpPr>
        <p:spPr>
          <a:xfrm>
            <a:off x="4254500" y="4344933"/>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50.80</a:t>
            </a:r>
          </a:p>
        </p:txBody>
      </p:sp>
      <p:sp>
        <p:nvSpPr>
          <p:cNvPr id="47" name="TextBox 46">
            <a:extLst>
              <a:ext uri="{FF2B5EF4-FFF2-40B4-BE49-F238E27FC236}">
                <a16:creationId xmlns:a16="http://schemas.microsoft.com/office/drawing/2014/main" id="{20314333-E2D4-3E5D-6D2E-61D21A1EBA8B}"/>
              </a:ext>
            </a:extLst>
          </p:cNvPr>
          <p:cNvSpPr txBox="1"/>
          <p:nvPr/>
        </p:nvSpPr>
        <p:spPr>
          <a:xfrm>
            <a:off x="4826000" y="2512467"/>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181.97</a:t>
            </a:r>
          </a:p>
        </p:txBody>
      </p:sp>
      <p:sp>
        <p:nvSpPr>
          <p:cNvPr id="48" name="TextBox 47">
            <a:extLst>
              <a:ext uri="{FF2B5EF4-FFF2-40B4-BE49-F238E27FC236}">
                <a16:creationId xmlns:a16="http://schemas.microsoft.com/office/drawing/2014/main" id="{85F1B1CF-D86C-0260-999F-25A3D533718D}"/>
              </a:ext>
            </a:extLst>
          </p:cNvPr>
          <p:cNvSpPr txBox="1"/>
          <p:nvPr/>
        </p:nvSpPr>
        <p:spPr>
          <a:xfrm>
            <a:off x="850900" y="52197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0</a:t>
            </a:r>
          </a:p>
        </p:txBody>
      </p:sp>
      <p:sp>
        <p:nvSpPr>
          <p:cNvPr id="49" name="TextBox 48">
            <a:extLst>
              <a:ext uri="{FF2B5EF4-FFF2-40B4-BE49-F238E27FC236}">
                <a16:creationId xmlns:a16="http://schemas.microsoft.com/office/drawing/2014/main" id="{A83A0837-44F6-7853-FF47-0ADF34F4F62C}"/>
              </a:ext>
            </a:extLst>
          </p:cNvPr>
          <p:cNvSpPr txBox="1"/>
          <p:nvPr/>
        </p:nvSpPr>
        <p:spPr>
          <a:xfrm>
            <a:off x="850900" y="45212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50</a:t>
            </a:r>
          </a:p>
        </p:txBody>
      </p:sp>
      <p:sp>
        <p:nvSpPr>
          <p:cNvPr id="50" name="TextBox 49">
            <a:extLst>
              <a:ext uri="{FF2B5EF4-FFF2-40B4-BE49-F238E27FC236}">
                <a16:creationId xmlns:a16="http://schemas.microsoft.com/office/drawing/2014/main" id="{E654BEDE-5DDB-9A86-E4A4-C9B0D4DA6D95}"/>
              </a:ext>
            </a:extLst>
          </p:cNvPr>
          <p:cNvSpPr txBox="1"/>
          <p:nvPr/>
        </p:nvSpPr>
        <p:spPr>
          <a:xfrm>
            <a:off x="850900" y="38227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100</a:t>
            </a:r>
          </a:p>
        </p:txBody>
      </p:sp>
      <p:sp>
        <p:nvSpPr>
          <p:cNvPr id="51" name="TextBox 50">
            <a:extLst>
              <a:ext uri="{FF2B5EF4-FFF2-40B4-BE49-F238E27FC236}">
                <a16:creationId xmlns:a16="http://schemas.microsoft.com/office/drawing/2014/main" id="{8ABBF999-DC3A-C8E5-391B-1E77F27CAE07}"/>
              </a:ext>
            </a:extLst>
          </p:cNvPr>
          <p:cNvSpPr txBox="1"/>
          <p:nvPr/>
        </p:nvSpPr>
        <p:spPr>
          <a:xfrm>
            <a:off x="850900" y="31242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150</a:t>
            </a:r>
          </a:p>
        </p:txBody>
      </p:sp>
      <p:sp>
        <p:nvSpPr>
          <p:cNvPr id="52" name="TextBox 51">
            <a:extLst>
              <a:ext uri="{FF2B5EF4-FFF2-40B4-BE49-F238E27FC236}">
                <a16:creationId xmlns:a16="http://schemas.microsoft.com/office/drawing/2014/main" id="{CFD66717-EC2E-5477-18F0-64D6BAB518F1}"/>
              </a:ext>
            </a:extLst>
          </p:cNvPr>
          <p:cNvSpPr txBox="1"/>
          <p:nvPr/>
        </p:nvSpPr>
        <p:spPr>
          <a:xfrm>
            <a:off x="850900" y="24257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200</a:t>
            </a:r>
          </a:p>
        </p:txBody>
      </p:sp>
      <p:cxnSp>
        <p:nvCxnSpPr>
          <p:cNvPr id="4" name="Straight Connector 3">
            <a:extLst>
              <a:ext uri="{FF2B5EF4-FFF2-40B4-BE49-F238E27FC236}">
                <a16:creationId xmlns:a16="http://schemas.microsoft.com/office/drawing/2014/main" id="{06E05EA1-3767-2653-F63E-C71497E79979}"/>
              </a:ext>
            </a:extLst>
          </p:cNvPr>
          <p:cNvCxnSpPr/>
          <p:nvPr/>
        </p:nvCxnSpPr>
        <p:spPr>
          <a:xfrm>
            <a:off x="1625600" y="3987145"/>
            <a:ext cx="4470400" cy="0"/>
          </a:xfrm>
          <a:prstGeom prst="line">
            <a:avLst/>
          </a:prstGeom>
          <a:ln w="19050">
            <a:solidFill>
              <a:srgbClr val="00FFFF"/>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3/4 — Faster GPU execution, same task quality</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GPU acceleration changes how the math executes. It does not inherently make the classifier more accurate.</a:t>
            </a:r>
            <a:endParaRPr lang="en-US" sz="1150" dirty="0"/>
          </a:p>
        </p:txBody>
      </p:sp>
      <p:sp>
        <p:nvSpPr>
          <p:cNvPr id="6" name="Shape 4"/>
          <p:cNvSpPr/>
          <p:nvPr/>
        </p:nvSpPr>
        <p:spPr>
          <a:xfrm>
            <a:off x="603504" y="1225296"/>
            <a:ext cx="10972800" cy="4992624"/>
          </a:xfrm>
          <a:prstGeom prst="roundRect">
            <a:avLst>
              <a:gd name="adj" fmla="val 1465"/>
            </a:avLst>
          </a:prstGeom>
          <a:solidFill>
            <a:srgbClr val="121923"/>
          </a:solidFill>
          <a:ln w="12700">
            <a:solidFill>
              <a:srgbClr val="25303D"/>
            </a:solidFill>
            <a:prstDash val="solid"/>
          </a:ln>
        </p:spPr>
      </p:sp>
      <p:sp>
        <p:nvSpPr>
          <p:cNvPr id="7" name="Shape 5"/>
          <p:cNvSpPr/>
          <p:nvPr/>
        </p:nvSpPr>
        <p:spPr>
          <a:xfrm>
            <a:off x="896112" y="1737360"/>
            <a:ext cx="2331720" cy="1143000"/>
          </a:xfrm>
          <a:prstGeom prst="roundRect">
            <a:avLst>
              <a:gd name="adj" fmla="val 5600"/>
            </a:avLst>
          </a:prstGeom>
          <a:solidFill>
            <a:srgbClr val="41D9FF">
              <a:alpha val="18000"/>
            </a:srgbClr>
          </a:solidFill>
          <a:ln w="12700">
            <a:solidFill>
              <a:srgbClr val="41D9FF">
                <a:alpha val="65000"/>
              </a:srgbClr>
            </a:solidFill>
            <a:prstDash val="solid"/>
          </a:ln>
        </p:spPr>
      </p:sp>
      <p:sp>
        <p:nvSpPr>
          <p:cNvPr id="8" name="Text 6"/>
          <p:cNvSpPr/>
          <p:nvPr/>
        </p:nvSpPr>
        <p:spPr>
          <a:xfrm>
            <a:off x="1060704" y="1965960"/>
            <a:ext cx="1965960" cy="201168"/>
          </a:xfrm>
          <a:prstGeom prst="rect">
            <a:avLst/>
          </a:prstGeom>
          <a:noFill/>
          <a:ln/>
        </p:spPr>
        <p:txBody>
          <a:bodyPr wrap="square" lIns="0" tIns="0" rIns="0" bIns="0" rtlCol="0" anchor="ctr">
            <a:noAutofit/>
          </a:bodyPr>
          <a:lstStyle/>
          <a:p>
            <a:pPr marL="0" indent="0">
              <a:buNone/>
            </a:pPr>
            <a:r>
              <a:rPr lang="en-US" sz="1200" b="1" dirty="0">
                <a:solidFill>
                  <a:srgbClr val="41D9FF"/>
                </a:solidFill>
              </a:rPr>
              <a:t>CPU accuracy</a:t>
            </a:r>
            <a:endParaRPr lang="en-US" sz="1200" dirty="0"/>
          </a:p>
        </p:txBody>
      </p:sp>
      <p:sp>
        <p:nvSpPr>
          <p:cNvPr id="9" name="Text 7"/>
          <p:cNvSpPr/>
          <p:nvPr/>
        </p:nvSpPr>
        <p:spPr>
          <a:xfrm>
            <a:off x="106070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97.13%</a:t>
            </a:r>
            <a:endParaRPr lang="en-US" sz="2000" dirty="0"/>
          </a:p>
        </p:txBody>
      </p:sp>
      <p:sp>
        <p:nvSpPr>
          <p:cNvPr id="10" name="Shape 8"/>
          <p:cNvSpPr/>
          <p:nvPr/>
        </p:nvSpPr>
        <p:spPr>
          <a:xfrm>
            <a:off x="3547872" y="1737360"/>
            <a:ext cx="2331720" cy="1143000"/>
          </a:xfrm>
          <a:prstGeom prst="roundRect">
            <a:avLst>
              <a:gd name="adj" fmla="val 5600"/>
            </a:avLst>
          </a:prstGeom>
          <a:solidFill>
            <a:srgbClr val="76B900">
              <a:alpha val="18000"/>
            </a:srgbClr>
          </a:solidFill>
          <a:ln w="12700">
            <a:solidFill>
              <a:srgbClr val="76B900">
                <a:alpha val="65000"/>
              </a:srgbClr>
            </a:solidFill>
            <a:prstDash val="solid"/>
          </a:ln>
        </p:spPr>
      </p:sp>
      <p:sp>
        <p:nvSpPr>
          <p:cNvPr id="11" name="Text 9"/>
          <p:cNvSpPr/>
          <p:nvPr/>
        </p:nvSpPr>
        <p:spPr>
          <a:xfrm>
            <a:off x="3712464" y="1965960"/>
            <a:ext cx="1965960" cy="201168"/>
          </a:xfrm>
          <a:prstGeom prst="rect">
            <a:avLst/>
          </a:prstGeom>
          <a:noFill/>
          <a:ln/>
        </p:spPr>
        <p:txBody>
          <a:bodyPr wrap="square" lIns="0" tIns="0" rIns="0" bIns="0" rtlCol="0" anchor="ctr">
            <a:noAutofit/>
          </a:bodyPr>
          <a:lstStyle/>
          <a:p>
            <a:pPr marL="0" indent="0">
              <a:buNone/>
            </a:pPr>
            <a:r>
              <a:rPr lang="en-US" sz="1200" b="1">
                <a:solidFill>
                  <a:srgbClr val="76B900"/>
                </a:solidFill>
              </a:rPr>
              <a:t>1-GPU accuracy</a:t>
            </a:r>
            <a:endParaRPr lang="en-US" sz="1200" dirty="0"/>
          </a:p>
        </p:txBody>
      </p:sp>
      <p:sp>
        <p:nvSpPr>
          <p:cNvPr id="12" name="Text 10"/>
          <p:cNvSpPr/>
          <p:nvPr/>
        </p:nvSpPr>
        <p:spPr>
          <a:xfrm>
            <a:off x="371246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97.17%</a:t>
            </a:r>
            <a:endParaRPr lang="en-US" sz="2000" dirty="0"/>
          </a:p>
        </p:txBody>
      </p:sp>
      <p:sp>
        <p:nvSpPr>
          <p:cNvPr id="13" name="Shape 11"/>
          <p:cNvSpPr/>
          <p:nvPr/>
        </p:nvSpPr>
        <p:spPr>
          <a:xfrm>
            <a:off x="6199632" y="1737360"/>
            <a:ext cx="2331720" cy="1143000"/>
          </a:xfrm>
          <a:prstGeom prst="roundRect">
            <a:avLst>
              <a:gd name="adj" fmla="val 5600"/>
            </a:avLst>
          </a:prstGeom>
          <a:solidFill>
            <a:srgbClr val="FFB454">
              <a:alpha val="18000"/>
            </a:srgbClr>
          </a:solidFill>
          <a:ln w="12700">
            <a:solidFill>
              <a:srgbClr val="FFB454">
                <a:alpha val="65000"/>
              </a:srgbClr>
            </a:solidFill>
            <a:prstDash val="solid"/>
          </a:ln>
        </p:spPr>
      </p:sp>
      <p:sp>
        <p:nvSpPr>
          <p:cNvPr id="14" name="Text 12"/>
          <p:cNvSpPr/>
          <p:nvPr/>
        </p:nvSpPr>
        <p:spPr>
          <a:xfrm>
            <a:off x="6364224" y="1965960"/>
            <a:ext cx="1965960" cy="201168"/>
          </a:xfrm>
          <a:prstGeom prst="rect">
            <a:avLst/>
          </a:prstGeom>
          <a:noFill/>
          <a:ln/>
        </p:spPr>
        <p:txBody>
          <a:bodyPr wrap="square" lIns="0" tIns="0" rIns="0" bIns="0" rtlCol="0" anchor="ctr">
            <a:noAutofit/>
          </a:bodyPr>
          <a:lstStyle/>
          <a:p>
            <a:pPr marL="0" indent="0">
              <a:buNone/>
            </a:pPr>
            <a:r>
              <a:rPr lang="en-US" sz="1200" b="1">
                <a:solidFill>
                  <a:srgbClr val="FFB454"/>
                </a:solidFill>
              </a:rPr>
              <a:t>2-GPU accuracy</a:t>
            </a:r>
            <a:endParaRPr lang="en-US" sz="1200" dirty="0"/>
          </a:p>
        </p:txBody>
      </p:sp>
      <p:sp>
        <p:nvSpPr>
          <p:cNvPr id="15" name="Text 13"/>
          <p:cNvSpPr/>
          <p:nvPr/>
        </p:nvSpPr>
        <p:spPr>
          <a:xfrm>
            <a:off x="636422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97.15–97.17%</a:t>
            </a:r>
            <a:endParaRPr lang="en-US" sz="2000" dirty="0"/>
          </a:p>
        </p:txBody>
      </p:sp>
      <p:sp>
        <p:nvSpPr>
          <p:cNvPr id="16" name="Shape 14"/>
          <p:cNvSpPr/>
          <p:nvPr/>
        </p:nvSpPr>
        <p:spPr>
          <a:xfrm>
            <a:off x="8851392" y="1737360"/>
            <a:ext cx="2331720" cy="1143000"/>
          </a:xfrm>
          <a:prstGeom prst="roundRect">
            <a:avLst>
              <a:gd name="adj" fmla="val 5600"/>
            </a:avLst>
          </a:prstGeom>
          <a:solidFill>
            <a:srgbClr val="A78BFA">
              <a:alpha val="18000"/>
            </a:srgbClr>
          </a:solidFill>
          <a:ln w="12700">
            <a:solidFill>
              <a:srgbClr val="A78BFA">
                <a:alpha val="65000"/>
              </a:srgbClr>
            </a:solidFill>
            <a:prstDash val="solid"/>
          </a:ln>
        </p:spPr>
      </p:sp>
      <p:sp>
        <p:nvSpPr>
          <p:cNvPr id="17" name="Text 15"/>
          <p:cNvSpPr/>
          <p:nvPr/>
        </p:nvSpPr>
        <p:spPr>
          <a:xfrm>
            <a:off x="9015984" y="1965960"/>
            <a:ext cx="1965960" cy="201168"/>
          </a:xfrm>
          <a:prstGeom prst="rect">
            <a:avLst/>
          </a:prstGeom>
          <a:noFill/>
          <a:ln/>
        </p:spPr>
        <p:txBody>
          <a:bodyPr wrap="square" lIns="0" tIns="0" rIns="0" bIns="0" rtlCol="0" anchor="ctr">
            <a:noAutofit/>
          </a:bodyPr>
          <a:lstStyle/>
          <a:p>
            <a:pPr marL="0" indent="0">
              <a:buNone/>
            </a:pPr>
            <a:r>
              <a:rPr lang="en-US" sz="1200" b="1">
                <a:solidFill>
                  <a:srgbClr val="A78BFA"/>
                </a:solidFill>
              </a:rPr>
              <a:t>Max forward |</a:t>
            </a:r>
            <a:r>
              <a:rPr lang="el-GR" sz="1200" b="1">
                <a:solidFill>
                  <a:srgbClr val="A78BFA"/>
                </a:solidFill>
              </a:rPr>
              <a:t>Δ|</a:t>
            </a:r>
            <a:endParaRPr lang="en-US" sz="1200" dirty="0"/>
          </a:p>
        </p:txBody>
      </p:sp>
      <p:sp>
        <p:nvSpPr>
          <p:cNvPr id="18" name="Text 16"/>
          <p:cNvSpPr/>
          <p:nvPr/>
        </p:nvSpPr>
        <p:spPr>
          <a:xfrm>
            <a:off x="901598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3.58e-07</a:t>
            </a:r>
            <a:endParaRPr lang="en-US" sz="2000" dirty="0"/>
          </a:p>
        </p:txBody>
      </p:sp>
      <p:sp>
        <p:nvSpPr>
          <p:cNvPr id="19" name="Shape 17"/>
          <p:cNvSpPr/>
          <p:nvPr/>
        </p:nvSpPr>
        <p:spPr>
          <a:xfrm>
            <a:off x="896112" y="3246120"/>
            <a:ext cx="5760720" cy="2331720"/>
          </a:xfrm>
          <a:prstGeom prst="roundRect">
            <a:avLst>
              <a:gd name="adj" fmla="val 3137"/>
            </a:avLst>
          </a:prstGeom>
          <a:solidFill>
            <a:srgbClr val="18212D"/>
          </a:solidFill>
          <a:ln w="12700">
            <a:solidFill>
              <a:srgbClr val="344252"/>
            </a:solidFill>
            <a:prstDash val="solid"/>
          </a:ln>
        </p:spPr>
      </p:sp>
      <p:sp>
        <p:nvSpPr>
          <p:cNvPr id="20" name="Shape 18"/>
          <p:cNvSpPr/>
          <p:nvPr/>
        </p:nvSpPr>
        <p:spPr>
          <a:xfrm>
            <a:off x="1143000" y="3520440"/>
            <a:ext cx="749808"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1" name="Text 19"/>
          <p:cNvSpPr/>
          <p:nvPr/>
        </p:nvSpPr>
        <p:spPr>
          <a:xfrm>
            <a:off x="1143000" y="3598164"/>
            <a:ext cx="749808"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CHECK</a:t>
            </a:r>
            <a:endParaRPr lang="en-US" sz="850" dirty="0"/>
          </a:p>
        </p:txBody>
      </p:sp>
      <p:sp>
        <p:nvSpPr>
          <p:cNvPr id="22" name="Text 20"/>
          <p:cNvSpPr/>
          <p:nvPr/>
        </p:nvSpPr>
        <p:spPr>
          <a:xfrm>
            <a:off x="1143000" y="3911600"/>
            <a:ext cx="2651760" cy="571500"/>
          </a:xfrm>
          <a:prstGeom prst="rect">
            <a:avLst/>
          </a:prstGeom>
          <a:noFill/>
          <a:ln/>
        </p:spPr>
        <p:txBody>
          <a:bodyPr wrap="square" lIns="0" tIns="0" rIns="0" bIns="0" rtlCol="0" anchor="ctr">
            <a:noAutofit/>
          </a:bodyPr>
          <a:lstStyle/>
          <a:p>
            <a:pPr marL="0" indent="0">
              <a:buNone/>
            </a:pPr>
            <a:r>
              <a:rPr lang="en-US" sz="1500" b="1">
                <a:solidFill>
                  <a:srgbClr val="F4F7FA"/>
                </a:solidFill>
              </a:rPr>
              <a:t>Same input, same weights, same FP32 precision</a:t>
            </a:r>
            <a:endParaRPr lang="en-US" sz="1500" dirty="0"/>
          </a:p>
        </p:txBody>
      </p:sp>
      <p:sp>
        <p:nvSpPr>
          <p:cNvPr id="23" name="Text 21"/>
          <p:cNvSpPr/>
          <p:nvPr/>
        </p:nvSpPr>
        <p:spPr>
          <a:xfrm>
            <a:off x="1152144" y="4608576"/>
            <a:ext cx="914400" cy="201168"/>
          </a:xfrm>
          <a:prstGeom prst="rect">
            <a:avLst/>
          </a:prstGeom>
          <a:noFill/>
          <a:ln/>
        </p:spPr>
        <p:txBody>
          <a:bodyPr wrap="square" lIns="0" tIns="0" rIns="0" bIns="0" rtlCol="0" anchor="ctr">
            <a:noAutofit/>
          </a:bodyPr>
          <a:lstStyle/>
          <a:p>
            <a:pPr marL="0" indent="0">
              <a:buNone/>
            </a:pPr>
            <a:r>
              <a:rPr lang="en-US" sz="1100" dirty="0">
                <a:solidFill>
                  <a:srgbClr val="41D9FF"/>
                </a:solidFill>
              </a:rPr>
              <a:t>CPU output</a:t>
            </a:r>
            <a:endParaRPr lang="en-US" sz="1100" dirty="0"/>
          </a:p>
        </p:txBody>
      </p:sp>
      <p:sp>
        <p:nvSpPr>
          <p:cNvPr id="24" name="Text 22"/>
          <p:cNvSpPr/>
          <p:nvPr/>
        </p:nvSpPr>
        <p:spPr>
          <a:xfrm>
            <a:off x="2121408" y="4544568"/>
            <a:ext cx="320040" cy="393700"/>
          </a:xfrm>
          <a:prstGeom prst="rect">
            <a:avLst/>
          </a:prstGeom>
          <a:noFill/>
          <a:ln/>
        </p:spPr>
        <p:txBody>
          <a:bodyPr wrap="square" lIns="0" tIns="0" rIns="0" bIns="0" rtlCol="0" anchor="ctr">
            <a:noAutofit/>
          </a:bodyPr>
          <a:lstStyle/>
          <a:p>
            <a:pPr marL="0" indent="0" algn="ctr">
              <a:buNone/>
            </a:pPr>
            <a:r>
              <a:rPr lang="en-US" sz="2400" b="1" dirty="0">
                <a:solidFill>
                  <a:srgbClr val="7E8A97"/>
                </a:solidFill>
              </a:rPr>
              <a:t>≈</a:t>
            </a:r>
            <a:endParaRPr lang="en-US" sz="2400" dirty="0"/>
          </a:p>
        </p:txBody>
      </p:sp>
      <p:sp>
        <p:nvSpPr>
          <p:cNvPr id="25" name="Text 23"/>
          <p:cNvSpPr/>
          <p:nvPr/>
        </p:nvSpPr>
        <p:spPr>
          <a:xfrm>
            <a:off x="2542032" y="4608576"/>
            <a:ext cx="914400" cy="201168"/>
          </a:xfrm>
          <a:prstGeom prst="rect">
            <a:avLst/>
          </a:prstGeom>
          <a:noFill/>
          <a:ln/>
        </p:spPr>
        <p:txBody>
          <a:bodyPr wrap="square" lIns="0" tIns="0" rIns="0" bIns="0" rtlCol="0" anchor="ctr">
            <a:noAutofit/>
          </a:bodyPr>
          <a:lstStyle/>
          <a:p>
            <a:pPr marL="0" indent="0">
              <a:buNone/>
            </a:pPr>
            <a:r>
              <a:rPr lang="en-US" sz="1100" dirty="0">
                <a:solidFill>
                  <a:srgbClr val="76B900"/>
                </a:solidFill>
              </a:rPr>
              <a:t>GPU output</a:t>
            </a:r>
            <a:endParaRPr lang="en-US" sz="1100" dirty="0"/>
          </a:p>
        </p:txBody>
      </p:sp>
      <p:sp>
        <p:nvSpPr>
          <p:cNvPr id="26" name="Text 24"/>
          <p:cNvSpPr/>
          <p:nvPr/>
        </p:nvSpPr>
        <p:spPr>
          <a:xfrm>
            <a:off x="3520440" y="4544568"/>
            <a:ext cx="320040" cy="393700"/>
          </a:xfrm>
          <a:prstGeom prst="rect">
            <a:avLst/>
          </a:prstGeom>
          <a:noFill/>
          <a:ln/>
        </p:spPr>
        <p:txBody>
          <a:bodyPr wrap="square" lIns="0" tIns="0" rIns="0" bIns="0" rtlCol="0" anchor="ctr">
            <a:noAutofit/>
          </a:bodyPr>
          <a:lstStyle/>
          <a:p>
            <a:pPr marL="0" indent="0" algn="ctr">
              <a:buNone/>
            </a:pPr>
            <a:r>
              <a:rPr lang="en-US" sz="2400" b="1" dirty="0">
                <a:solidFill>
                  <a:srgbClr val="7E8A97"/>
                </a:solidFill>
              </a:rPr>
              <a:t>≈</a:t>
            </a:r>
            <a:endParaRPr lang="en-US" sz="2400" dirty="0"/>
          </a:p>
        </p:txBody>
      </p:sp>
      <p:sp>
        <p:nvSpPr>
          <p:cNvPr id="27" name="Text 25"/>
          <p:cNvSpPr/>
          <p:nvPr/>
        </p:nvSpPr>
        <p:spPr>
          <a:xfrm>
            <a:off x="3931920" y="4608576"/>
            <a:ext cx="1143000" cy="201168"/>
          </a:xfrm>
          <a:prstGeom prst="rect">
            <a:avLst/>
          </a:prstGeom>
          <a:noFill/>
          <a:ln/>
        </p:spPr>
        <p:txBody>
          <a:bodyPr wrap="square" lIns="0" tIns="0" rIns="0" bIns="0" rtlCol="0" anchor="ctr">
            <a:noAutofit/>
          </a:bodyPr>
          <a:lstStyle/>
          <a:p>
            <a:pPr marL="0" indent="0">
              <a:buNone/>
            </a:pPr>
            <a:r>
              <a:rPr lang="en-US" sz="1100" dirty="0">
                <a:solidFill>
                  <a:srgbClr val="FFB454"/>
                </a:solidFill>
              </a:rPr>
              <a:t>2-GPU output</a:t>
            </a:r>
            <a:endParaRPr lang="en-US" sz="1100" dirty="0"/>
          </a:p>
        </p:txBody>
      </p:sp>
      <p:sp>
        <p:nvSpPr>
          <p:cNvPr id="28" name="Text 26"/>
          <p:cNvSpPr/>
          <p:nvPr/>
        </p:nvSpPr>
        <p:spPr>
          <a:xfrm>
            <a:off x="1143000" y="5003800"/>
            <a:ext cx="4978400" cy="546100"/>
          </a:xfrm>
          <a:prstGeom prst="rect">
            <a:avLst/>
          </a:prstGeom>
          <a:noFill/>
          <a:ln/>
        </p:spPr>
        <p:txBody>
          <a:bodyPr wrap="square" lIns="0" tIns="0" rIns="0" bIns="0" rtlCol="0" anchor="ctr">
            <a:noAutofit/>
          </a:bodyPr>
          <a:lstStyle/>
          <a:p>
            <a:pPr marL="0" indent="0">
              <a:buNone/>
            </a:pPr>
            <a:r>
              <a:rPr lang="en-US" sz="1150">
                <a:solidFill>
                  <a:srgbClr val="C7D0D9"/>
                </a:solidFill>
              </a:rPr>
              <a:t>119 numerical checks at matched inputs/weights.</a:t>
            </a:r>
          </a:p>
          <a:p>
            <a:pPr marL="0" indent="0">
              <a:buNone/>
            </a:pPr>
            <a:r>
              <a:rPr lang="en-US" sz="1150">
                <a:solidFill>
                  <a:srgbClr val="C7D0D9"/>
                </a:solidFill>
              </a:rPr>
              <a:t>Test accuracy uses epoch 50, not the best validation checkpoint.</a:t>
            </a:r>
            <a:endParaRPr lang="en-US" sz="1150" dirty="0"/>
          </a:p>
        </p:txBody>
      </p:sp>
      <p:sp>
        <p:nvSpPr>
          <p:cNvPr id="29" name="Shape 27"/>
          <p:cNvSpPr/>
          <p:nvPr/>
        </p:nvSpPr>
        <p:spPr>
          <a:xfrm>
            <a:off x="6967728" y="3246120"/>
            <a:ext cx="4151376" cy="2717800"/>
          </a:xfrm>
          <a:prstGeom prst="roundRect">
            <a:avLst>
              <a:gd name="adj" fmla="val 3137"/>
            </a:avLst>
          </a:prstGeom>
          <a:solidFill>
            <a:srgbClr val="18212D"/>
          </a:solidFill>
          <a:ln w="12700">
            <a:solidFill>
              <a:srgbClr val="344252"/>
            </a:solidFill>
            <a:prstDash val="solid"/>
          </a:ln>
        </p:spPr>
      </p:sp>
      <p:sp>
        <p:nvSpPr>
          <p:cNvPr id="30" name="Shape 28"/>
          <p:cNvSpPr/>
          <p:nvPr/>
        </p:nvSpPr>
        <p:spPr>
          <a:xfrm>
            <a:off x="7242048" y="3520440"/>
            <a:ext cx="105156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31" name="Text 29"/>
          <p:cNvSpPr/>
          <p:nvPr/>
        </p:nvSpPr>
        <p:spPr>
          <a:xfrm>
            <a:off x="7242048" y="3598164"/>
            <a:ext cx="1051560" cy="128016"/>
          </a:xfrm>
          <a:prstGeom prst="rect">
            <a:avLst/>
          </a:prstGeom>
          <a:noFill/>
          <a:ln/>
        </p:spPr>
        <p:txBody>
          <a:bodyPr wrap="square" lIns="0" tIns="0" rIns="0" bIns="0" rtlCol="0" anchor="ctr">
            <a:noAutofit/>
          </a:bodyPr>
          <a:lstStyle/>
          <a:p>
            <a:pPr marL="0" indent="0" algn="ctr">
              <a:buNone/>
            </a:pPr>
            <a:r>
              <a:rPr lang="en-US" sz="850" b="1" kern="0" spc="100">
                <a:solidFill>
                  <a:srgbClr val="FFB454"/>
                </a:solidFill>
              </a:rPr>
              <a:t>GPU MECHANISM</a:t>
            </a:r>
            <a:endParaRPr lang="en-US" sz="850" dirty="0"/>
          </a:p>
        </p:txBody>
      </p:sp>
      <p:sp>
        <p:nvSpPr>
          <p:cNvPr id="32" name="Text 30"/>
          <p:cNvSpPr/>
          <p:nvPr/>
        </p:nvSpPr>
        <p:spPr>
          <a:xfrm>
            <a:off x="7242048" y="3937000"/>
            <a:ext cx="3383280" cy="1409700"/>
          </a:xfrm>
          <a:prstGeom prst="rect">
            <a:avLst/>
          </a:prstGeom>
          <a:noFill/>
          <a:ln/>
        </p:spPr>
        <p:txBody>
          <a:bodyPr wrap="square" lIns="381" tIns="381" rIns="381" bIns="381" rtlCol="0" anchor="ctr">
            <a:noAutofit/>
          </a:bodyPr>
          <a:lstStyle/>
          <a:p>
            <a:pPr marL="177800" indent="-177800">
              <a:buSzPct val="100000"/>
              <a:buChar char="•"/>
            </a:pPr>
            <a:r>
              <a:rPr lang="en-US" sz="1250">
                <a:solidFill>
                  <a:srgbClr val="C7D0D9"/>
                </a:solidFill>
              </a:rPr>
              <a:t>Many image/filter outputs run together</a:t>
            </a:r>
          </a:p>
          <a:p>
            <a:pPr marL="177800" indent="-177800">
              <a:buSzPct val="100000"/>
              <a:buChar char="•"/>
            </a:pPr>
            <a:r>
              <a:rPr lang="en-US" sz="1250">
                <a:solidFill>
                  <a:srgbClr val="C7D0D9"/>
                </a:solidFill>
              </a:rPr>
              <a:t>Library tiling reuses input and weights</a:t>
            </a:r>
          </a:p>
          <a:p>
            <a:pPr marL="177800" indent="-177800">
              <a:buSzPct val="100000"/>
              <a:buChar char="•"/>
            </a:pPr>
            <a:r>
              <a:rPr lang="en-US" sz="1250">
                <a:solidFill>
                  <a:srgbClr val="C7D0D9"/>
                </a:solidFill>
              </a:rPr>
              <a:t>VRAM keeps tensors near GPU compute</a:t>
            </a:r>
          </a:p>
          <a:p>
            <a:pPr marL="177800" indent="-177800">
              <a:buSzPct val="100000"/>
              <a:buChar char="•"/>
            </a:pPr>
            <a:r>
              <a:rPr lang="en-US" sz="1250">
                <a:solidFill>
                  <a:srgbClr val="C7D0D9"/>
                </a:solidFill>
              </a:rPr>
              <a:t>Batch 64 shares launch cost across images</a:t>
            </a:r>
            <a:endParaRPr lang="en-US" sz="1250" dirty="0"/>
          </a:p>
        </p:txBody>
      </p:sp>
      <p:sp>
        <p:nvSpPr>
          <p:cNvPr id="33" name="Text 31"/>
          <p:cNvSpPr/>
          <p:nvPr/>
        </p:nvSpPr>
        <p:spPr>
          <a:xfrm>
            <a:off x="7242048" y="5410200"/>
            <a:ext cx="3429000" cy="444500"/>
          </a:xfrm>
          <a:prstGeom prst="rect">
            <a:avLst/>
          </a:prstGeom>
          <a:noFill/>
          <a:ln/>
        </p:spPr>
        <p:txBody>
          <a:bodyPr wrap="square" lIns="0" tIns="0" rIns="0" bIns="0" rtlCol="0" anchor="ctr">
            <a:noAutofit/>
          </a:bodyPr>
          <a:lstStyle/>
          <a:p>
            <a:pPr marL="0" indent="0">
              <a:buNone/>
            </a:pPr>
            <a:r>
              <a:rPr lang="en-US" sz="1100" b="1">
                <a:solidFill>
                  <a:srgbClr val="A3E635"/>
                </a:solidFill>
              </a:rPr>
              <a:t>Mechanism explains the trend; no utilization profile.</a:t>
            </a:r>
            <a:endParaRPr lang="en-US" sz="1100" dirty="0"/>
          </a:p>
        </p:txBody>
      </p:sp>
      <p:sp>
        <p:nvSpPr>
          <p:cNvPr id="34"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4/4 — When to choose one GPU or two</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Choose by useful work per step: our measured winner is one T4; multi-GPU gains need a heavier workload.</a:t>
            </a:r>
            <a:endParaRPr lang="en-US" sz="1150" dirty="0"/>
          </a:p>
        </p:txBody>
      </p:sp>
      <p:sp>
        <p:nvSpPr>
          <p:cNvPr id="6" name="Shape 4"/>
          <p:cNvSpPr/>
          <p:nvPr/>
        </p:nvSpPr>
        <p:spPr>
          <a:xfrm>
            <a:off x="658368" y="1399032"/>
            <a:ext cx="5230368" cy="1572768"/>
          </a:xfrm>
          <a:prstGeom prst="roundRect">
            <a:avLst>
              <a:gd name="adj" fmla="val 4651"/>
            </a:avLst>
          </a:prstGeom>
          <a:solidFill>
            <a:srgbClr val="121923"/>
          </a:solidFill>
          <a:ln w="12700">
            <a:solidFill>
              <a:srgbClr val="25303D"/>
            </a:solidFill>
            <a:prstDash val="solid"/>
          </a:ln>
        </p:spPr>
      </p:sp>
      <p:sp>
        <p:nvSpPr>
          <p:cNvPr id="7" name="Shape 5"/>
          <p:cNvSpPr/>
          <p:nvPr/>
        </p:nvSpPr>
        <p:spPr>
          <a:xfrm>
            <a:off x="886968" y="1719072"/>
            <a:ext cx="548640" cy="548640"/>
          </a:xfrm>
          <a:prstGeom prst="ellipse">
            <a:avLst/>
          </a:prstGeom>
          <a:solidFill>
            <a:srgbClr val="41D9FF"/>
          </a:solidFill>
          <a:ln w="12700">
            <a:solidFill>
              <a:srgbClr val="41D9FF"/>
            </a:solidFill>
            <a:prstDash val="solid"/>
          </a:ln>
        </p:spPr>
      </p:sp>
      <p:sp>
        <p:nvSpPr>
          <p:cNvPr id="8" name="Text 6"/>
          <p:cNvSpPr/>
          <p:nvPr/>
        </p:nvSpPr>
        <p:spPr>
          <a:xfrm>
            <a:off x="886968" y="187452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1</a:t>
            </a:r>
            <a:endParaRPr lang="en-US" sz="1200" dirty="0"/>
          </a:p>
        </p:txBody>
      </p:sp>
      <p:sp>
        <p:nvSpPr>
          <p:cNvPr id="9" name="Text 7"/>
          <p:cNvSpPr/>
          <p:nvPr/>
        </p:nvSpPr>
        <p:spPr>
          <a:xfrm>
            <a:off x="1618488" y="1655064"/>
            <a:ext cx="3886200" cy="320040"/>
          </a:xfrm>
          <a:prstGeom prst="rect">
            <a:avLst/>
          </a:prstGeom>
          <a:noFill/>
          <a:ln/>
        </p:spPr>
        <p:txBody>
          <a:bodyPr wrap="square" lIns="0" tIns="0" rIns="0" bIns="0" rtlCol="0" anchor="ctr">
            <a:noAutofit/>
          </a:bodyPr>
          <a:lstStyle/>
          <a:p>
            <a:pPr marL="0" indent="0">
              <a:buNone/>
            </a:pPr>
            <a:r>
              <a:rPr lang="en-US" sz="1550" b="1">
                <a:solidFill>
                  <a:srgbClr val="41D9FF"/>
                </a:solidFill>
              </a:rPr>
              <a:t>One GPU: measured training gain</a:t>
            </a:r>
            <a:endParaRPr lang="en-US" sz="1550" dirty="0"/>
          </a:p>
        </p:txBody>
      </p:sp>
      <p:sp>
        <p:nvSpPr>
          <p:cNvPr id="10" name="Text 8"/>
          <p:cNvSpPr/>
          <p:nvPr/>
        </p:nvSpPr>
        <p:spPr>
          <a:xfrm>
            <a:off x="1618488" y="2112264"/>
            <a:ext cx="3886200" cy="711200"/>
          </a:xfrm>
          <a:prstGeom prst="rect">
            <a:avLst/>
          </a:prstGeom>
          <a:noFill/>
          <a:ln/>
        </p:spPr>
        <p:txBody>
          <a:bodyPr wrap="square" lIns="0" tIns="0" rIns="0" bIns="0" rtlCol="0" anchor="ctr">
            <a:noAutofit/>
          </a:bodyPr>
          <a:lstStyle/>
          <a:p>
            <a:pPr marL="0" indent="0">
              <a:buNone/>
            </a:pPr>
            <a:r>
              <a:rPr lang="en-US" sz="1250">
                <a:solidFill>
                  <a:srgbClr val="C7D0D9"/>
                </a:solidFill>
              </a:rPr>
              <a:t>PyTorch: 1.86× CPU speed; cuDNN: 1.51×.</a:t>
            </a:r>
          </a:p>
          <a:p>
            <a:pPr marL="0" indent="0">
              <a:buNone/>
            </a:pPr>
            <a:r>
              <a:rPr lang="en-US" sz="1250">
                <a:solidFill>
                  <a:srgbClr val="C7D0D9"/>
                </a:solidFill>
              </a:rPr>
              <a:t>Parallel dot products and data reuse help</a:t>
            </a:r>
          </a:p>
          <a:p>
            <a:pPr marL="0" indent="0">
              <a:buNone/>
            </a:pPr>
            <a:r>
              <a:rPr lang="en-US" sz="1250">
                <a:solidFill>
                  <a:srgbClr val="C7D0D9"/>
                </a:solidFill>
              </a:rPr>
              <a:t>when compute outweighs launch overhead.</a:t>
            </a:r>
            <a:endParaRPr lang="en-US" sz="1250" dirty="0"/>
          </a:p>
        </p:txBody>
      </p:sp>
      <p:sp>
        <p:nvSpPr>
          <p:cNvPr id="11" name="Shape 9"/>
          <p:cNvSpPr/>
          <p:nvPr/>
        </p:nvSpPr>
        <p:spPr>
          <a:xfrm>
            <a:off x="6254496" y="1399032"/>
            <a:ext cx="5230368" cy="1572768"/>
          </a:xfrm>
          <a:prstGeom prst="roundRect">
            <a:avLst>
              <a:gd name="adj" fmla="val 4651"/>
            </a:avLst>
          </a:prstGeom>
          <a:solidFill>
            <a:srgbClr val="121923"/>
          </a:solidFill>
          <a:ln w="12700">
            <a:solidFill>
              <a:srgbClr val="25303D"/>
            </a:solidFill>
            <a:prstDash val="solid"/>
          </a:ln>
        </p:spPr>
      </p:sp>
      <p:sp>
        <p:nvSpPr>
          <p:cNvPr id="12" name="Shape 10"/>
          <p:cNvSpPr/>
          <p:nvPr/>
        </p:nvSpPr>
        <p:spPr>
          <a:xfrm>
            <a:off x="6483096" y="1719072"/>
            <a:ext cx="548640" cy="548640"/>
          </a:xfrm>
          <a:prstGeom prst="ellipse">
            <a:avLst/>
          </a:prstGeom>
          <a:solidFill>
            <a:srgbClr val="76B900"/>
          </a:solidFill>
          <a:ln w="12700">
            <a:solidFill>
              <a:srgbClr val="76B900"/>
            </a:solidFill>
            <a:prstDash val="solid"/>
          </a:ln>
        </p:spPr>
      </p:sp>
      <p:sp>
        <p:nvSpPr>
          <p:cNvPr id="13" name="Text 11"/>
          <p:cNvSpPr/>
          <p:nvPr/>
        </p:nvSpPr>
        <p:spPr>
          <a:xfrm>
            <a:off x="6483096" y="187452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2</a:t>
            </a:r>
            <a:endParaRPr lang="en-US" sz="1200" dirty="0"/>
          </a:p>
        </p:txBody>
      </p:sp>
      <p:sp>
        <p:nvSpPr>
          <p:cNvPr id="14" name="Text 12"/>
          <p:cNvSpPr/>
          <p:nvPr/>
        </p:nvSpPr>
        <p:spPr>
          <a:xfrm>
            <a:off x="7214616" y="1655064"/>
            <a:ext cx="3886200" cy="320040"/>
          </a:xfrm>
          <a:prstGeom prst="rect">
            <a:avLst/>
          </a:prstGeom>
          <a:noFill/>
          <a:ln/>
        </p:spPr>
        <p:txBody>
          <a:bodyPr wrap="square" lIns="0" tIns="0" rIns="0" bIns="0" rtlCol="0" anchor="ctr">
            <a:noAutofit/>
          </a:bodyPr>
          <a:lstStyle/>
          <a:p>
            <a:pPr marL="0" indent="0">
              <a:buNone/>
            </a:pPr>
            <a:r>
              <a:rPr lang="en-US" sz="1550" b="1">
                <a:solidFill>
                  <a:srgbClr val="76B900"/>
                </a:solidFill>
              </a:rPr>
              <a:t>Batching makes the GPU pay off</a:t>
            </a:r>
            <a:endParaRPr lang="en-US" sz="1550" dirty="0"/>
          </a:p>
        </p:txBody>
      </p:sp>
      <p:sp>
        <p:nvSpPr>
          <p:cNvPr id="15" name="Text 13"/>
          <p:cNvSpPr/>
          <p:nvPr/>
        </p:nvSpPr>
        <p:spPr>
          <a:xfrm>
            <a:off x="7214616" y="2112264"/>
            <a:ext cx="3886200" cy="736600"/>
          </a:xfrm>
          <a:prstGeom prst="rect">
            <a:avLst/>
          </a:prstGeom>
          <a:noFill/>
          <a:ln/>
        </p:spPr>
        <p:txBody>
          <a:bodyPr wrap="square" lIns="0" tIns="0" rIns="0" bIns="0" rtlCol="0" anchor="ctr">
            <a:noAutofit/>
          </a:bodyPr>
          <a:lstStyle/>
          <a:p>
            <a:pPr marL="0" indent="0">
              <a:buNone/>
            </a:pPr>
            <a:r>
              <a:rPr lang="en-US" sz="1250">
                <a:solidFill>
                  <a:srgbClr val="C7D0D9"/>
                </a:solidFill>
              </a:rPr>
              <a:t>PyTorch batch 64: 2.99× CPU throughput.</a:t>
            </a:r>
          </a:p>
          <a:p>
            <a:pPr marL="0" indent="0">
              <a:buNone/>
            </a:pPr>
            <a:r>
              <a:rPr lang="en-US" sz="1250">
                <a:solidFill>
                  <a:srgbClr val="C7D0D9"/>
                </a:solidFill>
              </a:rPr>
              <a:t>64 images share launches and filter weights.</a:t>
            </a:r>
          </a:p>
          <a:p>
            <a:pPr marL="0" indent="0">
              <a:buNone/>
            </a:pPr>
            <a:r>
              <a:rPr lang="en-US" sz="1250">
                <a:solidFill>
                  <a:srgbClr val="C7D0D9"/>
                </a:solidFill>
              </a:rPr>
              <a:t>CPU still wins one-digit latency: 88.96 µs.</a:t>
            </a:r>
            <a:endParaRPr lang="en-US" sz="1250" dirty="0"/>
          </a:p>
        </p:txBody>
      </p:sp>
      <p:sp>
        <p:nvSpPr>
          <p:cNvPr id="16" name="Shape 14"/>
          <p:cNvSpPr/>
          <p:nvPr/>
        </p:nvSpPr>
        <p:spPr>
          <a:xfrm>
            <a:off x="658368" y="3319272"/>
            <a:ext cx="5230368" cy="1572768"/>
          </a:xfrm>
          <a:prstGeom prst="roundRect">
            <a:avLst>
              <a:gd name="adj" fmla="val 4651"/>
            </a:avLst>
          </a:prstGeom>
          <a:solidFill>
            <a:srgbClr val="121923"/>
          </a:solidFill>
          <a:ln w="12700">
            <a:solidFill>
              <a:srgbClr val="25303D"/>
            </a:solidFill>
            <a:prstDash val="solid"/>
          </a:ln>
        </p:spPr>
      </p:sp>
      <p:sp>
        <p:nvSpPr>
          <p:cNvPr id="17" name="Shape 15"/>
          <p:cNvSpPr/>
          <p:nvPr/>
        </p:nvSpPr>
        <p:spPr>
          <a:xfrm>
            <a:off x="886968" y="3639312"/>
            <a:ext cx="548640" cy="548640"/>
          </a:xfrm>
          <a:prstGeom prst="ellipse">
            <a:avLst/>
          </a:prstGeom>
          <a:solidFill>
            <a:srgbClr val="A78BFA"/>
          </a:solidFill>
          <a:ln w="12700">
            <a:solidFill>
              <a:srgbClr val="A78BFA"/>
            </a:solidFill>
            <a:prstDash val="solid"/>
          </a:ln>
        </p:spPr>
      </p:sp>
      <p:sp>
        <p:nvSpPr>
          <p:cNvPr id="18" name="Text 16"/>
          <p:cNvSpPr/>
          <p:nvPr/>
        </p:nvSpPr>
        <p:spPr>
          <a:xfrm>
            <a:off x="886968" y="379476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3</a:t>
            </a:r>
            <a:endParaRPr lang="en-US" sz="1200" dirty="0"/>
          </a:p>
        </p:txBody>
      </p:sp>
      <p:sp>
        <p:nvSpPr>
          <p:cNvPr id="19" name="Text 17"/>
          <p:cNvSpPr/>
          <p:nvPr/>
        </p:nvSpPr>
        <p:spPr>
          <a:xfrm>
            <a:off x="1618488" y="3575304"/>
            <a:ext cx="3886200" cy="320040"/>
          </a:xfrm>
          <a:prstGeom prst="rect">
            <a:avLst/>
          </a:prstGeom>
          <a:noFill/>
          <a:ln/>
        </p:spPr>
        <p:txBody>
          <a:bodyPr wrap="square" lIns="0" tIns="0" rIns="0" bIns="0" rtlCol="0" anchor="ctr">
            <a:noAutofit/>
          </a:bodyPr>
          <a:lstStyle/>
          <a:p>
            <a:pPr marL="0" indent="0">
              <a:buNone/>
            </a:pPr>
            <a:r>
              <a:rPr lang="en-US" sz="1550" b="1">
                <a:solidFill>
                  <a:srgbClr val="A78BFA"/>
                </a:solidFill>
              </a:rPr>
              <a:t>Two GPUs: potential, not a win here</a:t>
            </a:r>
            <a:endParaRPr lang="en-US" sz="1550" dirty="0"/>
          </a:p>
        </p:txBody>
      </p:sp>
      <p:sp>
        <p:nvSpPr>
          <p:cNvPr id="20" name="Text 18"/>
          <p:cNvSpPr/>
          <p:nvPr/>
        </p:nvSpPr>
        <p:spPr>
          <a:xfrm>
            <a:off x="1618488" y="4032504"/>
            <a:ext cx="3886200" cy="736600"/>
          </a:xfrm>
          <a:prstGeom prst="rect">
            <a:avLst/>
          </a:prstGeom>
          <a:noFill/>
          <a:ln/>
        </p:spPr>
        <p:txBody>
          <a:bodyPr wrap="square" lIns="0" tIns="0" rIns="0" bIns="0" rtlCol="0" anchor="ctr">
            <a:noAutofit/>
          </a:bodyPr>
          <a:lstStyle/>
          <a:p>
            <a:pPr marL="0" indent="0">
              <a:buNone/>
            </a:pPr>
            <a:r>
              <a:rPr lang="en-US" sz="1250">
                <a:solidFill>
                  <a:srgbClr val="C7D0D9"/>
                </a:solidFill>
              </a:rPr>
              <a:t>More workers can process a larger global batch.</a:t>
            </a:r>
          </a:p>
          <a:p>
            <a:pPr marL="0" indent="0">
              <a:buNone/>
            </a:pPr>
            <a:r>
              <a:rPr lang="en-US" sz="1250">
                <a:solidFill>
                  <a:srgbClr val="C7D0D9"/>
                </a:solidFill>
              </a:rPr>
              <a:t>Each replica needs enough work to hide copies</a:t>
            </a:r>
          </a:p>
          <a:p>
            <a:pPr marL="0" indent="0">
              <a:buNone/>
            </a:pPr>
            <a:r>
              <a:rPr lang="en-US" sz="1250">
                <a:solidFill>
                  <a:srgbClr val="C7D0D9"/>
                </a:solidFill>
              </a:rPr>
              <a:t>and gradient reduction. No larger-batch trial.</a:t>
            </a:r>
            <a:endParaRPr lang="en-US" sz="1250" dirty="0"/>
          </a:p>
        </p:txBody>
      </p:sp>
      <p:sp>
        <p:nvSpPr>
          <p:cNvPr id="21" name="Shape 19"/>
          <p:cNvSpPr/>
          <p:nvPr/>
        </p:nvSpPr>
        <p:spPr>
          <a:xfrm>
            <a:off x="6254496" y="3319272"/>
            <a:ext cx="5230368" cy="1572768"/>
          </a:xfrm>
          <a:prstGeom prst="roundRect">
            <a:avLst>
              <a:gd name="adj" fmla="val 4651"/>
            </a:avLst>
          </a:prstGeom>
          <a:solidFill>
            <a:srgbClr val="121923"/>
          </a:solidFill>
          <a:ln w="12700">
            <a:solidFill>
              <a:srgbClr val="25303D"/>
            </a:solidFill>
            <a:prstDash val="solid"/>
          </a:ln>
        </p:spPr>
      </p:sp>
      <p:sp>
        <p:nvSpPr>
          <p:cNvPr id="22" name="Shape 20"/>
          <p:cNvSpPr/>
          <p:nvPr/>
        </p:nvSpPr>
        <p:spPr>
          <a:xfrm>
            <a:off x="6483096" y="3639312"/>
            <a:ext cx="548640" cy="548640"/>
          </a:xfrm>
          <a:prstGeom prst="ellipse">
            <a:avLst/>
          </a:prstGeom>
          <a:solidFill>
            <a:srgbClr val="FFB454"/>
          </a:solidFill>
          <a:ln w="12700">
            <a:solidFill>
              <a:srgbClr val="FFB454"/>
            </a:solidFill>
            <a:prstDash val="solid"/>
          </a:ln>
        </p:spPr>
      </p:sp>
      <p:sp>
        <p:nvSpPr>
          <p:cNvPr id="23" name="Text 21"/>
          <p:cNvSpPr/>
          <p:nvPr/>
        </p:nvSpPr>
        <p:spPr>
          <a:xfrm>
            <a:off x="6483096" y="379476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4</a:t>
            </a:r>
            <a:endParaRPr lang="en-US" sz="1200" dirty="0"/>
          </a:p>
        </p:txBody>
      </p:sp>
      <p:sp>
        <p:nvSpPr>
          <p:cNvPr id="24" name="Text 22"/>
          <p:cNvSpPr/>
          <p:nvPr/>
        </p:nvSpPr>
        <p:spPr>
          <a:xfrm>
            <a:off x="7214616" y="3575304"/>
            <a:ext cx="3886200" cy="320040"/>
          </a:xfrm>
          <a:prstGeom prst="rect">
            <a:avLst/>
          </a:prstGeom>
          <a:noFill/>
          <a:ln/>
        </p:spPr>
        <p:txBody>
          <a:bodyPr wrap="square" lIns="0" tIns="0" rIns="0" bIns="0" rtlCol="0" anchor="ctr">
            <a:noAutofit/>
          </a:bodyPr>
          <a:lstStyle/>
          <a:p>
            <a:pPr marL="0" indent="0">
              <a:buNone/>
            </a:pPr>
            <a:r>
              <a:rPr lang="en-US" sz="1550" b="1">
                <a:solidFill>
                  <a:srgbClr val="FFB454"/>
                </a:solidFill>
              </a:rPr>
              <a:t>DataParallel is not model sharding</a:t>
            </a:r>
            <a:endParaRPr lang="en-US" sz="1550" dirty="0"/>
          </a:p>
        </p:txBody>
      </p:sp>
      <p:sp>
        <p:nvSpPr>
          <p:cNvPr id="25" name="Text 23"/>
          <p:cNvSpPr/>
          <p:nvPr/>
        </p:nvSpPr>
        <p:spPr>
          <a:xfrm>
            <a:off x="7214616" y="4032504"/>
            <a:ext cx="3886200" cy="711200"/>
          </a:xfrm>
          <a:prstGeom prst="rect">
            <a:avLst/>
          </a:prstGeom>
          <a:noFill/>
          <a:ln/>
        </p:spPr>
        <p:txBody>
          <a:bodyPr wrap="square" lIns="0" tIns="0" rIns="0" bIns="0" rtlCol="0" anchor="ctr">
            <a:noAutofit/>
          </a:bodyPr>
          <a:lstStyle/>
          <a:p>
            <a:pPr marL="0" indent="0">
              <a:buNone/>
            </a:pPr>
            <a:r>
              <a:rPr lang="en-US" sz="1250">
                <a:solidFill>
                  <a:srgbClr val="C7D0D9"/>
                </a:solidFill>
              </a:rPr>
              <a:t>Each GPU stores the full model and its chunk.</a:t>
            </a:r>
          </a:p>
          <a:p>
            <a:pPr marL="0" indent="0">
              <a:buNone/>
            </a:pPr>
            <a:r>
              <a:rPr lang="en-US" sz="1250">
                <a:solidFill>
                  <a:srgbClr val="C7D0D9"/>
                </a:solidFill>
              </a:rPr>
              <a:t>Here: 1.75–1.92× slower than CPU.</a:t>
            </a:r>
          </a:p>
          <a:p>
            <a:pPr marL="0" indent="0">
              <a:buNone/>
            </a:pPr>
            <a:r>
              <a:rPr lang="en-US" sz="1250">
                <a:solidFill>
                  <a:srgbClr val="C7D0D9"/>
                </a:solidFill>
              </a:rPr>
              <a:t>Try a larger CNN / batch; measure again.</a:t>
            </a:r>
            <a:endParaRPr lang="en-US" sz="1250" dirty="0"/>
          </a:p>
        </p:txBody>
      </p:sp>
      <p:sp>
        <p:nvSpPr>
          <p:cNvPr id="26" name="Shape 24"/>
          <p:cNvSpPr/>
          <p:nvPr/>
        </p:nvSpPr>
        <p:spPr>
          <a:xfrm>
            <a:off x="658368" y="5285232"/>
            <a:ext cx="10826496" cy="658368"/>
          </a:xfrm>
          <a:prstGeom prst="roundRect">
            <a:avLst>
              <a:gd name="adj" fmla="val 11111"/>
            </a:avLst>
          </a:prstGeom>
          <a:solidFill>
            <a:srgbClr val="101B12"/>
          </a:solidFill>
          <a:ln w="12700">
            <a:solidFill>
              <a:srgbClr val="29432A"/>
            </a:solidFill>
            <a:prstDash val="solid"/>
          </a:ln>
        </p:spPr>
      </p:sp>
      <p:sp>
        <p:nvSpPr>
          <p:cNvPr id="27" name="Text 25"/>
          <p:cNvSpPr/>
          <p:nvPr/>
        </p:nvSpPr>
        <p:spPr>
          <a:xfrm>
            <a:off x="932688" y="5477256"/>
            <a:ext cx="1874520" cy="201168"/>
          </a:xfrm>
          <a:prstGeom prst="rect">
            <a:avLst/>
          </a:prstGeom>
          <a:noFill/>
          <a:ln/>
        </p:spPr>
        <p:txBody>
          <a:bodyPr wrap="square" lIns="0" tIns="0" rIns="0" bIns="0" rtlCol="0" anchor="ctr">
            <a:noAutofit/>
          </a:bodyPr>
          <a:lstStyle/>
          <a:p>
            <a:pPr marL="0" indent="0">
              <a:buNone/>
            </a:pPr>
            <a:r>
              <a:rPr lang="en-US" sz="1300" b="1">
                <a:solidFill>
                  <a:srgbClr val="A3E635"/>
                </a:solidFill>
              </a:rPr>
              <a:t>Performance takeaway</a:t>
            </a:r>
            <a:endParaRPr lang="en-US" sz="1300" dirty="0"/>
          </a:p>
        </p:txBody>
      </p:sp>
      <p:sp>
        <p:nvSpPr>
          <p:cNvPr id="28" name="Text 26"/>
          <p:cNvSpPr/>
          <p:nvPr/>
        </p:nvSpPr>
        <p:spPr>
          <a:xfrm>
            <a:off x="2743200" y="5440680"/>
            <a:ext cx="8183880" cy="444500"/>
          </a:xfrm>
          <a:prstGeom prst="rect">
            <a:avLst/>
          </a:prstGeom>
          <a:noFill/>
          <a:ln/>
        </p:spPr>
        <p:txBody>
          <a:bodyPr wrap="square" lIns="0" tIns="0" rIns="0" bIns="0" rtlCol="0" anchor="ctr">
            <a:noAutofit/>
          </a:bodyPr>
          <a:lstStyle/>
          <a:p>
            <a:pPr marL="0" indent="0">
              <a:buNone/>
            </a:pPr>
            <a:r>
              <a:rPr lang="en-US" sz="1320" b="1">
                <a:solidFill>
                  <a:srgbClr val="F4F7FA"/>
                </a:solidFill>
              </a:rPr>
              <a:t>Use one GPU for this CNN at batch 64. Add GPUs when extra compute exceeds coordination cost.</a:t>
            </a:r>
            <a:endParaRPr lang="en-US" sz="1320" dirty="0"/>
          </a:p>
        </p:txBody>
      </p:sp>
      <p:sp>
        <p:nvSpPr>
          <p:cNvPr id="29" name="Text 27"/>
          <p:cNvSpPr/>
          <p:nvPr/>
        </p:nvSpPr>
        <p:spPr>
          <a:xfrm>
            <a:off x="685800" y="6126480"/>
            <a:ext cx="6217920" cy="219456"/>
          </a:xfrm>
          <a:prstGeom prst="rect">
            <a:avLst/>
          </a:prstGeom>
          <a:noFill/>
          <a:ln/>
        </p:spPr>
        <p:txBody>
          <a:bodyPr wrap="square" lIns="0" tIns="0" rIns="0" bIns="0" rtlCol="0" anchor="ctr">
            <a:noAutofit/>
          </a:bodyPr>
          <a:lstStyle/>
          <a:p>
            <a:pPr marL="0" indent="0">
              <a:buNone/>
            </a:pPr>
            <a:r>
              <a:rPr lang="en-US" sz="1050">
                <a:solidFill>
                  <a:srgbClr val="7E8A97"/>
                </a:solidFill>
              </a:rPr>
              <a:t>Demo: five checkpoints → the same held-out digits → predictions and true labels.</a:t>
            </a:r>
            <a:endParaRPr lang="en-US" sz="1050" dirty="0"/>
          </a:p>
        </p:txBody>
      </p:sp>
      <p:sp>
        <p:nvSpPr>
          <p:cNvPr id="30"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13</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3964</Words>
  <Application>Microsoft Office PowerPoint</Application>
  <PresentationFormat>Widescreen</PresentationFormat>
  <Paragraphs>371</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Amrita Vishwa Vidyapeetham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Parallelizing CNNs: CPU, CUDA &amp; Multi-GPU</dc:title>
  <dc:subject>CNN Parallelism, CUDA and DataParallel</dc:subject>
  <dc:creator>OpenAI</dc:creator>
  <cp:lastModifiedBy>Satya Paladugu</cp:lastModifiedBy>
  <cp:revision>4</cp:revision>
  <dcterms:created xsi:type="dcterms:W3CDTF">2026-10-14T13:41:15Z</dcterms:created>
  <dcterms:modified xsi:type="dcterms:W3CDTF">2026-10-14T15:40:22Z</dcterms:modified>
</cp:coreProperties>
</file>